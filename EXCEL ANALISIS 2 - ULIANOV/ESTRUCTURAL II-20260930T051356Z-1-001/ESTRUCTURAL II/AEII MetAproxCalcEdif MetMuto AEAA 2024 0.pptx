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257" r:id="rId2"/>
    <p:sldId id="271" r:id="rId3"/>
    <p:sldId id="344" r:id="rId4"/>
    <p:sldId id="349" r:id="rId5"/>
    <p:sldId id="350" r:id="rId6"/>
    <p:sldId id="346" r:id="rId7"/>
    <p:sldId id="351" r:id="rId8"/>
    <p:sldId id="352" r:id="rId9"/>
    <p:sldId id="353" r:id="rId10"/>
    <p:sldId id="354" r:id="rId11"/>
    <p:sldId id="355" r:id="rId12"/>
    <p:sldId id="356" r:id="rId13"/>
    <p:sldId id="357" r:id="rId14"/>
    <p:sldId id="273" r:id="rId15"/>
    <p:sldId id="256" r:id="rId16"/>
  </p:sldIdLst>
  <p:sldSz cx="12192000" cy="6858000"/>
  <p:notesSz cx="7315200" cy="9601200"/>
  <p:defaultTextStyle>
    <a:defPPr>
      <a:defRPr lang="es-P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19" userDrawn="1">
          <p15:clr>
            <a:srgbClr val="A4A3A4"/>
          </p15:clr>
        </p15:guide>
        <p15:guide id="2" pos="3840" userDrawn="1">
          <p15:clr>
            <a:srgbClr val="A4A3A4"/>
          </p15:clr>
        </p15:guide>
        <p15:guide id="4" pos="211" userDrawn="1">
          <p15:clr>
            <a:srgbClr val="A4A3A4"/>
          </p15:clr>
        </p15:guide>
        <p15:guide id="5" pos="5428" userDrawn="1">
          <p15:clr>
            <a:srgbClr val="A4A3A4"/>
          </p15:clr>
        </p15:guide>
        <p15:guide id="6" pos="4747" userDrawn="1">
          <p15:clr>
            <a:srgbClr val="A4A3A4"/>
          </p15:clr>
        </p15:guide>
        <p15:guide id="7" pos="5881" userDrawn="1">
          <p15:clr>
            <a:srgbClr val="A4A3A4"/>
          </p15:clr>
        </p15:guide>
        <p15:guide id="8" pos="6108" userDrawn="1">
          <p15:clr>
            <a:srgbClr val="A4A3A4"/>
          </p15:clr>
        </p15:guide>
        <p15:guide id="9" pos="6335" userDrawn="1">
          <p15:clr>
            <a:srgbClr val="A4A3A4"/>
          </p15:clr>
        </p15:guide>
        <p15:guide id="10" pos="6562" userDrawn="1">
          <p15:clr>
            <a:srgbClr val="A4A3A4"/>
          </p15:clr>
        </p15:guide>
        <p15:guide id="11" pos="7469" userDrawn="1">
          <p15:clr>
            <a:srgbClr val="A4A3A4"/>
          </p15:clr>
        </p15:guide>
        <p15:guide id="12" pos="7242" userDrawn="1">
          <p15:clr>
            <a:srgbClr val="A4A3A4"/>
          </p15:clr>
        </p15:guide>
        <p15:guide id="13" pos="7015" userDrawn="1">
          <p15:clr>
            <a:srgbClr val="A4A3A4"/>
          </p15:clr>
        </p15:guide>
        <p15:guide id="14" pos="6788" userDrawn="1">
          <p15:clr>
            <a:srgbClr val="A4A3A4"/>
          </p15:clr>
        </p15:guide>
        <p15:guide id="15" pos="4974" userDrawn="1">
          <p15:clr>
            <a:srgbClr val="A4A3A4"/>
          </p15:clr>
        </p15:guide>
        <p15:guide id="16" pos="5654" userDrawn="1">
          <p15:clr>
            <a:srgbClr val="A4A3A4"/>
          </p15:clr>
        </p15:guide>
        <p15:guide id="17" pos="5201" userDrawn="1">
          <p15:clr>
            <a:srgbClr val="A4A3A4"/>
          </p15:clr>
        </p15:guide>
        <p15:guide id="18" pos="665" userDrawn="1">
          <p15:clr>
            <a:srgbClr val="A4A3A4"/>
          </p15:clr>
        </p15:guide>
        <p15:guide id="19" pos="4520" userDrawn="1">
          <p15:clr>
            <a:srgbClr val="A4A3A4"/>
          </p15:clr>
        </p15:guide>
        <p15:guide id="20" pos="4294" userDrawn="1">
          <p15:clr>
            <a:srgbClr val="A4A3A4"/>
          </p15:clr>
        </p15:guide>
        <p15:guide id="21" pos="4067" userDrawn="1">
          <p15:clr>
            <a:srgbClr val="A4A3A4"/>
          </p15:clr>
        </p15:guide>
        <p15:guide id="22" pos="3613" userDrawn="1">
          <p15:clr>
            <a:srgbClr val="A4A3A4"/>
          </p15:clr>
        </p15:guide>
        <p15:guide id="23" pos="3386" userDrawn="1">
          <p15:clr>
            <a:srgbClr val="A4A3A4"/>
          </p15:clr>
        </p15:guide>
        <p15:guide id="24" pos="3160" userDrawn="1">
          <p15:clr>
            <a:srgbClr val="A4A3A4"/>
          </p15:clr>
        </p15:guide>
        <p15:guide id="25" pos="2933" userDrawn="1">
          <p15:clr>
            <a:srgbClr val="A4A3A4"/>
          </p15:clr>
        </p15:guide>
        <p15:guide id="26" pos="2706" userDrawn="1">
          <p15:clr>
            <a:srgbClr val="A4A3A4"/>
          </p15:clr>
        </p15:guide>
        <p15:guide id="27" pos="2479" userDrawn="1">
          <p15:clr>
            <a:srgbClr val="A4A3A4"/>
          </p15:clr>
        </p15:guide>
        <p15:guide id="28" pos="2252" userDrawn="1">
          <p15:clr>
            <a:srgbClr val="A4A3A4"/>
          </p15:clr>
        </p15:guide>
        <p15:guide id="29" pos="2026" userDrawn="1">
          <p15:clr>
            <a:srgbClr val="A4A3A4"/>
          </p15:clr>
        </p15:guide>
        <p15:guide id="30" pos="1799" userDrawn="1">
          <p15:clr>
            <a:srgbClr val="A4A3A4"/>
          </p15:clr>
        </p15:guide>
        <p15:guide id="31" pos="1572" userDrawn="1">
          <p15:clr>
            <a:srgbClr val="A4A3A4"/>
          </p15:clr>
        </p15:guide>
        <p15:guide id="32" pos="1345" userDrawn="1">
          <p15:clr>
            <a:srgbClr val="A4A3A4"/>
          </p15:clr>
        </p15:guide>
        <p15:guide id="33" pos="1118" userDrawn="1">
          <p15:clr>
            <a:srgbClr val="A4A3A4"/>
          </p15:clr>
        </p15:guide>
        <p15:guide id="34" pos="892" userDrawn="1">
          <p15:clr>
            <a:srgbClr val="A4A3A4"/>
          </p15:clr>
        </p15:guide>
        <p15:guide id="35" pos="438" userDrawn="1">
          <p15:clr>
            <a:srgbClr val="A4A3A4"/>
          </p15:clr>
        </p15:guide>
        <p15:guide id="36" orient="horz" pos="5" userDrawn="1">
          <p15:clr>
            <a:srgbClr val="A4A3A4"/>
          </p15:clr>
        </p15:guide>
        <p15:guide id="37" orient="horz" pos="2614" userDrawn="1">
          <p15:clr>
            <a:srgbClr val="A4A3A4"/>
          </p15:clr>
        </p15:guide>
        <p15:guide id="38" orient="horz" pos="346" userDrawn="1">
          <p15:clr>
            <a:srgbClr val="A4A3A4"/>
          </p15:clr>
        </p15:guide>
        <p15:guide id="39" orient="horz" pos="572" userDrawn="1">
          <p15:clr>
            <a:srgbClr val="A4A3A4"/>
          </p15:clr>
        </p15:guide>
        <p15:guide id="40" orient="horz" pos="799" userDrawn="1">
          <p15:clr>
            <a:srgbClr val="A4A3A4"/>
          </p15:clr>
        </p15:guide>
        <p15:guide id="41" orient="horz" pos="1026" userDrawn="1">
          <p15:clr>
            <a:srgbClr val="A4A3A4"/>
          </p15:clr>
        </p15:guide>
        <p15:guide id="42" orient="horz" pos="1253" userDrawn="1">
          <p15:clr>
            <a:srgbClr val="A4A3A4"/>
          </p15:clr>
        </p15:guide>
        <p15:guide id="43" orient="horz" pos="1480" userDrawn="1">
          <p15:clr>
            <a:srgbClr val="A4A3A4"/>
          </p15:clr>
        </p15:guide>
        <p15:guide id="44" orient="horz" pos="1706" userDrawn="1">
          <p15:clr>
            <a:srgbClr val="A4A3A4"/>
          </p15:clr>
        </p15:guide>
        <p15:guide id="45" orient="horz" pos="1933" userDrawn="1">
          <p15:clr>
            <a:srgbClr val="A4A3A4"/>
          </p15:clr>
        </p15:guide>
        <p15:guide id="46" orient="horz" pos="2387" userDrawn="1">
          <p15:clr>
            <a:srgbClr val="A4A3A4"/>
          </p15:clr>
        </p15:guide>
        <p15:guide id="47" orient="horz" pos="2840" userDrawn="1">
          <p15:clr>
            <a:srgbClr val="A4A3A4"/>
          </p15:clr>
        </p15:guide>
        <p15:guide id="48" orient="horz" pos="3067" userDrawn="1">
          <p15:clr>
            <a:srgbClr val="A4A3A4"/>
          </p15:clr>
        </p15:guide>
        <p15:guide id="49" orient="horz" pos="3294" userDrawn="1">
          <p15:clr>
            <a:srgbClr val="A4A3A4"/>
          </p15:clr>
        </p15:guide>
        <p15:guide id="50" orient="horz" pos="3521" userDrawn="1">
          <p15:clr>
            <a:srgbClr val="A4A3A4"/>
          </p15:clr>
        </p15:guide>
        <p15:guide id="51" orient="horz" pos="3748" userDrawn="1">
          <p15:clr>
            <a:srgbClr val="A4A3A4"/>
          </p15:clr>
        </p15:guide>
        <p15:guide id="52" orient="horz" pos="3974" userDrawn="1">
          <p15:clr>
            <a:srgbClr val="A4A3A4"/>
          </p15:clr>
        </p15:guide>
        <p15:guide id="53" orient="horz" pos="4201"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61BF650-FC82-428F-9AED-7FA68C094024}" v="20" dt="2024-01-27T08:49:46.299"/>
  </p1510:revLst>
</p1510:revInfo>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howGuides="1">
      <p:cViewPr varScale="1">
        <p:scale>
          <a:sx n="79" d="100"/>
          <a:sy n="79" d="100"/>
        </p:scale>
        <p:origin x="773" y="43"/>
      </p:cViewPr>
      <p:guideLst>
        <p:guide orient="horz" pos="119"/>
        <p:guide pos="3840"/>
        <p:guide pos="211"/>
        <p:guide pos="5428"/>
        <p:guide pos="4747"/>
        <p:guide pos="5881"/>
        <p:guide pos="6108"/>
        <p:guide pos="6335"/>
        <p:guide pos="6562"/>
        <p:guide pos="7469"/>
        <p:guide pos="7242"/>
        <p:guide pos="7015"/>
        <p:guide pos="6788"/>
        <p:guide pos="4974"/>
        <p:guide pos="5654"/>
        <p:guide pos="5201"/>
        <p:guide pos="665"/>
        <p:guide pos="4520"/>
        <p:guide pos="4294"/>
        <p:guide pos="4067"/>
        <p:guide pos="3613"/>
        <p:guide pos="3386"/>
        <p:guide pos="3160"/>
        <p:guide pos="2933"/>
        <p:guide pos="2706"/>
        <p:guide pos="2479"/>
        <p:guide pos="2252"/>
        <p:guide pos="2026"/>
        <p:guide pos="1799"/>
        <p:guide pos="1572"/>
        <p:guide pos="1345"/>
        <p:guide pos="1118"/>
        <p:guide pos="892"/>
        <p:guide pos="438"/>
        <p:guide orient="horz" pos="5"/>
        <p:guide orient="horz" pos="2614"/>
        <p:guide orient="horz" pos="346"/>
        <p:guide orient="horz" pos="572"/>
        <p:guide orient="horz" pos="799"/>
        <p:guide orient="horz" pos="1026"/>
        <p:guide orient="horz" pos="1253"/>
        <p:guide orient="horz" pos="1480"/>
        <p:guide orient="horz" pos="1706"/>
        <p:guide orient="horz" pos="1933"/>
        <p:guide orient="horz" pos="2387"/>
        <p:guide orient="horz" pos="2840"/>
        <p:guide orient="horz" pos="3067"/>
        <p:guide orient="horz" pos="3294"/>
        <p:guide orient="horz" pos="3521"/>
        <p:guide orient="horz" pos="3748"/>
        <p:guide orient="horz" pos="3974"/>
        <p:guide orient="horz" pos="4201"/>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1"/>
            <a:ext cx="3169920" cy="481727"/>
          </a:xfrm>
          <a:prstGeom prst="rect">
            <a:avLst/>
          </a:prstGeom>
        </p:spPr>
        <p:txBody>
          <a:bodyPr vert="horz" lIns="95655" tIns="47828" rIns="95655" bIns="47828" rtlCol="0"/>
          <a:lstStyle>
            <a:lvl1pPr algn="l">
              <a:defRPr sz="1300"/>
            </a:lvl1pPr>
          </a:lstStyle>
          <a:p>
            <a:endParaRPr lang="es-PE"/>
          </a:p>
        </p:txBody>
      </p:sp>
      <p:sp>
        <p:nvSpPr>
          <p:cNvPr id="3" name="Marcador de fecha 2"/>
          <p:cNvSpPr>
            <a:spLocks noGrp="1"/>
          </p:cNvSpPr>
          <p:nvPr>
            <p:ph type="dt" idx="1"/>
          </p:nvPr>
        </p:nvSpPr>
        <p:spPr>
          <a:xfrm>
            <a:off x="4143587" y="1"/>
            <a:ext cx="3169920" cy="481727"/>
          </a:xfrm>
          <a:prstGeom prst="rect">
            <a:avLst/>
          </a:prstGeom>
        </p:spPr>
        <p:txBody>
          <a:bodyPr vert="horz" lIns="95655" tIns="47828" rIns="95655" bIns="47828" rtlCol="0"/>
          <a:lstStyle>
            <a:lvl1pPr algn="r">
              <a:defRPr sz="1300"/>
            </a:lvl1pPr>
          </a:lstStyle>
          <a:p>
            <a:fld id="{8F9F2EB7-7EC7-4FCB-83E2-4677445F6DE8}" type="datetimeFigureOut">
              <a:rPr lang="es-PE" smtClean="0"/>
              <a:t>27/01/2024</a:t>
            </a:fld>
            <a:endParaRPr lang="es-PE"/>
          </a:p>
        </p:txBody>
      </p:sp>
      <p:sp>
        <p:nvSpPr>
          <p:cNvPr id="4" name="Marcador de imagen de diapositiva 3"/>
          <p:cNvSpPr>
            <a:spLocks noGrp="1" noRot="1" noChangeAspect="1"/>
          </p:cNvSpPr>
          <p:nvPr>
            <p:ph type="sldImg" idx="2"/>
          </p:nvPr>
        </p:nvSpPr>
        <p:spPr>
          <a:xfrm>
            <a:off x="777875" y="1200150"/>
            <a:ext cx="5759450" cy="3240088"/>
          </a:xfrm>
          <a:prstGeom prst="rect">
            <a:avLst/>
          </a:prstGeom>
          <a:noFill/>
          <a:ln w="12700">
            <a:solidFill>
              <a:prstClr val="black"/>
            </a:solidFill>
          </a:ln>
        </p:spPr>
        <p:txBody>
          <a:bodyPr vert="horz" lIns="95655" tIns="47828" rIns="95655" bIns="47828" rtlCol="0" anchor="ctr"/>
          <a:lstStyle/>
          <a:p>
            <a:endParaRPr lang="es-PE"/>
          </a:p>
        </p:txBody>
      </p:sp>
      <p:sp>
        <p:nvSpPr>
          <p:cNvPr id="5" name="Marcador de notas 4"/>
          <p:cNvSpPr>
            <a:spLocks noGrp="1"/>
          </p:cNvSpPr>
          <p:nvPr>
            <p:ph type="body" sz="quarter" idx="3"/>
          </p:nvPr>
        </p:nvSpPr>
        <p:spPr>
          <a:xfrm>
            <a:off x="731520" y="4620577"/>
            <a:ext cx="5852160" cy="3780472"/>
          </a:xfrm>
          <a:prstGeom prst="rect">
            <a:avLst/>
          </a:prstGeom>
        </p:spPr>
        <p:txBody>
          <a:bodyPr vert="horz" lIns="95655" tIns="47828" rIns="95655" bIns="47828"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6" name="Marcador de pie de página 5"/>
          <p:cNvSpPr>
            <a:spLocks noGrp="1"/>
          </p:cNvSpPr>
          <p:nvPr>
            <p:ph type="ftr" sz="quarter" idx="4"/>
          </p:nvPr>
        </p:nvSpPr>
        <p:spPr>
          <a:xfrm>
            <a:off x="0" y="9119475"/>
            <a:ext cx="3169920" cy="481726"/>
          </a:xfrm>
          <a:prstGeom prst="rect">
            <a:avLst/>
          </a:prstGeom>
        </p:spPr>
        <p:txBody>
          <a:bodyPr vert="horz" lIns="95655" tIns="47828" rIns="95655" bIns="47828" rtlCol="0" anchor="b"/>
          <a:lstStyle>
            <a:lvl1pPr algn="l">
              <a:defRPr sz="1300"/>
            </a:lvl1pPr>
          </a:lstStyle>
          <a:p>
            <a:endParaRPr lang="es-PE"/>
          </a:p>
        </p:txBody>
      </p:sp>
      <p:sp>
        <p:nvSpPr>
          <p:cNvPr id="7" name="Marcador de número de diapositiva 6"/>
          <p:cNvSpPr>
            <a:spLocks noGrp="1"/>
          </p:cNvSpPr>
          <p:nvPr>
            <p:ph type="sldNum" sz="quarter" idx="5"/>
          </p:nvPr>
        </p:nvSpPr>
        <p:spPr>
          <a:xfrm>
            <a:off x="4143587" y="9119475"/>
            <a:ext cx="3169920" cy="481726"/>
          </a:xfrm>
          <a:prstGeom prst="rect">
            <a:avLst/>
          </a:prstGeom>
        </p:spPr>
        <p:txBody>
          <a:bodyPr vert="horz" lIns="95655" tIns="47828" rIns="95655" bIns="47828" rtlCol="0" anchor="b"/>
          <a:lstStyle>
            <a:lvl1pPr algn="r">
              <a:defRPr sz="1300"/>
            </a:lvl1pPr>
          </a:lstStyle>
          <a:p>
            <a:fld id="{199CD500-B539-4C30-9544-63E73D17B3C6}" type="slidenum">
              <a:rPr lang="es-PE" smtClean="0"/>
              <a:t>‹Nº›</a:t>
            </a:fld>
            <a:endParaRPr lang="es-PE"/>
          </a:p>
        </p:txBody>
      </p:sp>
    </p:spTree>
    <p:extLst>
      <p:ext uri="{BB962C8B-B14F-4D97-AF65-F5344CB8AC3E}">
        <p14:creationId xmlns:p14="http://schemas.microsoft.com/office/powerpoint/2010/main" val="34391874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10"/>
          </p:nvPr>
        </p:nvSpPr>
        <p:spPr/>
        <p:txBody>
          <a:bodyPr/>
          <a:lstStyle/>
          <a:p>
            <a:fld id="{38DF6D55-E685-5045-81EF-E560A26E1A2E}" type="slidenum">
              <a:rPr lang="es-ES_tradnl" smtClean="0"/>
              <a:t>1</a:t>
            </a:fld>
            <a:endParaRPr lang="es-ES_tradnl" dirty="0"/>
          </a:p>
        </p:txBody>
      </p:sp>
    </p:spTree>
    <p:extLst>
      <p:ext uri="{BB962C8B-B14F-4D97-AF65-F5344CB8AC3E}">
        <p14:creationId xmlns:p14="http://schemas.microsoft.com/office/powerpoint/2010/main" val="42843144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9" name="Rectángulo 8">
            <a:extLst>
              <a:ext uri="{FF2B5EF4-FFF2-40B4-BE49-F238E27FC236}">
                <a16:creationId xmlns:a16="http://schemas.microsoft.com/office/drawing/2014/main" id="{2E0F8551-E8AB-22F0-9C91-5444710AF087}"/>
              </a:ext>
            </a:extLst>
          </p:cNvPr>
          <p:cNvSpPr/>
          <p:nvPr userDrawn="1"/>
        </p:nvSpPr>
        <p:spPr>
          <a:xfrm>
            <a:off x="1" y="0"/>
            <a:ext cx="12191999" cy="600075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2" name="Título 1">
            <a:extLst>
              <a:ext uri="{FF2B5EF4-FFF2-40B4-BE49-F238E27FC236}">
                <a16:creationId xmlns:a16="http://schemas.microsoft.com/office/drawing/2014/main" id="{0979A041-06B6-39B8-7620-0A683B76DCA5}"/>
              </a:ext>
            </a:extLst>
          </p:cNvPr>
          <p:cNvSpPr>
            <a:spLocks noGrp="1"/>
          </p:cNvSpPr>
          <p:nvPr>
            <p:ph type="ctrTitle"/>
          </p:nvPr>
        </p:nvSpPr>
        <p:spPr>
          <a:xfrm>
            <a:off x="1524000" y="1122363"/>
            <a:ext cx="9144000" cy="2387600"/>
          </a:xfrm>
        </p:spPr>
        <p:txBody>
          <a:bodyPr anchor="b"/>
          <a:lstStyle>
            <a:lvl1pPr algn="ctr">
              <a:defRPr sz="6000">
                <a:solidFill>
                  <a:schemeClr val="bg1"/>
                </a:solidFill>
              </a:defRPr>
            </a:lvl1pPr>
          </a:lstStyle>
          <a:p>
            <a:r>
              <a:rPr lang="es-ES" dirty="0"/>
              <a:t>Haga clic para modificar el estilo de título del patrón</a:t>
            </a:r>
            <a:endParaRPr lang="es-PE" dirty="0"/>
          </a:p>
        </p:txBody>
      </p:sp>
      <p:sp>
        <p:nvSpPr>
          <p:cNvPr id="3" name="Subtítulo 2">
            <a:extLst>
              <a:ext uri="{FF2B5EF4-FFF2-40B4-BE49-F238E27FC236}">
                <a16:creationId xmlns:a16="http://schemas.microsoft.com/office/drawing/2014/main" id="{30FEF9CB-1080-4171-A6E0-3C483967DE55}"/>
              </a:ext>
            </a:extLst>
          </p:cNvPr>
          <p:cNvSpPr>
            <a:spLocks noGrp="1"/>
          </p:cNvSpPr>
          <p:nvPr>
            <p:ph type="subTitle" idx="1"/>
          </p:nvPr>
        </p:nvSpPr>
        <p:spPr>
          <a:xfrm>
            <a:off x="1524000" y="3602038"/>
            <a:ext cx="9144000" cy="1655762"/>
          </a:xfrm>
        </p:spPr>
        <p:txBody>
          <a:bodyPr/>
          <a:lstStyle>
            <a:lvl1pPr marL="0" indent="0" algn="ctr">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PE"/>
          </a:p>
        </p:txBody>
      </p:sp>
    </p:spTree>
    <p:extLst>
      <p:ext uri="{BB962C8B-B14F-4D97-AF65-F5344CB8AC3E}">
        <p14:creationId xmlns:p14="http://schemas.microsoft.com/office/powerpoint/2010/main" val="1053641032"/>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C61DE21-5E74-2630-8537-8F43F1F93B9C}"/>
              </a:ext>
            </a:extLst>
          </p:cNvPr>
          <p:cNvSpPr>
            <a:spLocks noGrp="1"/>
          </p:cNvSpPr>
          <p:nvPr>
            <p:ph type="title"/>
          </p:nvPr>
        </p:nvSpPr>
        <p:spPr/>
        <p:txBody>
          <a:bodyPr/>
          <a:lstStyle/>
          <a:p>
            <a:r>
              <a:rPr lang="es-ES"/>
              <a:t>Haga clic para modificar el estilo de título del patrón</a:t>
            </a:r>
            <a:endParaRPr lang="es-PE"/>
          </a:p>
        </p:txBody>
      </p:sp>
      <p:sp>
        <p:nvSpPr>
          <p:cNvPr id="3" name="Marcador de contenido 2">
            <a:extLst>
              <a:ext uri="{FF2B5EF4-FFF2-40B4-BE49-F238E27FC236}">
                <a16:creationId xmlns:a16="http://schemas.microsoft.com/office/drawing/2014/main" id="{A216E5ED-550B-AD90-7976-E71159B30A2A}"/>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cxnSp>
        <p:nvCxnSpPr>
          <p:cNvPr id="9" name="Conector recto 8">
            <a:extLst>
              <a:ext uri="{FF2B5EF4-FFF2-40B4-BE49-F238E27FC236}">
                <a16:creationId xmlns:a16="http://schemas.microsoft.com/office/drawing/2014/main" id="{647F2F20-FB0D-A164-9283-E033423C4832}"/>
              </a:ext>
            </a:extLst>
          </p:cNvPr>
          <p:cNvCxnSpPr>
            <a:cxnSpLocks/>
          </p:cNvCxnSpPr>
          <p:nvPr userDrawn="1"/>
        </p:nvCxnSpPr>
        <p:spPr>
          <a:xfrm>
            <a:off x="838200" y="1747838"/>
            <a:ext cx="105156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2512455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5AA8BBB-F571-DBB7-599A-80BCA28EEDEA}"/>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PE"/>
          </a:p>
        </p:txBody>
      </p:sp>
      <p:sp>
        <p:nvSpPr>
          <p:cNvPr id="3" name="Marcador de texto 2">
            <a:extLst>
              <a:ext uri="{FF2B5EF4-FFF2-40B4-BE49-F238E27FC236}">
                <a16:creationId xmlns:a16="http://schemas.microsoft.com/office/drawing/2014/main" id="{C37F1619-0393-268B-FA68-660877FF695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Tree>
    <p:extLst>
      <p:ext uri="{BB962C8B-B14F-4D97-AF65-F5344CB8AC3E}">
        <p14:creationId xmlns:p14="http://schemas.microsoft.com/office/powerpoint/2010/main" val="1223317942"/>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2F050B6-B9DB-D06D-3E9A-6F867C7A6013}"/>
              </a:ext>
            </a:extLst>
          </p:cNvPr>
          <p:cNvSpPr>
            <a:spLocks noGrp="1"/>
          </p:cNvSpPr>
          <p:nvPr>
            <p:ph type="title"/>
          </p:nvPr>
        </p:nvSpPr>
        <p:spPr/>
        <p:txBody>
          <a:bodyPr/>
          <a:lstStyle/>
          <a:p>
            <a:r>
              <a:rPr lang="es-ES"/>
              <a:t>Haga clic para modificar el estilo de título del patrón</a:t>
            </a:r>
            <a:endParaRPr lang="es-PE"/>
          </a:p>
        </p:txBody>
      </p:sp>
      <p:sp>
        <p:nvSpPr>
          <p:cNvPr id="3" name="Marcador de contenido 2">
            <a:extLst>
              <a:ext uri="{FF2B5EF4-FFF2-40B4-BE49-F238E27FC236}">
                <a16:creationId xmlns:a16="http://schemas.microsoft.com/office/drawing/2014/main" id="{4EE07955-5649-5E79-BB53-3597AEE3A0EA}"/>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contenido 3">
            <a:extLst>
              <a:ext uri="{FF2B5EF4-FFF2-40B4-BE49-F238E27FC236}">
                <a16:creationId xmlns:a16="http://schemas.microsoft.com/office/drawing/2014/main" id="{C2AD9898-DDD9-B3DB-DE69-8365D6C2899A}"/>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Tree>
    <p:extLst>
      <p:ext uri="{BB962C8B-B14F-4D97-AF65-F5344CB8AC3E}">
        <p14:creationId xmlns:p14="http://schemas.microsoft.com/office/powerpoint/2010/main" val="357410086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5421DE6-4B87-65F7-9F25-ECC6BBD37344}"/>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PE"/>
          </a:p>
        </p:txBody>
      </p:sp>
      <p:sp>
        <p:nvSpPr>
          <p:cNvPr id="3" name="Marcador de texto 2">
            <a:extLst>
              <a:ext uri="{FF2B5EF4-FFF2-40B4-BE49-F238E27FC236}">
                <a16:creationId xmlns:a16="http://schemas.microsoft.com/office/drawing/2014/main" id="{4CAAD6BA-9F2F-D96A-6ACF-5BA8F8495D0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E9719DC5-4712-ED49-1000-3E4804AC306D}"/>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5" name="Marcador de texto 4">
            <a:extLst>
              <a:ext uri="{FF2B5EF4-FFF2-40B4-BE49-F238E27FC236}">
                <a16:creationId xmlns:a16="http://schemas.microsoft.com/office/drawing/2014/main" id="{0C83D0DD-2A96-A712-4F32-16255C81809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E34F14AA-9B2C-1135-8D86-2DD94E1091FA}"/>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Tree>
    <p:extLst>
      <p:ext uri="{BB962C8B-B14F-4D97-AF65-F5344CB8AC3E}">
        <p14:creationId xmlns:p14="http://schemas.microsoft.com/office/powerpoint/2010/main" val="103472982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FA64DF6-C7DC-E63F-FA64-714490468654}"/>
              </a:ext>
            </a:extLst>
          </p:cNvPr>
          <p:cNvSpPr>
            <a:spLocks noGrp="1"/>
          </p:cNvSpPr>
          <p:nvPr>
            <p:ph type="title"/>
          </p:nvPr>
        </p:nvSpPr>
        <p:spPr/>
        <p:txBody>
          <a:bodyPr/>
          <a:lstStyle/>
          <a:p>
            <a:r>
              <a:rPr lang="es-ES"/>
              <a:t>Haga clic para modificar el estilo de título del patrón</a:t>
            </a:r>
            <a:endParaRPr lang="es-PE"/>
          </a:p>
        </p:txBody>
      </p:sp>
    </p:spTree>
    <p:extLst>
      <p:ext uri="{BB962C8B-B14F-4D97-AF65-F5344CB8AC3E}">
        <p14:creationId xmlns:p14="http://schemas.microsoft.com/office/powerpoint/2010/main" val="124330561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Tree>
    <p:extLst>
      <p:ext uri="{BB962C8B-B14F-4D97-AF65-F5344CB8AC3E}">
        <p14:creationId xmlns:p14="http://schemas.microsoft.com/office/powerpoint/2010/main" val="191158007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429724B-2DAE-FBC4-308B-75219454217E}"/>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PE"/>
          </a:p>
        </p:txBody>
      </p:sp>
      <p:sp>
        <p:nvSpPr>
          <p:cNvPr id="3" name="Marcador de contenido 2">
            <a:extLst>
              <a:ext uri="{FF2B5EF4-FFF2-40B4-BE49-F238E27FC236}">
                <a16:creationId xmlns:a16="http://schemas.microsoft.com/office/drawing/2014/main" id="{98E257AD-2B79-8F51-13AB-CFC28B98DA5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texto 3">
            <a:extLst>
              <a:ext uri="{FF2B5EF4-FFF2-40B4-BE49-F238E27FC236}">
                <a16:creationId xmlns:a16="http://schemas.microsoft.com/office/drawing/2014/main" id="{EFA6A07C-DB6A-CA29-B615-E9958C36F75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Tree>
    <p:extLst>
      <p:ext uri="{BB962C8B-B14F-4D97-AF65-F5344CB8AC3E}">
        <p14:creationId xmlns:p14="http://schemas.microsoft.com/office/powerpoint/2010/main" val="1763490872"/>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E41048B-80DA-3BB5-6A58-5605223522E0}"/>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PE"/>
          </a:p>
        </p:txBody>
      </p:sp>
      <p:sp>
        <p:nvSpPr>
          <p:cNvPr id="3" name="Marcador de posición de imagen 2">
            <a:extLst>
              <a:ext uri="{FF2B5EF4-FFF2-40B4-BE49-F238E27FC236}">
                <a16:creationId xmlns:a16="http://schemas.microsoft.com/office/drawing/2014/main" id="{7D92FEB4-2E00-4023-538B-30A5921BEF3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PE"/>
          </a:p>
        </p:txBody>
      </p:sp>
      <p:sp>
        <p:nvSpPr>
          <p:cNvPr id="4" name="Marcador de texto 3">
            <a:extLst>
              <a:ext uri="{FF2B5EF4-FFF2-40B4-BE49-F238E27FC236}">
                <a16:creationId xmlns:a16="http://schemas.microsoft.com/office/drawing/2014/main" id="{44233CF5-B6B4-10E4-478C-6DDB9A5BF1C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Tree>
    <p:extLst>
      <p:ext uri="{BB962C8B-B14F-4D97-AF65-F5344CB8AC3E}">
        <p14:creationId xmlns:p14="http://schemas.microsoft.com/office/powerpoint/2010/main" val="171620291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CF1C037-CF07-6EDE-5256-F107A130154E}"/>
              </a:ext>
            </a:extLst>
          </p:cNvPr>
          <p:cNvSpPr>
            <a:spLocks noGrp="1"/>
          </p:cNvSpPr>
          <p:nvPr>
            <p:ph type="title"/>
          </p:nvPr>
        </p:nvSpPr>
        <p:spPr/>
        <p:txBody>
          <a:bodyPr/>
          <a:lstStyle/>
          <a:p>
            <a:r>
              <a:rPr lang="es-ES"/>
              <a:t>Haga clic para modificar el estilo de título del patrón</a:t>
            </a:r>
            <a:endParaRPr lang="es-PE"/>
          </a:p>
        </p:txBody>
      </p:sp>
      <p:sp>
        <p:nvSpPr>
          <p:cNvPr id="3" name="Marcador de texto vertical 2">
            <a:extLst>
              <a:ext uri="{FF2B5EF4-FFF2-40B4-BE49-F238E27FC236}">
                <a16:creationId xmlns:a16="http://schemas.microsoft.com/office/drawing/2014/main" id="{363734DB-7F38-40C2-DB07-056D9F4AA98D}"/>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Tree>
    <p:extLst>
      <p:ext uri="{BB962C8B-B14F-4D97-AF65-F5344CB8AC3E}">
        <p14:creationId xmlns:p14="http://schemas.microsoft.com/office/powerpoint/2010/main" val="180104528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67123563-8A2E-E7C1-DFA6-CB09318F59E0}"/>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PE"/>
          </a:p>
        </p:txBody>
      </p:sp>
      <p:sp>
        <p:nvSpPr>
          <p:cNvPr id="3" name="Marcador de texto vertical 2">
            <a:extLst>
              <a:ext uri="{FF2B5EF4-FFF2-40B4-BE49-F238E27FC236}">
                <a16:creationId xmlns:a16="http://schemas.microsoft.com/office/drawing/2014/main" id="{8BD9FDEA-5F7A-CB4B-4948-5699F2A9D375}"/>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Tree>
    <p:extLst>
      <p:ext uri="{BB962C8B-B14F-4D97-AF65-F5344CB8AC3E}">
        <p14:creationId xmlns:p14="http://schemas.microsoft.com/office/powerpoint/2010/main" val="571998512"/>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1414CD5C-D3B7-1E9F-C66A-18DE20BF154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PE"/>
          </a:p>
        </p:txBody>
      </p:sp>
      <p:sp>
        <p:nvSpPr>
          <p:cNvPr id="3" name="Marcador de texto 2">
            <a:extLst>
              <a:ext uri="{FF2B5EF4-FFF2-40B4-BE49-F238E27FC236}">
                <a16:creationId xmlns:a16="http://schemas.microsoft.com/office/drawing/2014/main" id="{D672C051-8D8B-69DD-E8F6-57E8B88F604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pic>
        <p:nvPicPr>
          <p:cNvPr id="7" name="Imagen 6">
            <a:extLst>
              <a:ext uri="{FF2B5EF4-FFF2-40B4-BE49-F238E27FC236}">
                <a16:creationId xmlns:a16="http://schemas.microsoft.com/office/drawing/2014/main" id="{3BA48894-C322-ABC8-4D7E-DDA280DC9EF4}"/>
              </a:ext>
            </a:extLst>
          </p:cNvPr>
          <p:cNvPicPr>
            <a:picLocks noChangeAspect="1"/>
          </p:cNvPicPr>
          <p:nvPr userDrawn="1"/>
        </p:nvPicPr>
        <p:blipFill>
          <a:blip r:embed="rId13"/>
          <a:stretch>
            <a:fillRect/>
          </a:stretch>
        </p:blipFill>
        <p:spPr>
          <a:xfrm>
            <a:off x="263352" y="6492875"/>
            <a:ext cx="1504000" cy="288000"/>
          </a:xfrm>
          <a:prstGeom prst="rect">
            <a:avLst/>
          </a:prstGeom>
        </p:spPr>
      </p:pic>
    </p:spTree>
    <p:extLst>
      <p:ext uri="{BB962C8B-B14F-4D97-AF65-F5344CB8AC3E}">
        <p14:creationId xmlns:p14="http://schemas.microsoft.com/office/powerpoint/2010/main" val="91169095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P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12" Type="http://schemas.openxmlformats.org/officeDocument/2006/relationships/image" Target="../media/image12.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6.png"/><Relationship Id="rId11" Type="http://schemas.openxmlformats.org/officeDocument/2006/relationships/image" Target="../media/image11.png"/><Relationship Id="rId5" Type="http://schemas.openxmlformats.org/officeDocument/2006/relationships/image" Target="../media/image5.png"/><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png"/></Relationships>
</file>

<file path=ppt/slides/_rels/slide4.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 Id="rId9" Type="http://schemas.openxmlformats.org/officeDocument/2006/relationships/image" Target="../media/image14.png"/></Relationships>
</file>

<file path=ppt/slides/_rels/slide5.xml.rels><?xml version="1.0" encoding="UTF-8" standalone="yes"?>
<Relationships xmlns="http://schemas.openxmlformats.org/package/2006/relationships"><Relationship Id="rId8" Type="http://schemas.openxmlformats.org/officeDocument/2006/relationships/image" Target="../media/image21.png"/><Relationship Id="rId13" Type="http://schemas.openxmlformats.org/officeDocument/2006/relationships/image" Target="../media/image26.png"/><Relationship Id="rId18" Type="http://schemas.openxmlformats.org/officeDocument/2006/relationships/image" Target="../media/image31.png"/><Relationship Id="rId3" Type="http://schemas.openxmlformats.org/officeDocument/2006/relationships/image" Target="../media/image16.png"/><Relationship Id="rId7" Type="http://schemas.openxmlformats.org/officeDocument/2006/relationships/image" Target="../media/image20.png"/><Relationship Id="rId12" Type="http://schemas.openxmlformats.org/officeDocument/2006/relationships/image" Target="../media/image25.png"/><Relationship Id="rId17" Type="http://schemas.openxmlformats.org/officeDocument/2006/relationships/image" Target="../media/image30.png"/><Relationship Id="rId2" Type="http://schemas.openxmlformats.org/officeDocument/2006/relationships/image" Target="../media/image15.png"/><Relationship Id="rId16" Type="http://schemas.openxmlformats.org/officeDocument/2006/relationships/image" Target="../media/image29.png"/><Relationship Id="rId1" Type="http://schemas.openxmlformats.org/officeDocument/2006/relationships/slideLayout" Target="../slideLayouts/slideLayout2.xml"/><Relationship Id="rId6" Type="http://schemas.openxmlformats.org/officeDocument/2006/relationships/image" Target="../media/image19.png"/><Relationship Id="rId11" Type="http://schemas.openxmlformats.org/officeDocument/2006/relationships/image" Target="../media/image24.png"/><Relationship Id="rId5" Type="http://schemas.openxmlformats.org/officeDocument/2006/relationships/image" Target="../media/image18.png"/><Relationship Id="rId15" Type="http://schemas.openxmlformats.org/officeDocument/2006/relationships/image" Target="../media/image28.png"/><Relationship Id="rId10" Type="http://schemas.openxmlformats.org/officeDocument/2006/relationships/image" Target="../media/image23.png"/><Relationship Id="rId19" Type="http://schemas.openxmlformats.org/officeDocument/2006/relationships/image" Target="../media/image32.png"/><Relationship Id="rId4" Type="http://schemas.openxmlformats.org/officeDocument/2006/relationships/image" Target="../media/image17.png"/><Relationship Id="rId9" Type="http://schemas.openxmlformats.org/officeDocument/2006/relationships/image" Target="../media/image22.png"/><Relationship Id="rId14" Type="http://schemas.openxmlformats.org/officeDocument/2006/relationships/image" Target="../media/image27.png"/></Relationships>
</file>

<file path=ppt/slides/_rels/slide6.xml.rels><?xml version="1.0" encoding="UTF-8" standalone="yes"?>
<Relationships xmlns="http://schemas.openxmlformats.org/package/2006/relationships"><Relationship Id="rId8" Type="http://schemas.openxmlformats.org/officeDocument/2006/relationships/image" Target="../media/image39.png"/><Relationship Id="rId3" Type="http://schemas.openxmlformats.org/officeDocument/2006/relationships/image" Target="../media/image34.png"/><Relationship Id="rId7" Type="http://schemas.openxmlformats.org/officeDocument/2006/relationships/image" Target="../media/image38.png"/><Relationship Id="rId2" Type="http://schemas.openxmlformats.org/officeDocument/2006/relationships/image" Target="../media/image33.png"/><Relationship Id="rId1" Type="http://schemas.openxmlformats.org/officeDocument/2006/relationships/slideLayout" Target="../slideLayouts/slideLayout2.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 Id="rId9" Type="http://schemas.openxmlformats.org/officeDocument/2006/relationships/image" Target="../media/image40.png"/></Relationships>
</file>

<file path=ppt/slides/_rels/slide7.xml.rels><?xml version="1.0" encoding="UTF-8" standalone="yes"?>
<Relationships xmlns="http://schemas.openxmlformats.org/package/2006/relationships"><Relationship Id="rId8" Type="http://schemas.openxmlformats.org/officeDocument/2006/relationships/image" Target="../media/image44.png"/><Relationship Id="rId3" Type="http://schemas.openxmlformats.org/officeDocument/2006/relationships/image" Target="../media/image35.png"/><Relationship Id="rId7" Type="http://schemas.openxmlformats.org/officeDocument/2006/relationships/image" Target="../media/image43.png"/><Relationship Id="rId2" Type="http://schemas.openxmlformats.org/officeDocument/2006/relationships/image" Target="../media/image41.png"/><Relationship Id="rId1" Type="http://schemas.openxmlformats.org/officeDocument/2006/relationships/slideLayout" Target="../slideLayouts/slideLayout2.xml"/><Relationship Id="rId6" Type="http://schemas.openxmlformats.org/officeDocument/2006/relationships/image" Target="../media/image42.png"/><Relationship Id="rId5" Type="http://schemas.openxmlformats.org/officeDocument/2006/relationships/image" Target="../media/image36.png"/><Relationship Id="rId10" Type="http://schemas.openxmlformats.org/officeDocument/2006/relationships/image" Target="../media/image46.png"/><Relationship Id="rId4" Type="http://schemas.openxmlformats.org/officeDocument/2006/relationships/image" Target="../media/image34.png"/><Relationship Id="rId9" Type="http://schemas.openxmlformats.org/officeDocument/2006/relationships/image" Target="../media/image45.png"/></Relationships>
</file>

<file path=ppt/slides/_rels/slide8.xml.rels><?xml version="1.0" encoding="UTF-8" standalone="yes"?>
<Relationships xmlns="http://schemas.openxmlformats.org/package/2006/relationships"><Relationship Id="rId8" Type="http://schemas.openxmlformats.org/officeDocument/2006/relationships/image" Target="../media/image50.png"/><Relationship Id="rId3" Type="http://schemas.openxmlformats.org/officeDocument/2006/relationships/image" Target="../media/image34.png"/><Relationship Id="rId7" Type="http://schemas.openxmlformats.org/officeDocument/2006/relationships/image" Target="../media/image49.png"/><Relationship Id="rId2" Type="http://schemas.openxmlformats.org/officeDocument/2006/relationships/image" Target="../media/image47.png"/><Relationship Id="rId1" Type="http://schemas.openxmlformats.org/officeDocument/2006/relationships/slideLayout" Target="../slideLayouts/slideLayout2.xml"/><Relationship Id="rId6" Type="http://schemas.openxmlformats.org/officeDocument/2006/relationships/image" Target="../media/image48.png"/><Relationship Id="rId5" Type="http://schemas.openxmlformats.org/officeDocument/2006/relationships/image" Target="../media/image39.png"/><Relationship Id="rId10" Type="http://schemas.openxmlformats.org/officeDocument/2006/relationships/image" Target="../media/image52.png"/><Relationship Id="rId4" Type="http://schemas.openxmlformats.org/officeDocument/2006/relationships/image" Target="../media/image35.png"/><Relationship Id="rId9" Type="http://schemas.openxmlformats.org/officeDocument/2006/relationships/image" Target="../media/image51.png"/></Relationships>
</file>

<file path=ppt/slides/_rels/slide9.xml.rels><?xml version="1.0" encoding="UTF-8" standalone="yes"?>
<Relationships xmlns="http://schemas.openxmlformats.org/package/2006/relationships"><Relationship Id="rId8" Type="http://schemas.openxmlformats.org/officeDocument/2006/relationships/image" Target="../media/image54.png"/><Relationship Id="rId3" Type="http://schemas.openxmlformats.org/officeDocument/2006/relationships/image" Target="../media/image34.png"/><Relationship Id="rId7" Type="http://schemas.openxmlformats.org/officeDocument/2006/relationships/image" Target="../media/image53.png"/><Relationship Id="rId2" Type="http://schemas.openxmlformats.org/officeDocument/2006/relationships/image" Target="../media/image47.png"/><Relationship Id="rId1" Type="http://schemas.openxmlformats.org/officeDocument/2006/relationships/slideLayout" Target="../slideLayouts/slideLayout2.xml"/><Relationship Id="rId6" Type="http://schemas.openxmlformats.org/officeDocument/2006/relationships/image" Target="../media/image48.png"/><Relationship Id="rId11" Type="http://schemas.openxmlformats.org/officeDocument/2006/relationships/image" Target="../media/image57.png"/><Relationship Id="rId5" Type="http://schemas.openxmlformats.org/officeDocument/2006/relationships/image" Target="../media/image39.png"/><Relationship Id="rId10" Type="http://schemas.openxmlformats.org/officeDocument/2006/relationships/image" Target="../media/image56.png"/><Relationship Id="rId4" Type="http://schemas.openxmlformats.org/officeDocument/2006/relationships/image" Target="../media/image35.png"/><Relationship Id="rId9" Type="http://schemas.openxmlformats.org/officeDocument/2006/relationships/image" Target="../media/image55.png"/></Relationships>
</file>

<file path=ppt/slides/_rels/slide10.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image" Target="../media/image59.png"/><Relationship Id="rId7" Type="http://schemas.openxmlformats.org/officeDocument/2006/relationships/image" Target="../media/image63.png"/><Relationship Id="rId12" Type="http://schemas.openxmlformats.org/officeDocument/2006/relationships/image" Target="../media/image66.png"/><Relationship Id="rId2" Type="http://schemas.openxmlformats.org/officeDocument/2006/relationships/image" Target="../media/image58.png"/><Relationship Id="rId1" Type="http://schemas.openxmlformats.org/officeDocument/2006/relationships/slideLayout" Target="../slideLayouts/slideLayout2.xml"/><Relationship Id="rId6" Type="http://schemas.openxmlformats.org/officeDocument/2006/relationships/image" Target="../media/image62.png"/><Relationship Id="rId11" Type="http://schemas.openxmlformats.org/officeDocument/2006/relationships/image" Target="../media/image65.png"/><Relationship Id="rId5" Type="http://schemas.openxmlformats.org/officeDocument/2006/relationships/image" Target="../media/image61.png"/><Relationship Id="rId10" Type="http://schemas.openxmlformats.org/officeDocument/2006/relationships/image" Target="../media/image64.png"/><Relationship Id="rId4" Type="http://schemas.openxmlformats.org/officeDocument/2006/relationships/image" Target="../media/image60.png"/><Relationship Id="rId9" Type="http://schemas.openxmlformats.org/officeDocument/2006/relationships/image" Target="../media/image43.png"/></Relationships>
</file>

<file path=ppt/slides/_rels/slide11.xml.rels><?xml version="1.0" encoding="UTF-8" standalone="yes"?>
<Relationships xmlns="http://schemas.openxmlformats.org/package/2006/relationships"><Relationship Id="rId8" Type="http://schemas.openxmlformats.org/officeDocument/2006/relationships/image" Target="../media/image63.png"/><Relationship Id="rId3" Type="http://schemas.openxmlformats.org/officeDocument/2006/relationships/image" Target="../media/image68.png"/><Relationship Id="rId7" Type="http://schemas.openxmlformats.org/officeDocument/2006/relationships/image" Target="../media/image62.png"/><Relationship Id="rId12" Type="http://schemas.openxmlformats.org/officeDocument/2006/relationships/image" Target="../media/image65.png"/><Relationship Id="rId2" Type="http://schemas.openxmlformats.org/officeDocument/2006/relationships/image" Target="../media/image67.png"/><Relationship Id="rId1" Type="http://schemas.openxmlformats.org/officeDocument/2006/relationships/slideLayout" Target="../slideLayouts/slideLayout2.xml"/><Relationship Id="rId6" Type="http://schemas.openxmlformats.org/officeDocument/2006/relationships/image" Target="../media/image70.png"/><Relationship Id="rId11" Type="http://schemas.openxmlformats.org/officeDocument/2006/relationships/image" Target="../media/image64.png"/><Relationship Id="rId5" Type="http://schemas.openxmlformats.org/officeDocument/2006/relationships/image" Target="../media/image69.png"/><Relationship Id="rId10" Type="http://schemas.openxmlformats.org/officeDocument/2006/relationships/image" Target="../media/image43.png"/><Relationship Id="rId4" Type="http://schemas.openxmlformats.org/officeDocument/2006/relationships/image" Target="../media/image55.png"/><Relationship Id="rId9" Type="http://schemas.openxmlformats.org/officeDocument/2006/relationships/image" Target="../media/image34.png"/></Relationships>
</file>

<file path=ppt/slides/_rels/slide12.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image" Target="../media/image72.png"/><Relationship Id="rId7" Type="http://schemas.openxmlformats.org/officeDocument/2006/relationships/image" Target="../media/image42.png"/><Relationship Id="rId2" Type="http://schemas.openxmlformats.org/officeDocument/2006/relationships/image" Target="../media/image71.png"/><Relationship Id="rId1" Type="http://schemas.openxmlformats.org/officeDocument/2006/relationships/slideLayout" Target="../slideLayouts/slideLayout2.xml"/><Relationship Id="rId6" Type="http://schemas.openxmlformats.org/officeDocument/2006/relationships/image" Target="../media/image75.png"/><Relationship Id="rId11" Type="http://schemas.openxmlformats.org/officeDocument/2006/relationships/image" Target="../media/image76.png"/><Relationship Id="rId5" Type="http://schemas.openxmlformats.org/officeDocument/2006/relationships/image" Target="../media/image74.png"/><Relationship Id="rId10" Type="http://schemas.openxmlformats.org/officeDocument/2006/relationships/image" Target="../media/image43.png"/><Relationship Id="rId4" Type="http://schemas.openxmlformats.org/officeDocument/2006/relationships/image" Target="../media/image73.png"/><Relationship Id="rId9" Type="http://schemas.openxmlformats.org/officeDocument/2006/relationships/image" Target="../media/image35.png"/></Relationships>
</file>

<file path=ppt/slides/_rels/slide13.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78.png"/><Relationship Id="rId7" Type="http://schemas.openxmlformats.org/officeDocument/2006/relationships/image" Target="../media/image75.png"/><Relationship Id="rId12" Type="http://schemas.openxmlformats.org/officeDocument/2006/relationships/image" Target="../media/image76.png"/><Relationship Id="rId2" Type="http://schemas.openxmlformats.org/officeDocument/2006/relationships/image" Target="../media/image77.png"/><Relationship Id="rId1" Type="http://schemas.openxmlformats.org/officeDocument/2006/relationships/slideLayout" Target="../slideLayouts/slideLayout2.xml"/><Relationship Id="rId6" Type="http://schemas.openxmlformats.org/officeDocument/2006/relationships/image" Target="../media/image80.png"/><Relationship Id="rId11" Type="http://schemas.openxmlformats.org/officeDocument/2006/relationships/image" Target="../media/image43.png"/><Relationship Id="rId5" Type="http://schemas.openxmlformats.org/officeDocument/2006/relationships/image" Target="../media/image79.png"/><Relationship Id="rId10" Type="http://schemas.openxmlformats.org/officeDocument/2006/relationships/image" Target="../media/image35.png"/><Relationship Id="rId4" Type="http://schemas.openxmlformats.org/officeDocument/2006/relationships/image" Target="../media/image55.png"/><Relationship Id="rId9" Type="http://schemas.openxmlformats.org/officeDocument/2006/relationships/image" Target="../media/image34.png"/></Relationships>
</file>

<file path=ppt/slides/_rels/slide14.xml.rels><?xml version="1.0" encoding="UTF-8" standalone="yes"?>
<Relationships xmlns="http://schemas.openxmlformats.org/package/2006/relationships"><Relationship Id="rId2" Type="http://schemas.openxmlformats.org/officeDocument/2006/relationships/image" Target="../media/image56.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a:xfrm>
            <a:off x="815788" y="2579391"/>
            <a:ext cx="10560424" cy="1842526"/>
          </a:xfrm>
          <a:solidFill>
            <a:schemeClr val="tx1"/>
          </a:solidFill>
        </p:spPr>
        <p:txBody>
          <a:bodyPr anchor="ctr">
            <a:normAutofit/>
          </a:bodyPr>
          <a:lstStyle/>
          <a:p>
            <a:r>
              <a:rPr lang="es-ES" sz="4800" b="1" dirty="0">
                <a:latin typeface="Century Gothic" charset="0"/>
                <a:ea typeface="Century Gothic" charset="0"/>
                <a:cs typeface="Century Gothic" charset="0"/>
              </a:rPr>
              <a:t>Métodos aproximados de cálculo estructural: Método de Muto</a:t>
            </a:r>
            <a:endParaRPr lang="es-ES_tradnl" sz="4800" dirty="0">
              <a:latin typeface="Century Gothic" charset="0"/>
              <a:ea typeface="Century Gothic" charset="0"/>
              <a:cs typeface="Century Gothic" charset="0"/>
            </a:endParaRPr>
          </a:p>
        </p:txBody>
      </p:sp>
      <p:sp>
        <p:nvSpPr>
          <p:cNvPr id="3" name="Subtítulo 2"/>
          <p:cNvSpPr>
            <a:spLocks noGrp="1"/>
          </p:cNvSpPr>
          <p:nvPr>
            <p:ph type="subTitle" idx="1"/>
          </p:nvPr>
        </p:nvSpPr>
        <p:spPr>
          <a:xfrm>
            <a:off x="1246901" y="4724459"/>
            <a:ext cx="10560424" cy="719050"/>
          </a:xfrm>
          <a:solidFill>
            <a:schemeClr val="tx1"/>
          </a:solidFill>
        </p:spPr>
        <p:txBody>
          <a:bodyPr>
            <a:normAutofit fontScale="85000" lnSpcReduction="20000"/>
          </a:bodyPr>
          <a:lstStyle/>
          <a:p>
            <a:pPr algn="r"/>
            <a:r>
              <a:rPr lang="es-ES" sz="2600" dirty="0">
                <a:solidFill>
                  <a:schemeClr val="bg1">
                    <a:lumMod val="75000"/>
                  </a:schemeClr>
                </a:solidFill>
                <a:latin typeface="Century Gothic" charset="0"/>
                <a:ea typeface="Century Gothic" charset="0"/>
                <a:cs typeface="Century Gothic" charset="0"/>
              </a:rPr>
              <a:t>Análisis Estructural II</a:t>
            </a:r>
          </a:p>
          <a:p>
            <a:pPr algn="r"/>
            <a:r>
              <a:rPr lang="es-ES" sz="2600" dirty="0">
                <a:solidFill>
                  <a:schemeClr val="bg1">
                    <a:lumMod val="75000"/>
                  </a:schemeClr>
                </a:solidFill>
                <a:latin typeface="Century Gothic" charset="0"/>
                <a:ea typeface="Century Gothic" charset="0"/>
                <a:cs typeface="Century Gothic" charset="0"/>
              </a:rPr>
              <a:t>Ing° Alaín Elvis Alanoca Aragón</a:t>
            </a:r>
          </a:p>
          <a:p>
            <a:endParaRPr lang="es-ES_tradnl" dirty="0">
              <a:latin typeface="Century Gothic" charset="0"/>
              <a:ea typeface="Century Gothic" charset="0"/>
              <a:cs typeface="Century Gothic" charset="0"/>
            </a:endParaRPr>
          </a:p>
        </p:txBody>
      </p:sp>
    </p:spTree>
    <p:extLst>
      <p:ext uri="{BB962C8B-B14F-4D97-AF65-F5344CB8AC3E}">
        <p14:creationId xmlns:p14="http://schemas.microsoft.com/office/powerpoint/2010/main" val="12987041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uadroTexto 5">
            <a:extLst>
              <a:ext uri="{FF2B5EF4-FFF2-40B4-BE49-F238E27FC236}">
                <a16:creationId xmlns:a16="http://schemas.microsoft.com/office/drawing/2014/main" id="{C0636ED9-A587-4E08-845C-8F78B36D1894}"/>
              </a:ext>
            </a:extLst>
          </p:cNvPr>
          <p:cNvSpPr txBox="1"/>
          <p:nvPr/>
        </p:nvSpPr>
        <p:spPr>
          <a:xfrm>
            <a:off x="1792224" y="560832"/>
            <a:ext cx="2475358" cy="707886"/>
          </a:xfrm>
          <a:prstGeom prst="rect">
            <a:avLst/>
          </a:prstGeom>
          <a:noFill/>
        </p:spPr>
        <p:txBody>
          <a:bodyPr wrap="none" rtlCol="0">
            <a:spAutoFit/>
          </a:bodyPr>
          <a:lstStyle/>
          <a:p>
            <a:r>
              <a:rPr lang="es-ES" sz="4000" b="1" dirty="0">
                <a:latin typeface="Century Gothic" panose="020B0502020202020204" pitchFamily="34" charset="0"/>
              </a:rPr>
              <a:t>Propósito</a:t>
            </a:r>
            <a:endParaRPr lang="es-PE" sz="4000" b="1" dirty="0">
              <a:latin typeface="Century Gothic" panose="020B0502020202020204" pitchFamily="34" charset="0"/>
            </a:endParaRPr>
          </a:p>
        </p:txBody>
      </p:sp>
      <p:sp>
        <p:nvSpPr>
          <p:cNvPr id="9" name="CuadroTexto 8">
            <a:extLst>
              <a:ext uri="{FF2B5EF4-FFF2-40B4-BE49-F238E27FC236}">
                <a16:creationId xmlns:a16="http://schemas.microsoft.com/office/drawing/2014/main" id="{80DA2B63-B3D3-45E3-8599-3962FEEF0244}"/>
              </a:ext>
            </a:extLst>
          </p:cNvPr>
          <p:cNvSpPr txBox="1"/>
          <p:nvPr/>
        </p:nvSpPr>
        <p:spPr>
          <a:xfrm>
            <a:off x="597408" y="2387084"/>
            <a:ext cx="10997184" cy="1569660"/>
          </a:xfrm>
          <a:prstGeom prst="rect">
            <a:avLst/>
          </a:prstGeom>
          <a:noFill/>
        </p:spPr>
        <p:txBody>
          <a:bodyPr wrap="square" rtlCol="0">
            <a:spAutoFit/>
          </a:bodyPr>
          <a:lstStyle/>
          <a:p>
            <a:pPr marL="285750" indent="-285750" algn="just">
              <a:buFont typeface="Arial" panose="020B0604020202020204" pitchFamily="34" charset="0"/>
              <a:buChar char="•"/>
            </a:pPr>
            <a:r>
              <a:rPr lang="es-MX" sz="3200" dirty="0">
                <a:latin typeface="Century Gothic" panose="020B0502020202020204" pitchFamily="34" charset="0"/>
              </a:rPr>
              <a:t>Conocer el procedimiento de análisis estructural de pórticos en el plano bajo el efecto de cargas laterales por el Método de Muto.</a:t>
            </a:r>
          </a:p>
        </p:txBody>
      </p:sp>
    </p:spTree>
    <p:extLst>
      <p:ext uri="{BB962C8B-B14F-4D97-AF65-F5344CB8AC3E}">
        <p14:creationId xmlns:p14="http://schemas.microsoft.com/office/powerpoint/2010/main" val="9277364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8BD4B30-9B7A-4FF3-9506-6E2F889CBD85}"/>
              </a:ext>
            </a:extLst>
          </p:cNvPr>
          <p:cNvSpPr>
            <a:spLocks noGrp="1"/>
          </p:cNvSpPr>
          <p:nvPr>
            <p:ph type="title"/>
          </p:nvPr>
        </p:nvSpPr>
        <p:spPr/>
        <p:txBody>
          <a:bodyPr/>
          <a:lstStyle/>
          <a:p>
            <a:r>
              <a:rPr lang="es-PE" dirty="0"/>
              <a:t>Generalidades de análisis por el Método de Muto</a:t>
            </a:r>
          </a:p>
        </p:txBody>
      </p:sp>
      <p:sp>
        <p:nvSpPr>
          <p:cNvPr id="6" name="CuadroTexto 5">
            <a:extLst>
              <a:ext uri="{FF2B5EF4-FFF2-40B4-BE49-F238E27FC236}">
                <a16:creationId xmlns:a16="http://schemas.microsoft.com/office/drawing/2014/main" id="{80914ED9-993F-338F-37C8-725FD3F32826}"/>
              </a:ext>
            </a:extLst>
          </p:cNvPr>
          <p:cNvSpPr txBox="1"/>
          <p:nvPr/>
        </p:nvSpPr>
        <p:spPr>
          <a:xfrm>
            <a:off x="838200" y="2001408"/>
            <a:ext cx="10154344" cy="461665"/>
          </a:xfrm>
          <a:prstGeom prst="rect">
            <a:avLst/>
          </a:prstGeom>
          <a:noFill/>
        </p:spPr>
        <p:txBody>
          <a:bodyPr wrap="square" rtlCol="0">
            <a:spAutoFit/>
          </a:bodyPr>
          <a:lstStyle/>
          <a:p>
            <a:pPr marL="342900" indent="-342900">
              <a:buFont typeface="Arial" panose="020B0604020202020204" pitchFamily="34" charset="0"/>
              <a:buChar char="•"/>
            </a:pPr>
            <a:r>
              <a:rPr lang="es-PE" sz="2400" dirty="0"/>
              <a:t>Rigidez lateral de una columna biarticulada:</a:t>
            </a:r>
          </a:p>
        </p:txBody>
      </p:sp>
      <p:sp>
        <p:nvSpPr>
          <p:cNvPr id="12" name="Rectángulo 11">
            <a:extLst>
              <a:ext uri="{FF2B5EF4-FFF2-40B4-BE49-F238E27FC236}">
                <a16:creationId xmlns:a16="http://schemas.microsoft.com/office/drawing/2014/main" id="{C91FC643-151F-8FA3-AAEA-5DC0D1CABB8F}"/>
              </a:ext>
            </a:extLst>
          </p:cNvPr>
          <p:cNvSpPr/>
          <p:nvPr/>
        </p:nvSpPr>
        <p:spPr>
          <a:xfrm>
            <a:off x="2065844" y="3356991"/>
            <a:ext cx="72000" cy="2196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3" name="Rectángulo 12">
            <a:extLst>
              <a:ext uri="{FF2B5EF4-FFF2-40B4-BE49-F238E27FC236}">
                <a16:creationId xmlns:a16="http://schemas.microsoft.com/office/drawing/2014/main" id="{EB706BA2-B0E1-5293-CE00-95CD4567ED13}"/>
              </a:ext>
            </a:extLst>
          </p:cNvPr>
          <p:cNvSpPr/>
          <p:nvPr/>
        </p:nvSpPr>
        <p:spPr>
          <a:xfrm>
            <a:off x="1818530" y="3140644"/>
            <a:ext cx="566628" cy="216347"/>
          </a:xfrm>
          <a:prstGeom prst="rect">
            <a:avLst/>
          </a:prstGeom>
          <a:pattFill prst="wdUpDiag">
            <a:fgClr>
              <a:schemeClr val="accent2">
                <a:lumMod val="75000"/>
              </a:schemeClr>
            </a:fgClr>
            <a:bgClr>
              <a:schemeClr val="bg1"/>
            </a:bgClr>
          </a:patt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dirty="0"/>
          </a:p>
        </p:txBody>
      </p:sp>
      <p:sp>
        <p:nvSpPr>
          <p:cNvPr id="14" name="Rectángulo 13">
            <a:extLst>
              <a:ext uri="{FF2B5EF4-FFF2-40B4-BE49-F238E27FC236}">
                <a16:creationId xmlns:a16="http://schemas.microsoft.com/office/drawing/2014/main" id="{34CFAED4-6423-20AE-E661-99B64E352D89}"/>
              </a:ext>
            </a:extLst>
          </p:cNvPr>
          <p:cNvSpPr/>
          <p:nvPr/>
        </p:nvSpPr>
        <p:spPr>
          <a:xfrm>
            <a:off x="1818530" y="5570928"/>
            <a:ext cx="566628" cy="216347"/>
          </a:xfrm>
          <a:prstGeom prst="rect">
            <a:avLst/>
          </a:prstGeom>
          <a:pattFill prst="wdUpDiag">
            <a:fgClr>
              <a:schemeClr val="accent2">
                <a:lumMod val="75000"/>
              </a:schemeClr>
            </a:fgClr>
            <a:bgClr>
              <a:schemeClr val="bg1"/>
            </a:bgClr>
          </a:patt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dirty="0"/>
          </a:p>
        </p:txBody>
      </p:sp>
      <p:sp>
        <p:nvSpPr>
          <p:cNvPr id="15" name="Forma libre: forma 14">
            <a:extLst>
              <a:ext uri="{FF2B5EF4-FFF2-40B4-BE49-F238E27FC236}">
                <a16:creationId xmlns:a16="http://schemas.microsoft.com/office/drawing/2014/main" id="{726812CA-5C0D-2E64-6054-96A58050A5CD}"/>
              </a:ext>
            </a:extLst>
          </p:cNvPr>
          <p:cNvSpPr/>
          <p:nvPr/>
        </p:nvSpPr>
        <p:spPr>
          <a:xfrm>
            <a:off x="2084465" y="3360417"/>
            <a:ext cx="844276" cy="2228374"/>
          </a:xfrm>
          <a:custGeom>
            <a:avLst/>
            <a:gdLst>
              <a:gd name="connsiteX0" fmla="*/ 11033 w 933053"/>
              <a:gd name="connsiteY0" fmla="*/ 2209800 h 2209800"/>
              <a:gd name="connsiteX1" fmla="*/ 94853 w 933053"/>
              <a:gd name="connsiteY1" fmla="*/ 1211580 h 2209800"/>
              <a:gd name="connsiteX2" fmla="*/ 704453 w 933053"/>
              <a:gd name="connsiteY2" fmla="*/ 586740 h 2209800"/>
              <a:gd name="connsiteX3" fmla="*/ 933053 w 933053"/>
              <a:gd name="connsiteY3" fmla="*/ 0 h 2209800"/>
            </a:gdLst>
            <a:ahLst/>
            <a:cxnLst>
              <a:cxn ang="0">
                <a:pos x="connsiteX0" y="connsiteY0"/>
              </a:cxn>
              <a:cxn ang="0">
                <a:pos x="connsiteX1" y="connsiteY1"/>
              </a:cxn>
              <a:cxn ang="0">
                <a:pos x="connsiteX2" y="connsiteY2"/>
              </a:cxn>
              <a:cxn ang="0">
                <a:pos x="connsiteX3" y="connsiteY3"/>
              </a:cxn>
            </a:cxnLst>
            <a:rect l="l" t="t" r="r" b="b"/>
            <a:pathLst>
              <a:path w="933053" h="2209800">
                <a:moveTo>
                  <a:pt x="11033" y="2209800"/>
                </a:moveTo>
                <a:cubicBezTo>
                  <a:pt x="-4842" y="1845945"/>
                  <a:pt x="-20717" y="1482090"/>
                  <a:pt x="94853" y="1211580"/>
                </a:cubicBezTo>
                <a:cubicBezTo>
                  <a:pt x="210423" y="941070"/>
                  <a:pt x="564753" y="788670"/>
                  <a:pt x="704453" y="586740"/>
                </a:cubicBezTo>
                <a:cubicBezTo>
                  <a:pt x="844153" y="384810"/>
                  <a:pt x="888603" y="192405"/>
                  <a:pt x="933053" y="0"/>
                </a:cubicBezTo>
              </a:path>
            </a:pathLst>
          </a:custGeom>
          <a:noFill/>
          <a:ln w="79375">
            <a:solidFill>
              <a:srgbClr val="0070C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dirty="0"/>
          </a:p>
        </p:txBody>
      </p:sp>
      <p:sp>
        <p:nvSpPr>
          <p:cNvPr id="16" name="Rectángulo 15">
            <a:extLst>
              <a:ext uri="{FF2B5EF4-FFF2-40B4-BE49-F238E27FC236}">
                <a16:creationId xmlns:a16="http://schemas.microsoft.com/office/drawing/2014/main" id="{8A7E07F1-0A56-0364-AED4-CF578F7B106C}"/>
              </a:ext>
            </a:extLst>
          </p:cNvPr>
          <p:cNvSpPr/>
          <p:nvPr/>
        </p:nvSpPr>
        <p:spPr>
          <a:xfrm>
            <a:off x="2675617" y="3136442"/>
            <a:ext cx="566628" cy="216347"/>
          </a:xfrm>
          <a:prstGeom prst="rect">
            <a:avLst/>
          </a:prstGeom>
          <a:pattFill prst="wdUpDiag">
            <a:fgClr>
              <a:schemeClr val="accent2">
                <a:lumMod val="75000"/>
              </a:schemeClr>
            </a:fgClr>
            <a:bgClr>
              <a:schemeClr val="bg1"/>
            </a:bgClr>
          </a:patt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dirty="0"/>
          </a:p>
        </p:txBody>
      </p:sp>
      <p:cxnSp>
        <p:nvCxnSpPr>
          <p:cNvPr id="18" name="Conector recto 17">
            <a:extLst>
              <a:ext uri="{FF2B5EF4-FFF2-40B4-BE49-F238E27FC236}">
                <a16:creationId xmlns:a16="http://schemas.microsoft.com/office/drawing/2014/main" id="{A08621F7-A0BE-0C9D-742B-77A090F46934}"/>
              </a:ext>
            </a:extLst>
          </p:cNvPr>
          <p:cNvCxnSpPr/>
          <p:nvPr/>
        </p:nvCxnSpPr>
        <p:spPr>
          <a:xfrm>
            <a:off x="2101652" y="2924944"/>
            <a:ext cx="0" cy="49857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Conector recto 18">
            <a:extLst>
              <a:ext uri="{FF2B5EF4-FFF2-40B4-BE49-F238E27FC236}">
                <a16:creationId xmlns:a16="http://schemas.microsoft.com/office/drawing/2014/main" id="{C4D7CD5E-B589-3A02-7E76-5C7678CF04D5}"/>
              </a:ext>
            </a:extLst>
          </p:cNvPr>
          <p:cNvCxnSpPr/>
          <p:nvPr/>
        </p:nvCxnSpPr>
        <p:spPr>
          <a:xfrm>
            <a:off x="2927648" y="2924944"/>
            <a:ext cx="0" cy="49857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Conector recto 20">
            <a:extLst>
              <a:ext uri="{FF2B5EF4-FFF2-40B4-BE49-F238E27FC236}">
                <a16:creationId xmlns:a16="http://schemas.microsoft.com/office/drawing/2014/main" id="{829C4A41-2E80-2C05-763C-296F031622BD}"/>
              </a:ext>
            </a:extLst>
          </p:cNvPr>
          <p:cNvCxnSpPr/>
          <p:nvPr/>
        </p:nvCxnSpPr>
        <p:spPr>
          <a:xfrm>
            <a:off x="1919536" y="3046100"/>
            <a:ext cx="1224409"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2" name="CuadroTexto 21">
                <a:extLst>
                  <a:ext uri="{FF2B5EF4-FFF2-40B4-BE49-F238E27FC236}">
                    <a16:creationId xmlns:a16="http://schemas.microsoft.com/office/drawing/2014/main" id="{D1C2B6BA-7FBE-3BDE-9E58-064F565CB0A2}"/>
                  </a:ext>
                </a:extLst>
              </p:cNvPr>
              <p:cNvSpPr txBox="1"/>
              <p:nvPr/>
            </p:nvSpPr>
            <p:spPr>
              <a:xfrm>
                <a:off x="2466393" y="2769101"/>
                <a:ext cx="190758"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PE" i="1" smtClean="0">
                          <a:latin typeface="Cambria Math" panose="02040503050406030204" pitchFamily="18" charset="0"/>
                          <a:ea typeface="Cambria Math" panose="02040503050406030204" pitchFamily="18" charset="0"/>
                        </a:rPr>
                        <m:t>∆</m:t>
                      </m:r>
                    </m:oMath>
                  </m:oMathPara>
                </a14:m>
                <a:endParaRPr lang="es-PE" dirty="0"/>
              </a:p>
            </p:txBody>
          </p:sp>
        </mc:Choice>
        <mc:Fallback xmlns="">
          <p:sp>
            <p:nvSpPr>
              <p:cNvPr id="22" name="CuadroTexto 21">
                <a:extLst>
                  <a:ext uri="{FF2B5EF4-FFF2-40B4-BE49-F238E27FC236}">
                    <a16:creationId xmlns:a16="http://schemas.microsoft.com/office/drawing/2014/main" id="{D1C2B6BA-7FBE-3BDE-9E58-064F565CB0A2}"/>
                  </a:ext>
                </a:extLst>
              </p:cNvPr>
              <p:cNvSpPr txBox="1">
                <a:spLocks noRot="1" noChangeAspect="1" noMove="1" noResize="1" noEditPoints="1" noAdjustHandles="1" noChangeArrowheads="1" noChangeShapeType="1" noTextEdit="1"/>
              </p:cNvSpPr>
              <p:nvPr/>
            </p:nvSpPr>
            <p:spPr>
              <a:xfrm>
                <a:off x="2466393" y="2769101"/>
                <a:ext cx="190758" cy="276999"/>
              </a:xfrm>
              <a:prstGeom prst="rect">
                <a:avLst/>
              </a:prstGeom>
              <a:blipFill>
                <a:blip r:embed="rId2"/>
                <a:stretch>
                  <a:fillRect l="-32258" r="-29032" b="-6522"/>
                </a:stretch>
              </a:blipFill>
            </p:spPr>
            <p:txBody>
              <a:bodyPr/>
              <a:lstStyle/>
              <a:p>
                <a:r>
                  <a:rPr lang="es-PE">
                    <a:noFill/>
                  </a:rPr>
                  <a:t> </a:t>
                </a:r>
              </a:p>
            </p:txBody>
          </p:sp>
        </mc:Fallback>
      </mc:AlternateContent>
      <p:cxnSp>
        <p:nvCxnSpPr>
          <p:cNvPr id="24" name="Conector recto 23">
            <a:extLst>
              <a:ext uri="{FF2B5EF4-FFF2-40B4-BE49-F238E27FC236}">
                <a16:creationId xmlns:a16="http://schemas.microsoft.com/office/drawing/2014/main" id="{238EDB5C-ABF2-5A09-4DCB-647666F43B3E}"/>
              </a:ext>
            </a:extLst>
          </p:cNvPr>
          <p:cNvCxnSpPr>
            <a:cxnSpLocks/>
          </p:cNvCxnSpPr>
          <p:nvPr/>
        </p:nvCxnSpPr>
        <p:spPr>
          <a:xfrm>
            <a:off x="1271464" y="3244615"/>
            <a:ext cx="0" cy="254266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Conector recto 26">
            <a:extLst>
              <a:ext uri="{FF2B5EF4-FFF2-40B4-BE49-F238E27FC236}">
                <a16:creationId xmlns:a16="http://schemas.microsoft.com/office/drawing/2014/main" id="{15F4103A-699C-7D5F-E568-572E6790800C}"/>
              </a:ext>
            </a:extLst>
          </p:cNvPr>
          <p:cNvCxnSpPr/>
          <p:nvPr/>
        </p:nvCxnSpPr>
        <p:spPr>
          <a:xfrm>
            <a:off x="1078300" y="3360417"/>
            <a:ext cx="36004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Conector recto 27">
            <a:extLst>
              <a:ext uri="{FF2B5EF4-FFF2-40B4-BE49-F238E27FC236}">
                <a16:creationId xmlns:a16="http://schemas.microsoft.com/office/drawing/2014/main" id="{5288A2E6-7D98-A9D5-6203-5F89A14C111A}"/>
              </a:ext>
            </a:extLst>
          </p:cNvPr>
          <p:cNvCxnSpPr/>
          <p:nvPr/>
        </p:nvCxnSpPr>
        <p:spPr>
          <a:xfrm>
            <a:off x="1085920" y="5593785"/>
            <a:ext cx="36004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9" name="CuadroTexto 28">
                <a:extLst>
                  <a:ext uri="{FF2B5EF4-FFF2-40B4-BE49-F238E27FC236}">
                    <a16:creationId xmlns:a16="http://schemas.microsoft.com/office/drawing/2014/main" id="{58ED21A9-9DF7-85D4-F523-4DFBCB033493}"/>
                  </a:ext>
                </a:extLst>
              </p:cNvPr>
              <p:cNvSpPr txBox="1"/>
              <p:nvPr/>
            </p:nvSpPr>
            <p:spPr>
              <a:xfrm>
                <a:off x="947739" y="4316491"/>
                <a:ext cx="185115"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PE" b="0" i="1" smtClean="0">
                          <a:latin typeface="Cambria Math" panose="02040503050406030204" pitchFamily="18" charset="0"/>
                          <a:ea typeface="Cambria Math" panose="02040503050406030204" pitchFamily="18" charset="0"/>
                        </a:rPr>
                        <m:t>h</m:t>
                      </m:r>
                    </m:oMath>
                  </m:oMathPara>
                </a14:m>
                <a:endParaRPr lang="es-PE" dirty="0"/>
              </a:p>
            </p:txBody>
          </p:sp>
        </mc:Choice>
        <mc:Fallback xmlns="">
          <p:sp>
            <p:nvSpPr>
              <p:cNvPr id="29" name="CuadroTexto 28">
                <a:extLst>
                  <a:ext uri="{FF2B5EF4-FFF2-40B4-BE49-F238E27FC236}">
                    <a16:creationId xmlns:a16="http://schemas.microsoft.com/office/drawing/2014/main" id="{58ED21A9-9DF7-85D4-F523-4DFBCB033493}"/>
                  </a:ext>
                </a:extLst>
              </p:cNvPr>
              <p:cNvSpPr txBox="1">
                <a:spLocks noRot="1" noChangeAspect="1" noMove="1" noResize="1" noEditPoints="1" noAdjustHandles="1" noChangeArrowheads="1" noChangeShapeType="1" noTextEdit="1"/>
              </p:cNvSpPr>
              <p:nvPr/>
            </p:nvSpPr>
            <p:spPr>
              <a:xfrm>
                <a:off x="947739" y="4316491"/>
                <a:ext cx="185115" cy="276999"/>
              </a:xfrm>
              <a:prstGeom prst="rect">
                <a:avLst/>
              </a:prstGeom>
              <a:blipFill>
                <a:blip r:embed="rId3"/>
                <a:stretch>
                  <a:fillRect l="-32258" r="-25806" b="-6522"/>
                </a:stretch>
              </a:blipFill>
            </p:spPr>
            <p:txBody>
              <a:bodyPr/>
              <a:lstStyle/>
              <a:p>
                <a:r>
                  <a:rPr lang="es-PE">
                    <a:noFill/>
                  </a:rPr>
                  <a:t> </a:t>
                </a:r>
              </a:p>
            </p:txBody>
          </p:sp>
        </mc:Fallback>
      </mc:AlternateContent>
      <mc:AlternateContent xmlns:mc="http://schemas.openxmlformats.org/markup-compatibility/2006" xmlns:a14="http://schemas.microsoft.com/office/drawing/2010/main">
        <mc:Choice Requires="a14">
          <p:sp>
            <p:nvSpPr>
              <p:cNvPr id="30" name="CuadroTexto 29">
                <a:extLst>
                  <a:ext uri="{FF2B5EF4-FFF2-40B4-BE49-F238E27FC236}">
                    <a16:creationId xmlns:a16="http://schemas.microsoft.com/office/drawing/2014/main" id="{7FAB9F2C-B65B-A85F-194D-652656DF71F7}"/>
                  </a:ext>
                </a:extLst>
              </p:cNvPr>
              <p:cNvSpPr txBox="1"/>
              <p:nvPr/>
            </p:nvSpPr>
            <p:spPr>
              <a:xfrm>
                <a:off x="2156465" y="5215513"/>
                <a:ext cx="146001" cy="307777"/>
              </a:xfrm>
              <a:prstGeom prst="rect">
                <a:avLst/>
              </a:prstGeom>
              <a:noFill/>
            </p:spPr>
            <p:txBody>
              <a:bodyPr wrap="none" lIns="0" tIns="0" rIns="0" bIns="0" rtlCol="0">
                <a:spAutoFit/>
              </a:bodyPr>
              <a:lstStyle>
                <a:defPPr>
                  <a:defRPr lang="es-PE"/>
                </a:defPPr>
                <a:lvl1pPr>
                  <a:defRPr sz="2000" b="1" i="1">
                    <a:latin typeface="Cambria Math" panose="02040503050406030204" pitchFamily="18" charset="0"/>
                    <a:ea typeface="Cambria Math" panose="02040503050406030204" pitchFamily="18" charset="0"/>
                  </a:defRPr>
                </a:lvl1pPr>
              </a:lstStyle>
              <a:p>
                <a:pPr/>
                <a14:m>
                  <m:oMathPara xmlns:m="http://schemas.openxmlformats.org/officeDocument/2006/math">
                    <m:oMathParaPr>
                      <m:jc m:val="centerGroup"/>
                    </m:oMathParaPr>
                    <m:oMath xmlns:m="http://schemas.openxmlformats.org/officeDocument/2006/math">
                      <m:r>
                        <a:rPr lang="es-PE">
                          <a:latin typeface="Cambria Math" panose="02040503050406030204" pitchFamily="18" charset="0"/>
                        </a:rPr>
                        <m:t>𝑖</m:t>
                      </m:r>
                    </m:oMath>
                  </m:oMathPara>
                </a14:m>
                <a:endParaRPr lang="es-PE" dirty="0"/>
              </a:p>
            </p:txBody>
          </p:sp>
        </mc:Choice>
        <mc:Fallback xmlns="">
          <p:sp>
            <p:nvSpPr>
              <p:cNvPr id="30" name="CuadroTexto 29">
                <a:extLst>
                  <a:ext uri="{FF2B5EF4-FFF2-40B4-BE49-F238E27FC236}">
                    <a16:creationId xmlns:a16="http://schemas.microsoft.com/office/drawing/2014/main" id="{7FAB9F2C-B65B-A85F-194D-652656DF71F7}"/>
                  </a:ext>
                </a:extLst>
              </p:cNvPr>
              <p:cNvSpPr txBox="1">
                <a:spLocks noRot="1" noChangeAspect="1" noMove="1" noResize="1" noEditPoints="1" noAdjustHandles="1" noChangeArrowheads="1" noChangeShapeType="1" noTextEdit="1"/>
              </p:cNvSpPr>
              <p:nvPr/>
            </p:nvSpPr>
            <p:spPr>
              <a:xfrm>
                <a:off x="2156465" y="5215513"/>
                <a:ext cx="146001" cy="307777"/>
              </a:xfrm>
              <a:prstGeom prst="rect">
                <a:avLst/>
              </a:prstGeom>
              <a:blipFill>
                <a:blip r:embed="rId4"/>
                <a:stretch>
                  <a:fillRect l="-41667" r="-33333" b="-10000"/>
                </a:stretch>
              </a:blipFill>
            </p:spPr>
            <p:txBody>
              <a:bodyPr/>
              <a:lstStyle/>
              <a:p>
                <a:r>
                  <a:rPr lang="es-PE">
                    <a:noFill/>
                  </a:rPr>
                  <a:t> </a:t>
                </a:r>
              </a:p>
            </p:txBody>
          </p:sp>
        </mc:Fallback>
      </mc:AlternateContent>
      <mc:AlternateContent xmlns:mc="http://schemas.openxmlformats.org/markup-compatibility/2006" xmlns:a14="http://schemas.microsoft.com/office/drawing/2010/main">
        <mc:Choice Requires="a14">
          <p:sp>
            <p:nvSpPr>
              <p:cNvPr id="31" name="CuadroTexto 30">
                <a:extLst>
                  <a:ext uri="{FF2B5EF4-FFF2-40B4-BE49-F238E27FC236}">
                    <a16:creationId xmlns:a16="http://schemas.microsoft.com/office/drawing/2014/main" id="{4E092FDC-5BFF-4F22-1771-CE9921AF274B}"/>
                  </a:ext>
                </a:extLst>
              </p:cNvPr>
              <p:cNvSpPr txBox="1"/>
              <p:nvPr/>
            </p:nvSpPr>
            <p:spPr>
              <a:xfrm>
                <a:off x="2186645" y="3404629"/>
                <a:ext cx="157094"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PE" sz="2000" b="1" i="1" smtClean="0">
                          <a:latin typeface="Cambria Math" panose="02040503050406030204" pitchFamily="18" charset="0"/>
                          <a:ea typeface="Cambria Math" panose="02040503050406030204" pitchFamily="18" charset="0"/>
                        </a:rPr>
                        <m:t>𝒋</m:t>
                      </m:r>
                    </m:oMath>
                  </m:oMathPara>
                </a14:m>
                <a:endParaRPr lang="es-PE" sz="2000" b="1" dirty="0"/>
              </a:p>
            </p:txBody>
          </p:sp>
        </mc:Choice>
        <mc:Fallback xmlns="">
          <p:sp>
            <p:nvSpPr>
              <p:cNvPr id="31" name="CuadroTexto 30">
                <a:extLst>
                  <a:ext uri="{FF2B5EF4-FFF2-40B4-BE49-F238E27FC236}">
                    <a16:creationId xmlns:a16="http://schemas.microsoft.com/office/drawing/2014/main" id="{4E092FDC-5BFF-4F22-1771-CE9921AF274B}"/>
                  </a:ext>
                </a:extLst>
              </p:cNvPr>
              <p:cNvSpPr txBox="1">
                <a:spLocks noRot="1" noChangeAspect="1" noMove="1" noResize="1" noEditPoints="1" noAdjustHandles="1" noChangeArrowheads="1" noChangeShapeType="1" noTextEdit="1"/>
              </p:cNvSpPr>
              <p:nvPr/>
            </p:nvSpPr>
            <p:spPr>
              <a:xfrm>
                <a:off x="2186645" y="3404629"/>
                <a:ext cx="157094" cy="307777"/>
              </a:xfrm>
              <a:prstGeom prst="rect">
                <a:avLst/>
              </a:prstGeom>
              <a:blipFill>
                <a:blip r:embed="rId5"/>
                <a:stretch>
                  <a:fillRect l="-60000" r="-60000" b="-34000"/>
                </a:stretch>
              </a:blipFill>
            </p:spPr>
            <p:txBody>
              <a:bodyPr/>
              <a:lstStyle/>
              <a:p>
                <a:r>
                  <a:rPr lang="es-PE">
                    <a:noFill/>
                  </a:rPr>
                  <a:t> </a:t>
                </a:r>
              </a:p>
            </p:txBody>
          </p:sp>
        </mc:Fallback>
      </mc:AlternateContent>
      <p:cxnSp>
        <p:nvCxnSpPr>
          <p:cNvPr id="33" name="Conector recto de flecha 32">
            <a:extLst>
              <a:ext uri="{FF2B5EF4-FFF2-40B4-BE49-F238E27FC236}">
                <a16:creationId xmlns:a16="http://schemas.microsoft.com/office/drawing/2014/main" id="{EADB4F6B-A47F-98C5-9E60-EC7FEBCD3A4D}"/>
              </a:ext>
            </a:extLst>
          </p:cNvPr>
          <p:cNvCxnSpPr>
            <a:cxnSpLocks/>
          </p:cNvCxnSpPr>
          <p:nvPr/>
        </p:nvCxnSpPr>
        <p:spPr>
          <a:xfrm>
            <a:off x="911424" y="3360409"/>
            <a:ext cx="917667" cy="7628"/>
          </a:xfrm>
          <a:prstGeom prst="straightConnector1">
            <a:avLst/>
          </a:prstGeom>
          <a:ln w="38100">
            <a:solidFill>
              <a:srgbClr val="FF000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5" name="CuadroTexto 34">
                <a:extLst>
                  <a:ext uri="{FF2B5EF4-FFF2-40B4-BE49-F238E27FC236}">
                    <a16:creationId xmlns:a16="http://schemas.microsoft.com/office/drawing/2014/main" id="{AB796092-C43D-352D-887A-1D6C9D76A3C6}"/>
                  </a:ext>
                </a:extLst>
              </p:cNvPr>
              <p:cNvSpPr txBox="1"/>
              <p:nvPr/>
            </p:nvSpPr>
            <p:spPr>
              <a:xfrm>
                <a:off x="962218" y="2991077"/>
                <a:ext cx="271035"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PE" sz="2400" b="1" i="1" smtClean="0">
                          <a:solidFill>
                            <a:srgbClr val="FF0000"/>
                          </a:solidFill>
                          <a:latin typeface="Cambria Math" panose="02040503050406030204" pitchFamily="18" charset="0"/>
                          <a:ea typeface="Cambria Math" panose="02040503050406030204" pitchFamily="18" charset="0"/>
                        </a:rPr>
                        <m:t>𝑽</m:t>
                      </m:r>
                    </m:oMath>
                  </m:oMathPara>
                </a14:m>
                <a:endParaRPr lang="es-PE" sz="2400" b="1" dirty="0">
                  <a:solidFill>
                    <a:srgbClr val="FF0000"/>
                  </a:solidFill>
                </a:endParaRPr>
              </a:p>
            </p:txBody>
          </p:sp>
        </mc:Choice>
        <mc:Fallback xmlns="">
          <p:sp>
            <p:nvSpPr>
              <p:cNvPr id="35" name="CuadroTexto 34">
                <a:extLst>
                  <a:ext uri="{FF2B5EF4-FFF2-40B4-BE49-F238E27FC236}">
                    <a16:creationId xmlns:a16="http://schemas.microsoft.com/office/drawing/2014/main" id="{AB796092-C43D-352D-887A-1D6C9D76A3C6}"/>
                  </a:ext>
                </a:extLst>
              </p:cNvPr>
              <p:cNvSpPr txBox="1">
                <a:spLocks noRot="1" noChangeAspect="1" noMove="1" noResize="1" noEditPoints="1" noAdjustHandles="1" noChangeArrowheads="1" noChangeShapeType="1" noTextEdit="1"/>
              </p:cNvSpPr>
              <p:nvPr/>
            </p:nvSpPr>
            <p:spPr>
              <a:xfrm>
                <a:off x="962218" y="2991077"/>
                <a:ext cx="271035" cy="369332"/>
              </a:xfrm>
              <a:prstGeom prst="rect">
                <a:avLst/>
              </a:prstGeom>
              <a:blipFill>
                <a:blip r:embed="rId6"/>
                <a:stretch>
                  <a:fillRect l="-27273" r="-25000" b="-6667"/>
                </a:stretch>
              </a:blipFill>
            </p:spPr>
            <p:txBody>
              <a:bodyPr/>
              <a:lstStyle/>
              <a:p>
                <a:r>
                  <a:rPr lang="es-PE">
                    <a:noFill/>
                  </a:rPr>
                  <a:t> </a:t>
                </a:r>
              </a:p>
            </p:txBody>
          </p:sp>
        </mc:Fallback>
      </mc:AlternateContent>
      <mc:AlternateContent xmlns:mc="http://schemas.openxmlformats.org/markup-compatibility/2006" xmlns:a14="http://schemas.microsoft.com/office/drawing/2010/main">
        <mc:Choice Requires="a14">
          <p:sp>
            <p:nvSpPr>
              <p:cNvPr id="36" name="CuadroTexto 35">
                <a:extLst>
                  <a:ext uri="{FF2B5EF4-FFF2-40B4-BE49-F238E27FC236}">
                    <a16:creationId xmlns:a16="http://schemas.microsoft.com/office/drawing/2014/main" id="{F2BDB8C7-265A-4AE1-4705-2267C3573BD1}"/>
                  </a:ext>
                </a:extLst>
              </p:cNvPr>
              <p:cNvSpPr txBox="1"/>
              <p:nvPr/>
            </p:nvSpPr>
            <p:spPr>
              <a:xfrm>
                <a:off x="1604002" y="4352690"/>
                <a:ext cx="405560"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PE" sz="2400" b="1" i="1" smtClean="0">
                          <a:solidFill>
                            <a:srgbClr val="FF0000"/>
                          </a:solidFill>
                          <a:latin typeface="Cambria Math" panose="02040503050406030204" pitchFamily="18" charset="0"/>
                          <a:ea typeface="Cambria Math" panose="02040503050406030204" pitchFamily="18" charset="0"/>
                        </a:rPr>
                        <m:t>𝑬𝑰</m:t>
                      </m:r>
                    </m:oMath>
                  </m:oMathPara>
                </a14:m>
                <a:endParaRPr lang="es-PE" sz="2400" b="1" dirty="0">
                  <a:solidFill>
                    <a:srgbClr val="FF0000"/>
                  </a:solidFill>
                </a:endParaRPr>
              </a:p>
            </p:txBody>
          </p:sp>
        </mc:Choice>
        <mc:Fallback xmlns="">
          <p:sp>
            <p:nvSpPr>
              <p:cNvPr id="36" name="CuadroTexto 35">
                <a:extLst>
                  <a:ext uri="{FF2B5EF4-FFF2-40B4-BE49-F238E27FC236}">
                    <a16:creationId xmlns:a16="http://schemas.microsoft.com/office/drawing/2014/main" id="{F2BDB8C7-265A-4AE1-4705-2267C3573BD1}"/>
                  </a:ext>
                </a:extLst>
              </p:cNvPr>
              <p:cNvSpPr txBox="1">
                <a:spLocks noRot="1" noChangeAspect="1" noMove="1" noResize="1" noEditPoints="1" noAdjustHandles="1" noChangeArrowheads="1" noChangeShapeType="1" noTextEdit="1"/>
              </p:cNvSpPr>
              <p:nvPr/>
            </p:nvSpPr>
            <p:spPr>
              <a:xfrm>
                <a:off x="1604002" y="4352690"/>
                <a:ext cx="405560" cy="369332"/>
              </a:xfrm>
              <a:prstGeom prst="rect">
                <a:avLst/>
              </a:prstGeom>
              <a:blipFill>
                <a:blip r:embed="rId7"/>
                <a:stretch>
                  <a:fillRect l="-16418" r="-17910" b="-6557"/>
                </a:stretch>
              </a:blipFill>
            </p:spPr>
            <p:txBody>
              <a:bodyPr/>
              <a:lstStyle/>
              <a:p>
                <a:r>
                  <a:rPr lang="es-PE">
                    <a:noFill/>
                  </a:rPr>
                  <a:t> </a:t>
                </a:r>
              </a:p>
            </p:txBody>
          </p:sp>
        </mc:Fallback>
      </mc:AlternateContent>
      <p:sp>
        <p:nvSpPr>
          <p:cNvPr id="37" name="Flecha: curvada hacia abajo 36">
            <a:extLst>
              <a:ext uri="{FF2B5EF4-FFF2-40B4-BE49-F238E27FC236}">
                <a16:creationId xmlns:a16="http://schemas.microsoft.com/office/drawing/2014/main" id="{4A38F951-117F-0DF3-FF5C-A2DFE321C87B}"/>
              </a:ext>
            </a:extLst>
          </p:cNvPr>
          <p:cNvSpPr/>
          <p:nvPr/>
        </p:nvSpPr>
        <p:spPr>
          <a:xfrm>
            <a:off x="1746799" y="3231566"/>
            <a:ext cx="792088" cy="347626"/>
          </a:xfrm>
          <a:prstGeom prst="curvedDownArrow">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solidFill>
                <a:schemeClr val="tx1"/>
              </a:solidFill>
            </a:endParaRPr>
          </a:p>
        </p:txBody>
      </p:sp>
      <p:sp>
        <p:nvSpPr>
          <p:cNvPr id="38" name="Flecha: curvada hacia abajo 37">
            <a:extLst>
              <a:ext uri="{FF2B5EF4-FFF2-40B4-BE49-F238E27FC236}">
                <a16:creationId xmlns:a16="http://schemas.microsoft.com/office/drawing/2014/main" id="{E257D248-3ECF-CF82-7709-4CEEF161CAFE}"/>
              </a:ext>
            </a:extLst>
          </p:cNvPr>
          <p:cNvSpPr/>
          <p:nvPr/>
        </p:nvSpPr>
        <p:spPr>
          <a:xfrm rot="10800000">
            <a:off x="1703462" y="5321159"/>
            <a:ext cx="792088" cy="347626"/>
          </a:xfrm>
          <a:prstGeom prst="curvedDownArrow">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solidFill>
                <a:schemeClr val="tx1"/>
              </a:solidFill>
            </a:endParaRPr>
          </a:p>
        </p:txBody>
      </p:sp>
      <p:sp>
        <p:nvSpPr>
          <p:cNvPr id="39" name="CuadroTexto 38">
            <a:extLst>
              <a:ext uri="{FF2B5EF4-FFF2-40B4-BE49-F238E27FC236}">
                <a16:creationId xmlns:a16="http://schemas.microsoft.com/office/drawing/2014/main" id="{F9E52255-D549-2DF5-BB68-4BEB7D5508A3}"/>
              </a:ext>
            </a:extLst>
          </p:cNvPr>
          <p:cNvSpPr txBox="1"/>
          <p:nvPr/>
        </p:nvSpPr>
        <p:spPr>
          <a:xfrm>
            <a:off x="3470139" y="2348880"/>
            <a:ext cx="7522405" cy="461665"/>
          </a:xfrm>
          <a:prstGeom prst="rect">
            <a:avLst/>
          </a:prstGeom>
          <a:noFill/>
        </p:spPr>
        <p:txBody>
          <a:bodyPr wrap="square" rtlCol="0">
            <a:spAutoFit/>
          </a:bodyPr>
          <a:lstStyle/>
          <a:p>
            <a:r>
              <a:rPr lang="es-PE" sz="2400" dirty="0"/>
              <a:t>Momentos en los externos de la columna:</a:t>
            </a:r>
          </a:p>
        </p:txBody>
      </p:sp>
      <mc:AlternateContent xmlns:mc="http://schemas.openxmlformats.org/markup-compatibility/2006" xmlns:a14="http://schemas.microsoft.com/office/drawing/2010/main">
        <mc:Choice Requires="a14">
          <p:sp>
            <p:nvSpPr>
              <p:cNvPr id="40" name="CuadroTexto 39">
                <a:extLst>
                  <a:ext uri="{FF2B5EF4-FFF2-40B4-BE49-F238E27FC236}">
                    <a16:creationId xmlns:a16="http://schemas.microsoft.com/office/drawing/2014/main" id="{C2991739-5751-AFA0-08BB-5DEE4C90835B}"/>
                  </a:ext>
                </a:extLst>
              </p:cNvPr>
              <p:cNvSpPr txBox="1"/>
              <p:nvPr/>
            </p:nvSpPr>
            <p:spPr>
              <a:xfrm>
                <a:off x="3575050" y="2809279"/>
                <a:ext cx="2128788" cy="5203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PE" i="1" smtClean="0">
                              <a:latin typeface="Cambria Math" panose="02040503050406030204" pitchFamily="18" charset="0"/>
                            </a:rPr>
                          </m:ctrlPr>
                        </m:sSubPr>
                        <m:e>
                          <m:r>
                            <a:rPr lang="es-PE" b="0" i="1" smtClean="0">
                              <a:latin typeface="Cambria Math" panose="02040503050406030204" pitchFamily="18" charset="0"/>
                            </a:rPr>
                            <m:t>𝑀</m:t>
                          </m:r>
                        </m:e>
                        <m:sub>
                          <m:r>
                            <a:rPr lang="es-PE" b="0" i="1" smtClean="0">
                              <a:latin typeface="Cambria Math" panose="02040503050406030204" pitchFamily="18" charset="0"/>
                            </a:rPr>
                            <m:t>𝑖𝑗</m:t>
                          </m:r>
                        </m:sub>
                      </m:sSub>
                      <m:r>
                        <a:rPr lang="es-PE" b="0" i="1" smtClean="0">
                          <a:latin typeface="Cambria Math" panose="02040503050406030204" pitchFamily="18" charset="0"/>
                        </a:rPr>
                        <m:t>=</m:t>
                      </m:r>
                      <m:sSub>
                        <m:sSubPr>
                          <m:ctrlPr>
                            <a:rPr lang="es-PE" b="0" i="1" smtClean="0">
                              <a:latin typeface="Cambria Math" panose="02040503050406030204" pitchFamily="18" charset="0"/>
                            </a:rPr>
                          </m:ctrlPr>
                        </m:sSubPr>
                        <m:e>
                          <m:r>
                            <a:rPr lang="es-PE" b="0" i="1" smtClean="0">
                              <a:latin typeface="Cambria Math" panose="02040503050406030204" pitchFamily="18" charset="0"/>
                            </a:rPr>
                            <m:t>𝑀</m:t>
                          </m:r>
                        </m:e>
                        <m:sub>
                          <m:r>
                            <a:rPr lang="es-PE" b="0" i="1" smtClean="0">
                              <a:latin typeface="Cambria Math" panose="02040503050406030204" pitchFamily="18" charset="0"/>
                            </a:rPr>
                            <m:t>𝑗𝑖</m:t>
                          </m:r>
                        </m:sub>
                      </m:sSub>
                      <m:r>
                        <a:rPr lang="es-PE" b="0" i="1" smtClean="0">
                          <a:latin typeface="Cambria Math" panose="02040503050406030204" pitchFamily="18" charset="0"/>
                        </a:rPr>
                        <m:t>=−</m:t>
                      </m:r>
                      <m:f>
                        <m:fPr>
                          <m:ctrlPr>
                            <a:rPr lang="es-PE" b="0" i="1" smtClean="0">
                              <a:latin typeface="Cambria Math" panose="02040503050406030204" pitchFamily="18" charset="0"/>
                            </a:rPr>
                          </m:ctrlPr>
                        </m:fPr>
                        <m:num>
                          <m:r>
                            <a:rPr lang="es-PE" b="0" i="1" smtClean="0">
                              <a:latin typeface="Cambria Math" panose="02040503050406030204" pitchFamily="18" charset="0"/>
                            </a:rPr>
                            <m:t>6 </m:t>
                          </m:r>
                          <m:r>
                            <a:rPr lang="es-PE" b="0" i="1" smtClean="0">
                              <a:latin typeface="Cambria Math" panose="02040503050406030204" pitchFamily="18" charset="0"/>
                            </a:rPr>
                            <m:t>𝐸𝐼</m:t>
                          </m:r>
                          <m:r>
                            <a:rPr lang="es-PE" b="0" i="1" smtClean="0">
                              <a:latin typeface="Cambria Math" panose="02040503050406030204" pitchFamily="18" charset="0"/>
                            </a:rPr>
                            <m:t> ∆</m:t>
                          </m:r>
                        </m:num>
                        <m:den>
                          <m:sSup>
                            <m:sSupPr>
                              <m:ctrlPr>
                                <a:rPr lang="es-PE" b="0" i="1" smtClean="0">
                                  <a:latin typeface="Cambria Math" panose="02040503050406030204" pitchFamily="18" charset="0"/>
                                </a:rPr>
                              </m:ctrlPr>
                            </m:sSupPr>
                            <m:e>
                              <m:r>
                                <a:rPr lang="es-PE" b="0" i="1" smtClean="0">
                                  <a:latin typeface="Cambria Math" panose="02040503050406030204" pitchFamily="18" charset="0"/>
                                </a:rPr>
                                <m:t>h</m:t>
                              </m:r>
                            </m:e>
                            <m:sup>
                              <m:r>
                                <a:rPr lang="es-PE" b="0" i="1" smtClean="0">
                                  <a:latin typeface="Cambria Math" panose="02040503050406030204" pitchFamily="18" charset="0"/>
                                </a:rPr>
                                <m:t>2</m:t>
                              </m:r>
                            </m:sup>
                          </m:sSup>
                        </m:den>
                      </m:f>
                    </m:oMath>
                  </m:oMathPara>
                </a14:m>
                <a:endParaRPr lang="es-PE" dirty="0"/>
              </a:p>
            </p:txBody>
          </p:sp>
        </mc:Choice>
        <mc:Fallback xmlns="">
          <p:sp>
            <p:nvSpPr>
              <p:cNvPr id="40" name="CuadroTexto 39">
                <a:extLst>
                  <a:ext uri="{FF2B5EF4-FFF2-40B4-BE49-F238E27FC236}">
                    <a16:creationId xmlns:a16="http://schemas.microsoft.com/office/drawing/2014/main" id="{C2991739-5751-AFA0-08BB-5DEE4C90835B}"/>
                  </a:ext>
                </a:extLst>
              </p:cNvPr>
              <p:cNvSpPr txBox="1">
                <a:spLocks noRot="1" noChangeAspect="1" noMove="1" noResize="1" noEditPoints="1" noAdjustHandles="1" noChangeArrowheads="1" noChangeShapeType="1" noTextEdit="1"/>
              </p:cNvSpPr>
              <p:nvPr/>
            </p:nvSpPr>
            <p:spPr>
              <a:xfrm>
                <a:off x="3575050" y="2809279"/>
                <a:ext cx="2128788" cy="520399"/>
              </a:xfrm>
              <a:prstGeom prst="rect">
                <a:avLst/>
              </a:prstGeom>
              <a:blipFill>
                <a:blip r:embed="rId8"/>
                <a:stretch>
                  <a:fillRect/>
                </a:stretch>
              </a:blipFill>
            </p:spPr>
            <p:txBody>
              <a:bodyPr/>
              <a:lstStyle/>
              <a:p>
                <a:r>
                  <a:rPr lang="es-PE">
                    <a:noFill/>
                  </a:rPr>
                  <a:t> </a:t>
                </a:r>
              </a:p>
            </p:txBody>
          </p:sp>
        </mc:Fallback>
      </mc:AlternateContent>
      <p:sp>
        <p:nvSpPr>
          <p:cNvPr id="41" name="CuadroTexto 40">
            <a:extLst>
              <a:ext uri="{FF2B5EF4-FFF2-40B4-BE49-F238E27FC236}">
                <a16:creationId xmlns:a16="http://schemas.microsoft.com/office/drawing/2014/main" id="{CE6C9628-F2D5-D67B-0F7F-E4CDAAD9ADBF}"/>
              </a:ext>
            </a:extLst>
          </p:cNvPr>
          <p:cNvSpPr txBox="1"/>
          <p:nvPr/>
        </p:nvSpPr>
        <p:spPr>
          <a:xfrm>
            <a:off x="3534834" y="3201589"/>
            <a:ext cx="7694947" cy="461665"/>
          </a:xfrm>
          <a:prstGeom prst="rect">
            <a:avLst/>
          </a:prstGeom>
          <a:noFill/>
        </p:spPr>
        <p:txBody>
          <a:bodyPr wrap="square" rtlCol="0">
            <a:spAutoFit/>
          </a:bodyPr>
          <a:lstStyle/>
          <a:p>
            <a:r>
              <a:rPr lang="es-PE" sz="2400" dirty="0"/>
              <a:t>Evaluando el equilibrio de momento con respecto al punto i:</a:t>
            </a:r>
          </a:p>
        </p:txBody>
      </p:sp>
      <mc:AlternateContent xmlns:mc="http://schemas.openxmlformats.org/markup-compatibility/2006" xmlns:a14="http://schemas.microsoft.com/office/drawing/2010/main">
        <mc:Choice Requires="a14">
          <p:sp>
            <p:nvSpPr>
              <p:cNvPr id="42" name="CuadroTexto 41">
                <a:extLst>
                  <a:ext uri="{FF2B5EF4-FFF2-40B4-BE49-F238E27FC236}">
                    <a16:creationId xmlns:a16="http://schemas.microsoft.com/office/drawing/2014/main" id="{73629A41-04F1-AD11-E0BD-0D9033D19E82}"/>
                  </a:ext>
                </a:extLst>
              </p:cNvPr>
              <p:cNvSpPr txBox="1"/>
              <p:nvPr/>
            </p:nvSpPr>
            <p:spPr>
              <a:xfrm>
                <a:off x="3591744" y="3768788"/>
                <a:ext cx="2354042" cy="299313"/>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d>
                        <m:dPr>
                          <m:ctrlPr>
                            <a:rPr lang="es-PE" b="0" i="1" smtClean="0">
                              <a:latin typeface="Cambria Math" panose="02040503050406030204" pitchFamily="18" charset="0"/>
                            </a:rPr>
                          </m:ctrlPr>
                        </m:dPr>
                        <m:e>
                          <m:r>
                            <a:rPr lang="es-PE" b="0" i="1" smtClean="0">
                              <a:latin typeface="Cambria Math" panose="02040503050406030204" pitchFamily="18" charset="0"/>
                            </a:rPr>
                            <m:t>𝑉</m:t>
                          </m:r>
                        </m:e>
                      </m:d>
                      <m:d>
                        <m:dPr>
                          <m:ctrlPr>
                            <a:rPr lang="es-PE" b="0" i="1" smtClean="0">
                              <a:latin typeface="Cambria Math" panose="02040503050406030204" pitchFamily="18" charset="0"/>
                            </a:rPr>
                          </m:ctrlPr>
                        </m:dPr>
                        <m:e>
                          <m:r>
                            <a:rPr lang="es-PE" b="0" i="1" smtClean="0">
                              <a:latin typeface="Cambria Math" panose="02040503050406030204" pitchFamily="18" charset="0"/>
                            </a:rPr>
                            <m:t>h</m:t>
                          </m:r>
                        </m:e>
                      </m:d>
                      <m:r>
                        <a:rPr lang="es-PE" b="0" i="1" smtClean="0">
                          <a:latin typeface="Cambria Math" panose="02040503050406030204" pitchFamily="18" charset="0"/>
                        </a:rPr>
                        <m:t>+</m:t>
                      </m:r>
                      <m:sSub>
                        <m:sSubPr>
                          <m:ctrlPr>
                            <a:rPr lang="es-PE" i="1" smtClean="0">
                              <a:latin typeface="Cambria Math" panose="02040503050406030204" pitchFamily="18" charset="0"/>
                            </a:rPr>
                          </m:ctrlPr>
                        </m:sSubPr>
                        <m:e>
                          <m:r>
                            <a:rPr lang="es-PE" b="0" i="1" smtClean="0">
                              <a:latin typeface="Cambria Math" panose="02040503050406030204" pitchFamily="18" charset="0"/>
                            </a:rPr>
                            <m:t>𝑀</m:t>
                          </m:r>
                        </m:e>
                        <m:sub>
                          <m:r>
                            <a:rPr lang="es-PE" b="0" i="1" smtClean="0">
                              <a:latin typeface="Cambria Math" panose="02040503050406030204" pitchFamily="18" charset="0"/>
                            </a:rPr>
                            <m:t>𝑖𝑗</m:t>
                          </m:r>
                        </m:sub>
                      </m:sSub>
                      <m:r>
                        <a:rPr lang="es-PE" b="0" i="1" smtClean="0">
                          <a:latin typeface="Cambria Math" panose="02040503050406030204" pitchFamily="18" charset="0"/>
                        </a:rPr>
                        <m:t>+</m:t>
                      </m:r>
                      <m:sSub>
                        <m:sSubPr>
                          <m:ctrlPr>
                            <a:rPr lang="es-PE" b="0" i="1" smtClean="0">
                              <a:latin typeface="Cambria Math" panose="02040503050406030204" pitchFamily="18" charset="0"/>
                            </a:rPr>
                          </m:ctrlPr>
                        </m:sSubPr>
                        <m:e>
                          <m:r>
                            <a:rPr lang="es-PE" b="0" i="1" smtClean="0">
                              <a:latin typeface="Cambria Math" panose="02040503050406030204" pitchFamily="18" charset="0"/>
                            </a:rPr>
                            <m:t>𝑀</m:t>
                          </m:r>
                        </m:e>
                        <m:sub>
                          <m:r>
                            <a:rPr lang="es-PE" b="0" i="1" smtClean="0">
                              <a:latin typeface="Cambria Math" panose="02040503050406030204" pitchFamily="18" charset="0"/>
                            </a:rPr>
                            <m:t>𝑗𝑖</m:t>
                          </m:r>
                        </m:sub>
                      </m:sSub>
                      <m:r>
                        <a:rPr lang="es-PE" b="0" i="1" smtClean="0">
                          <a:latin typeface="Cambria Math" panose="02040503050406030204" pitchFamily="18" charset="0"/>
                        </a:rPr>
                        <m:t>=0</m:t>
                      </m:r>
                    </m:oMath>
                  </m:oMathPara>
                </a14:m>
                <a:endParaRPr lang="es-PE" dirty="0"/>
              </a:p>
            </p:txBody>
          </p:sp>
        </mc:Choice>
        <mc:Fallback xmlns="">
          <p:sp>
            <p:nvSpPr>
              <p:cNvPr id="42" name="CuadroTexto 41">
                <a:extLst>
                  <a:ext uri="{FF2B5EF4-FFF2-40B4-BE49-F238E27FC236}">
                    <a16:creationId xmlns:a16="http://schemas.microsoft.com/office/drawing/2014/main" id="{73629A41-04F1-AD11-E0BD-0D9033D19E82}"/>
                  </a:ext>
                </a:extLst>
              </p:cNvPr>
              <p:cNvSpPr txBox="1">
                <a:spLocks noRot="1" noChangeAspect="1" noMove="1" noResize="1" noEditPoints="1" noAdjustHandles="1" noChangeArrowheads="1" noChangeShapeType="1" noTextEdit="1"/>
              </p:cNvSpPr>
              <p:nvPr/>
            </p:nvSpPr>
            <p:spPr>
              <a:xfrm>
                <a:off x="3591744" y="3768788"/>
                <a:ext cx="2354042" cy="299313"/>
              </a:xfrm>
              <a:prstGeom prst="rect">
                <a:avLst/>
              </a:prstGeom>
              <a:blipFill>
                <a:blip r:embed="rId9"/>
                <a:stretch>
                  <a:fillRect r="-2073" b="-26531"/>
                </a:stretch>
              </a:blipFill>
            </p:spPr>
            <p:txBody>
              <a:bodyPr/>
              <a:lstStyle/>
              <a:p>
                <a:r>
                  <a:rPr lang="es-PE">
                    <a:noFill/>
                  </a:rPr>
                  <a:t> </a:t>
                </a:r>
              </a:p>
            </p:txBody>
          </p:sp>
        </mc:Fallback>
      </mc:AlternateContent>
      <mc:AlternateContent xmlns:mc="http://schemas.openxmlformats.org/markup-compatibility/2006" xmlns:a14="http://schemas.microsoft.com/office/drawing/2010/main">
        <mc:Choice Requires="a14">
          <p:sp>
            <p:nvSpPr>
              <p:cNvPr id="43" name="CuadroTexto 42">
                <a:extLst>
                  <a:ext uri="{FF2B5EF4-FFF2-40B4-BE49-F238E27FC236}">
                    <a16:creationId xmlns:a16="http://schemas.microsoft.com/office/drawing/2014/main" id="{607CBA29-DB72-98ED-EAF5-EA0D1E5786CD}"/>
                  </a:ext>
                </a:extLst>
              </p:cNvPr>
              <p:cNvSpPr txBox="1"/>
              <p:nvPr/>
            </p:nvSpPr>
            <p:spPr>
              <a:xfrm>
                <a:off x="3591744" y="4148578"/>
                <a:ext cx="5184176" cy="62235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d>
                        <m:dPr>
                          <m:ctrlPr>
                            <a:rPr lang="es-PE" b="0" i="1" smtClean="0">
                              <a:latin typeface="Cambria Math" panose="02040503050406030204" pitchFamily="18" charset="0"/>
                            </a:rPr>
                          </m:ctrlPr>
                        </m:dPr>
                        <m:e>
                          <m:r>
                            <a:rPr lang="es-PE" b="0" i="1" smtClean="0">
                              <a:latin typeface="Cambria Math" panose="02040503050406030204" pitchFamily="18" charset="0"/>
                            </a:rPr>
                            <m:t>𝑉</m:t>
                          </m:r>
                        </m:e>
                      </m:d>
                      <m:d>
                        <m:dPr>
                          <m:ctrlPr>
                            <a:rPr lang="es-PE" b="0" i="1" smtClean="0">
                              <a:latin typeface="Cambria Math" panose="02040503050406030204" pitchFamily="18" charset="0"/>
                            </a:rPr>
                          </m:ctrlPr>
                        </m:dPr>
                        <m:e>
                          <m:r>
                            <a:rPr lang="es-PE" b="0" i="1" smtClean="0">
                              <a:latin typeface="Cambria Math" panose="02040503050406030204" pitchFamily="18" charset="0"/>
                            </a:rPr>
                            <m:t>h</m:t>
                          </m:r>
                        </m:e>
                      </m:d>
                      <m:r>
                        <a:rPr lang="es-PE" b="0" i="1" smtClean="0">
                          <a:latin typeface="Cambria Math" panose="02040503050406030204" pitchFamily="18" charset="0"/>
                        </a:rPr>
                        <m:t>=−</m:t>
                      </m:r>
                      <m:sSub>
                        <m:sSubPr>
                          <m:ctrlPr>
                            <a:rPr lang="es-PE" i="1" smtClean="0">
                              <a:latin typeface="Cambria Math" panose="02040503050406030204" pitchFamily="18" charset="0"/>
                            </a:rPr>
                          </m:ctrlPr>
                        </m:sSubPr>
                        <m:e>
                          <m:r>
                            <a:rPr lang="es-PE" b="0" i="1" smtClean="0">
                              <a:latin typeface="Cambria Math" panose="02040503050406030204" pitchFamily="18" charset="0"/>
                            </a:rPr>
                            <m:t>𝑀</m:t>
                          </m:r>
                        </m:e>
                        <m:sub>
                          <m:r>
                            <a:rPr lang="es-PE" b="0" i="1" smtClean="0">
                              <a:latin typeface="Cambria Math" panose="02040503050406030204" pitchFamily="18" charset="0"/>
                            </a:rPr>
                            <m:t>𝑖𝑗</m:t>
                          </m:r>
                        </m:sub>
                      </m:sSub>
                      <m:r>
                        <a:rPr lang="es-PE" b="0" i="1" smtClean="0">
                          <a:latin typeface="Cambria Math" panose="02040503050406030204" pitchFamily="18" charset="0"/>
                        </a:rPr>
                        <m:t>−</m:t>
                      </m:r>
                      <m:sSub>
                        <m:sSubPr>
                          <m:ctrlPr>
                            <a:rPr lang="es-PE" b="0" i="1" smtClean="0">
                              <a:latin typeface="Cambria Math" panose="02040503050406030204" pitchFamily="18" charset="0"/>
                            </a:rPr>
                          </m:ctrlPr>
                        </m:sSubPr>
                        <m:e>
                          <m:r>
                            <a:rPr lang="es-PE" b="0" i="1" smtClean="0">
                              <a:latin typeface="Cambria Math" panose="02040503050406030204" pitchFamily="18" charset="0"/>
                            </a:rPr>
                            <m:t>𝑀</m:t>
                          </m:r>
                        </m:e>
                        <m:sub>
                          <m:r>
                            <a:rPr lang="es-PE" b="0" i="1" smtClean="0">
                              <a:latin typeface="Cambria Math" panose="02040503050406030204" pitchFamily="18" charset="0"/>
                            </a:rPr>
                            <m:t>𝑗𝑖</m:t>
                          </m:r>
                        </m:sub>
                      </m:sSub>
                      <m:r>
                        <a:rPr lang="es-PE" b="0" i="1" smtClean="0">
                          <a:latin typeface="Cambria Math" panose="02040503050406030204" pitchFamily="18" charset="0"/>
                        </a:rPr>
                        <m:t>=−</m:t>
                      </m:r>
                      <m:d>
                        <m:dPr>
                          <m:ctrlPr>
                            <a:rPr lang="es-PE" b="0" i="1" smtClean="0">
                              <a:latin typeface="Cambria Math" panose="02040503050406030204" pitchFamily="18" charset="0"/>
                            </a:rPr>
                          </m:ctrlPr>
                        </m:dPr>
                        <m:e>
                          <m:r>
                            <a:rPr lang="es-PE" i="1">
                              <a:latin typeface="Cambria Math" panose="02040503050406030204" pitchFamily="18" charset="0"/>
                            </a:rPr>
                            <m:t>−</m:t>
                          </m:r>
                          <m:f>
                            <m:fPr>
                              <m:ctrlPr>
                                <a:rPr lang="es-PE" i="1">
                                  <a:latin typeface="Cambria Math" panose="02040503050406030204" pitchFamily="18" charset="0"/>
                                </a:rPr>
                              </m:ctrlPr>
                            </m:fPr>
                            <m:num>
                              <m:r>
                                <a:rPr lang="es-PE" i="1">
                                  <a:latin typeface="Cambria Math" panose="02040503050406030204" pitchFamily="18" charset="0"/>
                                </a:rPr>
                                <m:t>6 </m:t>
                              </m:r>
                              <m:r>
                                <a:rPr lang="es-PE" i="1">
                                  <a:latin typeface="Cambria Math" panose="02040503050406030204" pitchFamily="18" charset="0"/>
                                </a:rPr>
                                <m:t>𝐸𝐼</m:t>
                              </m:r>
                              <m:r>
                                <a:rPr lang="es-PE" i="1">
                                  <a:latin typeface="Cambria Math" panose="02040503050406030204" pitchFamily="18" charset="0"/>
                                </a:rPr>
                                <m:t> ∆</m:t>
                              </m:r>
                            </m:num>
                            <m:den>
                              <m:sSup>
                                <m:sSupPr>
                                  <m:ctrlPr>
                                    <a:rPr lang="es-PE" i="1">
                                      <a:latin typeface="Cambria Math" panose="02040503050406030204" pitchFamily="18" charset="0"/>
                                    </a:rPr>
                                  </m:ctrlPr>
                                </m:sSupPr>
                                <m:e>
                                  <m:r>
                                    <a:rPr lang="es-PE" i="1">
                                      <a:latin typeface="Cambria Math" panose="02040503050406030204" pitchFamily="18" charset="0"/>
                                    </a:rPr>
                                    <m:t>h</m:t>
                                  </m:r>
                                </m:e>
                                <m:sup>
                                  <m:r>
                                    <a:rPr lang="es-PE" i="1">
                                      <a:latin typeface="Cambria Math" panose="02040503050406030204" pitchFamily="18" charset="0"/>
                                    </a:rPr>
                                    <m:t>2</m:t>
                                  </m:r>
                                </m:sup>
                              </m:sSup>
                            </m:den>
                          </m:f>
                        </m:e>
                      </m:d>
                      <m:r>
                        <a:rPr lang="es-PE" b="0" i="1" smtClean="0">
                          <a:latin typeface="Cambria Math" panose="02040503050406030204" pitchFamily="18" charset="0"/>
                        </a:rPr>
                        <m:t>−</m:t>
                      </m:r>
                      <m:d>
                        <m:dPr>
                          <m:ctrlPr>
                            <a:rPr lang="es-PE" b="0" i="1" smtClean="0">
                              <a:latin typeface="Cambria Math" panose="02040503050406030204" pitchFamily="18" charset="0"/>
                            </a:rPr>
                          </m:ctrlPr>
                        </m:dPr>
                        <m:e>
                          <m:r>
                            <a:rPr lang="es-PE" i="1">
                              <a:latin typeface="Cambria Math" panose="02040503050406030204" pitchFamily="18" charset="0"/>
                            </a:rPr>
                            <m:t>−</m:t>
                          </m:r>
                          <m:f>
                            <m:fPr>
                              <m:ctrlPr>
                                <a:rPr lang="es-PE" i="1">
                                  <a:latin typeface="Cambria Math" panose="02040503050406030204" pitchFamily="18" charset="0"/>
                                </a:rPr>
                              </m:ctrlPr>
                            </m:fPr>
                            <m:num>
                              <m:r>
                                <a:rPr lang="es-PE" i="1">
                                  <a:latin typeface="Cambria Math" panose="02040503050406030204" pitchFamily="18" charset="0"/>
                                </a:rPr>
                                <m:t>6 </m:t>
                              </m:r>
                              <m:r>
                                <a:rPr lang="es-PE" i="1">
                                  <a:latin typeface="Cambria Math" panose="02040503050406030204" pitchFamily="18" charset="0"/>
                                </a:rPr>
                                <m:t>𝐸𝐼</m:t>
                              </m:r>
                              <m:r>
                                <a:rPr lang="es-PE" i="1">
                                  <a:latin typeface="Cambria Math" panose="02040503050406030204" pitchFamily="18" charset="0"/>
                                </a:rPr>
                                <m:t> ∆</m:t>
                              </m:r>
                            </m:num>
                            <m:den>
                              <m:sSup>
                                <m:sSupPr>
                                  <m:ctrlPr>
                                    <a:rPr lang="es-PE" i="1">
                                      <a:latin typeface="Cambria Math" panose="02040503050406030204" pitchFamily="18" charset="0"/>
                                    </a:rPr>
                                  </m:ctrlPr>
                                </m:sSupPr>
                                <m:e>
                                  <m:r>
                                    <a:rPr lang="es-PE" i="1">
                                      <a:latin typeface="Cambria Math" panose="02040503050406030204" pitchFamily="18" charset="0"/>
                                    </a:rPr>
                                    <m:t>h</m:t>
                                  </m:r>
                                </m:e>
                                <m:sup>
                                  <m:r>
                                    <a:rPr lang="es-PE" i="1">
                                      <a:latin typeface="Cambria Math" panose="02040503050406030204" pitchFamily="18" charset="0"/>
                                    </a:rPr>
                                    <m:t>2</m:t>
                                  </m:r>
                                </m:sup>
                              </m:sSup>
                            </m:den>
                          </m:f>
                        </m:e>
                      </m:d>
                      <m:r>
                        <a:rPr lang="es-PE" b="0" i="1" smtClean="0">
                          <a:latin typeface="Cambria Math" panose="02040503050406030204" pitchFamily="18" charset="0"/>
                        </a:rPr>
                        <m:t>  </m:t>
                      </m:r>
                    </m:oMath>
                  </m:oMathPara>
                </a14:m>
                <a:endParaRPr lang="es-PE" dirty="0"/>
              </a:p>
            </p:txBody>
          </p:sp>
        </mc:Choice>
        <mc:Fallback xmlns="">
          <p:sp>
            <p:nvSpPr>
              <p:cNvPr id="43" name="CuadroTexto 42">
                <a:extLst>
                  <a:ext uri="{FF2B5EF4-FFF2-40B4-BE49-F238E27FC236}">
                    <a16:creationId xmlns:a16="http://schemas.microsoft.com/office/drawing/2014/main" id="{607CBA29-DB72-98ED-EAF5-EA0D1E5786CD}"/>
                  </a:ext>
                </a:extLst>
              </p:cNvPr>
              <p:cNvSpPr txBox="1">
                <a:spLocks noRot="1" noChangeAspect="1" noMove="1" noResize="1" noEditPoints="1" noAdjustHandles="1" noChangeArrowheads="1" noChangeShapeType="1" noTextEdit="1"/>
              </p:cNvSpPr>
              <p:nvPr/>
            </p:nvSpPr>
            <p:spPr>
              <a:xfrm>
                <a:off x="3591744" y="4148578"/>
                <a:ext cx="5184176" cy="622350"/>
              </a:xfrm>
              <a:prstGeom prst="rect">
                <a:avLst/>
              </a:prstGeom>
              <a:blipFill>
                <a:blip r:embed="rId10"/>
                <a:stretch>
                  <a:fillRect/>
                </a:stretch>
              </a:blipFill>
            </p:spPr>
            <p:txBody>
              <a:bodyPr/>
              <a:lstStyle/>
              <a:p>
                <a:r>
                  <a:rPr lang="es-PE">
                    <a:noFill/>
                  </a:rPr>
                  <a:t> </a:t>
                </a:r>
              </a:p>
            </p:txBody>
          </p:sp>
        </mc:Fallback>
      </mc:AlternateContent>
      <mc:AlternateContent xmlns:mc="http://schemas.openxmlformats.org/markup-compatibility/2006" xmlns:a14="http://schemas.microsoft.com/office/drawing/2010/main">
        <mc:Choice Requires="a14">
          <p:sp>
            <p:nvSpPr>
              <p:cNvPr id="44" name="CuadroTexto 43">
                <a:extLst>
                  <a:ext uri="{FF2B5EF4-FFF2-40B4-BE49-F238E27FC236}">
                    <a16:creationId xmlns:a16="http://schemas.microsoft.com/office/drawing/2014/main" id="{8939EAAF-AC85-CCCD-991A-84C35348C49C}"/>
                  </a:ext>
                </a:extLst>
              </p:cNvPr>
              <p:cNvSpPr txBox="1"/>
              <p:nvPr/>
            </p:nvSpPr>
            <p:spPr>
              <a:xfrm>
                <a:off x="3599921" y="4735853"/>
                <a:ext cx="1418722" cy="5203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s-PE" b="0" i="1" smtClean="0">
                          <a:latin typeface="Cambria Math" panose="02040503050406030204" pitchFamily="18" charset="0"/>
                        </a:rPr>
                        <m:t>𝑉h</m:t>
                      </m:r>
                      <m:r>
                        <a:rPr lang="es-PE" b="0" i="1" smtClean="0">
                          <a:latin typeface="Cambria Math" panose="02040503050406030204" pitchFamily="18" charset="0"/>
                        </a:rPr>
                        <m:t> =</m:t>
                      </m:r>
                      <m:f>
                        <m:fPr>
                          <m:ctrlPr>
                            <a:rPr lang="es-PE" i="1">
                              <a:latin typeface="Cambria Math" panose="02040503050406030204" pitchFamily="18" charset="0"/>
                            </a:rPr>
                          </m:ctrlPr>
                        </m:fPr>
                        <m:num>
                          <m:r>
                            <a:rPr lang="es-PE" b="0" i="1" smtClean="0">
                              <a:latin typeface="Cambria Math" panose="02040503050406030204" pitchFamily="18" charset="0"/>
                            </a:rPr>
                            <m:t>12</m:t>
                          </m:r>
                          <m:r>
                            <a:rPr lang="es-PE" i="1">
                              <a:latin typeface="Cambria Math" panose="02040503050406030204" pitchFamily="18" charset="0"/>
                            </a:rPr>
                            <m:t> </m:t>
                          </m:r>
                          <m:r>
                            <a:rPr lang="es-PE" i="1">
                              <a:latin typeface="Cambria Math" panose="02040503050406030204" pitchFamily="18" charset="0"/>
                            </a:rPr>
                            <m:t>𝐸𝐼</m:t>
                          </m:r>
                          <m:r>
                            <a:rPr lang="es-PE" i="1">
                              <a:latin typeface="Cambria Math" panose="02040503050406030204" pitchFamily="18" charset="0"/>
                            </a:rPr>
                            <m:t> ∆</m:t>
                          </m:r>
                        </m:num>
                        <m:den>
                          <m:sSup>
                            <m:sSupPr>
                              <m:ctrlPr>
                                <a:rPr lang="es-PE" i="1">
                                  <a:latin typeface="Cambria Math" panose="02040503050406030204" pitchFamily="18" charset="0"/>
                                </a:rPr>
                              </m:ctrlPr>
                            </m:sSupPr>
                            <m:e>
                              <m:r>
                                <a:rPr lang="es-PE" i="1">
                                  <a:latin typeface="Cambria Math" panose="02040503050406030204" pitchFamily="18" charset="0"/>
                                </a:rPr>
                                <m:t>h</m:t>
                              </m:r>
                            </m:e>
                            <m:sup>
                              <m:r>
                                <a:rPr lang="es-PE" i="1">
                                  <a:latin typeface="Cambria Math" panose="02040503050406030204" pitchFamily="18" charset="0"/>
                                </a:rPr>
                                <m:t>2</m:t>
                              </m:r>
                            </m:sup>
                          </m:sSup>
                        </m:den>
                      </m:f>
                    </m:oMath>
                  </m:oMathPara>
                </a14:m>
                <a:endParaRPr lang="es-PE" dirty="0"/>
              </a:p>
            </p:txBody>
          </p:sp>
        </mc:Choice>
        <mc:Fallback xmlns="">
          <p:sp>
            <p:nvSpPr>
              <p:cNvPr id="44" name="CuadroTexto 43">
                <a:extLst>
                  <a:ext uri="{FF2B5EF4-FFF2-40B4-BE49-F238E27FC236}">
                    <a16:creationId xmlns:a16="http://schemas.microsoft.com/office/drawing/2014/main" id="{8939EAAF-AC85-CCCD-991A-84C35348C49C}"/>
                  </a:ext>
                </a:extLst>
              </p:cNvPr>
              <p:cNvSpPr txBox="1">
                <a:spLocks noRot="1" noChangeAspect="1" noMove="1" noResize="1" noEditPoints="1" noAdjustHandles="1" noChangeArrowheads="1" noChangeShapeType="1" noTextEdit="1"/>
              </p:cNvSpPr>
              <p:nvPr/>
            </p:nvSpPr>
            <p:spPr>
              <a:xfrm>
                <a:off x="3599921" y="4735853"/>
                <a:ext cx="1418722" cy="520399"/>
              </a:xfrm>
              <a:prstGeom prst="rect">
                <a:avLst/>
              </a:prstGeom>
              <a:blipFill>
                <a:blip r:embed="rId11"/>
                <a:stretch>
                  <a:fillRect/>
                </a:stretch>
              </a:blipFill>
            </p:spPr>
            <p:txBody>
              <a:bodyPr/>
              <a:lstStyle/>
              <a:p>
                <a:r>
                  <a:rPr lang="es-PE">
                    <a:noFill/>
                  </a:rPr>
                  <a:t> </a:t>
                </a:r>
              </a:p>
            </p:txBody>
          </p:sp>
        </mc:Fallback>
      </mc:AlternateContent>
      <p:sp>
        <p:nvSpPr>
          <p:cNvPr id="45" name="CuadroTexto 44">
            <a:extLst>
              <a:ext uri="{FF2B5EF4-FFF2-40B4-BE49-F238E27FC236}">
                <a16:creationId xmlns:a16="http://schemas.microsoft.com/office/drawing/2014/main" id="{6B96982D-D648-8282-1F19-96F5DC8CFF66}"/>
              </a:ext>
            </a:extLst>
          </p:cNvPr>
          <p:cNvSpPr txBox="1"/>
          <p:nvPr/>
        </p:nvSpPr>
        <p:spPr>
          <a:xfrm>
            <a:off x="3534834" y="5229225"/>
            <a:ext cx="7514335" cy="830997"/>
          </a:xfrm>
          <a:prstGeom prst="rect">
            <a:avLst/>
          </a:prstGeom>
          <a:noFill/>
        </p:spPr>
        <p:txBody>
          <a:bodyPr wrap="square" rtlCol="0">
            <a:spAutoFit/>
          </a:bodyPr>
          <a:lstStyle/>
          <a:p>
            <a:r>
              <a:rPr lang="es-PE" sz="2400" dirty="0"/>
              <a:t>La rigidez lateral será la relación de la carga lateral entre el desplazamiento lateral de la columna sería:</a:t>
            </a:r>
          </a:p>
        </p:txBody>
      </p:sp>
      <mc:AlternateContent xmlns:mc="http://schemas.openxmlformats.org/markup-compatibility/2006" xmlns:a14="http://schemas.microsoft.com/office/drawing/2010/main">
        <mc:Choice Requires="a14">
          <p:sp>
            <p:nvSpPr>
              <p:cNvPr id="46" name="CuadroTexto 45">
                <a:extLst>
                  <a:ext uri="{FF2B5EF4-FFF2-40B4-BE49-F238E27FC236}">
                    <a16:creationId xmlns:a16="http://schemas.microsoft.com/office/drawing/2014/main" id="{D6C89C09-D73C-DF72-F1EB-E48DB13B2903}"/>
                  </a:ext>
                </a:extLst>
              </p:cNvPr>
              <p:cNvSpPr txBox="1"/>
              <p:nvPr/>
            </p:nvSpPr>
            <p:spPr>
              <a:xfrm>
                <a:off x="3603632" y="6103869"/>
                <a:ext cx="1418722" cy="537263"/>
              </a:xfrm>
              <a:prstGeom prst="rect">
                <a:avLst/>
              </a:prstGeom>
              <a:noFill/>
            </p:spPr>
            <p:txBody>
              <a:bodyPr wrap="square" lIns="0" tIns="0" rIns="0" bIns="0" rtlCol="0">
                <a:spAutoFit/>
              </a:bodyPr>
              <a:lstStyle/>
              <a:p>
                <a:pPr/>
                <a14:m>
                  <m:oMathPara xmlns:m="http://schemas.openxmlformats.org/officeDocument/2006/math">
                    <m:oMathParaPr>
                      <m:jc m:val="right"/>
                    </m:oMathParaPr>
                    <m:oMath xmlns:m="http://schemas.openxmlformats.org/officeDocument/2006/math">
                      <m:f>
                        <m:fPr>
                          <m:ctrlPr>
                            <a:rPr lang="es-PE" b="0" i="1" smtClean="0">
                              <a:latin typeface="Cambria Math" panose="02040503050406030204" pitchFamily="18" charset="0"/>
                            </a:rPr>
                          </m:ctrlPr>
                        </m:fPr>
                        <m:num>
                          <m:r>
                            <a:rPr lang="es-PE" b="0" i="1" smtClean="0">
                              <a:latin typeface="Cambria Math" panose="02040503050406030204" pitchFamily="18" charset="0"/>
                            </a:rPr>
                            <m:t>𝑉</m:t>
                          </m:r>
                        </m:num>
                        <m:den>
                          <m:r>
                            <a:rPr lang="es-PE" b="0" i="1" smtClean="0">
                              <a:latin typeface="Cambria Math" panose="02040503050406030204" pitchFamily="18" charset="0"/>
                              <a:ea typeface="Cambria Math" panose="02040503050406030204" pitchFamily="18" charset="0"/>
                            </a:rPr>
                            <m:t>∆</m:t>
                          </m:r>
                        </m:den>
                      </m:f>
                      <m:r>
                        <a:rPr lang="es-PE" b="0" i="1" smtClean="0">
                          <a:latin typeface="Cambria Math" panose="02040503050406030204" pitchFamily="18" charset="0"/>
                        </a:rPr>
                        <m:t> =</m:t>
                      </m:r>
                      <m:f>
                        <m:fPr>
                          <m:ctrlPr>
                            <a:rPr lang="es-PE" i="1">
                              <a:latin typeface="Cambria Math" panose="02040503050406030204" pitchFamily="18" charset="0"/>
                            </a:rPr>
                          </m:ctrlPr>
                        </m:fPr>
                        <m:num>
                          <m:r>
                            <a:rPr lang="es-PE" b="0" i="1" smtClean="0">
                              <a:latin typeface="Cambria Math" panose="02040503050406030204" pitchFamily="18" charset="0"/>
                            </a:rPr>
                            <m:t>12</m:t>
                          </m:r>
                          <m:r>
                            <a:rPr lang="es-PE" i="1">
                              <a:latin typeface="Cambria Math" panose="02040503050406030204" pitchFamily="18" charset="0"/>
                            </a:rPr>
                            <m:t> </m:t>
                          </m:r>
                          <m:r>
                            <a:rPr lang="es-PE" i="1">
                              <a:latin typeface="Cambria Math" panose="02040503050406030204" pitchFamily="18" charset="0"/>
                            </a:rPr>
                            <m:t>𝐸𝐼</m:t>
                          </m:r>
                          <m:r>
                            <a:rPr lang="es-PE" i="1">
                              <a:latin typeface="Cambria Math" panose="02040503050406030204" pitchFamily="18" charset="0"/>
                            </a:rPr>
                            <m:t> ∆</m:t>
                          </m:r>
                        </m:num>
                        <m:den>
                          <m:sSup>
                            <m:sSupPr>
                              <m:ctrlPr>
                                <a:rPr lang="es-PE" i="1">
                                  <a:latin typeface="Cambria Math" panose="02040503050406030204" pitchFamily="18" charset="0"/>
                                </a:rPr>
                              </m:ctrlPr>
                            </m:sSupPr>
                            <m:e>
                              <m:r>
                                <a:rPr lang="es-PE" i="1">
                                  <a:latin typeface="Cambria Math" panose="02040503050406030204" pitchFamily="18" charset="0"/>
                                </a:rPr>
                                <m:t>h</m:t>
                              </m:r>
                            </m:e>
                            <m:sup>
                              <m:r>
                                <a:rPr lang="es-PE" b="0" i="1" smtClean="0">
                                  <a:latin typeface="Cambria Math" panose="02040503050406030204" pitchFamily="18" charset="0"/>
                                </a:rPr>
                                <m:t>3</m:t>
                              </m:r>
                            </m:sup>
                          </m:sSup>
                        </m:den>
                      </m:f>
                    </m:oMath>
                  </m:oMathPara>
                </a14:m>
                <a:endParaRPr lang="es-PE" dirty="0"/>
              </a:p>
            </p:txBody>
          </p:sp>
        </mc:Choice>
        <mc:Fallback xmlns="">
          <p:sp>
            <p:nvSpPr>
              <p:cNvPr id="46" name="CuadroTexto 45">
                <a:extLst>
                  <a:ext uri="{FF2B5EF4-FFF2-40B4-BE49-F238E27FC236}">
                    <a16:creationId xmlns:a16="http://schemas.microsoft.com/office/drawing/2014/main" id="{D6C89C09-D73C-DF72-F1EB-E48DB13B2903}"/>
                  </a:ext>
                </a:extLst>
              </p:cNvPr>
              <p:cNvSpPr txBox="1">
                <a:spLocks noRot="1" noChangeAspect="1" noMove="1" noResize="1" noEditPoints="1" noAdjustHandles="1" noChangeArrowheads="1" noChangeShapeType="1" noTextEdit="1"/>
              </p:cNvSpPr>
              <p:nvPr/>
            </p:nvSpPr>
            <p:spPr>
              <a:xfrm>
                <a:off x="3603632" y="6103869"/>
                <a:ext cx="1418722" cy="537263"/>
              </a:xfrm>
              <a:prstGeom prst="rect">
                <a:avLst/>
              </a:prstGeom>
              <a:blipFill>
                <a:blip r:embed="rId12"/>
                <a:stretch>
                  <a:fillRect r="-429"/>
                </a:stretch>
              </a:blipFill>
            </p:spPr>
            <p:txBody>
              <a:bodyPr/>
              <a:lstStyle/>
              <a:p>
                <a:r>
                  <a:rPr lang="es-PE">
                    <a:noFill/>
                  </a:rPr>
                  <a:t> </a:t>
                </a:r>
              </a:p>
            </p:txBody>
          </p:sp>
        </mc:Fallback>
      </mc:AlternateContent>
    </p:spTree>
    <p:extLst>
      <p:ext uri="{BB962C8B-B14F-4D97-AF65-F5344CB8AC3E}">
        <p14:creationId xmlns:p14="http://schemas.microsoft.com/office/powerpoint/2010/main" val="26456683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8BD4B30-9B7A-4FF3-9506-6E2F889CBD85}"/>
              </a:ext>
            </a:extLst>
          </p:cNvPr>
          <p:cNvSpPr>
            <a:spLocks noGrp="1"/>
          </p:cNvSpPr>
          <p:nvPr>
            <p:ph type="title"/>
          </p:nvPr>
        </p:nvSpPr>
        <p:spPr/>
        <p:txBody>
          <a:bodyPr/>
          <a:lstStyle/>
          <a:p>
            <a:r>
              <a:rPr lang="es-PE" dirty="0"/>
              <a:t>Generalidades de análisis por el Método de Muto</a:t>
            </a:r>
          </a:p>
        </p:txBody>
      </p:sp>
      <p:sp>
        <p:nvSpPr>
          <p:cNvPr id="6" name="CuadroTexto 5">
            <a:extLst>
              <a:ext uri="{FF2B5EF4-FFF2-40B4-BE49-F238E27FC236}">
                <a16:creationId xmlns:a16="http://schemas.microsoft.com/office/drawing/2014/main" id="{80914ED9-993F-338F-37C8-725FD3F32826}"/>
              </a:ext>
            </a:extLst>
          </p:cNvPr>
          <p:cNvSpPr txBox="1"/>
          <p:nvPr/>
        </p:nvSpPr>
        <p:spPr>
          <a:xfrm>
            <a:off x="838200" y="2001408"/>
            <a:ext cx="10154344" cy="461665"/>
          </a:xfrm>
          <a:prstGeom prst="rect">
            <a:avLst/>
          </a:prstGeom>
          <a:noFill/>
        </p:spPr>
        <p:txBody>
          <a:bodyPr wrap="square" rtlCol="0">
            <a:spAutoFit/>
          </a:bodyPr>
          <a:lstStyle/>
          <a:p>
            <a:pPr marL="342900" indent="-342900">
              <a:buFont typeface="Arial" panose="020B0604020202020204" pitchFamily="34" charset="0"/>
              <a:buChar char="•"/>
            </a:pPr>
            <a:r>
              <a:rPr lang="es-PE" sz="2400" dirty="0"/>
              <a:t>Rigidez lateral de una columna biarticulada:</a:t>
            </a:r>
          </a:p>
        </p:txBody>
      </p:sp>
      <p:sp>
        <p:nvSpPr>
          <p:cNvPr id="12" name="Rectángulo 11">
            <a:extLst>
              <a:ext uri="{FF2B5EF4-FFF2-40B4-BE49-F238E27FC236}">
                <a16:creationId xmlns:a16="http://schemas.microsoft.com/office/drawing/2014/main" id="{C91FC643-151F-8FA3-AAEA-5DC0D1CABB8F}"/>
              </a:ext>
            </a:extLst>
          </p:cNvPr>
          <p:cNvSpPr/>
          <p:nvPr/>
        </p:nvSpPr>
        <p:spPr>
          <a:xfrm>
            <a:off x="2065844" y="3356991"/>
            <a:ext cx="72000" cy="2196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3" name="Rectángulo 12">
            <a:extLst>
              <a:ext uri="{FF2B5EF4-FFF2-40B4-BE49-F238E27FC236}">
                <a16:creationId xmlns:a16="http://schemas.microsoft.com/office/drawing/2014/main" id="{EB706BA2-B0E1-5293-CE00-95CD4567ED13}"/>
              </a:ext>
            </a:extLst>
          </p:cNvPr>
          <p:cNvSpPr/>
          <p:nvPr/>
        </p:nvSpPr>
        <p:spPr>
          <a:xfrm>
            <a:off x="1818530" y="3140644"/>
            <a:ext cx="566628" cy="216347"/>
          </a:xfrm>
          <a:prstGeom prst="rect">
            <a:avLst/>
          </a:prstGeom>
          <a:pattFill prst="wdUpDiag">
            <a:fgClr>
              <a:schemeClr val="accent2">
                <a:lumMod val="75000"/>
              </a:schemeClr>
            </a:fgClr>
            <a:bgClr>
              <a:schemeClr val="bg1"/>
            </a:bgClr>
          </a:patt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dirty="0"/>
          </a:p>
        </p:txBody>
      </p:sp>
      <p:sp>
        <p:nvSpPr>
          <p:cNvPr id="14" name="Rectángulo 13">
            <a:extLst>
              <a:ext uri="{FF2B5EF4-FFF2-40B4-BE49-F238E27FC236}">
                <a16:creationId xmlns:a16="http://schemas.microsoft.com/office/drawing/2014/main" id="{34CFAED4-6423-20AE-E661-99B64E352D89}"/>
              </a:ext>
            </a:extLst>
          </p:cNvPr>
          <p:cNvSpPr/>
          <p:nvPr/>
        </p:nvSpPr>
        <p:spPr>
          <a:xfrm>
            <a:off x="1818530" y="5570928"/>
            <a:ext cx="566628" cy="216347"/>
          </a:xfrm>
          <a:prstGeom prst="rect">
            <a:avLst/>
          </a:prstGeom>
          <a:pattFill prst="wdUpDiag">
            <a:fgClr>
              <a:schemeClr val="accent2">
                <a:lumMod val="75000"/>
              </a:schemeClr>
            </a:fgClr>
            <a:bgClr>
              <a:schemeClr val="bg1"/>
            </a:bgClr>
          </a:patt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dirty="0"/>
          </a:p>
        </p:txBody>
      </p:sp>
      <p:sp>
        <p:nvSpPr>
          <p:cNvPr id="15" name="Forma libre: forma 14">
            <a:extLst>
              <a:ext uri="{FF2B5EF4-FFF2-40B4-BE49-F238E27FC236}">
                <a16:creationId xmlns:a16="http://schemas.microsoft.com/office/drawing/2014/main" id="{726812CA-5C0D-2E64-6054-96A58050A5CD}"/>
              </a:ext>
            </a:extLst>
          </p:cNvPr>
          <p:cNvSpPr/>
          <p:nvPr/>
        </p:nvSpPr>
        <p:spPr>
          <a:xfrm>
            <a:off x="2084465" y="3360417"/>
            <a:ext cx="844276" cy="2228374"/>
          </a:xfrm>
          <a:custGeom>
            <a:avLst/>
            <a:gdLst>
              <a:gd name="connsiteX0" fmla="*/ 11033 w 933053"/>
              <a:gd name="connsiteY0" fmla="*/ 2209800 h 2209800"/>
              <a:gd name="connsiteX1" fmla="*/ 94853 w 933053"/>
              <a:gd name="connsiteY1" fmla="*/ 1211580 h 2209800"/>
              <a:gd name="connsiteX2" fmla="*/ 704453 w 933053"/>
              <a:gd name="connsiteY2" fmla="*/ 586740 h 2209800"/>
              <a:gd name="connsiteX3" fmla="*/ 933053 w 933053"/>
              <a:gd name="connsiteY3" fmla="*/ 0 h 2209800"/>
            </a:gdLst>
            <a:ahLst/>
            <a:cxnLst>
              <a:cxn ang="0">
                <a:pos x="connsiteX0" y="connsiteY0"/>
              </a:cxn>
              <a:cxn ang="0">
                <a:pos x="connsiteX1" y="connsiteY1"/>
              </a:cxn>
              <a:cxn ang="0">
                <a:pos x="connsiteX2" y="connsiteY2"/>
              </a:cxn>
              <a:cxn ang="0">
                <a:pos x="connsiteX3" y="connsiteY3"/>
              </a:cxn>
            </a:cxnLst>
            <a:rect l="l" t="t" r="r" b="b"/>
            <a:pathLst>
              <a:path w="933053" h="2209800">
                <a:moveTo>
                  <a:pt x="11033" y="2209800"/>
                </a:moveTo>
                <a:cubicBezTo>
                  <a:pt x="-4842" y="1845945"/>
                  <a:pt x="-20717" y="1482090"/>
                  <a:pt x="94853" y="1211580"/>
                </a:cubicBezTo>
                <a:cubicBezTo>
                  <a:pt x="210423" y="941070"/>
                  <a:pt x="564753" y="788670"/>
                  <a:pt x="704453" y="586740"/>
                </a:cubicBezTo>
                <a:cubicBezTo>
                  <a:pt x="844153" y="384810"/>
                  <a:pt x="888603" y="192405"/>
                  <a:pt x="933053" y="0"/>
                </a:cubicBezTo>
              </a:path>
            </a:pathLst>
          </a:custGeom>
          <a:noFill/>
          <a:ln w="79375">
            <a:solidFill>
              <a:srgbClr val="0070C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dirty="0"/>
          </a:p>
        </p:txBody>
      </p:sp>
      <p:sp>
        <p:nvSpPr>
          <p:cNvPr id="16" name="Rectángulo 15">
            <a:extLst>
              <a:ext uri="{FF2B5EF4-FFF2-40B4-BE49-F238E27FC236}">
                <a16:creationId xmlns:a16="http://schemas.microsoft.com/office/drawing/2014/main" id="{8A7E07F1-0A56-0364-AED4-CF578F7B106C}"/>
              </a:ext>
            </a:extLst>
          </p:cNvPr>
          <p:cNvSpPr/>
          <p:nvPr/>
        </p:nvSpPr>
        <p:spPr>
          <a:xfrm>
            <a:off x="2675617" y="3136442"/>
            <a:ext cx="566628" cy="216347"/>
          </a:xfrm>
          <a:prstGeom prst="rect">
            <a:avLst/>
          </a:prstGeom>
          <a:pattFill prst="wdUpDiag">
            <a:fgClr>
              <a:schemeClr val="accent2">
                <a:lumMod val="75000"/>
              </a:schemeClr>
            </a:fgClr>
            <a:bgClr>
              <a:schemeClr val="bg1"/>
            </a:bgClr>
          </a:patt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dirty="0"/>
          </a:p>
        </p:txBody>
      </p:sp>
      <p:cxnSp>
        <p:nvCxnSpPr>
          <p:cNvPr id="18" name="Conector recto 17">
            <a:extLst>
              <a:ext uri="{FF2B5EF4-FFF2-40B4-BE49-F238E27FC236}">
                <a16:creationId xmlns:a16="http://schemas.microsoft.com/office/drawing/2014/main" id="{A08621F7-A0BE-0C9D-742B-77A090F46934}"/>
              </a:ext>
            </a:extLst>
          </p:cNvPr>
          <p:cNvCxnSpPr/>
          <p:nvPr/>
        </p:nvCxnSpPr>
        <p:spPr>
          <a:xfrm>
            <a:off x="2101652" y="2924944"/>
            <a:ext cx="0" cy="49857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Conector recto 18">
            <a:extLst>
              <a:ext uri="{FF2B5EF4-FFF2-40B4-BE49-F238E27FC236}">
                <a16:creationId xmlns:a16="http://schemas.microsoft.com/office/drawing/2014/main" id="{C4D7CD5E-B589-3A02-7E76-5C7678CF04D5}"/>
              </a:ext>
            </a:extLst>
          </p:cNvPr>
          <p:cNvCxnSpPr/>
          <p:nvPr/>
        </p:nvCxnSpPr>
        <p:spPr>
          <a:xfrm>
            <a:off x="2927648" y="2924944"/>
            <a:ext cx="0" cy="49857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Conector recto 20">
            <a:extLst>
              <a:ext uri="{FF2B5EF4-FFF2-40B4-BE49-F238E27FC236}">
                <a16:creationId xmlns:a16="http://schemas.microsoft.com/office/drawing/2014/main" id="{829C4A41-2E80-2C05-763C-296F031622BD}"/>
              </a:ext>
            </a:extLst>
          </p:cNvPr>
          <p:cNvCxnSpPr/>
          <p:nvPr/>
        </p:nvCxnSpPr>
        <p:spPr>
          <a:xfrm>
            <a:off x="1919536" y="3046100"/>
            <a:ext cx="1224409"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2" name="CuadroTexto 21">
                <a:extLst>
                  <a:ext uri="{FF2B5EF4-FFF2-40B4-BE49-F238E27FC236}">
                    <a16:creationId xmlns:a16="http://schemas.microsoft.com/office/drawing/2014/main" id="{D1C2B6BA-7FBE-3BDE-9E58-064F565CB0A2}"/>
                  </a:ext>
                </a:extLst>
              </p:cNvPr>
              <p:cNvSpPr txBox="1"/>
              <p:nvPr/>
            </p:nvSpPr>
            <p:spPr>
              <a:xfrm>
                <a:off x="2466393" y="2769101"/>
                <a:ext cx="190758"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PE" i="1" smtClean="0">
                          <a:latin typeface="Cambria Math" panose="02040503050406030204" pitchFamily="18" charset="0"/>
                          <a:ea typeface="Cambria Math" panose="02040503050406030204" pitchFamily="18" charset="0"/>
                        </a:rPr>
                        <m:t>∆</m:t>
                      </m:r>
                    </m:oMath>
                  </m:oMathPara>
                </a14:m>
                <a:endParaRPr lang="es-PE" dirty="0"/>
              </a:p>
            </p:txBody>
          </p:sp>
        </mc:Choice>
        <mc:Fallback xmlns="">
          <p:sp>
            <p:nvSpPr>
              <p:cNvPr id="22" name="CuadroTexto 21">
                <a:extLst>
                  <a:ext uri="{FF2B5EF4-FFF2-40B4-BE49-F238E27FC236}">
                    <a16:creationId xmlns:a16="http://schemas.microsoft.com/office/drawing/2014/main" id="{D1C2B6BA-7FBE-3BDE-9E58-064F565CB0A2}"/>
                  </a:ext>
                </a:extLst>
              </p:cNvPr>
              <p:cNvSpPr txBox="1">
                <a:spLocks noRot="1" noChangeAspect="1" noMove="1" noResize="1" noEditPoints="1" noAdjustHandles="1" noChangeArrowheads="1" noChangeShapeType="1" noTextEdit="1"/>
              </p:cNvSpPr>
              <p:nvPr/>
            </p:nvSpPr>
            <p:spPr>
              <a:xfrm>
                <a:off x="2466393" y="2769101"/>
                <a:ext cx="190758" cy="276999"/>
              </a:xfrm>
              <a:prstGeom prst="rect">
                <a:avLst/>
              </a:prstGeom>
              <a:blipFill>
                <a:blip r:embed="rId2"/>
                <a:stretch>
                  <a:fillRect l="-32258" r="-29032" b="-6522"/>
                </a:stretch>
              </a:blipFill>
            </p:spPr>
            <p:txBody>
              <a:bodyPr/>
              <a:lstStyle/>
              <a:p>
                <a:r>
                  <a:rPr lang="es-PE">
                    <a:noFill/>
                  </a:rPr>
                  <a:t> </a:t>
                </a:r>
              </a:p>
            </p:txBody>
          </p:sp>
        </mc:Fallback>
      </mc:AlternateContent>
      <p:cxnSp>
        <p:nvCxnSpPr>
          <p:cNvPr id="24" name="Conector recto 23">
            <a:extLst>
              <a:ext uri="{FF2B5EF4-FFF2-40B4-BE49-F238E27FC236}">
                <a16:creationId xmlns:a16="http://schemas.microsoft.com/office/drawing/2014/main" id="{238EDB5C-ABF2-5A09-4DCB-647666F43B3E}"/>
              </a:ext>
            </a:extLst>
          </p:cNvPr>
          <p:cNvCxnSpPr>
            <a:cxnSpLocks/>
          </p:cNvCxnSpPr>
          <p:nvPr/>
        </p:nvCxnSpPr>
        <p:spPr>
          <a:xfrm>
            <a:off x="1271464" y="3244615"/>
            <a:ext cx="0" cy="254266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Conector recto 26">
            <a:extLst>
              <a:ext uri="{FF2B5EF4-FFF2-40B4-BE49-F238E27FC236}">
                <a16:creationId xmlns:a16="http://schemas.microsoft.com/office/drawing/2014/main" id="{15F4103A-699C-7D5F-E568-572E6790800C}"/>
              </a:ext>
            </a:extLst>
          </p:cNvPr>
          <p:cNvCxnSpPr/>
          <p:nvPr/>
        </p:nvCxnSpPr>
        <p:spPr>
          <a:xfrm>
            <a:off x="1078300" y="3360417"/>
            <a:ext cx="36004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Conector recto 27">
            <a:extLst>
              <a:ext uri="{FF2B5EF4-FFF2-40B4-BE49-F238E27FC236}">
                <a16:creationId xmlns:a16="http://schemas.microsoft.com/office/drawing/2014/main" id="{5288A2E6-7D98-A9D5-6203-5F89A14C111A}"/>
              </a:ext>
            </a:extLst>
          </p:cNvPr>
          <p:cNvCxnSpPr/>
          <p:nvPr/>
        </p:nvCxnSpPr>
        <p:spPr>
          <a:xfrm>
            <a:off x="1085920" y="5593785"/>
            <a:ext cx="36004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9" name="CuadroTexto 28">
                <a:extLst>
                  <a:ext uri="{FF2B5EF4-FFF2-40B4-BE49-F238E27FC236}">
                    <a16:creationId xmlns:a16="http://schemas.microsoft.com/office/drawing/2014/main" id="{58ED21A9-9DF7-85D4-F523-4DFBCB033493}"/>
                  </a:ext>
                </a:extLst>
              </p:cNvPr>
              <p:cNvSpPr txBox="1"/>
              <p:nvPr/>
            </p:nvSpPr>
            <p:spPr>
              <a:xfrm>
                <a:off x="947739" y="4316491"/>
                <a:ext cx="185115"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PE" b="0" i="1" smtClean="0">
                          <a:latin typeface="Cambria Math" panose="02040503050406030204" pitchFamily="18" charset="0"/>
                          <a:ea typeface="Cambria Math" panose="02040503050406030204" pitchFamily="18" charset="0"/>
                        </a:rPr>
                        <m:t>h</m:t>
                      </m:r>
                    </m:oMath>
                  </m:oMathPara>
                </a14:m>
                <a:endParaRPr lang="es-PE" dirty="0"/>
              </a:p>
            </p:txBody>
          </p:sp>
        </mc:Choice>
        <mc:Fallback xmlns="">
          <p:sp>
            <p:nvSpPr>
              <p:cNvPr id="29" name="CuadroTexto 28">
                <a:extLst>
                  <a:ext uri="{FF2B5EF4-FFF2-40B4-BE49-F238E27FC236}">
                    <a16:creationId xmlns:a16="http://schemas.microsoft.com/office/drawing/2014/main" id="{58ED21A9-9DF7-85D4-F523-4DFBCB033493}"/>
                  </a:ext>
                </a:extLst>
              </p:cNvPr>
              <p:cNvSpPr txBox="1">
                <a:spLocks noRot="1" noChangeAspect="1" noMove="1" noResize="1" noEditPoints="1" noAdjustHandles="1" noChangeArrowheads="1" noChangeShapeType="1" noTextEdit="1"/>
              </p:cNvSpPr>
              <p:nvPr/>
            </p:nvSpPr>
            <p:spPr>
              <a:xfrm>
                <a:off x="947739" y="4316491"/>
                <a:ext cx="185115" cy="276999"/>
              </a:xfrm>
              <a:prstGeom prst="rect">
                <a:avLst/>
              </a:prstGeom>
              <a:blipFill>
                <a:blip r:embed="rId3"/>
                <a:stretch>
                  <a:fillRect l="-32258" r="-25806" b="-6522"/>
                </a:stretch>
              </a:blipFill>
            </p:spPr>
            <p:txBody>
              <a:bodyPr/>
              <a:lstStyle/>
              <a:p>
                <a:r>
                  <a:rPr lang="es-PE">
                    <a:noFill/>
                  </a:rPr>
                  <a:t> </a:t>
                </a:r>
              </a:p>
            </p:txBody>
          </p:sp>
        </mc:Fallback>
      </mc:AlternateContent>
      <mc:AlternateContent xmlns:mc="http://schemas.openxmlformats.org/markup-compatibility/2006" xmlns:a14="http://schemas.microsoft.com/office/drawing/2010/main">
        <mc:Choice Requires="a14">
          <p:sp>
            <p:nvSpPr>
              <p:cNvPr id="30" name="CuadroTexto 29">
                <a:extLst>
                  <a:ext uri="{FF2B5EF4-FFF2-40B4-BE49-F238E27FC236}">
                    <a16:creationId xmlns:a16="http://schemas.microsoft.com/office/drawing/2014/main" id="{7FAB9F2C-B65B-A85F-194D-652656DF71F7}"/>
                  </a:ext>
                </a:extLst>
              </p:cNvPr>
              <p:cNvSpPr txBox="1"/>
              <p:nvPr/>
            </p:nvSpPr>
            <p:spPr>
              <a:xfrm>
                <a:off x="2156465" y="5215513"/>
                <a:ext cx="146001" cy="307777"/>
              </a:xfrm>
              <a:prstGeom prst="rect">
                <a:avLst/>
              </a:prstGeom>
              <a:noFill/>
            </p:spPr>
            <p:txBody>
              <a:bodyPr wrap="none" lIns="0" tIns="0" rIns="0" bIns="0" rtlCol="0">
                <a:spAutoFit/>
              </a:bodyPr>
              <a:lstStyle>
                <a:defPPr>
                  <a:defRPr lang="es-PE"/>
                </a:defPPr>
                <a:lvl1pPr>
                  <a:defRPr sz="2000" b="1" i="1">
                    <a:latin typeface="Cambria Math" panose="02040503050406030204" pitchFamily="18" charset="0"/>
                    <a:ea typeface="Cambria Math" panose="02040503050406030204" pitchFamily="18" charset="0"/>
                  </a:defRPr>
                </a:lvl1pPr>
              </a:lstStyle>
              <a:p>
                <a:pPr/>
                <a14:m>
                  <m:oMathPara xmlns:m="http://schemas.openxmlformats.org/officeDocument/2006/math">
                    <m:oMathParaPr>
                      <m:jc m:val="centerGroup"/>
                    </m:oMathParaPr>
                    <m:oMath xmlns:m="http://schemas.openxmlformats.org/officeDocument/2006/math">
                      <m:r>
                        <a:rPr lang="es-PE">
                          <a:latin typeface="Cambria Math" panose="02040503050406030204" pitchFamily="18" charset="0"/>
                        </a:rPr>
                        <m:t>𝑖</m:t>
                      </m:r>
                    </m:oMath>
                  </m:oMathPara>
                </a14:m>
                <a:endParaRPr lang="es-PE" dirty="0"/>
              </a:p>
            </p:txBody>
          </p:sp>
        </mc:Choice>
        <mc:Fallback xmlns="">
          <p:sp>
            <p:nvSpPr>
              <p:cNvPr id="30" name="CuadroTexto 29">
                <a:extLst>
                  <a:ext uri="{FF2B5EF4-FFF2-40B4-BE49-F238E27FC236}">
                    <a16:creationId xmlns:a16="http://schemas.microsoft.com/office/drawing/2014/main" id="{7FAB9F2C-B65B-A85F-194D-652656DF71F7}"/>
                  </a:ext>
                </a:extLst>
              </p:cNvPr>
              <p:cNvSpPr txBox="1">
                <a:spLocks noRot="1" noChangeAspect="1" noMove="1" noResize="1" noEditPoints="1" noAdjustHandles="1" noChangeArrowheads="1" noChangeShapeType="1" noTextEdit="1"/>
              </p:cNvSpPr>
              <p:nvPr/>
            </p:nvSpPr>
            <p:spPr>
              <a:xfrm>
                <a:off x="2156465" y="5215513"/>
                <a:ext cx="146001" cy="307777"/>
              </a:xfrm>
              <a:prstGeom prst="rect">
                <a:avLst/>
              </a:prstGeom>
              <a:blipFill>
                <a:blip r:embed="rId4"/>
                <a:stretch>
                  <a:fillRect l="-41667" r="-33333" b="-10000"/>
                </a:stretch>
              </a:blipFill>
            </p:spPr>
            <p:txBody>
              <a:bodyPr/>
              <a:lstStyle/>
              <a:p>
                <a:r>
                  <a:rPr lang="es-PE">
                    <a:noFill/>
                  </a:rPr>
                  <a:t> </a:t>
                </a:r>
              </a:p>
            </p:txBody>
          </p:sp>
        </mc:Fallback>
      </mc:AlternateContent>
      <mc:AlternateContent xmlns:mc="http://schemas.openxmlformats.org/markup-compatibility/2006" xmlns:a14="http://schemas.microsoft.com/office/drawing/2010/main">
        <mc:Choice Requires="a14">
          <p:sp>
            <p:nvSpPr>
              <p:cNvPr id="31" name="CuadroTexto 30">
                <a:extLst>
                  <a:ext uri="{FF2B5EF4-FFF2-40B4-BE49-F238E27FC236}">
                    <a16:creationId xmlns:a16="http://schemas.microsoft.com/office/drawing/2014/main" id="{4E092FDC-5BFF-4F22-1771-CE9921AF274B}"/>
                  </a:ext>
                </a:extLst>
              </p:cNvPr>
              <p:cNvSpPr txBox="1"/>
              <p:nvPr/>
            </p:nvSpPr>
            <p:spPr>
              <a:xfrm>
                <a:off x="2186645" y="3404629"/>
                <a:ext cx="157094"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PE" sz="2000" b="1" i="1" smtClean="0">
                          <a:latin typeface="Cambria Math" panose="02040503050406030204" pitchFamily="18" charset="0"/>
                          <a:ea typeface="Cambria Math" panose="02040503050406030204" pitchFamily="18" charset="0"/>
                        </a:rPr>
                        <m:t>𝒋</m:t>
                      </m:r>
                    </m:oMath>
                  </m:oMathPara>
                </a14:m>
                <a:endParaRPr lang="es-PE" sz="2000" b="1" dirty="0"/>
              </a:p>
            </p:txBody>
          </p:sp>
        </mc:Choice>
        <mc:Fallback xmlns="">
          <p:sp>
            <p:nvSpPr>
              <p:cNvPr id="31" name="CuadroTexto 30">
                <a:extLst>
                  <a:ext uri="{FF2B5EF4-FFF2-40B4-BE49-F238E27FC236}">
                    <a16:creationId xmlns:a16="http://schemas.microsoft.com/office/drawing/2014/main" id="{4E092FDC-5BFF-4F22-1771-CE9921AF274B}"/>
                  </a:ext>
                </a:extLst>
              </p:cNvPr>
              <p:cNvSpPr txBox="1">
                <a:spLocks noRot="1" noChangeAspect="1" noMove="1" noResize="1" noEditPoints="1" noAdjustHandles="1" noChangeArrowheads="1" noChangeShapeType="1" noTextEdit="1"/>
              </p:cNvSpPr>
              <p:nvPr/>
            </p:nvSpPr>
            <p:spPr>
              <a:xfrm>
                <a:off x="2186645" y="3404629"/>
                <a:ext cx="157094" cy="307777"/>
              </a:xfrm>
              <a:prstGeom prst="rect">
                <a:avLst/>
              </a:prstGeom>
              <a:blipFill>
                <a:blip r:embed="rId5"/>
                <a:stretch>
                  <a:fillRect l="-60000" r="-60000" b="-34000"/>
                </a:stretch>
              </a:blipFill>
            </p:spPr>
            <p:txBody>
              <a:bodyPr/>
              <a:lstStyle/>
              <a:p>
                <a:r>
                  <a:rPr lang="es-PE">
                    <a:noFill/>
                  </a:rPr>
                  <a:t> </a:t>
                </a:r>
              </a:p>
            </p:txBody>
          </p:sp>
        </mc:Fallback>
      </mc:AlternateContent>
      <p:cxnSp>
        <p:nvCxnSpPr>
          <p:cNvPr id="33" name="Conector recto de flecha 32">
            <a:extLst>
              <a:ext uri="{FF2B5EF4-FFF2-40B4-BE49-F238E27FC236}">
                <a16:creationId xmlns:a16="http://schemas.microsoft.com/office/drawing/2014/main" id="{EADB4F6B-A47F-98C5-9E60-EC7FEBCD3A4D}"/>
              </a:ext>
            </a:extLst>
          </p:cNvPr>
          <p:cNvCxnSpPr>
            <a:cxnSpLocks/>
          </p:cNvCxnSpPr>
          <p:nvPr/>
        </p:nvCxnSpPr>
        <p:spPr>
          <a:xfrm>
            <a:off x="911424" y="3360409"/>
            <a:ext cx="917667" cy="7628"/>
          </a:xfrm>
          <a:prstGeom prst="straightConnector1">
            <a:avLst/>
          </a:prstGeom>
          <a:ln w="38100">
            <a:solidFill>
              <a:srgbClr val="FF000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5" name="CuadroTexto 34">
                <a:extLst>
                  <a:ext uri="{FF2B5EF4-FFF2-40B4-BE49-F238E27FC236}">
                    <a16:creationId xmlns:a16="http://schemas.microsoft.com/office/drawing/2014/main" id="{AB796092-C43D-352D-887A-1D6C9D76A3C6}"/>
                  </a:ext>
                </a:extLst>
              </p:cNvPr>
              <p:cNvSpPr txBox="1"/>
              <p:nvPr/>
            </p:nvSpPr>
            <p:spPr>
              <a:xfrm>
                <a:off x="962218" y="2991077"/>
                <a:ext cx="271035"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PE" sz="2400" b="1" i="1" smtClean="0">
                          <a:solidFill>
                            <a:srgbClr val="FF0000"/>
                          </a:solidFill>
                          <a:latin typeface="Cambria Math" panose="02040503050406030204" pitchFamily="18" charset="0"/>
                          <a:ea typeface="Cambria Math" panose="02040503050406030204" pitchFamily="18" charset="0"/>
                        </a:rPr>
                        <m:t>𝑽</m:t>
                      </m:r>
                    </m:oMath>
                  </m:oMathPara>
                </a14:m>
                <a:endParaRPr lang="es-PE" sz="2400" b="1" dirty="0">
                  <a:solidFill>
                    <a:srgbClr val="FF0000"/>
                  </a:solidFill>
                </a:endParaRPr>
              </a:p>
            </p:txBody>
          </p:sp>
        </mc:Choice>
        <mc:Fallback xmlns="">
          <p:sp>
            <p:nvSpPr>
              <p:cNvPr id="35" name="CuadroTexto 34">
                <a:extLst>
                  <a:ext uri="{FF2B5EF4-FFF2-40B4-BE49-F238E27FC236}">
                    <a16:creationId xmlns:a16="http://schemas.microsoft.com/office/drawing/2014/main" id="{AB796092-C43D-352D-887A-1D6C9D76A3C6}"/>
                  </a:ext>
                </a:extLst>
              </p:cNvPr>
              <p:cNvSpPr txBox="1">
                <a:spLocks noRot="1" noChangeAspect="1" noMove="1" noResize="1" noEditPoints="1" noAdjustHandles="1" noChangeArrowheads="1" noChangeShapeType="1" noTextEdit="1"/>
              </p:cNvSpPr>
              <p:nvPr/>
            </p:nvSpPr>
            <p:spPr>
              <a:xfrm>
                <a:off x="962218" y="2991077"/>
                <a:ext cx="271035" cy="369332"/>
              </a:xfrm>
              <a:prstGeom prst="rect">
                <a:avLst/>
              </a:prstGeom>
              <a:blipFill>
                <a:blip r:embed="rId6"/>
                <a:stretch>
                  <a:fillRect l="-27273" r="-25000" b="-6667"/>
                </a:stretch>
              </a:blipFill>
            </p:spPr>
            <p:txBody>
              <a:bodyPr/>
              <a:lstStyle/>
              <a:p>
                <a:r>
                  <a:rPr lang="es-PE">
                    <a:noFill/>
                  </a:rPr>
                  <a:t> </a:t>
                </a:r>
              </a:p>
            </p:txBody>
          </p:sp>
        </mc:Fallback>
      </mc:AlternateContent>
      <mc:AlternateContent xmlns:mc="http://schemas.openxmlformats.org/markup-compatibility/2006" xmlns:a14="http://schemas.microsoft.com/office/drawing/2010/main">
        <mc:Choice Requires="a14">
          <p:sp>
            <p:nvSpPr>
              <p:cNvPr id="36" name="CuadroTexto 35">
                <a:extLst>
                  <a:ext uri="{FF2B5EF4-FFF2-40B4-BE49-F238E27FC236}">
                    <a16:creationId xmlns:a16="http://schemas.microsoft.com/office/drawing/2014/main" id="{F2BDB8C7-265A-4AE1-4705-2267C3573BD1}"/>
                  </a:ext>
                </a:extLst>
              </p:cNvPr>
              <p:cNvSpPr txBox="1"/>
              <p:nvPr/>
            </p:nvSpPr>
            <p:spPr>
              <a:xfrm>
                <a:off x="1604002" y="4352690"/>
                <a:ext cx="405560"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PE" sz="2400" b="1" i="1" smtClean="0">
                          <a:solidFill>
                            <a:srgbClr val="FF0000"/>
                          </a:solidFill>
                          <a:latin typeface="Cambria Math" panose="02040503050406030204" pitchFamily="18" charset="0"/>
                          <a:ea typeface="Cambria Math" panose="02040503050406030204" pitchFamily="18" charset="0"/>
                        </a:rPr>
                        <m:t>𝑬𝑰</m:t>
                      </m:r>
                    </m:oMath>
                  </m:oMathPara>
                </a14:m>
                <a:endParaRPr lang="es-PE" sz="2400" b="1" dirty="0">
                  <a:solidFill>
                    <a:srgbClr val="FF0000"/>
                  </a:solidFill>
                </a:endParaRPr>
              </a:p>
            </p:txBody>
          </p:sp>
        </mc:Choice>
        <mc:Fallback xmlns="">
          <p:sp>
            <p:nvSpPr>
              <p:cNvPr id="36" name="CuadroTexto 35">
                <a:extLst>
                  <a:ext uri="{FF2B5EF4-FFF2-40B4-BE49-F238E27FC236}">
                    <a16:creationId xmlns:a16="http://schemas.microsoft.com/office/drawing/2014/main" id="{F2BDB8C7-265A-4AE1-4705-2267C3573BD1}"/>
                  </a:ext>
                </a:extLst>
              </p:cNvPr>
              <p:cNvSpPr txBox="1">
                <a:spLocks noRot="1" noChangeAspect="1" noMove="1" noResize="1" noEditPoints="1" noAdjustHandles="1" noChangeArrowheads="1" noChangeShapeType="1" noTextEdit="1"/>
              </p:cNvSpPr>
              <p:nvPr/>
            </p:nvSpPr>
            <p:spPr>
              <a:xfrm>
                <a:off x="1604002" y="4352690"/>
                <a:ext cx="405560" cy="369332"/>
              </a:xfrm>
              <a:prstGeom prst="rect">
                <a:avLst/>
              </a:prstGeom>
              <a:blipFill>
                <a:blip r:embed="rId7"/>
                <a:stretch>
                  <a:fillRect l="-16418" r="-17910" b="-6557"/>
                </a:stretch>
              </a:blipFill>
            </p:spPr>
            <p:txBody>
              <a:bodyPr/>
              <a:lstStyle/>
              <a:p>
                <a:r>
                  <a:rPr lang="es-PE">
                    <a:noFill/>
                  </a:rPr>
                  <a:t> </a:t>
                </a:r>
              </a:p>
            </p:txBody>
          </p:sp>
        </mc:Fallback>
      </mc:AlternateContent>
      <p:sp>
        <p:nvSpPr>
          <p:cNvPr id="37" name="Flecha: curvada hacia abajo 36">
            <a:extLst>
              <a:ext uri="{FF2B5EF4-FFF2-40B4-BE49-F238E27FC236}">
                <a16:creationId xmlns:a16="http://schemas.microsoft.com/office/drawing/2014/main" id="{4A38F951-117F-0DF3-FF5C-A2DFE321C87B}"/>
              </a:ext>
            </a:extLst>
          </p:cNvPr>
          <p:cNvSpPr/>
          <p:nvPr/>
        </p:nvSpPr>
        <p:spPr>
          <a:xfrm>
            <a:off x="1746799" y="3231566"/>
            <a:ext cx="792088" cy="347626"/>
          </a:xfrm>
          <a:prstGeom prst="curvedDownArrow">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solidFill>
                <a:schemeClr val="tx1"/>
              </a:solidFill>
            </a:endParaRPr>
          </a:p>
        </p:txBody>
      </p:sp>
      <p:sp>
        <p:nvSpPr>
          <p:cNvPr id="38" name="Flecha: curvada hacia abajo 37">
            <a:extLst>
              <a:ext uri="{FF2B5EF4-FFF2-40B4-BE49-F238E27FC236}">
                <a16:creationId xmlns:a16="http://schemas.microsoft.com/office/drawing/2014/main" id="{E257D248-3ECF-CF82-7709-4CEEF161CAFE}"/>
              </a:ext>
            </a:extLst>
          </p:cNvPr>
          <p:cNvSpPr/>
          <p:nvPr/>
        </p:nvSpPr>
        <p:spPr>
          <a:xfrm rot="10800000">
            <a:off x="1703462" y="5321159"/>
            <a:ext cx="792088" cy="347626"/>
          </a:xfrm>
          <a:prstGeom prst="curvedDownArrow">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solidFill>
                <a:schemeClr val="tx1"/>
              </a:solidFill>
            </a:endParaRPr>
          </a:p>
        </p:txBody>
      </p:sp>
      <p:sp>
        <p:nvSpPr>
          <p:cNvPr id="45" name="CuadroTexto 44">
            <a:extLst>
              <a:ext uri="{FF2B5EF4-FFF2-40B4-BE49-F238E27FC236}">
                <a16:creationId xmlns:a16="http://schemas.microsoft.com/office/drawing/2014/main" id="{6B96982D-D648-8282-1F19-96F5DC8CFF66}"/>
              </a:ext>
            </a:extLst>
          </p:cNvPr>
          <p:cNvSpPr txBox="1"/>
          <p:nvPr/>
        </p:nvSpPr>
        <p:spPr>
          <a:xfrm>
            <a:off x="3470139" y="2463073"/>
            <a:ext cx="7514335" cy="830997"/>
          </a:xfrm>
          <a:prstGeom prst="rect">
            <a:avLst/>
          </a:prstGeom>
          <a:noFill/>
        </p:spPr>
        <p:txBody>
          <a:bodyPr wrap="square" rtlCol="0">
            <a:spAutoFit/>
          </a:bodyPr>
          <a:lstStyle/>
          <a:p>
            <a:r>
              <a:rPr lang="es-PE" sz="2400" dirty="0"/>
              <a:t>La rigidez lateral será la relación de la carga lateral entre el desplazamiento lateral de la columna sería</a:t>
            </a:r>
          </a:p>
        </p:txBody>
      </p:sp>
      <mc:AlternateContent xmlns:mc="http://schemas.openxmlformats.org/markup-compatibility/2006" xmlns:a14="http://schemas.microsoft.com/office/drawing/2010/main">
        <mc:Choice Requires="a14">
          <p:sp>
            <p:nvSpPr>
              <p:cNvPr id="46" name="CuadroTexto 45">
                <a:extLst>
                  <a:ext uri="{FF2B5EF4-FFF2-40B4-BE49-F238E27FC236}">
                    <a16:creationId xmlns:a16="http://schemas.microsoft.com/office/drawing/2014/main" id="{D6C89C09-D73C-DF72-F1EB-E48DB13B2903}"/>
                  </a:ext>
                </a:extLst>
              </p:cNvPr>
              <p:cNvSpPr txBox="1"/>
              <p:nvPr/>
            </p:nvSpPr>
            <p:spPr>
              <a:xfrm>
                <a:off x="3538937" y="3337717"/>
                <a:ext cx="1418722" cy="537263"/>
              </a:xfrm>
              <a:prstGeom prst="rect">
                <a:avLst/>
              </a:prstGeom>
              <a:noFill/>
            </p:spPr>
            <p:txBody>
              <a:bodyPr wrap="square" lIns="0" tIns="0" rIns="0" bIns="0" rtlCol="0">
                <a:spAutoFit/>
              </a:bodyPr>
              <a:lstStyle/>
              <a:p>
                <a:pPr/>
                <a14:m>
                  <m:oMathPara xmlns:m="http://schemas.openxmlformats.org/officeDocument/2006/math">
                    <m:oMathParaPr>
                      <m:jc m:val="left"/>
                    </m:oMathParaPr>
                    <m:oMath xmlns:m="http://schemas.openxmlformats.org/officeDocument/2006/math">
                      <m:sSub>
                        <m:sSubPr>
                          <m:ctrlPr>
                            <a:rPr lang="es-PE" b="0" i="1" smtClean="0">
                              <a:latin typeface="Cambria Math" panose="02040503050406030204" pitchFamily="18" charset="0"/>
                            </a:rPr>
                          </m:ctrlPr>
                        </m:sSubPr>
                        <m:e>
                          <m:r>
                            <a:rPr lang="es-PE" b="0" i="1" smtClean="0">
                              <a:latin typeface="Cambria Math" panose="02040503050406030204" pitchFamily="18" charset="0"/>
                            </a:rPr>
                            <m:t>𝐾</m:t>
                          </m:r>
                        </m:e>
                        <m:sub>
                          <m:r>
                            <a:rPr lang="es-PE" b="0" i="1" smtClean="0">
                              <a:latin typeface="Cambria Math" panose="02040503050406030204" pitchFamily="18" charset="0"/>
                            </a:rPr>
                            <m:t>𝑝𝑒</m:t>
                          </m:r>
                        </m:sub>
                      </m:sSub>
                      <m:r>
                        <a:rPr lang="es-PE" b="0" i="1" smtClean="0">
                          <a:latin typeface="Cambria Math" panose="02040503050406030204" pitchFamily="18" charset="0"/>
                        </a:rPr>
                        <m:t>=</m:t>
                      </m:r>
                      <m:f>
                        <m:fPr>
                          <m:ctrlPr>
                            <a:rPr lang="es-PE" i="1">
                              <a:latin typeface="Cambria Math" panose="02040503050406030204" pitchFamily="18" charset="0"/>
                            </a:rPr>
                          </m:ctrlPr>
                        </m:fPr>
                        <m:num>
                          <m:r>
                            <a:rPr lang="es-PE" b="0" i="1" smtClean="0">
                              <a:latin typeface="Cambria Math" panose="02040503050406030204" pitchFamily="18" charset="0"/>
                            </a:rPr>
                            <m:t>12</m:t>
                          </m:r>
                          <m:r>
                            <a:rPr lang="es-PE" i="1">
                              <a:latin typeface="Cambria Math" panose="02040503050406030204" pitchFamily="18" charset="0"/>
                            </a:rPr>
                            <m:t> </m:t>
                          </m:r>
                          <m:r>
                            <a:rPr lang="es-PE" i="1">
                              <a:latin typeface="Cambria Math" panose="02040503050406030204" pitchFamily="18" charset="0"/>
                            </a:rPr>
                            <m:t>𝐸𝐼</m:t>
                          </m:r>
                          <m:r>
                            <a:rPr lang="es-PE" i="1">
                              <a:latin typeface="Cambria Math" panose="02040503050406030204" pitchFamily="18" charset="0"/>
                            </a:rPr>
                            <m:t> ∆</m:t>
                          </m:r>
                        </m:num>
                        <m:den>
                          <m:sSup>
                            <m:sSupPr>
                              <m:ctrlPr>
                                <a:rPr lang="es-PE" i="1">
                                  <a:latin typeface="Cambria Math" panose="02040503050406030204" pitchFamily="18" charset="0"/>
                                </a:rPr>
                              </m:ctrlPr>
                            </m:sSupPr>
                            <m:e>
                              <m:r>
                                <a:rPr lang="es-PE" i="1">
                                  <a:latin typeface="Cambria Math" panose="02040503050406030204" pitchFamily="18" charset="0"/>
                                </a:rPr>
                                <m:t>h</m:t>
                              </m:r>
                            </m:e>
                            <m:sup>
                              <m:r>
                                <a:rPr lang="es-PE" b="0" i="1" smtClean="0">
                                  <a:latin typeface="Cambria Math" panose="02040503050406030204" pitchFamily="18" charset="0"/>
                                </a:rPr>
                                <m:t>3</m:t>
                              </m:r>
                            </m:sup>
                          </m:sSup>
                        </m:den>
                      </m:f>
                    </m:oMath>
                  </m:oMathPara>
                </a14:m>
                <a:endParaRPr lang="es-PE" dirty="0"/>
              </a:p>
            </p:txBody>
          </p:sp>
        </mc:Choice>
        <mc:Fallback xmlns="">
          <p:sp>
            <p:nvSpPr>
              <p:cNvPr id="46" name="CuadroTexto 45">
                <a:extLst>
                  <a:ext uri="{FF2B5EF4-FFF2-40B4-BE49-F238E27FC236}">
                    <a16:creationId xmlns:a16="http://schemas.microsoft.com/office/drawing/2014/main" id="{D6C89C09-D73C-DF72-F1EB-E48DB13B2903}"/>
                  </a:ext>
                </a:extLst>
              </p:cNvPr>
              <p:cNvSpPr txBox="1">
                <a:spLocks noRot="1" noChangeAspect="1" noMove="1" noResize="1" noEditPoints="1" noAdjustHandles="1" noChangeArrowheads="1" noChangeShapeType="1" noTextEdit="1"/>
              </p:cNvSpPr>
              <p:nvPr/>
            </p:nvSpPr>
            <p:spPr>
              <a:xfrm>
                <a:off x="3538937" y="3337717"/>
                <a:ext cx="1418722" cy="537263"/>
              </a:xfrm>
              <a:prstGeom prst="rect">
                <a:avLst/>
              </a:prstGeom>
              <a:blipFill>
                <a:blip r:embed="rId8"/>
                <a:stretch>
                  <a:fillRect/>
                </a:stretch>
              </a:blipFill>
            </p:spPr>
            <p:txBody>
              <a:bodyPr/>
              <a:lstStyle/>
              <a:p>
                <a:r>
                  <a:rPr lang="es-PE">
                    <a:noFill/>
                  </a:rPr>
                  <a:t> </a:t>
                </a:r>
              </a:p>
            </p:txBody>
          </p:sp>
        </mc:Fallback>
      </mc:AlternateContent>
      <mc:AlternateContent xmlns:mc="http://schemas.openxmlformats.org/markup-compatibility/2006" xmlns:a14="http://schemas.microsoft.com/office/drawing/2010/main">
        <mc:Choice Requires="a14">
          <p:sp>
            <p:nvSpPr>
              <p:cNvPr id="3" name="CuadroTexto 2">
                <a:extLst>
                  <a:ext uri="{FF2B5EF4-FFF2-40B4-BE49-F238E27FC236}">
                    <a16:creationId xmlns:a16="http://schemas.microsoft.com/office/drawing/2014/main" id="{F84728CE-873C-BC0B-C5A1-195A664107C8}"/>
                  </a:ext>
                </a:extLst>
              </p:cNvPr>
              <p:cNvSpPr txBox="1"/>
              <p:nvPr/>
            </p:nvSpPr>
            <p:spPr>
              <a:xfrm>
                <a:off x="3543527" y="3991514"/>
                <a:ext cx="6720622" cy="196040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PE" b="0" i="1" smtClean="0">
                          <a:latin typeface="Cambria Math" panose="02040503050406030204" pitchFamily="18" charset="0"/>
                        </a:rPr>
                        <m:t>𝐷𝑜𝑛𝑑𝑒</m:t>
                      </m:r>
                      <m:r>
                        <a:rPr lang="es-PE" b="0" i="1" smtClean="0">
                          <a:latin typeface="Cambria Math" panose="02040503050406030204" pitchFamily="18" charset="0"/>
                        </a:rPr>
                        <m:t>:</m:t>
                      </m:r>
                    </m:oMath>
                  </m:oMathPara>
                </a14:m>
                <a:endParaRPr lang="es-PE" b="0" i="1" dirty="0">
                  <a:latin typeface="Cambria Math" panose="02040503050406030204" pitchFamily="18" charset="0"/>
                </a:endParaRPr>
              </a:p>
              <a:p>
                <a:pPr/>
                <a14:m>
                  <m:oMathPara xmlns:m="http://schemas.openxmlformats.org/officeDocument/2006/math">
                    <m:oMathParaPr>
                      <m:jc m:val="left"/>
                    </m:oMathParaPr>
                    <m:oMath xmlns:m="http://schemas.openxmlformats.org/officeDocument/2006/math">
                      <m:r>
                        <a:rPr lang="es-PE" b="0" i="1" smtClean="0">
                          <a:latin typeface="Cambria Math" panose="02040503050406030204" pitchFamily="18" charset="0"/>
                        </a:rPr>
                        <m:t>𝑉</m:t>
                      </m:r>
                      <m:r>
                        <a:rPr lang="es-PE" b="0" i="1" smtClean="0">
                          <a:latin typeface="Cambria Math" panose="02040503050406030204" pitchFamily="18" charset="0"/>
                        </a:rPr>
                        <m:t>     :   </m:t>
                      </m:r>
                      <m:r>
                        <a:rPr lang="es-PE" b="0" i="1" smtClean="0">
                          <a:latin typeface="Cambria Math" panose="02040503050406030204" pitchFamily="18" charset="0"/>
                        </a:rPr>
                        <m:t>𝐹𝑢𝑒𝑟𝑧𝑎</m:t>
                      </m:r>
                      <m:r>
                        <a:rPr lang="es-PE" b="0" i="1" smtClean="0">
                          <a:latin typeface="Cambria Math" panose="02040503050406030204" pitchFamily="18" charset="0"/>
                        </a:rPr>
                        <m:t> </m:t>
                      </m:r>
                      <m:r>
                        <a:rPr lang="es-PE" b="0" i="1" smtClean="0">
                          <a:latin typeface="Cambria Math" panose="02040503050406030204" pitchFamily="18" charset="0"/>
                        </a:rPr>
                        <m:t>𝑙𝑎𝑡𝑒𝑟𝑎𝑙</m:t>
                      </m:r>
                    </m:oMath>
                  </m:oMathPara>
                </a14:m>
                <a:endParaRPr lang="es-PE" b="0" i="1" dirty="0">
                  <a:latin typeface="Cambria Math" panose="02040503050406030204" pitchFamily="18" charset="0"/>
                </a:endParaRPr>
              </a:p>
              <a:p>
                <a:pPr/>
                <a14:m>
                  <m:oMathPara xmlns:m="http://schemas.openxmlformats.org/officeDocument/2006/math">
                    <m:oMathParaPr>
                      <m:jc m:val="left"/>
                    </m:oMathParaPr>
                    <m:oMath xmlns:m="http://schemas.openxmlformats.org/officeDocument/2006/math">
                      <m:r>
                        <a:rPr lang="es-PE" b="0" i="1" smtClean="0">
                          <a:latin typeface="Cambria Math" panose="02040503050406030204" pitchFamily="18" charset="0"/>
                          <a:ea typeface="Cambria Math" panose="02040503050406030204" pitchFamily="18" charset="0"/>
                        </a:rPr>
                        <m:t>∆      :     </m:t>
                      </m:r>
                      <m:r>
                        <a:rPr lang="es-PE" b="0" i="1" smtClean="0">
                          <a:latin typeface="Cambria Math" panose="02040503050406030204" pitchFamily="18" charset="0"/>
                          <a:ea typeface="Cambria Math" panose="02040503050406030204" pitchFamily="18" charset="0"/>
                        </a:rPr>
                        <m:t>𝐷𝑒𝑓𝑜𝑟𝑚𝑎𝑐𝑖</m:t>
                      </m:r>
                      <m:r>
                        <a:rPr lang="es-PE" b="0" i="1" smtClean="0">
                          <a:latin typeface="Cambria Math" panose="02040503050406030204" pitchFamily="18" charset="0"/>
                          <a:ea typeface="Cambria Math" panose="02040503050406030204" pitchFamily="18" charset="0"/>
                        </a:rPr>
                        <m:t>ó</m:t>
                      </m:r>
                      <m:r>
                        <a:rPr lang="es-PE" b="0" i="1" smtClean="0">
                          <a:latin typeface="Cambria Math" panose="02040503050406030204" pitchFamily="18" charset="0"/>
                          <a:ea typeface="Cambria Math" panose="02040503050406030204" pitchFamily="18" charset="0"/>
                        </a:rPr>
                        <m:t>𝑛</m:t>
                      </m:r>
                      <m:r>
                        <a:rPr lang="es-PE" b="0" i="1" smtClean="0">
                          <a:latin typeface="Cambria Math" panose="02040503050406030204" pitchFamily="18" charset="0"/>
                          <a:ea typeface="Cambria Math" panose="02040503050406030204" pitchFamily="18" charset="0"/>
                        </a:rPr>
                        <m:t> </m:t>
                      </m:r>
                      <m:r>
                        <a:rPr lang="es-PE" b="0" i="1" smtClean="0">
                          <a:latin typeface="Cambria Math" panose="02040503050406030204" pitchFamily="18" charset="0"/>
                          <a:ea typeface="Cambria Math" panose="02040503050406030204" pitchFamily="18" charset="0"/>
                        </a:rPr>
                        <m:t>𝑙𝑎𝑡𝑒𝑟𝑎𝑙</m:t>
                      </m:r>
                      <m:r>
                        <a:rPr lang="es-PE" b="0" i="1" smtClean="0">
                          <a:latin typeface="Cambria Math" panose="02040503050406030204" pitchFamily="18" charset="0"/>
                          <a:ea typeface="Cambria Math" panose="02040503050406030204" pitchFamily="18" charset="0"/>
                        </a:rPr>
                        <m:t> </m:t>
                      </m:r>
                    </m:oMath>
                  </m:oMathPara>
                </a14:m>
                <a:endParaRPr lang="es-PE" b="0" i="1" dirty="0">
                  <a:latin typeface="Cambria Math" panose="02040503050406030204" pitchFamily="18" charset="0"/>
                  <a:ea typeface="Cambria Math" panose="02040503050406030204" pitchFamily="18" charset="0"/>
                </a:endParaRPr>
              </a:p>
              <a:p>
                <a:pPr/>
                <a14:m>
                  <m:oMathPara xmlns:m="http://schemas.openxmlformats.org/officeDocument/2006/math">
                    <m:oMathParaPr>
                      <m:jc m:val="left"/>
                    </m:oMathParaPr>
                    <m:oMath xmlns:m="http://schemas.openxmlformats.org/officeDocument/2006/math">
                      <m:r>
                        <a:rPr lang="es-PE" b="0" i="1" smtClean="0">
                          <a:latin typeface="Cambria Math" panose="02040503050406030204" pitchFamily="18" charset="0"/>
                        </a:rPr>
                        <m:t>𝐸</m:t>
                      </m:r>
                      <m:r>
                        <a:rPr lang="es-PE" b="0" i="1" smtClean="0">
                          <a:latin typeface="Cambria Math" panose="02040503050406030204" pitchFamily="18" charset="0"/>
                        </a:rPr>
                        <m:t>     :     </m:t>
                      </m:r>
                      <m:r>
                        <a:rPr lang="es-PE" b="0" i="1" smtClean="0">
                          <a:latin typeface="Cambria Math" panose="02040503050406030204" pitchFamily="18" charset="0"/>
                        </a:rPr>
                        <m:t>𝑀</m:t>
                      </m:r>
                      <m:r>
                        <a:rPr lang="es-PE" b="0" i="1" smtClean="0">
                          <a:latin typeface="Cambria Math" panose="02040503050406030204" pitchFamily="18" charset="0"/>
                        </a:rPr>
                        <m:t>ó</m:t>
                      </m:r>
                      <m:r>
                        <a:rPr lang="es-PE" b="0" i="1" smtClean="0">
                          <a:latin typeface="Cambria Math" panose="02040503050406030204" pitchFamily="18" charset="0"/>
                        </a:rPr>
                        <m:t>𝑑𝑢𝑙𝑜</m:t>
                      </m:r>
                      <m:r>
                        <a:rPr lang="es-PE" b="0" i="1" smtClean="0">
                          <a:latin typeface="Cambria Math" panose="02040503050406030204" pitchFamily="18" charset="0"/>
                        </a:rPr>
                        <m:t> </m:t>
                      </m:r>
                      <m:r>
                        <a:rPr lang="es-PE" b="0" i="1" smtClean="0">
                          <a:latin typeface="Cambria Math" panose="02040503050406030204" pitchFamily="18" charset="0"/>
                        </a:rPr>
                        <m:t>𝑑𝑒</m:t>
                      </m:r>
                      <m:r>
                        <a:rPr lang="es-PE" b="0" i="1" smtClean="0">
                          <a:latin typeface="Cambria Math" panose="02040503050406030204" pitchFamily="18" charset="0"/>
                        </a:rPr>
                        <m:t> </m:t>
                      </m:r>
                      <m:r>
                        <a:rPr lang="es-PE" b="0" i="1" smtClean="0">
                          <a:latin typeface="Cambria Math" panose="02040503050406030204" pitchFamily="18" charset="0"/>
                        </a:rPr>
                        <m:t>𝑒𝑙𝑎𝑠𝑡𝑖𝑐𝑖𝑑𝑎𝑑</m:t>
                      </m:r>
                    </m:oMath>
                  </m:oMathPara>
                </a14:m>
                <a:endParaRPr lang="es-PE" b="0" i="1" dirty="0">
                  <a:latin typeface="Cambria Math" panose="02040503050406030204" pitchFamily="18" charset="0"/>
                </a:endParaRPr>
              </a:p>
              <a:p>
                <a:pPr/>
                <a14:m>
                  <m:oMathPara xmlns:m="http://schemas.openxmlformats.org/officeDocument/2006/math">
                    <m:oMathParaPr>
                      <m:jc m:val="left"/>
                    </m:oMathParaPr>
                    <m:oMath xmlns:m="http://schemas.openxmlformats.org/officeDocument/2006/math">
                      <m:r>
                        <a:rPr lang="es-PE" b="0" i="1" smtClean="0">
                          <a:latin typeface="Cambria Math" panose="02040503050406030204" pitchFamily="18" charset="0"/>
                        </a:rPr>
                        <m:t>𝐼</m:t>
                      </m:r>
                      <m:r>
                        <a:rPr lang="es-PE" b="0" i="1" smtClean="0">
                          <a:latin typeface="Cambria Math" panose="02040503050406030204" pitchFamily="18" charset="0"/>
                        </a:rPr>
                        <m:t>      :     </m:t>
                      </m:r>
                      <m:r>
                        <a:rPr lang="es-PE" b="0" i="1" smtClean="0">
                          <a:latin typeface="Cambria Math" panose="02040503050406030204" pitchFamily="18" charset="0"/>
                        </a:rPr>
                        <m:t>𝐼𝑛𝑒𝑟𝑐𝑖𝑎</m:t>
                      </m:r>
                      <m:r>
                        <a:rPr lang="es-PE" b="0" i="1" smtClean="0">
                          <a:latin typeface="Cambria Math" panose="02040503050406030204" pitchFamily="18" charset="0"/>
                        </a:rPr>
                        <m:t> </m:t>
                      </m:r>
                      <m:r>
                        <a:rPr lang="es-PE" b="0" i="1" smtClean="0">
                          <a:latin typeface="Cambria Math" panose="02040503050406030204" pitchFamily="18" charset="0"/>
                        </a:rPr>
                        <m:t>𝑑𝑒</m:t>
                      </m:r>
                      <m:r>
                        <a:rPr lang="es-PE" b="0" i="1" smtClean="0">
                          <a:latin typeface="Cambria Math" panose="02040503050406030204" pitchFamily="18" charset="0"/>
                        </a:rPr>
                        <m:t> </m:t>
                      </m:r>
                      <m:r>
                        <a:rPr lang="es-PE" b="0" i="1" smtClean="0">
                          <a:latin typeface="Cambria Math" panose="02040503050406030204" pitchFamily="18" charset="0"/>
                        </a:rPr>
                        <m:t>𝑙𝑎</m:t>
                      </m:r>
                      <m:r>
                        <a:rPr lang="es-PE" b="0" i="1" smtClean="0">
                          <a:latin typeface="Cambria Math" panose="02040503050406030204" pitchFamily="18" charset="0"/>
                        </a:rPr>
                        <m:t> </m:t>
                      </m:r>
                      <m:r>
                        <a:rPr lang="es-PE" b="0" i="1" smtClean="0">
                          <a:latin typeface="Cambria Math" panose="02040503050406030204" pitchFamily="18" charset="0"/>
                        </a:rPr>
                        <m:t>𝑠𝑒𝑐𝑐𝑖</m:t>
                      </m:r>
                      <m:r>
                        <a:rPr lang="es-PE" b="0" i="1" smtClean="0">
                          <a:latin typeface="Cambria Math" panose="02040503050406030204" pitchFamily="18" charset="0"/>
                        </a:rPr>
                        <m:t>ó</m:t>
                      </m:r>
                      <m:r>
                        <a:rPr lang="es-PE" b="0" i="1" smtClean="0">
                          <a:latin typeface="Cambria Math" panose="02040503050406030204" pitchFamily="18" charset="0"/>
                        </a:rPr>
                        <m:t>𝑛</m:t>
                      </m:r>
                      <m:r>
                        <a:rPr lang="es-PE" b="0" i="1" smtClean="0">
                          <a:latin typeface="Cambria Math" panose="02040503050406030204" pitchFamily="18" charset="0"/>
                        </a:rPr>
                        <m:t> </m:t>
                      </m:r>
                      <m:r>
                        <a:rPr lang="es-PE" b="0" i="1" smtClean="0">
                          <a:latin typeface="Cambria Math" panose="02040503050406030204" pitchFamily="18" charset="0"/>
                        </a:rPr>
                        <m:t>𝑡𝑟𝑎𝑛𝑣𝑒𝑟𝑠𝑎𝑙</m:t>
                      </m:r>
                    </m:oMath>
                  </m:oMathPara>
                </a14:m>
                <a:endParaRPr lang="es-PE" b="0" i="1" dirty="0">
                  <a:latin typeface="Cambria Math" panose="02040503050406030204" pitchFamily="18" charset="0"/>
                </a:endParaRPr>
              </a:p>
              <a:p>
                <a:pPr/>
                <a14:m>
                  <m:oMathPara xmlns:m="http://schemas.openxmlformats.org/officeDocument/2006/math">
                    <m:oMathParaPr>
                      <m:jc m:val="left"/>
                    </m:oMathParaPr>
                    <m:oMath xmlns:m="http://schemas.openxmlformats.org/officeDocument/2006/math">
                      <m:r>
                        <a:rPr lang="es-PE" b="0" i="1" smtClean="0">
                          <a:latin typeface="Cambria Math" panose="02040503050406030204" pitchFamily="18" charset="0"/>
                        </a:rPr>
                        <m:t>h</m:t>
                      </m:r>
                      <m:r>
                        <a:rPr lang="es-PE" b="0" i="1" smtClean="0">
                          <a:latin typeface="Cambria Math" panose="02040503050406030204" pitchFamily="18" charset="0"/>
                        </a:rPr>
                        <m:t>     :     </m:t>
                      </m:r>
                      <m:r>
                        <a:rPr lang="es-PE" b="0" i="1" smtClean="0">
                          <a:latin typeface="Cambria Math" panose="02040503050406030204" pitchFamily="18" charset="0"/>
                        </a:rPr>
                        <m:t>𝐴𝑙𝑡𝑢𝑟𝑎</m:t>
                      </m:r>
                      <m:r>
                        <a:rPr lang="es-PE" b="0" i="1" smtClean="0">
                          <a:latin typeface="Cambria Math" panose="02040503050406030204" pitchFamily="18" charset="0"/>
                        </a:rPr>
                        <m:t> </m:t>
                      </m:r>
                      <m:r>
                        <a:rPr lang="es-PE" b="0" i="1" smtClean="0">
                          <a:latin typeface="Cambria Math" panose="02040503050406030204" pitchFamily="18" charset="0"/>
                        </a:rPr>
                        <m:t>𝑑𝑒</m:t>
                      </m:r>
                      <m:r>
                        <a:rPr lang="es-PE" b="0" i="1" smtClean="0">
                          <a:latin typeface="Cambria Math" panose="02040503050406030204" pitchFamily="18" charset="0"/>
                        </a:rPr>
                        <m:t> </m:t>
                      </m:r>
                      <m:r>
                        <a:rPr lang="es-PE" b="0" i="1" smtClean="0">
                          <a:latin typeface="Cambria Math" panose="02040503050406030204" pitchFamily="18" charset="0"/>
                        </a:rPr>
                        <m:t>𝑙𝑎</m:t>
                      </m:r>
                      <m:r>
                        <a:rPr lang="es-PE" b="0" i="1" smtClean="0">
                          <a:latin typeface="Cambria Math" panose="02040503050406030204" pitchFamily="18" charset="0"/>
                        </a:rPr>
                        <m:t> </m:t>
                      </m:r>
                      <m:r>
                        <a:rPr lang="es-PE" b="0" i="1" smtClean="0">
                          <a:latin typeface="Cambria Math" panose="02040503050406030204" pitchFamily="18" charset="0"/>
                        </a:rPr>
                        <m:t>𝑐𝑜𝑙𝑢𝑚𝑛𝑎</m:t>
                      </m:r>
                    </m:oMath>
                  </m:oMathPara>
                </a14:m>
                <a:endParaRPr lang="es-PE" b="0" i="1" dirty="0">
                  <a:latin typeface="Cambria Math" panose="02040503050406030204" pitchFamily="18" charset="0"/>
                </a:endParaRPr>
              </a:p>
              <a:p>
                <a:pPr/>
                <a14:m>
                  <m:oMathPara xmlns:m="http://schemas.openxmlformats.org/officeDocument/2006/math">
                    <m:oMathParaPr>
                      <m:jc m:val="left"/>
                    </m:oMathParaPr>
                    <m:oMath xmlns:m="http://schemas.openxmlformats.org/officeDocument/2006/math">
                      <m:sSub>
                        <m:sSubPr>
                          <m:ctrlPr>
                            <a:rPr lang="es-PE" b="0" i="1" smtClean="0">
                              <a:latin typeface="Cambria Math" panose="02040503050406030204" pitchFamily="18" charset="0"/>
                            </a:rPr>
                          </m:ctrlPr>
                        </m:sSubPr>
                        <m:e>
                          <m:r>
                            <a:rPr lang="es-PE" b="0" i="1" smtClean="0">
                              <a:latin typeface="Cambria Math" panose="02040503050406030204" pitchFamily="18" charset="0"/>
                            </a:rPr>
                            <m:t>𝐾</m:t>
                          </m:r>
                        </m:e>
                        <m:sub>
                          <m:r>
                            <a:rPr lang="es-PE" b="0" i="1" smtClean="0">
                              <a:latin typeface="Cambria Math" panose="02040503050406030204" pitchFamily="18" charset="0"/>
                            </a:rPr>
                            <m:t>𝑝𝑒</m:t>
                          </m:r>
                        </m:sub>
                      </m:sSub>
                      <m:r>
                        <a:rPr lang="es-PE" b="0" i="1" smtClean="0">
                          <a:latin typeface="Cambria Math" panose="02040503050406030204" pitchFamily="18" charset="0"/>
                        </a:rPr>
                        <m:t>:     </m:t>
                      </m:r>
                      <m:r>
                        <a:rPr lang="es-PE" b="0" i="1" smtClean="0">
                          <a:latin typeface="Cambria Math" panose="02040503050406030204" pitchFamily="18" charset="0"/>
                        </a:rPr>
                        <m:t>𝑅𝑖𝑔𝑖𝑑𝑒𝑧</m:t>
                      </m:r>
                      <m:r>
                        <a:rPr lang="es-PE" b="0" i="1" smtClean="0">
                          <a:latin typeface="Cambria Math" panose="02040503050406030204" pitchFamily="18" charset="0"/>
                        </a:rPr>
                        <m:t> </m:t>
                      </m:r>
                      <m:r>
                        <a:rPr lang="es-PE" b="0" i="1" smtClean="0">
                          <a:latin typeface="Cambria Math" panose="02040503050406030204" pitchFamily="18" charset="0"/>
                        </a:rPr>
                        <m:t>𝑙𝑎𝑡𝑒𝑟𝑎𝑙</m:t>
                      </m:r>
                      <m:r>
                        <a:rPr lang="es-PE" b="0" i="1" smtClean="0">
                          <a:latin typeface="Cambria Math" panose="02040503050406030204" pitchFamily="18" charset="0"/>
                        </a:rPr>
                        <m:t> </m:t>
                      </m:r>
                      <m:r>
                        <a:rPr lang="es-PE" b="0" i="1" smtClean="0">
                          <a:latin typeface="Cambria Math" panose="02040503050406030204" pitchFamily="18" charset="0"/>
                        </a:rPr>
                        <m:t>𝑑𝑒</m:t>
                      </m:r>
                      <m:r>
                        <a:rPr lang="es-PE" b="0" i="1" smtClean="0">
                          <a:latin typeface="Cambria Math" panose="02040503050406030204" pitchFamily="18" charset="0"/>
                        </a:rPr>
                        <m:t> </m:t>
                      </m:r>
                      <m:r>
                        <a:rPr lang="es-PE" b="0" i="1" smtClean="0">
                          <a:latin typeface="Cambria Math" panose="02040503050406030204" pitchFamily="18" charset="0"/>
                        </a:rPr>
                        <m:t>𝑙𝑎</m:t>
                      </m:r>
                      <m:r>
                        <a:rPr lang="es-PE" b="0" i="1" smtClean="0">
                          <a:latin typeface="Cambria Math" panose="02040503050406030204" pitchFamily="18" charset="0"/>
                        </a:rPr>
                        <m:t> </m:t>
                      </m:r>
                      <m:r>
                        <a:rPr lang="es-PE" b="0" i="1" smtClean="0">
                          <a:latin typeface="Cambria Math" panose="02040503050406030204" pitchFamily="18" charset="0"/>
                        </a:rPr>
                        <m:t>𝑐𝑜𝑙𝑢𝑚𝑛𝑎</m:t>
                      </m:r>
                      <m:r>
                        <a:rPr lang="es-PE" b="0" i="1" smtClean="0">
                          <a:latin typeface="Cambria Math" panose="02040503050406030204" pitchFamily="18" charset="0"/>
                        </a:rPr>
                        <m:t> </m:t>
                      </m:r>
                      <m:r>
                        <a:rPr lang="es-PE" b="0" i="1" smtClean="0">
                          <a:latin typeface="Cambria Math" panose="02040503050406030204" pitchFamily="18" charset="0"/>
                        </a:rPr>
                        <m:t>𝑝𝑒𝑟𝑓𝑒𝑐𝑡𝑎𝑚𝑛𝑒𝑡𝑒</m:t>
                      </m:r>
                      <m:r>
                        <a:rPr lang="es-PE" b="0" i="1" smtClean="0">
                          <a:latin typeface="Cambria Math" panose="02040503050406030204" pitchFamily="18" charset="0"/>
                        </a:rPr>
                        <m:t> </m:t>
                      </m:r>
                      <m:r>
                        <a:rPr lang="es-PE" b="0" i="1" smtClean="0">
                          <a:latin typeface="Cambria Math" panose="02040503050406030204" pitchFamily="18" charset="0"/>
                        </a:rPr>
                        <m:t>𝑒𝑚𝑝𝑜𝑡𝑟𝑎𝑑𝑎</m:t>
                      </m:r>
                      <m:r>
                        <a:rPr lang="es-PE" b="0" i="1" smtClean="0">
                          <a:latin typeface="Cambria Math" panose="02040503050406030204" pitchFamily="18" charset="0"/>
                        </a:rPr>
                        <m:t> </m:t>
                      </m:r>
                    </m:oMath>
                  </m:oMathPara>
                </a14:m>
                <a:endParaRPr lang="es-PE" b="0" dirty="0"/>
              </a:p>
            </p:txBody>
          </p:sp>
        </mc:Choice>
        <mc:Fallback xmlns="">
          <p:sp>
            <p:nvSpPr>
              <p:cNvPr id="3" name="CuadroTexto 2">
                <a:extLst>
                  <a:ext uri="{FF2B5EF4-FFF2-40B4-BE49-F238E27FC236}">
                    <a16:creationId xmlns:a16="http://schemas.microsoft.com/office/drawing/2014/main" id="{F84728CE-873C-BC0B-C5A1-195A664107C8}"/>
                  </a:ext>
                </a:extLst>
              </p:cNvPr>
              <p:cNvSpPr txBox="1">
                <a:spLocks noRot="1" noChangeAspect="1" noMove="1" noResize="1" noEditPoints="1" noAdjustHandles="1" noChangeArrowheads="1" noChangeShapeType="1" noTextEdit="1"/>
              </p:cNvSpPr>
              <p:nvPr/>
            </p:nvSpPr>
            <p:spPr>
              <a:xfrm>
                <a:off x="3543527" y="3991514"/>
                <a:ext cx="6720622" cy="1960408"/>
              </a:xfrm>
              <a:prstGeom prst="rect">
                <a:avLst/>
              </a:prstGeom>
              <a:blipFill>
                <a:blip r:embed="rId9"/>
                <a:stretch>
                  <a:fillRect l="-1269" b="-3427"/>
                </a:stretch>
              </a:blipFill>
            </p:spPr>
            <p:txBody>
              <a:bodyPr/>
              <a:lstStyle/>
              <a:p>
                <a:r>
                  <a:rPr lang="es-PE">
                    <a:noFill/>
                  </a:rPr>
                  <a:t> </a:t>
                </a:r>
              </a:p>
            </p:txBody>
          </p:sp>
        </mc:Fallback>
      </mc:AlternateContent>
    </p:spTree>
    <p:extLst>
      <p:ext uri="{BB962C8B-B14F-4D97-AF65-F5344CB8AC3E}">
        <p14:creationId xmlns:p14="http://schemas.microsoft.com/office/powerpoint/2010/main" val="16048398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8BD4B30-9B7A-4FF3-9506-6E2F889CBD85}"/>
              </a:ext>
            </a:extLst>
          </p:cNvPr>
          <p:cNvSpPr>
            <a:spLocks noGrp="1"/>
          </p:cNvSpPr>
          <p:nvPr>
            <p:ph type="title"/>
          </p:nvPr>
        </p:nvSpPr>
        <p:spPr/>
        <p:txBody>
          <a:bodyPr/>
          <a:lstStyle/>
          <a:p>
            <a:r>
              <a:rPr lang="es-PE" dirty="0"/>
              <a:t>Relaciones para determinar las rigideces por el Método de Muto</a:t>
            </a:r>
          </a:p>
        </p:txBody>
      </p:sp>
      <p:sp>
        <p:nvSpPr>
          <p:cNvPr id="12" name="Rectángulo 11">
            <a:extLst>
              <a:ext uri="{FF2B5EF4-FFF2-40B4-BE49-F238E27FC236}">
                <a16:creationId xmlns:a16="http://schemas.microsoft.com/office/drawing/2014/main" id="{C91FC643-151F-8FA3-AAEA-5DC0D1CABB8F}"/>
              </a:ext>
            </a:extLst>
          </p:cNvPr>
          <p:cNvSpPr/>
          <p:nvPr/>
        </p:nvSpPr>
        <p:spPr>
          <a:xfrm>
            <a:off x="1862234" y="2538144"/>
            <a:ext cx="72000" cy="2196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4" name="Rectángulo 13">
            <a:extLst>
              <a:ext uri="{FF2B5EF4-FFF2-40B4-BE49-F238E27FC236}">
                <a16:creationId xmlns:a16="http://schemas.microsoft.com/office/drawing/2014/main" id="{34CFAED4-6423-20AE-E661-99B64E352D89}"/>
              </a:ext>
            </a:extLst>
          </p:cNvPr>
          <p:cNvSpPr/>
          <p:nvPr/>
        </p:nvSpPr>
        <p:spPr>
          <a:xfrm>
            <a:off x="1614920" y="4752081"/>
            <a:ext cx="566628" cy="216347"/>
          </a:xfrm>
          <a:prstGeom prst="rect">
            <a:avLst/>
          </a:prstGeom>
          <a:pattFill prst="wdUpDiag">
            <a:fgClr>
              <a:schemeClr val="accent2">
                <a:lumMod val="75000"/>
              </a:schemeClr>
            </a:fgClr>
            <a:bgClr>
              <a:schemeClr val="bg1"/>
            </a:bgClr>
          </a:patt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dirty="0"/>
          </a:p>
        </p:txBody>
      </p:sp>
      <p:sp>
        <p:nvSpPr>
          <p:cNvPr id="7" name="Rectángulo 6">
            <a:extLst>
              <a:ext uri="{FF2B5EF4-FFF2-40B4-BE49-F238E27FC236}">
                <a16:creationId xmlns:a16="http://schemas.microsoft.com/office/drawing/2014/main" id="{BF9818ED-16BF-D983-1778-309305AB8C38}"/>
              </a:ext>
            </a:extLst>
          </p:cNvPr>
          <p:cNvSpPr/>
          <p:nvPr/>
        </p:nvSpPr>
        <p:spPr>
          <a:xfrm rot="16200000">
            <a:off x="1862234" y="1593176"/>
            <a:ext cx="72000" cy="1800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8" name="CuadroTexto 7">
            <a:extLst>
              <a:ext uri="{FF2B5EF4-FFF2-40B4-BE49-F238E27FC236}">
                <a16:creationId xmlns:a16="http://schemas.microsoft.com/office/drawing/2014/main" id="{00BF545B-07B0-4FAA-511A-7E25FE81720A}"/>
              </a:ext>
            </a:extLst>
          </p:cNvPr>
          <p:cNvSpPr txBox="1"/>
          <p:nvPr/>
        </p:nvSpPr>
        <p:spPr>
          <a:xfrm>
            <a:off x="1394798" y="1869520"/>
            <a:ext cx="1032655" cy="400110"/>
          </a:xfrm>
          <a:prstGeom prst="rect">
            <a:avLst/>
          </a:prstGeom>
          <a:noFill/>
        </p:spPr>
        <p:txBody>
          <a:bodyPr wrap="none" rtlCol="0">
            <a:spAutoFit/>
          </a:bodyPr>
          <a:lstStyle/>
          <a:p>
            <a:r>
              <a:rPr lang="es-PE" sz="2000" b="1" dirty="0"/>
              <a:t>Caso (a)</a:t>
            </a:r>
          </a:p>
        </p:txBody>
      </p:sp>
      <mc:AlternateContent xmlns:mc="http://schemas.openxmlformats.org/markup-compatibility/2006" xmlns:a14="http://schemas.microsoft.com/office/drawing/2010/main">
        <mc:Choice Requires="a14">
          <p:sp>
            <p:nvSpPr>
              <p:cNvPr id="9" name="CuadroTexto 8">
                <a:extLst>
                  <a:ext uri="{FF2B5EF4-FFF2-40B4-BE49-F238E27FC236}">
                    <a16:creationId xmlns:a16="http://schemas.microsoft.com/office/drawing/2014/main" id="{16D1A371-1A79-EE56-643D-0425142A501D}"/>
                  </a:ext>
                </a:extLst>
              </p:cNvPr>
              <p:cNvSpPr txBox="1"/>
              <p:nvPr/>
            </p:nvSpPr>
            <p:spPr>
              <a:xfrm>
                <a:off x="1150307" y="5047941"/>
                <a:ext cx="1521635" cy="565668"/>
              </a:xfrm>
              <a:prstGeom prst="rect">
                <a:avLst/>
              </a:prstGeom>
              <a:noFill/>
            </p:spPr>
            <p:txBody>
              <a:bodyPr wrap="none" lIns="0" tIns="0" rIns="0" bIns="0" rtlCol="0">
                <a:spAutoFit/>
              </a:bodyPr>
              <a:lstStyle/>
              <a:p>
                <a:pPr/>
                <a14:m>
                  <m:oMathPara xmlns:m="http://schemas.openxmlformats.org/officeDocument/2006/math">
                    <m:oMathParaPr>
                      <m:jc m:val="left"/>
                    </m:oMathParaPr>
                    <m:oMath xmlns:m="http://schemas.openxmlformats.org/officeDocument/2006/math">
                      <m:acc>
                        <m:accPr>
                          <m:chr m:val="̅"/>
                          <m:ctrlPr>
                            <a:rPr lang="es-PE" i="1" smtClean="0">
                              <a:latin typeface="Cambria Math" panose="02040503050406030204" pitchFamily="18" charset="0"/>
                            </a:rPr>
                          </m:ctrlPr>
                        </m:accPr>
                        <m:e>
                          <m:r>
                            <a:rPr lang="es-PE" b="0" i="1" smtClean="0">
                              <a:latin typeface="Cambria Math" panose="02040503050406030204" pitchFamily="18" charset="0"/>
                            </a:rPr>
                            <m:t>𝐾</m:t>
                          </m:r>
                        </m:e>
                      </m:acc>
                      <m:r>
                        <a:rPr lang="es-PE" b="0" i="1" smtClean="0">
                          <a:latin typeface="Cambria Math" panose="02040503050406030204" pitchFamily="18" charset="0"/>
                        </a:rPr>
                        <m:t>=</m:t>
                      </m:r>
                      <m:f>
                        <m:fPr>
                          <m:ctrlPr>
                            <a:rPr lang="es-PE" b="0" i="1" smtClean="0">
                              <a:latin typeface="Cambria Math" panose="02040503050406030204" pitchFamily="18" charset="0"/>
                            </a:rPr>
                          </m:ctrlPr>
                        </m:fPr>
                        <m:num>
                          <m:sSub>
                            <m:sSubPr>
                              <m:ctrlPr>
                                <a:rPr lang="es-PE" b="0" i="1" smtClean="0">
                                  <a:latin typeface="Cambria Math" panose="02040503050406030204" pitchFamily="18" charset="0"/>
                                </a:rPr>
                              </m:ctrlPr>
                            </m:sSubPr>
                            <m:e>
                              <m:r>
                                <a:rPr lang="es-PE" b="0" i="1" smtClean="0">
                                  <a:latin typeface="Cambria Math" panose="02040503050406030204" pitchFamily="18" charset="0"/>
                                </a:rPr>
                                <m:t>𝐾</m:t>
                              </m:r>
                            </m:e>
                            <m:sub>
                              <m:r>
                                <a:rPr lang="es-PE" b="0" i="1" smtClean="0">
                                  <a:latin typeface="Cambria Math" panose="02040503050406030204" pitchFamily="18" charset="0"/>
                                </a:rPr>
                                <m:t>𝑉</m:t>
                              </m:r>
                              <m:r>
                                <a:rPr lang="es-PE" b="0" i="1" smtClean="0">
                                  <a:latin typeface="Cambria Math" panose="02040503050406030204" pitchFamily="18" charset="0"/>
                                </a:rPr>
                                <m:t>1</m:t>
                              </m:r>
                            </m:sub>
                          </m:sSub>
                          <m:r>
                            <a:rPr lang="es-PE" b="0" i="1" smtClean="0">
                              <a:latin typeface="Cambria Math" panose="02040503050406030204" pitchFamily="18" charset="0"/>
                            </a:rPr>
                            <m:t>+</m:t>
                          </m:r>
                          <m:sSub>
                            <m:sSubPr>
                              <m:ctrlPr>
                                <a:rPr lang="es-PE" b="0" i="1" smtClean="0">
                                  <a:latin typeface="Cambria Math" panose="02040503050406030204" pitchFamily="18" charset="0"/>
                                </a:rPr>
                              </m:ctrlPr>
                            </m:sSubPr>
                            <m:e>
                              <m:r>
                                <a:rPr lang="es-PE" b="0" i="1" smtClean="0">
                                  <a:latin typeface="Cambria Math" panose="02040503050406030204" pitchFamily="18" charset="0"/>
                                </a:rPr>
                                <m:t>𝐾</m:t>
                              </m:r>
                            </m:e>
                            <m:sub>
                              <m:r>
                                <a:rPr lang="es-PE" b="0" i="1" smtClean="0">
                                  <a:latin typeface="Cambria Math" panose="02040503050406030204" pitchFamily="18" charset="0"/>
                                </a:rPr>
                                <m:t>𝑉</m:t>
                              </m:r>
                              <m:r>
                                <a:rPr lang="es-PE" b="0" i="1" smtClean="0">
                                  <a:latin typeface="Cambria Math" panose="02040503050406030204" pitchFamily="18" charset="0"/>
                                </a:rPr>
                                <m:t>2</m:t>
                              </m:r>
                            </m:sub>
                          </m:sSub>
                        </m:num>
                        <m:den>
                          <m:sSub>
                            <m:sSubPr>
                              <m:ctrlPr>
                                <a:rPr lang="es-PE" b="0" i="1" smtClean="0">
                                  <a:latin typeface="Cambria Math" panose="02040503050406030204" pitchFamily="18" charset="0"/>
                                </a:rPr>
                              </m:ctrlPr>
                            </m:sSubPr>
                            <m:e>
                              <m:r>
                                <a:rPr lang="es-PE" b="0" i="1" smtClean="0">
                                  <a:latin typeface="Cambria Math" panose="02040503050406030204" pitchFamily="18" charset="0"/>
                                </a:rPr>
                                <m:t>𝐾</m:t>
                              </m:r>
                            </m:e>
                            <m:sub>
                              <m:r>
                                <a:rPr lang="es-PE" b="0" i="1" smtClean="0">
                                  <a:latin typeface="Cambria Math" panose="02040503050406030204" pitchFamily="18" charset="0"/>
                                </a:rPr>
                                <m:t>𝐶</m:t>
                              </m:r>
                            </m:sub>
                          </m:sSub>
                        </m:den>
                      </m:f>
                    </m:oMath>
                  </m:oMathPara>
                </a14:m>
                <a:endParaRPr lang="es-PE" dirty="0"/>
              </a:p>
            </p:txBody>
          </p:sp>
        </mc:Choice>
        <mc:Fallback xmlns="">
          <p:sp>
            <p:nvSpPr>
              <p:cNvPr id="9" name="CuadroTexto 8">
                <a:extLst>
                  <a:ext uri="{FF2B5EF4-FFF2-40B4-BE49-F238E27FC236}">
                    <a16:creationId xmlns:a16="http://schemas.microsoft.com/office/drawing/2014/main" id="{16D1A371-1A79-EE56-643D-0425142A501D}"/>
                  </a:ext>
                </a:extLst>
              </p:cNvPr>
              <p:cNvSpPr txBox="1">
                <a:spLocks noRot="1" noChangeAspect="1" noMove="1" noResize="1" noEditPoints="1" noAdjustHandles="1" noChangeArrowheads="1" noChangeShapeType="1" noTextEdit="1"/>
              </p:cNvSpPr>
              <p:nvPr/>
            </p:nvSpPr>
            <p:spPr>
              <a:xfrm>
                <a:off x="1150307" y="5047941"/>
                <a:ext cx="1521635" cy="565668"/>
              </a:xfrm>
              <a:prstGeom prst="rect">
                <a:avLst/>
              </a:prstGeom>
              <a:blipFill>
                <a:blip r:embed="rId2"/>
                <a:stretch>
                  <a:fillRect/>
                </a:stretch>
              </a:blipFill>
            </p:spPr>
            <p:txBody>
              <a:bodyPr/>
              <a:lstStyle/>
              <a:p>
                <a:r>
                  <a:rPr lang="es-PE">
                    <a:noFill/>
                  </a:rPr>
                  <a:t> </a:t>
                </a:r>
              </a:p>
            </p:txBody>
          </p:sp>
        </mc:Fallback>
      </mc:AlternateContent>
      <mc:AlternateContent xmlns:mc="http://schemas.openxmlformats.org/markup-compatibility/2006" xmlns:a14="http://schemas.microsoft.com/office/drawing/2010/main">
        <mc:Choice Requires="a14">
          <p:sp>
            <p:nvSpPr>
              <p:cNvPr id="10" name="CuadroTexto 9">
                <a:extLst>
                  <a:ext uri="{FF2B5EF4-FFF2-40B4-BE49-F238E27FC236}">
                    <a16:creationId xmlns:a16="http://schemas.microsoft.com/office/drawing/2014/main" id="{DEE2C542-E711-AB97-8015-CE16A24E1A14}"/>
                  </a:ext>
                </a:extLst>
              </p:cNvPr>
              <p:cNvSpPr txBox="1"/>
              <p:nvPr/>
            </p:nvSpPr>
            <p:spPr>
              <a:xfrm>
                <a:off x="1158138" y="5666411"/>
                <a:ext cx="1237326" cy="567078"/>
              </a:xfrm>
              <a:prstGeom prst="rect">
                <a:avLst/>
              </a:prstGeom>
              <a:noFill/>
            </p:spPr>
            <p:txBody>
              <a:bodyPr wrap="none" lIns="0" tIns="0" rIns="0" bIns="0" rtlCol="0">
                <a:spAutoFit/>
              </a:bodyPr>
              <a:lstStyle/>
              <a:p>
                <a:pPr/>
                <a14:m>
                  <m:oMathPara xmlns:m="http://schemas.openxmlformats.org/officeDocument/2006/math">
                    <m:oMathParaPr>
                      <m:jc m:val="left"/>
                    </m:oMathParaPr>
                    <m:oMath xmlns:m="http://schemas.openxmlformats.org/officeDocument/2006/math">
                      <m:r>
                        <a:rPr lang="es-PE" b="0" i="1" smtClean="0">
                          <a:latin typeface="Cambria Math" panose="02040503050406030204" pitchFamily="18" charset="0"/>
                        </a:rPr>
                        <m:t>𝑎</m:t>
                      </m:r>
                      <m:r>
                        <a:rPr lang="es-PE" b="0" i="1" smtClean="0">
                          <a:latin typeface="Cambria Math" panose="02040503050406030204" pitchFamily="18" charset="0"/>
                        </a:rPr>
                        <m:t>=</m:t>
                      </m:r>
                      <m:f>
                        <m:fPr>
                          <m:ctrlPr>
                            <a:rPr lang="es-PE" b="0" i="1" smtClean="0">
                              <a:latin typeface="Cambria Math" panose="02040503050406030204" pitchFamily="18" charset="0"/>
                            </a:rPr>
                          </m:ctrlPr>
                        </m:fPr>
                        <m:num>
                          <m:r>
                            <a:rPr lang="es-PE" b="0" i="1" smtClean="0">
                              <a:latin typeface="Cambria Math" panose="02040503050406030204" pitchFamily="18" charset="0"/>
                            </a:rPr>
                            <m:t>0.5+</m:t>
                          </m:r>
                          <m:acc>
                            <m:accPr>
                              <m:chr m:val="̅"/>
                              <m:ctrlPr>
                                <a:rPr lang="es-PE" b="0" i="1" smtClean="0">
                                  <a:latin typeface="Cambria Math" panose="02040503050406030204" pitchFamily="18" charset="0"/>
                                </a:rPr>
                              </m:ctrlPr>
                            </m:accPr>
                            <m:e>
                              <m:r>
                                <a:rPr lang="es-PE" b="0" i="1" smtClean="0">
                                  <a:latin typeface="Cambria Math" panose="02040503050406030204" pitchFamily="18" charset="0"/>
                                </a:rPr>
                                <m:t>𝐾</m:t>
                              </m:r>
                            </m:e>
                          </m:acc>
                        </m:num>
                        <m:den>
                          <m:r>
                            <a:rPr lang="es-PE" b="0" i="1" smtClean="0">
                              <a:latin typeface="Cambria Math" panose="02040503050406030204" pitchFamily="18" charset="0"/>
                            </a:rPr>
                            <m:t>2+</m:t>
                          </m:r>
                          <m:acc>
                            <m:accPr>
                              <m:chr m:val="̅"/>
                              <m:ctrlPr>
                                <a:rPr lang="es-PE" b="0" i="1" smtClean="0">
                                  <a:latin typeface="Cambria Math" panose="02040503050406030204" pitchFamily="18" charset="0"/>
                                </a:rPr>
                              </m:ctrlPr>
                            </m:accPr>
                            <m:e>
                              <m:r>
                                <a:rPr lang="es-PE" b="0" i="1" smtClean="0">
                                  <a:latin typeface="Cambria Math" panose="02040503050406030204" pitchFamily="18" charset="0"/>
                                </a:rPr>
                                <m:t>𝐾</m:t>
                              </m:r>
                            </m:e>
                          </m:acc>
                        </m:den>
                      </m:f>
                    </m:oMath>
                  </m:oMathPara>
                </a14:m>
                <a:endParaRPr lang="es-PE" dirty="0"/>
              </a:p>
            </p:txBody>
          </p:sp>
        </mc:Choice>
        <mc:Fallback xmlns="">
          <p:sp>
            <p:nvSpPr>
              <p:cNvPr id="10" name="CuadroTexto 9">
                <a:extLst>
                  <a:ext uri="{FF2B5EF4-FFF2-40B4-BE49-F238E27FC236}">
                    <a16:creationId xmlns:a16="http://schemas.microsoft.com/office/drawing/2014/main" id="{DEE2C542-E711-AB97-8015-CE16A24E1A14}"/>
                  </a:ext>
                </a:extLst>
              </p:cNvPr>
              <p:cNvSpPr txBox="1">
                <a:spLocks noRot="1" noChangeAspect="1" noMove="1" noResize="1" noEditPoints="1" noAdjustHandles="1" noChangeArrowheads="1" noChangeShapeType="1" noTextEdit="1"/>
              </p:cNvSpPr>
              <p:nvPr/>
            </p:nvSpPr>
            <p:spPr>
              <a:xfrm>
                <a:off x="1158138" y="5666411"/>
                <a:ext cx="1237326" cy="567078"/>
              </a:xfrm>
              <a:prstGeom prst="rect">
                <a:avLst/>
              </a:prstGeom>
              <a:blipFill>
                <a:blip r:embed="rId3"/>
                <a:stretch>
                  <a:fillRect/>
                </a:stretch>
              </a:blipFill>
            </p:spPr>
            <p:txBody>
              <a:bodyPr/>
              <a:lstStyle/>
              <a:p>
                <a:r>
                  <a:rPr lang="es-PE">
                    <a:noFill/>
                  </a:rPr>
                  <a:t> </a:t>
                </a:r>
              </a:p>
            </p:txBody>
          </p:sp>
        </mc:Fallback>
      </mc:AlternateContent>
      <p:sp>
        <p:nvSpPr>
          <p:cNvPr id="11" name="Rectángulo 10">
            <a:extLst>
              <a:ext uri="{FF2B5EF4-FFF2-40B4-BE49-F238E27FC236}">
                <a16:creationId xmlns:a16="http://schemas.microsoft.com/office/drawing/2014/main" id="{77D40D22-CDEE-A602-169D-72FC13FB3306}"/>
              </a:ext>
            </a:extLst>
          </p:cNvPr>
          <p:cNvSpPr/>
          <p:nvPr/>
        </p:nvSpPr>
        <p:spPr>
          <a:xfrm>
            <a:off x="4368245" y="2529176"/>
            <a:ext cx="72000" cy="2196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20" name="Rectángulo 19">
            <a:extLst>
              <a:ext uri="{FF2B5EF4-FFF2-40B4-BE49-F238E27FC236}">
                <a16:creationId xmlns:a16="http://schemas.microsoft.com/office/drawing/2014/main" id="{B441FF8B-7289-B072-0699-1B24AD59F469}"/>
              </a:ext>
            </a:extLst>
          </p:cNvPr>
          <p:cNvSpPr/>
          <p:nvPr/>
        </p:nvSpPr>
        <p:spPr>
          <a:xfrm rot="16200000">
            <a:off x="4368245" y="1584208"/>
            <a:ext cx="72000" cy="1800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23" name="CuadroTexto 22">
            <a:extLst>
              <a:ext uri="{FF2B5EF4-FFF2-40B4-BE49-F238E27FC236}">
                <a16:creationId xmlns:a16="http://schemas.microsoft.com/office/drawing/2014/main" id="{4B98845C-E587-B080-F072-D52CF664D68B}"/>
              </a:ext>
            </a:extLst>
          </p:cNvPr>
          <p:cNvSpPr txBox="1"/>
          <p:nvPr/>
        </p:nvSpPr>
        <p:spPr>
          <a:xfrm>
            <a:off x="3900809" y="1860552"/>
            <a:ext cx="1043876" cy="400110"/>
          </a:xfrm>
          <a:prstGeom prst="rect">
            <a:avLst/>
          </a:prstGeom>
          <a:noFill/>
        </p:spPr>
        <p:txBody>
          <a:bodyPr wrap="none" rtlCol="0">
            <a:spAutoFit/>
          </a:bodyPr>
          <a:lstStyle/>
          <a:p>
            <a:r>
              <a:rPr lang="es-PE" sz="2000" b="1" dirty="0"/>
              <a:t>Caso (b)</a:t>
            </a:r>
          </a:p>
        </p:txBody>
      </p:sp>
      <mc:AlternateContent xmlns:mc="http://schemas.openxmlformats.org/markup-compatibility/2006" xmlns:a14="http://schemas.microsoft.com/office/drawing/2010/main">
        <mc:Choice Requires="a14">
          <p:sp>
            <p:nvSpPr>
              <p:cNvPr id="25" name="CuadroTexto 24">
                <a:extLst>
                  <a:ext uri="{FF2B5EF4-FFF2-40B4-BE49-F238E27FC236}">
                    <a16:creationId xmlns:a16="http://schemas.microsoft.com/office/drawing/2014/main" id="{7FF36390-06D7-D2C5-BEE0-C968FDA69256}"/>
                  </a:ext>
                </a:extLst>
              </p:cNvPr>
              <p:cNvSpPr txBox="1"/>
              <p:nvPr/>
            </p:nvSpPr>
            <p:spPr>
              <a:xfrm>
                <a:off x="3656318" y="5038973"/>
                <a:ext cx="1521635" cy="563872"/>
              </a:xfrm>
              <a:prstGeom prst="rect">
                <a:avLst/>
              </a:prstGeom>
              <a:noFill/>
            </p:spPr>
            <p:txBody>
              <a:bodyPr wrap="none" lIns="0" tIns="0" rIns="0" bIns="0" rtlCol="0">
                <a:spAutoFit/>
              </a:bodyPr>
              <a:lstStyle/>
              <a:p>
                <a:pPr/>
                <a14:m>
                  <m:oMathPara xmlns:m="http://schemas.openxmlformats.org/officeDocument/2006/math">
                    <m:oMathParaPr>
                      <m:jc m:val="left"/>
                    </m:oMathParaPr>
                    <m:oMath xmlns:m="http://schemas.openxmlformats.org/officeDocument/2006/math">
                      <m:acc>
                        <m:accPr>
                          <m:chr m:val="̅"/>
                          <m:ctrlPr>
                            <a:rPr lang="es-PE" i="1" smtClean="0">
                              <a:latin typeface="Cambria Math" panose="02040503050406030204" pitchFamily="18" charset="0"/>
                            </a:rPr>
                          </m:ctrlPr>
                        </m:accPr>
                        <m:e>
                          <m:r>
                            <a:rPr lang="es-PE" b="0" i="1" smtClean="0">
                              <a:latin typeface="Cambria Math" panose="02040503050406030204" pitchFamily="18" charset="0"/>
                            </a:rPr>
                            <m:t>𝐾</m:t>
                          </m:r>
                        </m:e>
                      </m:acc>
                      <m:r>
                        <a:rPr lang="es-PE" b="0" i="1" smtClean="0">
                          <a:latin typeface="Cambria Math" panose="02040503050406030204" pitchFamily="18" charset="0"/>
                        </a:rPr>
                        <m:t>=</m:t>
                      </m:r>
                      <m:f>
                        <m:fPr>
                          <m:ctrlPr>
                            <a:rPr lang="es-PE" b="0" i="1" smtClean="0">
                              <a:latin typeface="Cambria Math" panose="02040503050406030204" pitchFamily="18" charset="0"/>
                            </a:rPr>
                          </m:ctrlPr>
                        </m:fPr>
                        <m:num>
                          <m:sSub>
                            <m:sSubPr>
                              <m:ctrlPr>
                                <a:rPr lang="es-PE" b="0" i="1" smtClean="0">
                                  <a:latin typeface="Cambria Math" panose="02040503050406030204" pitchFamily="18" charset="0"/>
                                </a:rPr>
                              </m:ctrlPr>
                            </m:sSubPr>
                            <m:e>
                              <m:r>
                                <a:rPr lang="es-PE" b="0" i="1" smtClean="0">
                                  <a:latin typeface="Cambria Math" panose="02040503050406030204" pitchFamily="18" charset="0"/>
                                </a:rPr>
                                <m:t>𝐾</m:t>
                              </m:r>
                            </m:e>
                            <m:sub>
                              <m:r>
                                <a:rPr lang="es-PE" b="0" i="1" smtClean="0">
                                  <a:latin typeface="Cambria Math" panose="02040503050406030204" pitchFamily="18" charset="0"/>
                                </a:rPr>
                                <m:t>𝑉</m:t>
                              </m:r>
                              <m:r>
                                <a:rPr lang="es-PE" b="0" i="1" smtClean="0">
                                  <a:latin typeface="Cambria Math" panose="02040503050406030204" pitchFamily="18" charset="0"/>
                                </a:rPr>
                                <m:t>1</m:t>
                              </m:r>
                            </m:sub>
                          </m:sSub>
                          <m:r>
                            <a:rPr lang="es-PE" b="0" i="1" smtClean="0">
                              <a:latin typeface="Cambria Math" panose="02040503050406030204" pitchFamily="18" charset="0"/>
                            </a:rPr>
                            <m:t>+</m:t>
                          </m:r>
                          <m:sSub>
                            <m:sSubPr>
                              <m:ctrlPr>
                                <a:rPr lang="es-PE" b="0" i="1" smtClean="0">
                                  <a:latin typeface="Cambria Math" panose="02040503050406030204" pitchFamily="18" charset="0"/>
                                </a:rPr>
                              </m:ctrlPr>
                            </m:sSubPr>
                            <m:e>
                              <m:r>
                                <a:rPr lang="es-PE" b="0" i="1" smtClean="0">
                                  <a:latin typeface="Cambria Math" panose="02040503050406030204" pitchFamily="18" charset="0"/>
                                </a:rPr>
                                <m:t>𝐾</m:t>
                              </m:r>
                            </m:e>
                            <m:sub>
                              <m:r>
                                <a:rPr lang="es-PE" b="0" i="1" smtClean="0">
                                  <a:latin typeface="Cambria Math" panose="02040503050406030204" pitchFamily="18" charset="0"/>
                                </a:rPr>
                                <m:t>𝑉</m:t>
                              </m:r>
                              <m:r>
                                <a:rPr lang="es-PE" b="0" i="1" smtClean="0">
                                  <a:latin typeface="Cambria Math" panose="02040503050406030204" pitchFamily="18" charset="0"/>
                                </a:rPr>
                                <m:t>2</m:t>
                              </m:r>
                            </m:sub>
                          </m:sSub>
                        </m:num>
                        <m:den>
                          <m:sSub>
                            <m:sSubPr>
                              <m:ctrlPr>
                                <a:rPr lang="es-PE" b="0" i="1" smtClean="0">
                                  <a:latin typeface="Cambria Math" panose="02040503050406030204" pitchFamily="18" charset="0"/>
                                </a:rPr>
                              </m:ctrlPr>
                            </m:sSubPr>
                            <m:e>
                              <m:r>
                                <a:rPr lang="es-PE" b="0" i="1" smtClean="0">
                                  <a:latin typeface="Cambria Math" panose="02040503050406030204" pitchFamily="18" charset="0"/>
                                </a:rPr>
                                <m:t>𝐾</m:t>
                              </m:r>
                            </m:e>
                            <m:sub>
                              <m:r>
                                <a:rPr lang="es-PE" b="0" i="1" smtClean="0">
                                  <a:latin typeface="Cambria Math" panose="02040503050406030204" pitchFamily="18" charset="0"/>
                                </a:rPr>
                                <m:t>𝐶</m:t>
                              </m:r>
                            </m:sub>
                          </m:sSub>
                        </m:den>
                      </m:f>
                    </m:oMath>
                  </m:oMathPara>
                </a14:m>
                <a:endParaRPr lang="es-PE" dirty="0"/>
              </a:p>
            </p:txBody>
          </p:sp>
        </mc:Choice>
        <mc:Fallback xmlns="">
          <p:sp>
            <p:nvSpPr>
              <p:cNvPr id="25" name="CuadroTexto 24">
                <a:extLst>
                  <a:ext uri="{FF2B5EF4-FFF2-40B4-BE49-F238E27FC236}">
                    <a16:creationId xmlns:a16="http://schemas.microsoft.com/office/drawing/2014/main" id="{7FF36390-06D7-D2C5-BEE0-C968FDA69256}"/>
                  </a:ext>
                </a:extLst>
              </p:cNvPr>
              <p:cNvSpPr txBox="1">
                <a:spLocks noRot="1" noChangeAspect="1" noMove="1" noResize="1" noEditPoints="1" noAdjustHandles="1" noChangeArrowheads="1" noChangeShapeType="1" noTextEdit="1"/>
              </p:cNvSpPr>
              <p:nvPr/>
            </p:nvSpPr>
            <p:spPr>
              <a:xfrm>
                <a:off x="3656318" y="5038973"/>
                <a:ext cx="1521635" cy="563872"/>
              </a:xfrm>
              <a:prstGeom prst="rect">
                <a:avLst/>
              </a:prstGeom>
              <a:blipFill>
                <a:blip r:embed="rId4"/>
                <a:stretch>
                  <a:fillRect/>
                </a:stretch>
              </a:blipFill>
            </p:spPr>
            <p:txBody>
              <a:bodyPr/>
              <a:lstStyle/>
              <a:p>
                <a:r>
                  <a:rPr lang="es-PE">
                    <a:noFill/>
                  </a:rPr>
                  <a:t> </a:t>
                </a:r>
              </a:p>
            </p:txBody>
          </p:sp>
        </mc:Fallback>
      </mc:AlternateContent>
      <mc:AlternateContent xmlns:mc="http://schemas.openxmlformats.org/markup-compatibility/2006">
        <mc:Choice xmlns:a14="http://schemas.microsoft.com/office/drawing/2010/main" Requires="a14">
          <p:sp>
            <p:nvSpPr>
              <p:cNvPr id="26" name="CuadroTexto 25">
                <a:extLst>
                  <a:ext uri="{FF2B5EF4-FFF2-40B4-BE49-F238E27FC236}">
                    <a16:creationId xmlns:a16="http://schemas.microsoft.com/office/drawing/2014/main" id="{CA729B34-BBE5-E376-96F9-E12E3428AB67}"/>
                  </a:ext>
                </a:extLst>
              </p:cNvPr>
              <p:cNvSpPr txBox="1"/>
              <p:nvPr/>
            </p:nvSpPr>
            <p:spPr>
              <a:xfrm>
                <a:off x="3664149" y="5657443"/>
                <a:ext cx="1060996" cy="567078"/>
              </a:xfrm>
              <a:prstGeom prst="rect">
                <a:avLst/>
              </a:prstGeom>
              <a:noFill/>
            </p:spPr>
            <p:txBody>
              <a:bodyPr wrap="none" lIns="0" tIns="0" rIns="0" bIns="0" rtlCol="0">
                <a:spAutoFit/>
              </a:bodyPr>
              <a:lstStyle/>
              <a:p>
                <a:pPr/>
                <a14:m>
                  <m:oMathPara xmlns:m="http://schemas.openxmlformats.org/officeDocument/2006/math">
                    <m:oMathParaPr>
                      <m:jc m:val="left"/>
                    </m:oMathParaPr>
                    <m:oMath xmlns:m="http://schemas.openxmlformats.org/officeDocument/2006/math">
                      <m:r>
                        <a:rPr lang="es-PE" b="0" i="1" smtClean="0">
                          <a:latin typeface="Cambria Math" panose="02040503050406030204" pitchFamily="18" charset="0"/>
                        </a:rPr>
                        <m:t>𝑎</m:t>
                      </m:r>
                      <m:r>
                        <a:rPr lang="es-PE" b="0" i="1" smtClean="0">
                          <a:latin typeface="Cambria Math" panose="02040503050406030204" pitchFamily="18" charset="0"/>
                        </a:rPr>
                        <m:t>=</m:t>
                      </m:r>
                      <m:f>
                        <m:fPr>
                          <m:ctrlPr>
                            <a:rPr lang="es-PE" b="0" i="1" smtClean="0">
                              <a:latin typeface="Cambria Math" panose="02040503050406030204" pitchFamily="18" charset="0"/>
                            </a:rPr>
                          </m:ctrlPr>
                        </m:fPr>
                        <m:num>
                          <m:acc>
                            <m:accPr>
                              <m:chr m:val="̅"/>
                              <m:ctrlPr>
                                <a:rPr lang="es-PE" b="0" i="1" smtClean="0">
                                  <a:latin typeface="Cambria Math" panose="02040503050406030204" pitchFamily="18" charset="0"/>
                                </a:rPr>
                              </m:ctrlPr>
                            </m:accPr>
                            <m:e>
                              <m:r>
                                <a:rPr lang="es-PE" b="0" i="1" smtClean="0">
                                  <a:latin typeface="Cambria Math" panose="02040503050406030204" pitchFamily="18" charset="0"/>
                                </a:rPr>
                                <m:t>𝐾</m:t>
                              </m:r>
                            </m:e>
                          </m:acc>
                        </m:num>
                        <m:den>
                          <m:r>
                            <a:rPr lang="es-PE" b="0" i="1" smtClean="0">
                              <a:latin typeface="Cambria Math" panose="02040503050406030204" pitchFamily="18" charset="0"/>
                            </a:rPr>
                            <m:t>2</m:t>
                          </m:r>
                          <m:r>
                            <a:rPr lang="es-PE" b="0" i="1" smtClean="0">
                              <a:latin typeface="Cambria Math" panose="02040503050406030204" pitchFamily="18" charset="0"/>
                            </a:rPr>
                            <m:t>+</m:t>
                          </m:r>
                          <m:acc>
                            <m:accPr>
                              <m:chr m:val="̅"/>
                              <m:ctrlPr>
                                <a:rPr lang="es-PE" b="0" i="1" smtClean="0">
                                  <a:latin typeface="Cambria Math" panose="02040503050406030204" pitchFamily="18" charset="0"/>
                                </a:rPr>
                              </m:ctrlPr>
                            </m:accPr>
                            <m:e>
                              <m:r>
                                <a:rPr lang="es-PE" b="0" i="1" smtClean="0">
                                  <a:latin typeface="Cambria Math" panose="02040503050406030204" pitchFamily="18" charset="0"/>
                                </a:rPr>
                                <m:t>𝐾</m:t>
                              </m:r>
                            </m:e>
                          </m:acc>
                        </m:den>
                      </m:f>
                    </m:oMath>
                  </m:oMathPara>
                </a14:m>
                <a:endParaRPr lang="es-PE" dirty="0"/>
              </a:p>
            </p:txBody>
          </p:sp>
        </mc:Choice>
        <mc:Fallback>
          <p:sp>
            <p:nvSpPr>
              <p:cNvPr id="26" name="CuadroTexto 25">
                <a:extLst>
                  <a:ext uri="{FF2B5EF4-FFF2-40B4-BE49-F238E27FC236}">
                    <a16:creationId xmlns:a16="http://schemas.microsoft.com/office/drawing/2014/main" id="{CA729B34-BBE5-E376-96F9-E12E3428AB67}"/>
                  </a:ext>
                </a:extLst>
              </p:cNvPr>
              <p:cNvSpPr txBox="1">
                <a:spLocks noRot="1" noChangeAspect="1" noMove="1" noResize="1" noEditPoints="1" noAdjustHandles="1" noChangeArrowheads="1" noChangeShapeType="1" noTextEdit="1"/>
              </p:cNvSpPr>
              <p:nvPr/>
            </p:nvSpPr>
            <p:spPr>
              <a:xfrm>
                <a:off x="3664149" y="5657443"/>
                <a:ext cx="1060996" cy="567078"/>
              </a:xfrm>
              <a:prstGeom prst="rect">
                <a:avLst/>
              </a:prstGeom>
              <a:blipFill>
                <a:blip r:embed="rId5"/>
                <a:stretch>
                  <a:fillRect/>
                </a:stretch>
              </a:blipFill>
            </p:spPr>
            <p:txBody>
              <a:bodyPr/>
              <a:lstStyle/>
              <a:p>
                <a:r>
                  <a:rPr lang="es-PE">
                    <a:noFill/>
                  </a:rPr>
                  <a:t> </a:t>
                </a:r>
              </a:p>
            </p:txBody>
          </p:sp>
        </mc:Fallback>
      </mc:AlternateContent>
      <p:sp>
        <p:nvSpPr>
          <p:cNvPr id="34" name="Triángulo isósceles 33">
            <a:extLst>
              <a:ext uri="{FF2B5EF4-FFF2-40B4-BE49-F238E27FC236}">
                <a16:creationId xmlns:a16="http://schemas.microsoft.com/office/drawing/2014/main" id="{5AA641C1-8C08-8AB0-95BC-A1E000B2303A}"/>
              </a:ext>
            </a:extLst>
          </p:cNvPr>
          <p:cNvSpPr/>
          <p:nvPr/>
        </p:nvSpPr>
        <p:spPr>
          <a:xfrm>
            <a:off x="4223469" y="4581128"/>
            <a:ext cx="360363" cy="215404"/>
          </a:xfrm>
          <a:prstGeom prst="triangle">
            <a:avLst/>
          </a:prstGeom>
          <a:solidFill>
            <a:schemeClr val="tx1"/>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39" name="Rectángulo 38">
            <a:extLst>
              <a:ext uri="{FF2B5EF4-FFF2-40B4-BE49-F238E27FC236}">
                <a16:creationId xmlns:a16="http://schemas.microsoft.com/office/drawing/2014/main" id="{FAB0F8EC-EEF9-7507-1765-D5F92A3107CF}"/>
              </a:ext>
            </a:extLst>
          </p:cNvPr>
          <p:cNvSpPr/>
          <p:nvPr/>
        </p:nvSpPr>
        <p:spPr>
          <a:xfrm>
            <a:off x="4109289" y="4746027"/>
            <a:ext cx="566628" cy="216347"/>
          </a:xfrm>
          <a:prstGeom prst="rect">
            <a:avLst/>
          </a:prstGeom>
          <a:pattFill prst="wdUpDiag">
            <a:fgClr>
              <a:schemeClr val="accent2">
                <a:lumMod val="75000"/>
              </a:schemeClr>
            </a:fgClr>
            <a:bgClr>
              <a:schemeClr val="bg1"/>
            </a:bgClr>
          </a:patt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dirty="0"/>
          </a:p>
        </p:txBody>
      </p:sp>
      <p:sp>
        <p:nvSpPr>
          <p:cNvPr id="41" name="Rectángulo 40">
            <a:extLst>
              <a:ext uri="{FF2B5EF4-FFF2-40B4-BE49-F238E27FC236}">
                <a16:creationId xmlns:a16="http://schemas.microsoft.com/office/drawing/2014/main" id="{8EC4A10D-244E-489E-FDDD-41727E613344}"/>
              </a:ext>
            </a:extLst>
          </p:cNvPr>
          <p:cNvSpPr/>
          <p:nvPr/>
        </p:nvSpPr>
        <p:spPr>
          <a:xfrm>
            <a:off x="6888192" y="2520208"/>
            <a:ext cx="72000" cy="2196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42" name="Rectángulo 41">
            <a:extLst>
              <a:ext uri="{FF2B5EF4-FFF2-40B4-BE49-F238E27FC236}">
                <a16:creationId xmlns:a16="http://schemas.microsoft.com/office/drawing/2014/main" id="{7EB2C505-069C-24BB-C881-7A07A48267B5}"/>
              </a:ext>
            </a:extLst>
          </p:cNvPr>
          <p:cNvSpPr/>
          <p:nvPr/>
        </p:nvSpPr>
        <p:spPr>
          <a:xfrm rot="16200000">
            <a:off x="6888192" y="1575240"/>
            <a:ext cx="72000" cy="1800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43" name="CuadroTexto 42">
            <a:extLst>
              <a:ext uri="{FF2B5EF4-FFF2-40B4-BE49-F238E27FC236}">
                <a16:creationId xmlns:a16="http://schemas.microsoft.com/office/drawing/2014/main" id="{49B3D776-8AA9-9960-A180-1660423C6432}"/>
              </a:ext>
            </a:extLst>
          </p:cNvPr>
          <p:cNvSpPr txBox="1"/>
          <p:nvPr/>
        </p:nvSpPr>
        <p:spPr>
          <a:xfrm>
            <a:off x="6420756" y="1851584"/>
            <a:ext cx="1043876" cy="400110"/>
          </a:xfrm>
          <a:prstGeom prst="rect">
            <a:avLst/>
          </a:prstGeom>
          <a:noFill/>
        </p:spPr>
        <p:txBody>
          <a:bodyPr wrap="none" rtlCol="0">
            <a:spAutoFit/>
          </a:bodyPr>
          <a:lstStyle/>
          <a:p>
            <a:r>
              <a:rPr lang="es-PE" sz="2000" b="1" dirty="0"/>
              <a:t>Caso (b)</a:t>
            </a:r>
          </a:p>
        </p:txBody>
      </p:sp>
      <mc:AlternateContent xmlns:mc="http://schemas.openxmlformats.org/markup-compatibility/2006">
        <mc:Choice xmlns:a14="http://schemas.microsoft.com/office/drawing/2010/main" Requires="a14">
          <p:sp>
            <p:nvSpPr>
              <p:cNvPr id="44" name="CuadroTexto 43">
                <a:extLst>
                  <a:ext uri="{FF2B5EF4-FFF2-40B4-BE49-F238E27FC236}">
                    <a16:creationId xmlns:a16="http://schemas.microsoft.com/office/drawing/2014/main" id="{AB87AC92-9884-E0B1-1F77-C06C0E7856D5}"/>
                  </a:ext>
                </a:extLst>
              </p:cNvPr>
              <p:cNvSpPr txBox="1"/>
              <p:nvPr/>
            </p:nvSpPr>
            <p:spPr>
              <a:xfrm>
                <a:off x="5671644" y="5038973"/>
                <a:ext cx="2893613" cy="565668"/>
              </a:xfrm>
              <a:prstGeom prst="rect">
                <a:avLst/>
              </a:prstGeom>
              <a:noFill/>
            </p:spPr>
            <p:txBody>
              <a:bodyPr wrap="none" lIns="0" tIns="0" rIns="0" bIns="0" rtlCol="0">
                <a:spAutoFit/>
              </a:bodyPr>
              <a:lstStyle/>
              <a:p>
                <a:pPr/>
                <a14:m>
                  <m:oMathPara xmlns:m="http://schemas.openxmlformats.org/officeDocument/2006/math">
                    <m:oMathParaPr>
                      <m:jc m:val="left"/>
                    </m:oMathParaPr>
                    <m:oMath xmlns:m="http://schemas.openxmlformats.org/officeDocument/2006/math">
                      <m:acc>
                        <m:accPr>
                          <m:chr m:val="̅"/>
                          <m:ctrlPr>
                            <a:rPr lang="es-PE" i="1" smtClean="0">
                              <a:latin typeface="Cambria Math" panose="02040503050406030204" pitchFamily="18" charset="0"/>
                            </a:rPr>
                          </m:ctrlPr>
                        </m:accPr>
                        <m:e>
                          <m:r>
                            <a:rPr lang="es-PE" b="0" i="1" smtClean="0">
                              <a:latin typeface="Cambria Math" panose="02040503050406030204" pitchFamily="18" charset="0"/>
                            </a:rPr>
                            <m:t>𝐾</m:t>
                          </m:r>
                        </m:e>
                      </m:acc>
                      <m:r>
                        <a:rPr lang="es-PE" b="0" i="1" smtClean="0">
                          <a:latin typeface="Cambria Math" panose="02040503050406030204" pitchFamily="18" charset="0"/>
                        </a:rPr>
                        <m:t>=</m:t>
                      </m:r>
                      <m:f>
                        <m:fPr>
                          <m:ctrlPr>
                            <a:rPr lang="es-PE" b="0" i="1" smtClean="0">
                              <a:latin typeface="Cambria Math" panose="02040503050406030204" pitchFamily="18" charset="0"/>
                            </a:rPr>
                          </m:ctrlPr>
                        </m:fPr>
                        <m:num>
                          <m:sSub>
                            <m:sSubPr>
                              <m:ctrlPr>
                                <a:rPr lang="es-PE" b="0" i="1" smtClean="0">
                                  <a:latin typeface="Cambria Math" panose="02040503050406030204" pitchFamily="18" charset="0"/>
                                </a:rPr>
                              </m:ctrlPr>
                            </m:sSubPr>
                            <m:e>
                              <m:r>
                                <a:rPr lang="es-PE" b="0" i="1" smtClean="0">
                                  <a:latin typeface="Cambria Math" panose="02040503050406030204" pitchFamily="18" charset="0"/>
                                </a:rPr>
                                <m:t>𝐾</m:t>
                              </m:r>
                            </m:e>
                            <m:sub>
                              <m:r>
                                <a:rPr lang="es-PE" b="0" i="1" smtClean="0">
                                  <a:latin typeface="Cambria Math" panose="02040503050406030204" pitchFamily="18" charset="0"/>
                                </a:rPr>
                                <m:t>𝑉</m:t>
                              </m:r>
                              <m:r>
                                <a:rPr lang="es-PE" b="0" i="1" smtClean="0">
                                  <a:latin typeface="Cambria Math" panose="02040503050406030204" pitchFamily="18" charset="0"/>
                                </a:rPr>
                                <m:t>1</m:t>
                              </m:r>
                            </m:sub>
                          </m:sSub>
                          <m:r>
                            <a:rPr lang="es-PE" b="0" i="1" smtClean="0">
                              <a:latin typeface="Cambria Math" panose="02040503050406030204" pitchFamily="18" charset="0"/>
                            </a:rPr>
                            <m:t>+</m:t>
                          </m:r>
                          <m:sSub>
                            <m:sSubPr>
                              <m:ctrlPr>
                                <a:rPr lang="es-PE" b="0" i="1" smtClean="0">
                                  <a:latin typeface="Cambria Math" panose="02040503050406030204" pitchFamily="18" charset="0"/>
                                </a:rPr>
                              </m:ctrlPr>
                            </m:sSubPr>
                            <m:e>
                              <m:r>
                                <a:rPr lang="es-PE" b="0" i="1" smtClean="0">
                                  <a:latin typeface="Cambria Math" panose="02040503050406030204" pitchFamily="18" charset="0"/>
                                </a:rPr>
                                <m:t>𝐾</m:t>
                              </m:r>
                            </m:e>
                            <m:sub>
                              <m:r>
                                <a:rPr lang="es-PE" b="0" i="1" smtClean="0">
                                  <a:latin typeface="Cambria Math" panose="02040503050406030204" pitchFamily="18" charset="0"/>
                                </a:rPr>
                                <m:t>𝑉</m:t>
                              </m:r>
                              <m:r>
                                <a:rPr lang="es-PE" b="0" i="1" smtClean="0">
                                  <a:latin typeface="Cambria Math" panose="02040503050406030204" pitchFamily="18" charset="0"/>
                                </a:rPr>
                                <m:t>2</m:t>
                              </m:r>
                            </m:sub>
                          </m:sSub>
                          <m:r>
                            <a:rPr lang="es-MX" b="0" i="1" smtClean="0">
                              <a:latin typeface="Cambria Math" panose="02040503050406030204" pitchFamily="18" charset="0"/>
                            </a:rPr>
                            <m:t>+</m:t>
                          </m:r>
                          <m:sSub>
                            <m:sSubPr>
                              <m:ctrlPr>
                                <a:rPr lang="es-PE" i="1">
                                  <a:latin typeface="Cambria Math" panose="02040503050406030204" pitchFamily="18" charset="0"/>
                                </a:rPr>
                              </m:ctrlPr>
                            </m:sSubPr>
                            <m:e>
                              <m:r>
                                <a:rPr lang="es-PE" i="1">
                                  <a:latin typeface="Cambria Math" panose="02040503050406030204" pitchFamily="18" charset="0"/>
                                </a:rPr>
                                <m:t>𝐾</m:t>
                              </m:r>
                            </m:e>
                            <m:sub>
                              <m:r>
                                <a:rPr lang="es-PE" i="1">
                                  <a:latin typeface="Cambria Math" panose="02040503050406030204" pitchFamily="18" charset="0"/>
                                </a:rPr>
                                <m:t>𝑉</m:t>
                              </m:r>
                              <m:r>
                                <a:rPr lang="es-PE" b="0" i="1" smtClean="0">
                                  <a:latin typeface="Cambria Math" panose="02040503050406030204" pitchFamily="18" charset="0"/>
                                </a:rPr>
                                <m:t>3</m:t>
                              </m:r>
                            </m:sub>
                          </m:sSub>
                          <m:r>
                            <a:rPr lang="es-PE" b="0" i="1" smtClean="0">
                              <a:latin typeface="Cambria Math" panose="02040503050406030204" pitchFamily="18" charset="0"/>
                            </a:rPr>
                            <m:t>+</m:t>
                          </m:r>
                          <m:sSub>
                            <m:sSubPr>
                              <m:ctrlPr>
                                <a:rPr lang="es-PE" i="1">
                                  <a:latin typeface="Cambria Math" panose="02040503050406030204" pitchFamily="18" charset="0"/>
                                </a:rPr>
                              </m:ctrlPr>
                            </m:sSubPr>
                            <m:e>
                              <m:r>
                                <a:rPr lang="es-PE" i="1">
                                  <a:latin typeface="Cambria Math" panose="02040503050406030204" pitchFamily="18" charset="0"/>
                                </a:rPr>
                                <m:t>𝐾</m:t>
                              </m:r>
                            </m:e>
                            <m:sub>
                              <m:r>
                                <a:rPr lang="es-PE" i="1">
                                  <a:latin typeface="Cambria Math" panose="02040503050406030204" pitchFamily="18" charset="0"/>
                                </a:rPr>
                                <m:t>𝑉</m:t>
                              </m:r>
                              <m:r>
                                <a:rPr lang="es-PE" b="0" i="1" smtClean="0">
                                  <a:latin typeface="Cambria Math" panose="02040503050406030204" pitchFamily="18" charset="0"/>
                                </a:rPr>
                                <m:t>4</m:t>
                              </m:r>
                            </m:sub>
                          </m:sSub>
                        </m:num>
                        <m:den>
                          <m:sSub>
                            <m:sSubPr>
                              <m:ctrlPr>
                                <a:rPr lang="es-PE" b="0" i="1" smtClean="0">
                                  <a:latin typeface="Cambria Math" panose="02040503050406030204" pitchFamily="18" charset="0"/>
                                </a:rPr>
                              </m:ctrlPr>
                            </m:sSubPr>
                            <m:e>
                              <m:r>
                                <a:rPr lang="es-PE" b="0" i="1" smtClean="0">
                                  <a:latin typeface="Cambria Math" panose="02040503050406030204" pitchFamily="18" charset="0"/>
                                </a:rPr>
                                <m:t>𝐾</m:t>
                              </m:r>
                            </m:e>
                            <m:sub>
                              <m:r>
                                <a:rPr lang="es-PE" b="0" i="1" smtClean="0">
                                  <a:latin typeface="Cambria Math" panose="02040503050406030204" pitchFamily="18" charset="0"/>
                                </a:rPr>
                                <m:t>𝐶</m:t>
                              </m:r>
                            </m:sub>
                          </m:sSub>
                        </m:den>
                      </m:f>
                    </m:oMath>
                  </m:oMathPara>
                </a14:m>
                <a:endParaRPr lang="es-PE" dirty="0"/>
              </a:p>
            </p:txBody>
          </p:sp>
        </mc:Choice>
        <mc:Fallback>
          <p:sp>
            <p:nvSpPr>
              <p:cNvPr id="44" name="CuadroTexto 43">
                <a:extLst>
                  <a:ext uri="{FF2B5EF4-FFF2-40B4-BE49-F238E27FC236}">
                    <a16:creationId xmlns:a16="http://schemas.microsoft.com/office/drawing/2014/main" id="{AB87AC92-9884-E0B1-1F77-C06C0E7856D5}"/>
                  </a:ext>
                </a:extLst>
              </p:cNvPr>
              <p:cNvSpPr txBox="1">
                <a:spLocks noRot="1" noChangeAspect="1" noMove="1" noResize="1" noEditPoints="1" noAdjustHandles="1" noChangeArrowheads="1" noChangeShapeType="1" noTextEdit="1"/>
              </p:cNvSpPr>
              <p:nvPr/>
            </p:nvSpPr>
            <p:spPr>
              <a:xfrm>
                <a:off x="5671644" y="5038973"/>
                <a:ext cx="2893613" cy="565668"/>
              </a:xfrm>
              <a:prstGeom prst="rect">
                <a:avLst/>
              </a:prstGeom>
              <a:blipFill>
                <a:blip r:embed="rId6"/>
                <a:stretch>
                  <a:fillRect/>
                </a:stretch>
              </a:blipFill>
            </p:spPr>
            <p:txBody>
              <a:bodyPr/>
              <a:lstStyle/>
              <a:p>
                <a:r>
                  <a:rPr lang="es-PE">
                    <a:noFill/>
                  </a:rPr>
                  <a:t> </a:t>
                </a:r>
              </a:p>
            </p:txBody>
          </p:sp>
        </mc:Fallback>
      </mc:AlternateContent>
      <mc:AlternateContent xmlns:mc="http://schemas.openxmlformats.org/markup-compatibility/2006">
        <mc:Choice xmlns:a14="http://schemas.microsoft.com/office/drawing/2010/main" Requires="a14">
          <p:sp>
            <p:nvSpPr>
              <p:cNvPr id="47" name="CuadroTexto 46">
                <a:extLst>
                  <a:ext uri="{FF2B5EF4-FFF2-40B4-BE49-F238E27FC236}">
                    <a16:creationId xmlns:a16="http://schemas.microsoft.com/office/drawing/2014/main" id="{8D351D22-7569-40DF-BBC5-3309111E4A06}"/>
                  </a:ext>
                </a:extLst>
              </p:cNvPr>
              <p:cNvSpPr txBox="1"/>
              <p:nvPr/>
            </p:nvSpPr>
            <p:spPr>
              <a:xfrm>
                <a:off x="6466400" y="5652034"/>
                <a:ext cx="1060996" cy="567078"/>
              </a:xfrm>
              <a:prstGeom prst="rect">
                <a:avLst/>
              </a:prstGeom>
              <a:noFill/>
            </p:spPr>
            <p:txBody>
              <a:bodyPr wrap="none" lIns="0" tIns="0" rIns="0" bIns="0" rtlCol="0">
                <a:spAutoFit/>
              </a:bodyPr>
              <a:lstStyle/>
              <a:p>
                <a:pPr/>
                <a14:m>
                  <m:oMathPara xmlns:m="http://schemas.openxmlformats.org/officeDocument/2006/math">
                    <m:oMathParaPr>
                      <m:jc m:val="left"/>
                    </m:oMathParaPr>
                    <m:oMath xmlns:m="http://schemas.openxmlformats.org/officeDocument/2006/math">
                      <m:r>
                        <a:rPr lang="es-PE" b="0" i="1" smtClean="0">
                          <a:latin typeface="Cambria Math" panose="02040503050406030204" pitchFamily="18" charset="0"/>
                        </a:rPr>
                        <m:t>𝑎</m:t>
                      </m:r>
                      <m:r>
                        <a:rPr lang="es-PE" b="0" i="1" smtClean="0">
                          <a:latin typeface="Cambria Math" panose="02040503050406030204" pitchFamily="18" charset="0"/>
                        </a:rPr>
                        <m:t>=</m:t>
                      </m:r>
                      <m:f>
                        <m:fPr>
                          <m:ctrlPr>
                            <a:rPr lang="es-PE" b="0" i="1" smtClean="0">
                              <a:latin typeface="Cambria Math" panose="02040503050406030204" pitchFamily="18" charset="0"/>
                            </a:rPr>
                          </m:ctrlPr>
                        </m:fPr>
                        <m:num>
                          <m:acc>
                            <m:accPr>
                              <m:chr m:val="̅"/>
                              <m:ctrlPr>
                                <a:rPr lang="es-PE" b="0" i="1" smtClean="0">
                                  <a:latin typeface="Cambria Math" panose="02040503050406030204" pitchFamily="18" charset="0"/>
                                </a:rPr>
                              </m:ctrlPr>
                            </m:accPr>
                            <m:e>
                              <m:r>
                                <a:rPr lang="es-PE" b="0" i="1" smtClean="0">
                                  <a:latin typeface="Cambria Math" panose="02040503050406030204" pitchFamily="18" charset="0"/>
                                </a:rPr>
                                <m:t>𝐾</m:t>
                              </m:r>
                            </m:e>
                          </m:acc>
                        </m:num>
                        <m:den>
                          <m:r>
                            <a:rPr lang="es-PE" b="0" i="1" smtClean="0">
                              <a:latin typeface="Cambria Math" panose="02040503050406030204" pitchFamily="18" charset="0"/>
                            </a:rPr>
                            <m:t>2</m:t>
                          </m:r>
                          <m:r>
                            <a:rPr lang="es-PE" b="0" i="1" smtClean="0">
                              <a:latin typeface="Cambria Math" panose="02040503050406030204" pitchFamily="18" charset="0"/>
                            </a:rPr>
                            <m:t>+</m:t>
                          </m:r>
                          <m:acc>
                            <m:accPr>
                              <m:chr m:val="̅"/>
                              <m:ctrlPr>
                                <a:rPr lang="es-PE" b="0" i="1" smtClean="0">
                                  <a:latin typeface="Cambria Math" panose="02040503050406030204" pitchFamily="18" charset="0"/>
                                </a:rPr>
                              </m:ctrlPr>
                            </m:accPr>
                            <m:e>
                              <m:r>
                                <a:rPr lang="es-PE" b="0" i="1" smtClean="0">
                                  <a:latin typeface="Cambria Math" panose="02040503050406030204" pitchFamily="18" charset="0"/>
                                </a:rPr>
                                <m:t>𝐾</m:t>
                              </m:r>
                            </m:e>
                          </m:acc>
                        </m:den>
                      </m:f>
                    </m:oMath>
                  </m:oMathPara>
                </a14:m>
                <a:endParaRPr lang="es-PE" dirty="0"/>
              </a:p>
            </p:txBody>
          </p:sp>
        </mc:Choice>
        <mc:Fallback>
          <p:sp>
            <p:nvSpPr>
              <p:cNvPr id="47" name="CuadroTexto 46">
                <a:extLst>
                  <a:ext uri="{FF2B5EF4-FFF2-40B4-BE49-F238E27FC236}">
                    <a16:creationId xmlns:a16="http://schemas.microsoft.com/office/drawing/2014/main" id="{8D351D22-7569-40DF-BBC5-3309111E4A06}"/>
                  </a:ext>
                </a:extLst>
              </p:cNvPr>
              <p:cNvSpPr txBox="1">
                <a:spLocks noRot="1" noChangeAspect="1" noMove="1" noResize="1" noEditPoints="1" noAdjustHandles="1" noChangeArrowheads="1" noChangeShapeType="1" noTextEdit="1"/>
              </p:cNvSpPr>
              <p:nvPr/>
            </p:nvSpPr>
            <p:spPr>
              <a:xfrm>
                <a:off x="6466400" y="5652034"/>
                <a:ext cx="1060996" cy="567078"/>
              </a:xfrm>
              <a:prstGeom prst="rect">
                <a:avLst/>
              </a:prstGeom>
              <a:blipFill>
                <a:blip r:embed="rId7"/>
                <a:stretch>
                  <a:fillRect/>
                </a:stretch>
              </a:blipFill>
            </p:spPr>
            <p:txBody>
              <a:bodyPr/>
              <a:lstStyle/>
              <a:p>
                <a:r>
                  <a:rPr lang="es-PE">
                    <a:noFill/>
                  </a:rPr>
                  <a:t> </a:t>
                </a:r>
              </a:p>
            </p:txBody>
          </p:sp>
        </mc:Fallback>
      </mc:AlternateContent>
      <p:sp>
        <p:nvSpPr>
          <p:cNvPr id="50" name="Rectángulo 49">
            <a:extLst>
              <a:ext uri="{FF2B5EF4-FFF2-40B4-BE49-F238E27FC236}">
                <a16:creationId xmlns:a16="http://schemas.microsoft.com/office/drawing/2014/main" id="{FA63176B-905E-21AE-6F90-0A007A46CFF8}"/>
              </a:ext>
            </a:extLst>
          </p:cNvPr>
          <p:cNvSpPr/>
          <p:nvPr/>
        </p:nvSpPr>
        <p:spPr>
          <a:xfrm rot="16200000">
            <a:off x="6901082" y="3834459"/>
            <a:ext cx="72000" cy="1800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mc:AlternateContent xmlns:mc="http://schemas.openxmlformats.org/markup-compatibility/2006" xmlns:a14="http://schemas.microsoft.com/office/drawing/2010/main">
        <mc:Choice Requires="a14">
          <p:sp>
            <p:nvSpPr>
              <p:cNvPr id="51" name="CuadroTexto 50">
                <a:extLst>
                  <a:ext uri="{FF2B5EF4-FFF2-40B4-BE49-F238E27FC236}">
                    <a16:creationId xmlns:a16="http://schemas.microsoft.com/office/drawing/2014/main" id="{485638B5-3B26-BC51-37C8-28CABA9FC9F6}"/>
                  </a:ext>
                </a:extLst>
              </p:cNvPr>
              <p:cNvSpPr txBox="1"/>
              <p:nvPr/>
            </p:nvSpPr>
            <p:spPr>
              <a:xfrm>
                <a:off x="1187658" y="2548381"/>
                <a:ext cx="414280"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PE" i="1">
                              <a:latin typeface="Cambria Math" panose="02040503050406030204" pitchFamily="18" charset="0"/>
                            </a:rPr>
                          </m:ctrlPr>
                        </m:sSubPr>
                        <m:e>
                          <m:r>
                            <a:rPr lang="es-PE" i="1">
                              <a:latin typeface="Cambria Math" panose="02040503050406030204" pitchFamily="18" charset="0"/>
                            </a:rPr>
                            <m:t>𝐾</m:t>
                          </m:r>
                        </m:e>
                        <m:sub>
                          <m:r>
                            <a:rPr lang="es-PE" i="1">
                              <a:latin typeface="Cambria Math" panose="02040503050406030204" pitchFamily="18" charset="0"/>
                            </a:rPr>
                            <m:t>𝑉</m:t>
                          </m:r>
                          <m:r>
                            <a:rPr lang="es-PE" i="1">
                              <a:latin typeface="Cambria Math" panose="02040503050406030204" pitchFamily="18" charset="0"/>
                            </a:rPr>
                            <m:t>1</m:t>
                          </m:r>
                        </m:sub>
                      </m:sSub>
                    </m:oMath>
                  </m:oMathPara>
                </a14:m>
                <a:endParaRPr lang="es-PE" dirty="0"/>
              </a:p>
            </p:txBody>
          </p:sp>
        </mc:Choice>
        <mc:Fallback xmlns="">
          <p:sp>
            <p:nvSpPr>
              <p:cNvPr id="51" name="CuadroTexto 50">
                <a:extLst>
                  <a:ext uri="{FF2B5EF4-FFF2-40B4-BE49-F238E27FC236}">
                    <a16:creationId xmlns:a16="http://schemas.microsoft.com/office/drawing/2014/main" id="{485638B5-3B26-BC51-37C8-28CABA9FC9F6}"/>
                  </a:ext>
                </a:extLst>
              </p:cNvPr>
              <p:cNvSpPr txBox="1">
                <a:spLocks noRot="1" noChangeAspect="1" noMove="1" noResize="1" noEditPoints="1" noAdjustHandles="1" noChangeArrowheads="1" noChangeShapeType="1" noTextEdit="1"/>
              </p:cNvSpPr>
              <p:nvPr/>
            </p:nvSpPr>
            <p:spPr>
              <a:xfrm>
                <a:off x="1187658" y="2548381"/>
                <a:ext cx="414280" cy="276999"/>
              </a:xfrm>
              <a:prstGeom prst="rect">
                <a:avLst/>
              </a:prstGeom>
              <a:blipFill>
                <a:blip r:embed="rId8"/>
                <a:stretch>
                  <a:fillRect l="-13235" r="-5882" b="-17778"/>
                </a:stretch>
              </a:blipFill>
            </p:spPr>
            <p:txBody>
              <a:bodyPr/>
              <a:lstStyle/>
              <a:p>
                <a:r>
                  <a:rPr lang="es-PE">
                    <a:noFill/>
                  </a:rPr>
                  <a:t> </a:t>
                </a:r>
              </a:p>
            </p:txBody>
          </p:sp>
        </mc:Fallback>
      </mc:AlternateContent>
      <mc:AlternateContent xmlns:mc="http://schemas.openxmlformats.org/markup-compatibility/2006" xmlns:a14="http://schemas.microsoft.com/office/drawing/2010/main">
        <mc:Choice Requires="a14">
          <p:sp>
            <p:nvSpPr>
              <p:cNvPr id="52" name="CuadroTexto 51">
                <a:extLst>
                  <a:ext uri="{FF2B5EF4-FFF2-40B4-BE49-F238E27FC236}">
                    <a16:creationId xmlns:a16="http://schemas.microsoft.com/office/drawing/2014/main" id="{EC85E2BC-54D2-8803-EE00-B5BCD9E98001}"/>
                  </a:ext>
                </a:extLst>
              </p:cNvPr>
              <p:cNvSpPr txBox="1"/>
              <p:nvPr/>
            </p:nvSpPr>
            <p:spPr>
              <a:xfrm>
                <a:off x="2143829" y="2548381"/>
                <a:ext cx="414280"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PE" i="1" smtClean="0">
                              <a:latin typeface="Cambria Math" panose="02040503050406030204" pitchFamily="18" charset="0"/>
                            </a:rPr>
                          </m:ctrlPr>
                        </m:sSubPr>
                        <m:e>
                          <m:r>
                            <a:rPr lang="es-PE" i="1">
                              <a:latin typeface="Cambria Math" panose="02040503050406030204" pitchFamily="18" charset="0"/>
                            </a:rPr>
                            <m:t>𝐾</m:t>
                          </m:r>
                        </m:e>
                        <m:sub>
                          <m:r>
                            <a:rPr lang="es-PE" i="1">
                              <a:latin typeface="Cambria Math" panose="02040503050406030204" pitchFamily="18" charset="0"/>
                            </a:rPr>
                            <m:t>𝑉</m:t>
                          </m:r>
                          <m:r>
                            <a:rPr lang="es-PE" b="0" i="1" smtClean="0">
                              <a:latin typeface="Cambria Math" panose="02040503050406030204" pitchFamily="18" charset="0"/>
                            </a:rPr>
                            <m:t>2</m:t>
                          </m:r>
                        </m:sub>
                      </m:sSub>
                    </m:oMath>
                  </m:oMathPara>
                </a14:m>
                <a:endParaRPr lang="es-PE" dirty="0"/>
              </a:p>
            </p:txBody>
          </p:sp>
        </mc:Choice>
        <mc:Fallback xmlns="">
          <p:sp>
            <p:nvSpPr>
              <p:cNvPr id="52" name="CuadroTexto 51">
                <a:extLst>
                  <a:ext uri="{FF2B5EF4-FFF2-40B4-BE49-F238E27FC236}">
                    <a16:creationId xmlns:a16="http://schemas.microsoft.com/office/drawing/2014/main" id="{EC85E2BC-54D2-8803-EE00-B5BCD9E98001}"/>
                  </a:ext>
                </a:extLst>
              </p:cNvPr>
              <p:cNvSpPr txBox="1">
                <a:spLocks noRot="1" noChangeAspect="1" noMove="1" noResize="1" noEditPoints="1" noAdjustHandles="1" noChangeArrowheads="1" noChangeShapeType="1" noTextEdit="1"/>
              </p:cNvSpPr>
              <p:nvPr/>
            </p:nvSpPr>
            <p:spPr>
              <a:xfrm>
                <a:off x="2143829" y="2548381"/>
                <a:ext cx="414280" cy="276999"/>
              </a:xfrm>
              <a:prstGeom prst="rect">
                <a:avLst/>
              </a:prstGeom>
              <a:blipFill>
                <a:blip r:embed="rId9"/>
                <a:stretch>
                  <a:fillRect l="-13235" r="-5882" b="-17778"/>
                </a:stretch>
              </a:blipFill>
            </p:spPr>
            <p:txBody>
              <a:bodyPr/>
              <a:lstStyle/>
              <a:p>
                <a:r>
                  <a:rPr lang="es-PE">
                    <a:noFill/>
                  </a:rPr>
                  <a:t> </a:t>
                </a:r>
              </a:p>
            </p:txBody>
          </p:sp>
        </mc:Fallback>
      </mc:AlternateContent>
      <mc:AlternateContent xmlns:mc="http://schemas.openxmlformats.org/markup-compatibility/2006" xmlns:a14="http://schemas.microsoft.com/office/drawing/2010/main">
        <mc:Choice Requires="a14">
          <p:sp>
            <p:nvSpPr>
              <p:cNvPr id="53" name="CuadroTexto 52">
                <a:extLst>
                  <a:ext uri="{FF2B5EF4-FFF2-40B4-BE49-F238E27FC236}">
                    <a16:creationId xmlns:a16="http://schemas.microsoft.com/office/drawing/2014/main" id="{705A7B0A-B934-A35B-DC8D-E71CB9883799}"/>
                  </a:ext>
                </a:extLst>
              </p:cNvPr>
              <p:cNvSpPr txBox="1"/>
              <p:nvPr/>
            </p:nvSpPr>
            <p:spPr>
              <a:xfrm>
                <a:off x="2019523" y="3501957"/>
                <a:ext cx="315856"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PE" i="1" smtClean="0">
                              <a:latin typeface="Cambria Math" panose="02040503050406030204" pitchFamily="18" charset="0"/>
                            </a:rPr>
                          </m:ctrlPr>
                        </m:sSubPr>
                        <m:e>
                          <m:r>
                            <a:rPr lang="es-PE" i="1">
                              <a:latin typeface="Cambria Math" panose="02040503050406030204" pitchFamily="18" charset="0"/>
                            </a:rPr>
                            <m:t>𝐾</m:t>
                          </m:r>
                        </m:e>
                        <m:sub>
                          <m:r>
                            <a:rPr lang="es-PE" b="0" i="1" smtClean="0">
                              <a:latin typeface="Cambria Math" panose="02040503050406030204" pitchFamily="18" charset="0"/>
                            </a:rPr>
                            <m:t>𝐶</m:t>
                          </m:r>
                        </m:sub>
                      </m:sSub>
                    </m:oMath>
                  </m:oMathPara>
                </a14:m>
                <a:endParaRPr lang="es-PE" dirty="0"/>
              </a:p>
            </p:txBody>
          </p:sp>
        </mc:Choice>
        <mc:Fallback xmlns="">
          <p:sp>
            <p:nvSpPr>
              <p:cNvPr id="53" name="CuadroTexto 52">
                <a:extLst>
                  <a:ext uri="{FF2B5EF4-FFF2-40B4-BE49-F238E27FC236}">
                    <a16:creationId xmlns:a16="http://schemas.microsoft.com/office/drawing/2014/main" id="{705A7B0A-B934-A35B-DC8D-E71CB9883799}"/>
                  </a:ext>
                </a:extLst>
              </p:cNvPr>
              <p:cNvSpPr txBox="1">
                <a:spLocks noRot="1" noChangeAspect="1" noMove="1" noResize="1" noEditPoints="1" noAdjustHandles="1" noChangeArrowheads="1" noChangeShapeType="1" noTextEdit="1"/>
              </p:cNvSpPr>
              <p:nvPr/>
            </p:nvSpPr>
            <p:spPr>
              <a:xfrm>
                <a:off x="2019523" y="3501957"/>
                <a:ext cx="315856" cy="276999"/>
              </a:xfrm>
              <a:prstGeom prst="rect">
                <a:avLst/>
              </a:prstGeom>
              <a:blipFill>
                <a:blip r:embed="rId10"/>
                <a:stretch>
                  <a:fillRect l="-17308" r="-5769" b="-15217"/>
                </a:stretch>
              </a:blipFill>
            </p:spPr>
            <p:txBody>
              <a:bodyPr/>
              <a:lstStyle/>
              <a:p>
                <a:r>
                  <a:rPr lang="es-PE">
                    <a:noFill/>
                  </a:rPr>
                  <a:t> </a:t>
                </a:r>
              </a:p>
            </p:txBody>
          </p:sp>
        </mc:Fallback>
      </mc:AlternateContent>
      <mc:AlternateContent xmlns:mc="http://schemas.openxmlformats.org/markup-compatibility/2006" xmlns:a14="http://schemas.microsoft.com/office/drawing/2010/main">
        <mc:Choice Requires="a14">
          <p:sp>
            <p:nvSpPr>
              <p:cNvPr id="54" name="CuadroTexto 53">
                <a:extLst>
                  <a:ext uri="{FF2B5EF4-FFF2-40B4-BE49-F238E27FC236}">
                    <a16:creationId xmlns:a16="http://schemas.microsoft.com/office/drawing/2014/main" id="{466A2D57-F18C-2436-0749-57227B3CB708}"/>
                  </a:ext>
                </a:extLst>
              </p:cNvPr>
              <p:cNvSpPr txBox="1"/>
              <p:nvPr/>
            </p:nvSpPr>
            <p:spPr>
              <a:xfrm>
                <a:off x="3678163" y="2560231"/>
                <a:ext cx="414280"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PE" i="1">
                              <a:latin typeface="Cambria Math" panose="02040503050406030204" pitchFamily="18" charset="0"/>
                            </a:rPr>
                          </m:ctrlPr>
                        </m:sSubPr>
                        <m:e>
                          <m:r>
                            <a:rPr lang="es-PE" i="1">
                              <a:latin typeface="Cambria Math" panose="02040503050406030204" pitchFamily="18" charset="0"/>
                            </a:rPr>
                            <m:t>𝐾</m:t>
                          </m:r>
                        </m:e>
                        <m:sub>
                          <m:r>
                            <a:rPr lang="es-PE" i="1">
                              <a:latin typeface="Cambria Math" panose="02040503050406030204" pitchFamily="18" charset="0"/>
                            </a:rPr>
                            <m:t>𝑉</m:t>
                          </m:r>
                          <m:r>
                            <a:rPr lang="es-PE" i="1">
                              <a:latin typeface="Cambria Math" panose="02040503050406030204" pitchFamily="18" charset="0"/>
                            </a:rPr>
                            <m:t>1</m:t>
                          </m:r>
                        </m:sub>
                      </m:sSub>
                    </m:oMath>
                  </m:oMathPara>
                </a14:m>
                <a:endParaRPr lang="es-PE" dirty="0"/>
              </a:p>
            </p:txBody>
          </p:sp>
        </mc:Choice>
        <mc:Fallback xmlns="">
          <p:sp>
            <p:nvSpPr>
              <p:cNvPr id="54" name="CuadroTexto 53">
                <a:extLst>
                  <a:ext uri="{FF2B5EF4-FFF2-40B4-BE49-F238E27FC236}">
                    <a16:creationId xmlns:a16="http://schemas.microsoft.com/office/drawing/2014/main" id="{466A2D57-F18C-2436-0749-57227B3CB708}"/>
                  </a:ext>
                </a:extLst>
              </p:cNvPr>
              <p:cNvSpPr txBox="1">
                <a:spLocks noRot="1" noChangeAspect="1" noMove="1" noResize="1" noEditPoints="1" noAdjustHandles="1" noChangeArrowheads="1" noChangeShapeType="1" noTextEdit="1"/>
              </p:cNvSpPr>
              <p:nvPr/>
            </p:nvSpPr>
            <p:spPr>
              <a:xfrm>
                <a:off x="3678163" y="2560231"/>
                <a:ext cx="414280" cy="276999"/>
              </a:xfrm>
              <a:prstGeom prst="rect">
                <a:avLst/>
              </a:prstGeom>
              <a:blipFill>
                <a:blip r:embed="rId11"/>
                <a:stretch>
                  <a:fillRect l="-11765" r="-7353" b="-15556"/>
                </a:stretch>
              </a:blipFill>
            </p:spPr>
            <p:txBody>
              <a:bodyPr/>
              <a:lstStyle/>
              <a:p>
                <a:r>
                  <a:rPr lang="es-PE">
                    <a:noFill/>
                  </a:rPr>
                  <a:t> </a:t>
                </a:r>
              </a:p>
            </p:txBody>
          </p:sp>
        </mc:Fallback>
      </mc:AlternateContent>
      <mc:AlternateContent xmlns:mc="http://schemas.openxmlformats.org/markup-compatibility/2006" xmlns:a14="http://schemas.microsoft.com/office/drawing/2010/main">
        <mc:Choice Requires="a14">
          <p:sp>
            <p:nvSpPr>
              <p:cNvPr id="55" name="CuadroTexto 54">
                <a:extLst>
                  <a:ext uri="{FF2B5EF4-FFF2-40B4-BE49-F238E27FC236}">
                    <a16:creationId xmlns:a16="http://schemas.microsoft.com/office/drawing/2014/main" id="{8CA8D2E2-9B03-FAE5-D5A9-4C5431393438}"/>
                  </a:ext>
                </a:extLst>
              </p:cNvPr>
              <p:cNvSpPr txBox="1"/>
              <p:nvPr/>
            </p:nvSpPr>
            <p:spPr>
              <a:xfrm>
                <a:off x="4634334" y="2560231"/>
                <a:ext cx="414280"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PE" i="1" smtClean="0">
                              <a:latin typeface="Cambria Math" panose="02040503050406030204" pitchFamily="18" charset="0"/>
                            </a:rPr>
                          </m:ctrlPr>
                        </m:sSubPr>
                        <m:e>
                          <m:r>
                            <a:rPr lang="es-PE" i="1">
                              <a:latin typeface="Cambria Math" panose="02040503050406030204" pitchFamily="18" charset="0"/>
                            </a:rPr>
                            <m:t>𝐾</m:t>
                          </m:r>
                        </m:e>
                        <m:sub>
                          <m:r>
                            <a:rPr lang="es-PE" i="1">
                              <a:latin typeface="Cambria Math" panose="02040503050406030204" pitchFamily="18" charset="0"/>
                            </a:rPr>
                            <m:t>𝑉</m:t>
                          </m:r>
                          <m:r>
                            <a:rPr lang="es-PE" b="0" i="1" smtClean="0">
                              <a:latin typeface="Cambria Math" panose="02040503050406030204" pitchFamily="18" charset="0"/>
                            </a:rPr>
                            <m:t>2</m:t>
                          </m:r>
                        </m:sub>
                      </m:sSub>
                    </m:oMath>
                  </m:oMathPara>
                </a14:m>
                <a:endParaRPr lang="es-PE" dirty="0"/>
              </a:p>
            </p:txBody>
          </p:sp>
        </mc:Choice>
        <mc:Fallback xmlns="">
          <p:sp>
            <p:nvSpPr>
              <p:cNvPr id="55" name="CuadroTexto 54">
                <a:extLst>
                  <a:ext uri="{FF2B5EF4-FFF2-40B4-BE49-F238E27FC236}">
                    <a16:creationId xmlns:a16="http://schemas.microsoft.com/office/drawing/2014/main" id="{8CA8D2E2-9B03-FAE5-D5A9-4C5431393438}"/>
                  </a:ext>
                </a:extLst>
              </p:cNvPr>
              <p:cNvSpPr txBox="1">
                <a:spLocks noRot="1" noChangeAspect="1" noMove="1" noResize="1" noEditPoints="1" noAdjustHandles="1" noChangeArrowheads="1" noChangeShapeType="1" noTextEdit="1"/>
              </p:cNvSpPr>
              <p:nvPr/>
            </p:nvSpPr>
            <p:spPr>
              <a:xfrm>
                <a:off x="4634334" y="2560231"/>
                <a:ext cx="414280" cy="276999"/>
              </a:xfrm>
              <a:prstGeom prst="rect">
                <a:avLst/>
              </a:prstGeom>
              <a:blipFill>
                <a:blip r:embed="rId12"/>
                <a:stretch>
                  <a:fillRect l="-11765" r="-7353" b="-15556"/>
                </a:stretch>
              </a:blipFill>
            </p:spPr>
            <p:txBody>
              <a:bodyPr/>
              <a:lstStyle/>
              <a:p>
                <a:r>
                  <a:rPr lang="es-PE">
                    <a:noFill/>
                  </a:rPr>
                  <a:t> </a:t>
                </a:r>
              </a:p>
            </p:txBody>
          </p:sp>
        </mc:Fallback>
      </mc:AlternateContent>
      <mc:AlternateContent xmlns:mc="http://schemas.openxmlformats.org/markup-compatibility/2006" xmlns:a14="http://schemas.microsoft.com/office/drawing/2010/main">
        <mc:Choice Requires="a14">
          <p:sp>
            <p:nvSpPr>
              <p:cNvPr id="56" name="CuadroTexto 55">
                <a:extLst>
                  <a:ext uri="{FF2B5EF4-FFF2-40B4-BE49-F238E27FC236}">
                    <a16:creationId xmlns:a16="http://schemas.microsoft.com/office/drawing/2014/main" id="{73B7D9D8-C990-550C-602F-08FBD0D2DF80}"/>
                  </a:ext>
                </a:extLst>
              </p:cNvPr>
              <p:cNvSpPr txBox="1"/>
              <p:nvPr/>
            </p:nvSpPr>
            <p:spPr>
              <a:xfrm>
                <a:off x="4510028" y="3513807"/>
                <a:ext cx="315856"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PE" i="1" smtClean="0">
                              <a:latin typeface="Cambria Math" panose="02040503050406030204" pitchFamily="18" charset="0"/>
                            </a:rPr>
                          </m:ctrlPr>
                        </m:sSubPr>
                        <m:e>
                          <m:r>
                            <a:rPr lang="es-PE" i="1">
                              <a:latin typeface="Cambria Math" panose="02040503050406030204" pitchFamily="18" charset="0"/>
                            </a:rPr>
                            <m:t>𝐾</m:t>
                          </m:r>
                        </m:e>
                        <m:sub>
                          <m:r>
                            <a:rPr lang="es-PE" b="0" i="1" smtClean="0">
                              <a:latin typeface="Cambria Math" panose="02040503050406030204" pitchFamily="18" charset="0"/>
                            </a:rPr>
                            <m:t>𝐶</m:t>
                          </m:r>
                        </m:sub>
                      </m:sSub>
                    </m:oMath>
                  </m:oMathPara>
                </a14:m>
                <a:endParaRPr lang="es-PE" dirty="0"/>
              </a:p>
            </p:txBody>
          </p:sp>
        </mc:Choice>
        <mc:Fallback xmlns="">
          <p:sp>
            <p:nvSpPr>
              <p:cNvPr id="56" name="CuadroTexto 55">
                <a:extLst>
                  <a:ext uri="{FF2B5EF4-FFF2-40B4-BE49-F238E27FC236}">
                    <a16:creationId xmlns:a16="http://schemas.microsoft.com/office/drawing/2014/main" id="{73B7D9D8-C990-550C-602F-08FBD0D2DF80}"/>
                  </a:ext>
                </a:extLst>
              </p:cNvPr>
              <p:cNvSpPr txBox="1">
                <a:spLocks noRot="1" noChangeAspect="1" noMove="1" noResize="1" noEditPoints="1" noAdjustHandles="1" noChangeArrowheads="1" noChangeShapeType="1" noTextEdit="1"/>
              </p:cNvSpPr>
              <p:nvPr/>
            </p:nvSpPr>
            <p:spPr>
              <a:xfrm>
                <a:off x="4510028" y="3513807"/>
                <a:ext cx="315856" cy="276999"/>
              </a:xfrm>
              <a:prstGeom prst="rect">
                <a:avLst/>
              </a:prstGeom>
              <a:blipFill>
                <a:blip r:embed="rId13"/>
                <a:stretch>
                  <a:fillRect l="-19231" r="-3846" b="-15217"/>
                </a:stretch>
              </a:blipFill>
            </p:spPr>
            <p:txBody>
              <a:bodyPr/>
              <a:lstStyle/>
              <a:p>
                <a:r>
                  <a:rPr lang="es-PE">
                    <a:noFill/>
                  </a:rPr>
                  <a:t> </a:t>
                </a:r>
              </a:p>
            </p:txBody>
          </p:sp>
        </mc:Fallback>
      </mc:AlternateContent>
      <mc:AlternateContent xmlns:mc="http://schemas.openxmlformats.org/markup-compatibility/2006" xmlns:a14="http://schemas.microsoft.com/office/drawing/2010/main">
        <mc:Choice Requires="a14">
          <p:sp>
            <p:nvSpPr>
              <p:cNvPr id="57" name="CuadroTexto 56">
                <a:extLst>
                  <a:ext uri="{FF2B5EF4-FFF2-40B4-BE49-F238E27FC236}">
                    <a16:creationId xmlns:a16="http://schemas.microsoft.com/office/drawing/2014/main" id="{140F2981-78B7-D7CE-AC6F-59B155C8F841}"/>
                  </a:ext>
                </a:extLst>
              </p:cNvPr>
              <p:cNvSpPr txBox="1"/>
              <p:nvPr/>
            </p:nvSpPr>
            <p:spPr>
              <a:xfrm>
                <a:off x="6186698" y="2560231"/>
                <a:ext cx="414280"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PE" i="1">
                              <a:latin typeface="Cambria Math" panose="02040503050406030204" pitchFamily="18" charset="0"/>
                            </a:rPr>
                          </m:ctrlPr>
                        </m:sSubPr>
                        <m:e>
                          <m:r>
                            <a:rPr lang="es-PE" i="1">
                              <a:latin typeface="Cambria Math" panose="02040503050406030204" pitchFamily="18" charset="0"/>
                            </a:rPr>
                            <m:t>𝐾</m:t>
                          </m:r>
                        </m:e>
                        <m:sub>
                          <m:r>
                            <a:rPr lang="es-PE" i="1">
                              <a:latin typeface="Cambria Math" panose="02040503050406030204" pitchFamily="18" charset="0"/>
                            </a:rPr>
                            <m:t>𝑉</m:t>
                          </m:r>
                          <m:r>
                            <a:rPr lang="es-PE" i="1">
                              <a:latin typeface="Cambria Math" panose="02040503050406030204" pitchFamily="18" charset="0"/>
                            </a:rPr>
                            <m:t>1</m:t>
                          </m:r>
                        </m:sub>
                      </m:sSub>
                    </m:oMath>
                  </m:oMathPara>
                </a14:m>
                <a:endParaRPr lang="es-PE" dirty="0"/>
              </a:p>
            </p:txBody>
          </p:sp>
        </mc:Choice>
        <mc:Fallback xmlns="">
          <p:sp>
            <p:nvSpPr>
              <p:cNvPr id="57" name="CuadroTexto 56">
                <a:extLst>
                  <a:ext uri="{FF2B5EF4-FFF2-40B4-BE49-F238E27FC236}">
                    <a16:creationId xmlns:a16="http://schemas.microsoft.com/office/drawing/2014/main" id="{140F2981-78B7-D7CE-AC6F-59B155C8F841}"/>
                  </a:ext>
                </a:extLst>
              </p:cNvPr>
              <p:cNvSpPr txBox="1">
                <a:spLocks noRot="1" noChangeAspect="1" noMove="1" noResize="1" noEditPoints="1" noAdjustHandles="1" noChangeArrowheads="1" noChangeShapeType="1" noTextEdit="1"/>
              </p:cNvSpPr>
              <p:nvPr/>
            </p:nvSpPr>
            <p:spPr>
              <a:xfrm>
                <a:off x="6186698" y="2560231"/>
                <a:ext cx="414280" cy="276999"/>
              </a:xfrm>
              <a:prstGeom prst="rect">
                <a:avLst/>
              </a:prstGeom>
              <a:blipFill>
                <a:blip r:embed="rId14"/>
                <a:stretch>
                  <a:fillRect l="-13235" r="-5882" b="-15556"/>
                </a:stretch>
              </a:blipFill>
            </p:spPr>
            <p:txBody>
              <a:bodyPr/>
              <a:lstStyle/>
              <a:p>
                <a:r>
                  <a:rPr lang="es-PE">
                    <a:noFill/>
                  </a:rPr>
                  <a:t> </a:t>
                </a:r>
              </a:p>
            </p:txBody>
          </p:sp>
        </mc:Fallback>
      </mc:AlternateContent>
      <mc:AlternateContent xmlns:mc="http://schemas.openxmlformats.org/markup-compatibility/2006" xmlns:a14="http://schemas.microsoft.com/office/drawing/2010/main">
        <mc:Choice Requires="a14">
          <p:sp>
            <p:nvSpPr>
              <p:cNvPr id="58" name="CuadroTexto 57">
                <a:extLst>
                  <a:ext uri="{FF2B5EF4-FFF2-40B4-BE49-F238E27FC236}">
                    <a16:creationId xmlns:a16="http://schemas.microsoft.com/office/drawing/2014/main" id="{40F8519C-723F-EA15-FBE9-A9710D2A3662}"/>
                  </a:ext>
                </a:extLst>
              </p:cNvPr>
              <p:cNvSpPr txBox="1"/>
              <p:nvPr/>
            </p:nvSpPr>
            <p:spPr>
              <a:xfrm>
                <a:off x="7142869" y="2560231"/>
                <a:ext cx="414280"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PE" i="1" smtClean="0">
                              <a:latin typeface="Cambria Math" panose="02040503050406030204" pitchFamily="18" charset="0"/>
                            </a:rPr>
                          </m:ctrlPr>
                        </m:sSubPr>
                        <m:e>
                          <m:r>
                            <a:rPr lang="es-PE" i="1">
                              <a:latin typeface="Cambria Math" panose="02040503050406030204" pitchFamily="18" charset="0"/>
                            </a:rPr>
                            <m:t>𝐾</m:t>
                          </m:r>
                        </m:e>
                        <m:sub>
                          <m:r>
                            <a:rPr lang="es-PE" i="1">
                              <a:latin typeface="Cambria Math" panose="02040503050406030204" pitchFamily="18" charset="0"/>
                            </a:rPr>
                            <m:t>𝑉</m:t>
                          </m:r>
                          <m:r>
                            <a:rPr lang="es-PE" b="0" i="1" smtClean="0">
                              <a:latin typeface="Cambria Math" panose="02040503050406030204" pitchFamily="18" charset="0"/>
                            </a:rPr>
                            <m:t>2</m:t>
                          </m:r>
                        </m:sub>
                      </m:sSub>
                    </m:oMath>
                  </m:oMathPara>
                </a14:m>
                <a:endParaRPr lang="es-PE" dirty="0"/>
              </a:p>
            </p:txBody>
          </p:sp>
        </mc:Choice>
        <mc:Fallback xmlns="">
          <p:sp>
            <p:nvSpPr>
              <p:cNvPr id="58" name="CuadroTexto 57">
                <a:extLst>
                  <a:ext uri="{FF2B5EF4-FFF2-40B4-BE49-F238E27FC236}">
                    <a16:creationId xmlns:a16="http://schemas.microsoft.com/office/drawing/2014/main" id="{40F8519C-723F-EA15-FBE9-A9710D2A3662}"/>
                  </a:ext>
                </a:extLst>
              </p:cNvPr>
              <p:cNvSpPr txBox="1">
                <a:spLocks noRot="1" noChangeAspect="1" noMove="1" noResize="1" noEditPoints="1" noAdjustHandles="1" noChangeArrowheads="1" noChangeShapeType="1" noTextEdit="1"/>
              </p:cNvSpPr>
              <p:nvPr/>
            </p:nvSpPr>
            <p:spPr>
              <a:xfrm>
                <a:off x="7142869" y="2560231"/>
                <a:ext cx="414280" cy="276999"/>
              </a:xfrm>
              <a:prstGeom prst="rect">
                <a:avLst/>
              </a:prstGeom>
              <a:blipFill>
                <a:blip r:embed="rId15"/>
                <a:stretch>
                  <a:fillRect l="-13235" r="-5882" b="-15556"/>
                </a:stretch>
              </a:blipFill>
            </p:spPr>
            <p:txBody>
              <a:bodyPr/>
              <a:lstStyle/>
              <a:p>
                <a:r>
                  <a:rPr lang="es-PE">
                    <a:noFill/>
                  </a:rPr>
                  <a:t> </a:t>
                </a:r>
              </a:p>
            </p:txBody>
          </p:sp>
        </mc:Fallback>
      </mc:AlternateContent>
      <mc:AlternateContent xmlns:mc="http://schemas.openxmlformats.org/markup-compatibility/2006" xmlns:a14="http://schemas.microsoft.com/office/drawing/2010/main">
        <mc:Choice Requires="a14">
          <p:sp>
            <p:nvSpPr>
              <p:cNvPr id="59" name="CuadroTexto 58">
                <a:extLst>
                  <a:ext uri="{FF2B5EF4-FFF2-40B4-BE49-F238E27FC236}">
                    <a16:creationId xmlns:a16="http://schemas.microsoft.com/office/drawing/2014/main" id="{883A8FA4-B03A-3DA4-4F16-08639EF20E5C}"/>
                  </a:ext>
                </a:extLst>
              </p:cNvPr>
              <p:cNvSpPr txBox="1"/>
              <p:nvPr/>
            </p:nvSpPr>
            <p:spPr>
              <a:xfrm>
                <a:off x="7018563" y="3513807"/>
                <a:ext cx="315856"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PE" i="1" smtClean="0">
                              <a:latin typeface="Cambria Math" panose="02040503050406030204" pitchFamily="18" charset="0"/>
                            </a:rPr>
                          </m:ctrlPr>
                        </m:sSubPr>
                        <m:e>
                          <m:r>
                            <a:rPr lang="es-PE" i="1">
                              <a:latin typeface="Cambria Math" panose="02040503050406030204" pitchFamily="18" charset="0"/>
                            </a:rPr>
                            <m:t>𝐾</m:t>
                          </m:r>
                        </m:e>
                        <m:sub>
                          <m:r>
                            <a:rPr lang="es-PE" b="0" i="1" smtClean="0">
                              <a:latin typeface="Cambria Math" panose="02040503050406030204" pitchFamily="18" charset="0"/>
                            </a:rPr>
                            <m:t>𝐶</m:t>
                          </m:r>
                        </m:sub>
                      </m:sSub>
                    </m:oMath>
                  </m:oMathPara>
                </a14:m>
                <a:endParaRPr lang="es-PE" dirty="0"/>
              </a:p>
            </p:txBody>
          </p:sp>
        </mc:Choice>
        <mc:Fallback xmlns="">
          <p:sp>
            <p:nvSpPr>
              <p:cNvPr id="59" name="CuadroTexto 58">
                <a:extLst>
                  <a:ext uri="{FF2B5EF4-FFF2-40B4-BE49-F238E27FC236}">
                    <a16:creationId xmlns:a16="http://schemas.microsoft.com/office/drawing/2014/main" id="{883A8FA4-B03A-3DA4-4F16-08639EF20E5C}"/>
                  </a:ext>
                </a:extLst>
              </p:cNvPr>
              <p:cNvSpPr txBox="1">
                <a:spLocks noRot="1" noChangeAspect="1" noMove="1" noResize="1" noEditPoints="1" noAdjustHandles="1" noChangeArrowheads="1" noChangeShapeType="1" noTextEdit="1"/>
              </p:cNvSpPr>
              <p:nvPr/>
            </p:nvSpPr>
            <p:spPr>
              <a:xfrm>
                <a:off x="7018563" y="3513807"/>
                <a:ext cx="315856" cy="276999"/>
              </a:xfrm>
              <a:prstGeom prst="rect">
                <a:avLst/>
              </a:prstGeom>
              <a:blipFill>
                <a:blip r:embed="rId16"/>
                <a:stretch>
                  <a:fillRect l="-17308" r="-5769" b="-15217"/>
                </a:stretch>
              </a:blipFill>
            </p:spPr>
            <p:txBody>
              <a:bodyPr/>
              <a:lstStyle/>
              <a:p>
                <a:r>
                  <a:rPr lang="es-PE">
                    <a:noFill/>
                  </a:rPr>
                  <a:t> </a:t>
                </a:r>
              </a:p>
            </p:txBody>
          </p:sp>
        </mc:Fallback>
      </mc:AlternateContent>
      <mc:AlternateContent xmlns:mc="http://schemas.openxmlformats.org/markup-compatibility/2006" xmlns:a14="http://schemas.microsoft.com/office/drawing/2010/main">
        <mc:Choice Requires="a14">
          <p:sp>
            <p:nvSpPr>
              <p:cNvPr id="60" name="CuadroTexto 59">
                <a:extLst>
                  <a:ext uri="{FF2B5EF4-FFF2-40B4-BE49-F238E27FC236}">
                    <a16:creationId xmlns:a16="http://schemas.microsoft.com/office/drawing/2014/main" id="{DF4C88FB-E6D0-500D-99CE-DBC0735BBE90}"/>
                  </a:ext>
                </a:extLst>
              </p:cNvPr>
              <p:cNvSpPr txBox="1"/>
              <p:nvPr/>
            </p:nvSpPr>
            <p:spPr>
              <a:xfrm>
                <a:off x="6213616" y="4304129"/>
                <a:ext cx="414280"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PE" i="1" smtClean="0">
                              <a:latin typeface="Cambria Math" panose="02040503050406030204" pitchFamily="18" charset="0"/>
                            </a:rPr>
                          </m:ctrlPr>
                        </m:sSubPr>
                        <m:e>
                          <m:r>
                            <a:rPr lang="es-PE" i="1">
                              <a:latin typeface="Cambria Math" panose="02040503050406030204" pitchFamily="18" charset="0"/>
                            </a:rPr>
                            <m:t>𝐾</m:t>
                          </m:r>
                        </m:e>
                        <m:sub>
                          <m:r>
                            <a:rPr lang="es-PE" i="1">
                              <a:latin typeface="Cambria Math" panose="02040503050406030204" pitchFamily="18" charset="0"/>
                            </a:rPr>
                            <m:t>𝑉</m:t>
                          </m:r>
                          <m:r>
                            <a:rPr lang="es-PE" b="0" i="1" smtClean="0">
                              <a:latin typeface="Cambria Math" panose="02040503050406030204" pitchFamily="18" charset="0"/>
                            </a:rPr>
                            <m:t>3</m:t>
                          </m:r>
                        </m:sub>
                      </m:sSub>
                    </m:oMath>
                  </m:oMathPara>
                </a14:m>
                <a:endParaRPr lang="es-PE" dirty="0"/>
              </a:p>
            </p:txBody>
          </p:sp>
        </mc:Choice>
        <mc:Fallback xmlns="">
          <p:sp>
            <p:nvSpPr>
              <p:cNvPr id="60" name="CuadroTexto 59">
                <a:extLst>
                  <a:ext uri="{FF2B5EF4-FFF2-40B4-BE49-F238E27FC236}">
                    <a16:creationId xmlns:a16="http://schemas.microsoft.com/office/drawing/2014/main" id="{DF4C88FB-E6D0-500D-99CE-DBC0735BBE90}"/>
                  </a:ext>
                </a:extLst>
              </p:cNvPr>
              <p:cNvSpPr txBox="1">
                <a:spLocks noRot="1" noChangeAspect="1" noMove="1" noResize="1" noEditPoints="1" noAdjustHandles="1" noChangeArrowheads="1" noChangeShapeType="1" noTextEdit="1"/>
              </p:cNvSpPr>
              <p:nvPr/>
            </p:nvSpPr>
            <p:spPr>
              <a:xfrm>
                <a:off x="6213616" y="4304129"/>
                <a:ext cx="414280" cy="276999"/>
              </a:xfrm>
              <a:prstGeom prst="rect">
                <a:avLst/>
              </a:prstGeom>
              <a:blipFill>
                <a:blip r:embed="rId17"/>
                <a:stretch>
                  <a:fillRect l="-11765" r="-7353" b="-17778"/>
                </a:stretch>
              </a:blipFill>
            </p:spPr>
            <p:txBody>
              <a:bodyPr/>
              <a:lstStyle/>
              <a:p>
                <a:r>
                  <a:rPr lang="es-PE">
                    <a:noFill/>
                  </a:rPr>
                  <a:t> </a:t>
                </a:r>
              </a:p>
            </p:txBody>
          </p:sp>
        </mc:Fallback>
      </mc:AlternateContent>
      <mc:AlternateContent xmlns:mc="http://schemas.openxmlformats.org/markup-compatibility/2006" xmlns:a14="http://schemas.microsoft.com/office/drawing/2010/main">
        <mc:Choice Requires="a14">
          <p:sp>
            <p:nvSpPr>
              <p:cNvPr id="61" name="CuadroTexto 60">
                <a:extLst>
                  <a:ext uri="{FF2B5EF4-FFF2-40B4-BE49-F238E27FC236}">
                    <a16:creationId xmlns:a16="http://schemas.microsoft.com/office/drawing/2014/main" id="{2B55DD65-337E-C6B1-A999-719C01838F9A}"/>
                  </a:ext>
                </a:extLst>
              </p:cNvPr>
              <p:cNvSpPr txBox="1"/>
              <p:nvPr/>
            </p:nvSpPr>
            <p:spPr>
              <a:xfrm>
                <a:off x="7169787" y="4304129"/>
                <a:ext cx="414280"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PE" i="1" smtClean="0">
                              <a:latin typeface="Cambria Math" panose="02040503050406030204" pitchFamily="18" charset="0"/>
                            </a:rPr>
                          </m:ctrlPr>
                        </m:sSubPr>
                        <m:e>
                          <m:r>
                            <a:rPr lang="es-PE" i="1">
                              <a:latin typeface="Cambria Math" panose="02040503050406030204" pitchFamily="18" charset="0"/>
                            </a:rPr>
                            <m:t>𝐾</m:t>
                          </m:r>
                        </m:e>
                        <m:sub>
                          <m:r>
                            <a:rPr lang="es-PE" i="1">
                              <a:latin typeface="Cambria Math" panose="02040503050406030204" pitchFamily="18" charset="0"/>
                            </a:rPr>
                            <m:t>𝑉</m:t>
                          </m:r>
                          <m:r>
                            <a:rPr lang="es-PE" b="0" i="1" smtClean="0">
                              <a:latin typeface="Cambria Math" panose="02040503050406030204" pitchFamily="18" charset="0"/>
                            </a:rPr>
                            <m:t>4</m:t>
                          </m:r>
                        </m:sub>
                      </m:sSub>
                    </m:oMath>
                  </m:oMathPara>
                </a14:m>
                <a:endParaRPr lang="es-PE" dirty="0"/>
              </a:p>
            </p:txBody>
          </p:sp>
        </mc:Choice>
        <mc:Fallback xmlns="">
          <p:sp>
            <p:nvSpPr>
              <p:cNvPr id="61" name="CuadroTexto 60">
                <a:extLst>
                  <a:ext uri="{FF2B5EF4-FFF2-40B4-BE49-F238E27FC236}">
                    <a16:creationId xmlns:a16="http://schemas.microsoft.com/office/drawing/2014/main" id="{2B55DD65-337E-C6B1-A999-719C01838F9A}"/>
                  </a:ext>
                </a:extLst>
              </p:cNvPr>
              <p:cNvSpPr txBox="1">
                <a:spLocks noRot="1" noChangeAspect="1" noMove="1" noResize="1" noEditPoints="1" noAdjustHandles="1" noChangeArrowheads="1" noChangeShapeType="1" noTextEdit="1"/>
              </p:cNvSpPr>
              <p:nvPr/>
            </p:nvSpPr>
            <p:spPr>
              <a:xfrm>
                <a:off x="7169787" y="4304129"/>
                <a:ext cx="414280" cy="276999"/>
              </a:xfrm>
              <a:prstGeom prst="rect">
                <a:avLst/>
              </a:prstGeom>
              <a:blipFill>
                <a:blip r:embed="rId18"/>
                <a:stretch>
                  <a:fillRect l="-11765" r="-7353" b="-17778"/>
                </a:stretch>
              </a:blipFill>
            </p:spPr>
            <p:txBody>
              <a:bodyPr/>
              <a:lstStyle/>
              <a:p>
                <a:r>
                  <a:rPr lang="es-PE">
                    <a:noFill/>
                  </a:rPr>
                  <a:t> </a:t>
                </a:r>
              </a:p>
            </p:txBody>
          </p:sp>
        </mc:Fallback>
      </mc:AlternateContent>
      <p:sp>
        <p:nvSpPr>
          <p:cNvPr id="62" name="CuadroTexto 61">
            <a:extLst>
              <a:ext uri="{FF2B5EF4-FFF2-40B4-BE49-F238E27FC236}">
                <a16:creationId xmlns:a16="http://schemas.microsoft.com/office/drawing/2014/main" id="{5311BB88-2BC7-E96A-0BFC-68D879B06D7F}"/>
              </a:ext>
            </a:extLst>
          </p:cNvPr>
          <p:cNvSpPr txBox="1"/>
          <p:nvPr/>
        </p:nvSpPr>
        <p:spPr>
          <a:xfrm>
            <a:off x="8467474" y="2139853"/>
            <a:ext cx="2582676" cy="2585323"/>
          </a:xfrm>
          <a:prstGeom prst="rect">
            <a:avLst/>
          </a:prstGeom>
          <a:noFill/>
        </p:spPr>
        <p:txBody>
          <a:bodyPr wrap="square" rtlCol="0">
            <a:spAutoFit/>
          </a:bodyPr>
          <a:lstStyle/>
          <a:p>
            <a:pPr algn="just"/>
            <a:r>
              <a:rPr lang="es-PE" dirty="0"/>
              <a:t>Para determinar la rigidez lateral de una columna se debe multiplicar por el factor “a” por el valor de la rigidez lateral de la columna, según las condiciones de fijación de los extremos (Casos a, b, c)</a:t>
            </a:r>
          </a:p>
        </p:txBody>
      </p:sp>
      <mc:AlternateContent xmlns:mc="http://schemas.openxmlformats.org/markup-compatibility/2006">
        <mc:Choice xmlns:a14="http://schemas.microsoft.com/office/drawing/2010/main" Requires="a14">
          <p:sp>
            <p:nvSpPr>
              <p:cNvPr id="63" name="CuadroTexto 62">
                <a:extLst>
                  <a:ext uri="{FF2B5EF4-FFF2-40B4-BE49-F238E27FC236}">
                    <a16:creationId xmlns:a16="http://schemas.microsoft.com/office/drawing/2014/main" id="{B6564446-B232-49AD-6E4C-0AE5ED4BDCEF}"/>
                  </a:ext>
                </a:extLst>
              </p:cNvPr>
              <p:cNvSpPr txBox="1"/>
              <p:nvPr/>
            </p:nvSpPr>
            <p:spPr>
              <a:xfrm>
                <a:off x="8975725" y="5271003"/>
                <a:ext cx="1245790" cy="29841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PE" i="1" smtClean="0">
                              <a:latin typeface="Cambria Math" panose="02040503050406030204" pitchFamily="18" charset="0"/>
                            </a:rPr>
                          </m:ctrlPr>
                        </m:sSubPr>
                        <m:e>
                          <m:r>
                            <a:rPr lang="es-PE" b="0" i="1" smtClean="0">
                              <a:latin typeface="Cambria Math" panose="02040503050406030204" pitchFamily="18" charset="0"/>
                            </a:rPr>
                            <m:t>𝐾</m:t>
                          </m:r>
                        </m:e>
                        <m:sub>
                          <m:r>
                            <a:rPr lang="es-PE" b="0" i="1" smtClean="0">
                              <a:latin typeface="Cambria Math" panose="02040503050406030204" pitchFamily="18" charset="0"/>
                            </a:rPr>
                            <m:t>𝑐𝑜𝑙</m:t>
                          </m:r>
                        </m:sub>
                      </m:sSub>
                      <m:r>
                        <a:rPr lang="es-PE" b="0" i="1" smtClean="0">
                          <a:latin typeface="Cambria Math" panose="02040503050406030204" pitchFamily="18" charset="0"/>
                        </a:rPr>
                        <m:t>=</m:t>
                      </m:r>
                      <m:r>
                        <a:rPr lang="es-PE" b="0" i="1" smtClean="0">
                          <a:latin typeface="Cambria Math" panose="02040503050406030204" pitchFamily="18" charset="0"/>
                        </a:rPr>
                        <m:t>𝑎</m:t>
                      </m:r>
                      <m:sSub>
                        <m:sSubPr>
                          <m:ctrlPr>
                            <a:rPr lang="es-PE" b="0" i="1" smtClean="0">
                              <a:latin typeface="Cambria Math" panose="02040503050406030204" pitchFamily="18" charset="0"/>
                            </a:rPr>
                          </m:ctrlPr>
                        </m:sSubPr>
                        <m:e>
                          <m:r>
                            <a:rPr lang="es-PE" b="0" i="1" smtClean="0">
                              <a:latin typeface="Cambria Math" panose="02040503050406030204" pitchFamily="18" charset="0"/>
                            </a:rPr>
                            <m:t>𝐾</m:t>
                          </m:r>
                        </m:e>
                        <m:sub>
                          <m:r>
                            <a:rPr lang="es-PE" b="0" i="1" smtClean="0">
                              <a:latin typeface="Cambria Math" panose="02040503050406030204" pitchFamily="18" charset="0"/>
                            </a:rPr>
                            <m:t>𝑝𝑒</m:t>
                          </m:r>
                        </m:sub>
                      </m:sSub>
                    </m:oMath>
                  </m:oMathPara>
                </a14:m>
                <a:endParaRPr lang="es-PE" dirty="0"/>
              </a:p>
            </p:txBody>
          </p:sp>
        </mc:Choice>
        <mc:Fallback>
          <p:sp>
            <p:nvSpPr>
              <p:cNvPr id="63" name="CuadroTexto 62">
                <a:extLst>
                  <a:ext uri="{FF2B5EF4-FFF2-40B4-BE49-F238E27FC236}">
                    <a16:creationId xmlns:a16="http://schemas.microsoft.com/office/drawing/2014/main" id="{B6564446-B232-49AD-6E4C-0AE5ED4BDCEF}"/>
                  </a:ext>
                </a:extLst>
              </p:cNvPr>
              <p:cNvSpPr txBox="1">
                <a:spLocks noRot="1" noChangeAspect="1" noMove="1" noResize="1" noEditPoints="1" noAdjustHandles="1" noChangeArrowheads="1" noChangeShapeType="1" noTextEdit="1"/>
              </p:cNvSpPr>
              <p:nvPr/>
            </p:nvSpPr>
            <p:spPr>
              <a:xfrm>
                <a:off x="8975725" y="5271003"/>
                <a:ext cx="1245790" cy="298415"/>
              </a:xfrm>
              <a:prstGeom prst="rect">
                <a:avLst/>
              </a:prstGeom>
              <a:blipFill>
                <a:blip r:embed="rId19"/>
                <a:stretch>
                  <a:fillRect l="-3902" r="-1463" b="-20408"/>
                </a:stretch>
              </a:blipFill>
            </p:spPr>
            <p:txBody>
              <a:bodyPr/>
              <a:lstStyle/>
              <a:p>
                <a:r>
                  <a:rPr lang="es-PE">
                    <a:noFill/>
                  </a:rPr>
                  <a:t> </a:t>
                </a:r>
              </a:p>
            </p:txBody>
          </p:sp>
        </mc:Fallback>
      </mc:AlternateContent>
    </p:spTree>
    <p:extLst>
      <p:ext uri="{BB962C8B-B14F-4D97-AF65-F5344CB8AC3E}">
        <p14:creationId xmlns:p14="http://schemas.microsoft.com/office/powerpoint/2010/main" val="30866344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8BD4B30-9B7A-4FF3-9506-6E2F889CBD85}"/>
              </a:ext>
            </a:extLst>
          </p:cNvPr>
          <p:cNvSpPr>
            <a:spLocks noGrp="1"/>
          </p:cNvSpPr>
          <p:nvPr>
            <p:ph type="title"/>
          </p:nvPr>
        </p:nvSpPr>
        <p:spPr/>
        <p:txBody>
          <a:bodyPr/>
          <a:lstStyle/>
          <a:p>
            <a:r>
              <a:rPr lang="es-PE" dirty="0"/>
              <a:t>Ejemplo: Determinar la rigidez lateral del pórtico usando el Método Muto</a:t>
            </a:r>
          </a:p>
        </p:txBody>
      </p:sp>
      <p:grpSp>
        <p:nvGrpSpPr>
          <p:cNvPr id="13" name="Grupo 12">
            <a:extLst>
              <a:ext uri="{FF2B5EF4-FFF2-40B4-BE49-F238E27FC236}">
                <a16:creationId xmlns:a16="http://schemas.microsoft.com/office/drawing/2014/main" id="{3903A5C6-AB62-8217-6604-553267E4BC12}"/>
              </a:ext>
            </a:extLst>
          </p:cNvPr>
          <p:cNvGrpSpPr/>
          <p:nvPr/>
        </p:nvGrpSpPr>
        <p:grpSpPr>
          <a:xfrm>
            <a:off x="2746987" y="2358621"/>
            <a:ext cx="5149238" cy="2304901"/>
            <a:chOff x="802746" y="2708275"/>
            <a:chExt cx="4673826" cy="1950578"/>
          </a:xfrm>
        </p:grpSpPr>
        <p:sp>
          <p:nvSpPr>
            <p:cNvPr id="6" name="Rectángulo 5">
              <a:extLst>
                <a:ext uri="{FF2B5EF4-FFF2-40B4-BE49-F238E27FC236}">
                  <a16:creationId xmlns:a16="http://schemas.microsoft.com/office/drawing/2014/main" id="{F092B829-0F0C-F37E-7FB0-DF0011828F6E}"/>
                </a:ext>
              </a:extLst>
            </p:cNvPr>
            <p:cNvSpPr/>
            <p:nvPr/>
          </p:nvSpPr>
          <p:spPr>
            <a:xfrm>
              <a:off x="802746" y="4508726"/>
              <a:ext cx="499090" cy="150127"/>
            </a:xfrm>
            <a:prstGeom prst="rect">
              <a:avLst/>
            </a:prstGeom>
            <a:pattFill prst="wdUpDiag">
              <a:fgClr>
                <a:schemeClr val="accent2">
                  <a:lumMod val="75000"/>
                </a:schemeClr>
              </a:fgClr>
              <a:bgClr>
                <a:schemeClr val="bg1"/>
              </a:bgClr>
            </a:patt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dirty="0"/>
            </a:p>
          </p:txBody>
        </p:sp>
        <p:sp>
          <p:nvSpPr>
            <p:cNvPr id="7" name="Rectángulo 6">
              <a:extLst>
                <a:ext uri="{FF2B5EF4-FFF2-40B4-BE49-F238E27FC236}">
                  <a16:creationId xmlns:a16="http://schemas.microsoft.com/office/drawing/2014/main" id="{26E44751-1FBE-FDF6-F5DB-F916D18BA2C2}"/>
                </a:ext>
              </a:extLst>
            </p:cNvPr>
            <p:cNvSpPr/>
            <p:nvPr/>
          </p:nvSpPr>
          <p:spPr>
            <a:xfrm>
              <a:off x="948234" y="2708501"/>
              <a:ext cx="144000" cy="1800000"/>
            </a:xfrm>
            <a:prstGeom prst="rect">
              <a:avLst/>
            </a:prstGeom>
            <a:pattFill prst="lgConfetti">
              <a:fgClr>
                <a:schemeClr val="tx1">
                  <a:lumMod val="65000"/>
                  <a:lumOff val="35000"/>
                </a:schemeClr>
              </a:fgClr>
              <a:bgClr>
                <a:schemeClr val="bg1"/>
              </a:bgClr>
            </a:patt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dirty="0"/>
            </a:p>
          </p:txBody>
        </p:sp>
        <p:sp>
          <p:nvSpPr>
            <p:cNvPr id="8" name="Rectángulo 7">
              <a:extLst>
                <a:ext uri="{FF2B5EF4-FFF2-40B4-BE49-F238E27FC236}">
                  <a16:creationId xmlns:a16="http://schemas.microsoft.com/office/drawing/2014/main" id="{3BF99385-421A-A497-46F6-F625D68D10BB}"/>
                </a:ext>
              </a:extLst>
            </p:cNvPr>
            <p:cNvSpPr/>
            <p:nvPr/>
          </p:nvSpPr>
          <p:spPr>
            <a:xfrm>
              <a:off x="948234" y="2708275"/>
              <a:ext cx="4320224" cy="216250"/>
            </a:xfrm>
            <a:prstGeom prst="rect">
              <a:avLst/>
            </a:prstGeom>
            <a:pattFill prst="lgConfetti">
              <a:fgClr>
                <a:schemeClr val="tx1">
                  <a:lumMod val="65000"/>
                  <a:lumOff val="35000"/>
                </a:schemeClr>
              </a:fgClr>
              <a:bgClr>
                <a:schemeClr val="bg1"/>
              </a:bgClr>
            </a:patt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9" name="Rectángulo 8">
              <a:extLst>
                <a:ext uri="{FF2B5EF4-FFF2-40B4-BE49-F238E27FC236}">
                  <a16:creationId xmlns:a16="http://schemas.microsoft.com/office/drawing/2014/main" id="{1DD7C29E-220A-039C-4872-C5A9D7FD0E8A}"/>
                </a:ext>
              </a:extLst>
            </p:cNvPr>
            <p:cNvSpPr/>
            <p:nvPr/>
          </p:nvSpPr>
          <p:spPr>
            <a:xfrm>
              <a:off x="2785313" y="4508500"/>
              <a:ext cx="499090" cy="150127"/>
            </a:xfrm>
            <a:prstGeom prst="rect">
              <a:avLst/>
            </a:prstGeom>
            <a:pattFill prst="wdUpDiag">
              <a:fgClr>
                <a:schemeClr val="accent2">
                  <a:lumMod val="75000"/>
                </a:schemeClr>
              </a:fgClr>
              <a:bgClr>
                <a:schemeClr val="bg1"/>
              </a:bgClr>
            </a:patt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dirty="0"/>
            </a:p>
          </p:txBody>
        </p:sp>
        <p:sp>
          <p:nvSpPr>
            <p:cNvPr id="10" name="Rectángulo 9">
              <a:extLst>
                <a:ext uri="{FF2B5EF4-FFF2-40B4-BE49-F238E27FC236}">
                  <a16:creationId xmlns:a16="http://schemas.microsoft.com/office/drawing/2014/main" id="{35D9AF8B-3376-4798-8978-A804452CFF04}"/>
                </a:ext>
              </a:extLst>
            </p:cNvPr>
            <p:cNvSpPr/>
            <p:nvPr/>
          </p:nvSpPr>
          <p:spPr>
            <a:xfrm>
              <a:off x="2930801" y="2708275"/>
              <a:ext cx="144000" cy="1800000"/>
            </a:xfrm>
            <a:prstGeom prst="rect">
              <a:avLst/>
            </a:prstGeom>
            <a:pattFill prst="lgConfetti">
              <a:fgClr>
                <a:schemeClr val="tx1">
                  <a:lumMod val="65000"/>
                  <a:lumOff val="35000"/>
                </a:schemeClr>
              </a:fgClr>
              <a:bgClr>
                <a:schemeClr val="bg1"/>
              </a:bgClr>
            </a:patt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dirty="0"/>
            </a:p>
          </p:txBody>
        </p:sp>
        <p:sp>
          <p:nvSpPr>
            <p:cNvPr id="11" name="Rectángulo 10">
              <a:extLst>
                <a:ext uri="{FF2B5EF4-FFF2-40B4-BE49-F238E27FC236}">
                  <a16:creationId xmlns:a16="http://schemas.microsoft.com/office/drawing/2014/main" id="{15C6AAFD-A84E-784F-31DB-BA14CF663C50}"/>
                </a:ext>
              </a:extLst>
            </p:cNvPr>
            <p:cNvSpPr/>
            <p:nvPr/>
          </p:nvSpPr>
          <p:spPr>
            <a:xfrm>
              <a:off x="4977482" y="4508500"/>
              <a:ext cx="499090" cy="150127"/>
            </a:xfrm>
            <a:prstGeom prst="rect">
              <a:avLst/>
            </a:prstGeom>
            <a:pattFill prst="wdUpDiag">
              <a:fgClr>
                <a:schemeClr val="accent2">
                  <a:lumMod val="75000"/>
                </a:schemeClr>
              </a:fgClr>
              <a:bgClr>
                <a:schemeClr val="bg1"/>
              </a:bgClr>
            </a:patt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dirty="0"/>
            </a:p>
          </p:txBody>
        </p:sp>
        <p:sp>
          <p:nvSpPr>
            <p:cNvPr id="12" name="Rectángulo 11">
              <a:extLst>
                <a:ext uri="{FF2B5EF4-FFF2-40B4-BE49-F238E27FC236}">
                  <a16:creationId xmlns:a16="http://schemas.microsoft.com/office/drawing/2014/main" id="{DD95B2B8-AE41-91C8-8890-DCFAA99B3C61}"/>
                </a:ext>
              </a:extLst>
            </p:cNvPr>
            <p:cNvSpPr/>
            <p:nvPr/>
          </p:nvSpPr>
          <p:spPr>
            <a:xfrm>
              <a:off x="5122970" y="2708275"/>
              <a:ext cx="144000" cy="1800000"/>
            </a:xfrm>
            <a:prstGeom prst="rect">
              <a:avLst/>
            </a:prstGeom>
            <a:pattFill prst="lgConfetti">
              <a:fgClr>
                <a:schemeClr val="tx1">
                  <a:lumMod val="65000"/>
                  <a:lumOff val="35000"/>
                </a:schemeClr>
              </a:fgClr>
              <a:bgClr>
                <a:schemeClr val="bg1"/>
              </a:bgClr>
            </a:patt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dirty="0"/>
            </a:p>
          </p:txBody>
        </p:sp>
      </p:grpSp>
      <p:cxnSp>
        <p:nvCxnSpPr>
          <p:cNvPr id="15" name="Conector recto 14">
            <a:extLst>
              <a:ext uri="{FF2B5EF4-FFF2-40B4-BE49-F238E27FC236}">
                <a16:creationId xmlns:a16="http://schemas.microsoft.com/office/drawing/2014/main" id="{CFDC01DB-0147-3DB8-4328-BA956B91C19E}"/>
              </a:ext>
            </a:extLst>
          </p:cNvPr>
          <p:cNvCxnSpPr/>
          <p:nvPr/>
        </p:nvCxnSpPr>
        <p:spPr>
          <a:xfrm>
            <a:off x="2388163" y="2358944"/>
            <a:ext cx="0" cy="223195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Conector recto 16">
            <a:extLst>
              <a:ext uri="{FF2B5EF4-FFF2-40B4-BE49-F238E27FC236}">
                <a16:creationId xmlns:a16="http://schemas.microsoft.com/office/drawing/2014/main" id="{52F30F76-FB31-DB33-88D7-2FA65898AD1E}"/>
              </a:ext>
            </a:extLst>
          </p:cNvPr>
          <p:cNvCxnSpPr/>
          <p:nvPr/>
        </p:nvCxnSpPr>
        <p:spPr>
          <a:xfrm>
            <a:off x="2243825" y="2502960"/>
            <a:ext cx="360362"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Conector recto 17">
            <a:extLst>
              <a:ext uri="{FF2B5EF4-FFF2-40B4-BE49-F238E27FC236}">
                <a16:creationId xmlns:a16="http://schemas.microsoft.com/office/drawing/2014/main" id="{3DDD77F7-59B6-616E-21DF-6C8373369C01}"/>
              </a:ext>
            </a:extLst>
          </p:cNvPr>
          <p:cNvCxnSpPr/>
          <p:nvPr/>
        </p:nvCxnSpPr>
        <p:spPr>
          <a:xfrm>
            <a:off x="2243139" y="4485012"/>
            <a:ext cx="360362"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9" name="CuadroTexto 18">
                <a:extLst>
                  <a:ext uri="{FF2B5EF4-FFF2-40B4-BE49-F238E27FC236}">
                    <a16:creationId xmlns:a16="http://schemas.microsoft.com/office/drawing/2014/main" id="{F36189C6-ED21-2C89-17B8-BEB84760C08B}"/>
                  </a:ext>
                </a:extLst>
              </p:cNvPr>
              <p:cNvSpPr txBox="1"/>
              <p:nvPr/>
            </p:nvSpPr>
            <p:spPr>
              <a:xfrm>
                <a:off x="1810073" y="3247765"/>
                <a:ext cx="604846"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PE" sz="1600" b="1" i="1" smtClean="0">
                          <a:latin typeface="Cambria Math" panose="02040503050406030204" pitchFamily="18" charset="0"/>
                        </a:rPr>
                        <m:t>𝟐</m:t>
                      </m:r>
                      <m:r>
                        <a:rPr lang="es-PE" sz="1600" b="1" i="1" smtClean="0">
                          <a:latin typeface="Cambria Math" panose="02040503050406030204" pitchFamily="18" charset="0"/>
                        </a:rPr>
                        <m:t>.</m:t>
                      </m:r>
                      <m:r>
                        <a:rPr lang="es-PE" sz="1600" b="1" i="1" smtClean="0">
                          <a:latin typeface="Cambria Math" panose="02040503050406030204" pitchFamily="18" charset="0"/>
                        </a:rPr>
                        <m:t>𝟖</m:t>
                      </m:r>
                      <m:r>
                        <a:rPr lang="es-PE" sz="1600" b="1" i="1" smtClean="0">
                          <a:latin typeface="Cambria Math" panose="02040503050406030204" pitchFamily="18" charset="0"/>
                        </a:rPr>
                        <m:t> </m:t>
                      </m:r>
                      <m:r>
                        <a:rPr lang="es-PE" sz="1600" b="1" i="1" smtClean="0">
                          <a:latin typeface="Cambria Math" panose="02040503050406030204" pitchFamily="18" charset="0"/>
                        </a:rPr>
                        <m:t>𝒎</m:t>
                      </m:r>
                    </m:oMath>
                  </m:oMathPara>
                </a14:m>
                <a:endParaRPr lang="es-PE" sz="1600" b="1" i="1" dirty="0"/>
              </a:p>
            </p:txBody>
          </p:sp>
        </mc:Choice>
        <mc:Fallback xmlns="">
          <p:sp>
            <p:nvSpPr>
              <p:cNvPr id="19" name="CuadroTexto 18">
                <a:extLst>
                  <a:ext uri="{FF2B5EF4-FFF2-40B4-BE49-F238E27FC236}">
                    <a16:creationId xmlns:a16="http://schemas.microsoft.com/office/drawing/2014/main" id="{F36189C6-ED21-2C89-17B8-BEB84760C08B}"/>
                  </a:ext>
                </a:extLst>
              </p:cNvPr>
              <p:cNvSpPr txBox="1">
                <a:spLocks noRot="1" noChangeAspect="1" noMove="1" noResize="1" noEditPoints="1" noAdjustHandles="1" noChangeArrowheads="1" noChangeShapeType="1" noTextEdit="1"/>
              </p:cNvSpPr>
              <p:nvPr/>
            </p:nvSpPr>
            <p:spPr>
              <a:xfrm>
                <a:off x="1810073" y="3247765"/>
                <a:ext cx="604846" cy="246221"/>
              </a:xfrm>
              <a:prstGeom prst="rect">
                <a:avLst/>
              </a:prstGeom>
              <a:blipFill>
                <a:blip r:embed="rId2"/>
                <a:stretch>
                  <a:fillRect l="-8081" r="-4040" b="-5000"/>
                </a:stretch>
              </a:blipFill>
            </p:spPr>
            <p:txBody>
              <a:bodyPr/>
              <a:lstStyle/>
              <a:p>
                <a:r>
                  <a:rPr lang="es-PE">
                    <a:noFill/>
                  </a:rPr>
                  <a:t> </a:t>
                </a:r>
              </a:p>
            </p:txBody>
          </p:sp>
        </mc:Fallback>
      </mc:AlternateContent>
      <p:cxnSp>
        <p:nvCxnSpPr>
          <p:cNvPr id="20" name="Conector recto 19">
            <a:extLst>
              <a:ext uri="{FF2B5EF4-FFF2-40B4-BE49-F238E27FC236}">
                <a16:creationId xmlns:a16="http://schemas.microsoft.com/office/drawing/2014/main" id="{B4797FC6-1517-692D-2E56-B48C5032DCD5}"/>
              </a:ext>
            </a:extLst>
          </p:cNvPr>
          <p:cNvCxnSpPr>
            <a:cxnSpLocks/>
          </p:cNvCxnSpPr>
          <p:nvPr/>
        </p:nvCxnSpPr>
        <p:spPr>
          <a:xfrm>
            <a:off x="2711649" y="4879224"/>
            <a:ext cx="5155255"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Conector recto 22">
            <a:extLst>
              <a:ext uri="{FF2B5EF4-FFF2-40B4-BE49-F238E27FC236}">
                <a16:creationId xmlns:a16="http://schemas.microsoft.com/office/drawing/2014/main" id="{5AB85D76-1E13-A5EB-42FD-B6D5C1988733}"/>
              </a:ext>
            </a:extLst>
          </p:cNvPr>
          <p:cNvCxnSpPr/>
          <p:nvPr/>
        </p:nvCxnSpPr>
        <p:spPr>
          <a:xfrm>
            <a:off x="2986597" y="4744667"/>
            <a:ext cx="0" cy="28803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Conector recto 23">
            <a:extLst>
              <a:ext uri="{FF2B5EF4-FFF2-40B4-BE49-F238E27FC236}">
                <a16:creationId xmlns:a16="http://schemas.microsoft.com/office/drawing/2014/main" id="{E790FB11-125F-3F72-E8F5-2AB051658AFD}"/>
              </a:ext>
            </a:extLst>
          </p:cNvPr>
          <p:cNvCxnSpPr/>
          <p:nvPr/>
        </p:nvCxnSpPr>
        <p:spPr>
          <a:xfrm>
            <a:off x="5170826" y="4744667"/>
            <a:ext cx="0" cy="28803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Conector recto 24">
            <a:extLst>
              <a:ext uri="{FF2B5EF4-FFF2-40B4-BE49-F238E27FC236}">
                <a16:creationId xmlns:a16="http://schemas.microsoft.com/office/drawing/2014/main" id="{F4451327-6A7E-7295-09E3-6EB2308F348D}"/>
              </a:ext>
            </a:extLst>
          </p:cNvPr>
          <p:cNvCxnSpPr/>
          <p:nvPr/>
        </p:nvCxnSpPr>
        <p:spPr>
          <a:xfrm>
            <a:off x="7586928" y="4735208"/>
            <a:ext cx="0" cy="28803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38" name="Grupo 37">
            <a:extLst>
              <a:ext uri="{FF2B5EF4-FFF2-40B4-BE49-F238E27FC236}">
                <a16:creationId xmlns:a16="http://schemas.microsoft.com/office/drawing/2014/main" id="{54954D6D-CC84-C3E6-C3FC-2052C45EA298}"/>
              </a:ext>
            </a:extLst>
          </p:cNvPr>
          <p:cNvGrpSpPr/>
          <p:nvPr/>
        </p:nvGrpSpPr>
        <p:grpSpPr>
          <a:xfrm>
            <a:off x="2080872" y="5058915"/>
            <a:ext cx="1253448" cy="1101128"/>
            <a:chOff x="424663" y="4976843"/>
            <a:chExt cx="1253448" cy="1101128"/>
          </a:xfrm>
        </p:grpSpPr>
        <p:sp>
          <p:nvSpPr>
            <p:cNvPr id="26" name="Rectángulo 25">
              <a:extLst>
                <a:ext uri="{FF2B5EF4-FFF2-40B4-BE49-F238E27FC236}">
                  <a16:creationId xmlns:a16="http://schemas.microsoft.com/office/drawing/2014/main" id="{180F0F17-A1B8-2181-B547-1C104145581E}"/>
                </a:ext>
              </a:extLst>
            </p:cNvPr>
            <p:cNvSpPr>
              <a:spLocks noChangeAspect="1"/>
            </p:cNvSpPr>
            <p:nvPr/>
          </p:nvSpPr>
          <p:spPr>
            <a:xfrm>
              <a:off x="1149729" y="5048875"/>
              <a:ext cx="431954" cy="432000"/>
            </a:xfrm>
            <a:prstGeom prst="rect">
              <a:avLst/>
            </a:prstGeom>
            <a:pattFill prst="wdUpDiag">
              <a:fgClr>
                <a:schemeClr val="tx1">
                  <a:lumMod val="65000"/>
                  <a:lumOff val="35000"/>
                </a:schemeClr>
              </a:fgClr>
              <a:bgClr>
                <a:schemeClr val="bg1"/>
              </a:bgClr>
            </a:patt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cxnSp>
          <p:nvCxnSpPr>
            <p:cNvPr id="27" name="Conector recto 26">
              <a:extLst>
                <a:ext uri="{FF2B5EF4-FFF2-40B4-BE49-F238E27FC236}">
                  <a16:creationId xmlns:a16="http://schemas.microsoft.com/office/drawing/2014/main" id="{77DD0DD3-F02E-B575-9564-FE09A1A55317}"/>
                </a:ext>
              </a:extLst>
            </p:cNvPr>
            <p:cNvCxnSpPr/>
            <p:nvPr/>
          </p:nvCxnSpPr>
          <p:spPr>
            <a:xfrm>
              <a:off x="1149729" y="5640390"/>
              <a:ext cx="0" cy="18000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Conector recto 28">
              <a:extLst>
                <a:ext uri="{FF2B5EF4-FFF2-40B4-BE49-F238E27FC236}">
                  <a16:creationId xmlns:a16="http://schemas.microsoft.com/office/drawing/2014/main" id="{E601BA6D-2052-749B-8E4C-285F80AFBB27}"/>
                </a:ext>
              </a:extLst>
            </p:cNvPr>
            <p:cNvCxnSpPr>
              <a:cxnSpLocks/>
            </p:cNvCxnSpPr>
            <p:nvPr/>
          </p:nvCxnSpPr>
          <p:spPr>
            <a:xfrm>
              <a:off x="1042821" y="5733256"/>
              <a:ext cx="63529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1" name="CuadroTexto 30">
                  <a:extLst>
                    <a:ext uri="{FF2B5EF4-FFF2-40B4-BE49-F238E27FC236}">
                      <a16:creationId xmlns:a16="http://schemas.microsoft.com/office/drawing/2014/main" id="{B0EC4A1B-117F-9ECA-4D5F-076E5A7F455E}"/>
                    </a:ext>
                  </a:extLst>
                </p:cNvPr>
                <p:cNvSpPr txBox="1"/>
                <p:nvPr/>
              </p:nvSpPr>
              <p:spPr>
                <a:xfrm>
                  <a:off x="1110400" y="5893305"/>
                  <a:ext cx="471283" cy="18466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PE" sz="1200" b="1" i="1" smtClean="0">
                            <a:latin typeface="Cambria Math" panose="02040503050406030204" pitchFamily="18" charset="0"/>
                          </a:rPr>
                          <m:t>𝟑𝟎</m:t>
                        </m:r>
                        <m:r>
                          <a:rPr lang="es-PE" sz="1200" b="1" i="1" smtClean="0">
                            <a:latin typeface="Cambria Math" panose="02040503050406030204" pitchFamily="18" charset="0"/>
                          </a:rPr>
                          <m:t> </m:t>
                        </m:r>
                        <m:r>
                          <a:rPr lang="es-PE" sz="1200" b="1" i="1" smtClean="0">
                            <a:latin typeface="Cambria Math" panose="02040503050406030204" pitchFamily="18" charset="0"/>
                          </a:rPr>
                          <m:t>𝒄𝒎</m:t>
                        </m:r>
                      </m:oMath>
                    </m:oMathPara>
                  </a14:m>
                  <a:endParaRPr lang="es-PE" sz="1200" b="1" i="1" dirty="0"/>
                </a:p>
              </p:txBody>
            </p:sp>
          </mc:Choice>
          <mc:Fallback xmlns="">
            <p:sp>
              <p:nvSpPr>
                <p:cNvPr id="31" name="CuadroTexto 30">
                  <a:extLst>
                    <a:ext uri="{FF2B5EF4-FFF2-40B4-BE49-F238E27FC236}">
                      <a16:creationId xmlns:a16="http://schemas.microsoft.com/office/drawing/2014/main" id="{B0EC4A1B-117F-9ECA-4D5F-076E5A7F455E}"/>
                    </a:ext>
                  </a:extLst>
                </p:cNvPr>
                <p:cNvSpPr txBox="1">
                  <a:spLocks noRot="1" noChangeAspect="1" noMove="1" noResize="1" noEditPoints="1" noAdjustHandles="1" noChangeArrowheads="1" noChangeShapeType="1" noTextEdit="1"/>
                </p:cNvSpPr>
                <p:nvPr/>
              </p:nvSpPr>
              <p:spPr>
                <a:xfrm>
                  <a:off x="1110400" y="5893305"/>
                  <a:ext cx="471283" cy="184666"/>
                </a:xfrm>
                <a:prstGeom prst="rect">
                  <a:avLst/>
                </a:prstGeom>
                <a:blipFill>
                  <a:blip r:embed="rId3"/>
                  <a:stretch>
                    <a:fillRect l="-7792" r="-5195" b="-3226"/>
                  </a:stretch>
                </a:blipFill>
              </p:spPr>
              <p:txBody>
                <a:bodyPr/>
                <a:lstStyle/>
                <a:p>
                  <a:r>
                    <a:rPr lang="es-PE">
                      <a:noFill/>
                    </a:rPr>
                    <a:t> </a:t>
                  </a:r>
                </a:p>
              </p:txBody>
            </p:sp>
          </mc:Fallback>
        </mc:AlternateContent>
        <p:cxnSp>
          <p:nvCxnSpPr>
            <p:cNvPr id="32" name="Conector recto 31">
              <a:extLst>
                <a:ext uri="{FF2B5EF4-FFF2-40B4-BE49-F238E27FC236}">
                  <a16:creationId xmlns:a16="http://schemas.microsoft.com/office/drawing/2014/main" id="{0256719A-02F0-50D3-CDD6-92586642DA3D}"/>
                </a:ext>
              </a:extLst>
            </p:cNvPr>
            <p:cNvCxnSpPr>
              <a:cxnSpLocks/>
            </p:cNvCxnSpPr>
            <p:nvPr/>
          </p:nvCxnSpPr>
          <p:spPr>
            <a:xfrm>
              <a:off x="918571" y="4976843"/>
              <a:ext cx="0" cy="61274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Conector recto 33">
              <a:extLst>
                <a:ext uri="{FF2B5EF4-FFF2-40B4-BE49-F238E27FC236}">
                  <a16:creationId xmlns:a16="http://schemas.microsoft.com/office/drawing/2014/main" id="{46561584-17C2-B301-B7C0-CBDE41AFEA25}"/>
                </a:ext>
              </a:extLst>
            </p:cNvPr>
            <p:cNvCxnSpPr/>
            <p:nvPr/>
          </p:nvCxnSpPr>
          <p:spPr>
            <a:xfrm>
              <a:off x="801276" y="5042849"/>
              <a:ext cx="216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Conector recto 34">
              <a:extLst>
                <a:ext uri="{FF2B5EF4-FFF2-40B4-BE49-F238E27FC236}">
                  <a16:creationId xmlns:a16="http://schemas.microsoft.com/office/drawing/2014/main" id="{47B61D6A-9196-506A-46BB-F468D4B44EB0}"/>
                </a:ext>
              </a:extLst>
            </p:cNvPr>
            <p:cNvCxnSpPr/>
            <p:nvPr/>
          </p:nvCxnSpPr>
          <p:spPr>
            <a:xfrm>
              <a:off x="814039" y="5462158"/>
              <a:ext cx="216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Conector recto 35">
              <a:extLst>
                <a:ext uri="{FF2B5EF4-FFF2-40B4-BE49-F238E27FC236}">
                  <a16:creationId xmlns:a16="http://schemas.microsoft.com/office/drawing/2014/main" id="{311EC56E-9699-0352-1A25-6133DAA12D25}"/>
                </a:ext>
              </a:extLst>
            </p:cNvPr>
            <p:cNvCxnSpPr/>
            <p:nvPr/>
          </p:nvCxnSpPr>
          <p:spPr>
            <a:xfrm>
              <a:off x="1576430" y="5659132"/>
              <a:ext cx="0" cy="18000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7" name="CuadroTexto 36">
                  <a:extLst>
                    <a:ext uri="{FF2B5EF4-FFF2-40B4-BE49-F238E27FC236}">
                      <a16:creationId xmlns:a16="http://schemas.microsoft.com/office/drawing/2014/main" id="{F470CAC1-752B-AA49-8BE2-E46BC72E6187}"/>
                    </a:ext>
                  </a:extLst>
                </p:cNvPr>
                <p:cNvSpPr txBox="1"/>
                <p:nvPr/>
              </p:nvSpPr>
              <p:spPr>
                <a:xfrm>
                  <a:off x="424663" y="5148731"/>
                  <a:ext cx="471283" cy="18466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PE" sz="1200" b="1" i="1" smtClean="0">
                            <a:latin typeface="Cambria Math" panose="02040503050406030204" pitchFamily="18" charset="0"/>
                          </a:rPr>
                          <m:t>𝟑𝟎</m:t>
                        </m:r>
                        <m:r>
                          <a:rPr lang="es-PE" sz="1200" b="1" i="1" smtClean="0">
                            <a:latin typeface="Cambria Math" panose="02040503050406030204" pitchFamily="18" charset="0"/>
                          </a:rPr>
                          <m:t> </m:t>
                        </m:r>
                        <m:r>
                          <a:rPr lang="es-PE" sz="1200" b="1" i="1" smtClean="0">
                            <a:latin typeface="Cambria Math" panose="02040503050406030204" pitchFamily="18" charset="0"/>
                          </a:rPr>
                          <m:t>𝒄𝒎</m:t>
                        </m:r>
                      </m:oMath>
                    </m:oMathPara>
                  </a14:m>
                  <a:endParaRPr lang="es-PE" sz="1200" b="1" i="1" dirty="0"/>
                </a:p>
              </p:txBody>
            </p:sp>
          </mc:Choice>
          <mc:Fallback xmlns="">
            <p:sp>
              <p:nvSpPr>
                <p:cNvPr id="37" name="CuadroTexto 36">
                  <a:extLst>
                    <a:ext uri="{FF2B5EF4-FFF2-40B4-BE49-F238E27FC236}">
                      <a16:creationId xmlns:a16="http://schemas.microsoft.com/office/drawing/2014/main" id="{F470CAC1-752B-AA49-8BE2-E46BC72E6187}"/>
                    </a:ext>
                  </a:extLst>
                </p:cNvPr>
                <p:cNvSpPr txBox="1">
                  <a:spLocks noRot="1" noChangeAspect="1" noMove="1" noResize="1" noEditPoints="1" noAdjustHandles="1" noChangeArrowheads="1" noChangeShapeType="1" noTextEdit="1"/>
                </p:cNvSpPr>
                <p:nvPr/>
              </p:nvSpPr>
              <p:spPr>
                <a:xfrm>
                  <a:off x="424663" y="5148731"/>
                  <a:ext cx="471283" cy="184666"/>
                </a:xfrm>
                <a:prstGeom prst="rect">
                  <a:avLst/>
                </a:prstGeom>
                <a:blipFill>
                  <a:blip r:embed="rId4"/>
                  <a:stretch>
                    <a:fillRect l="-7692" r="-5128" b="-6667"/>
                  </a:stretch>
                </a:blipFill>
              </p:spPr>
              <p:txBody>
                <a:bodyPr/>
                <a:lstStyle/>
                <a:p>
                  <a:r>
                    <a:rPr lang="es-PE">
                      <a:noFill/>
                    </a:rPr>
                    <a:t> </a:t>
                  </a:r>
                </a:p>
              </p:txBody>
            </p:sp>
          </mc:Fallback>
        </mc:AlternateContent>
      </p:grpSp>
      <p:grpSp>
        <p:nvGrpSpPr>
          <p:cNvPr id="39" name="Grupo 38">
            <a:extLst>
              <a:ext uri="{FF2B5EF4-FFF2-40B4-BE49-F238E27FC236}">
                <a16:creationId xmlns:a16="http://schemas.microsoft.com/office/drawing/2014/main" id="{9396947E-B5B7-9FEA-496A-C485D416760A}"/>
              </a:ext>
            </a:extLst>
          </p:cNvPr>
          <p:cNvGrpSpPr/>
          <p:nvPr/>
        </p:nvGrpSpPr>
        <p:grpSpPr>
          <a:xfrm>
            <a:off x="4245760" y="5170053"/>
            <a:ext cx="1253448" cy="1101128"/>
            <a:chOff x="424663" y="4976843"/>
            <a:chExt cx="1253448" cy="1101128"/>
          </a:xfrm>
        </p:grpSpPr>
        <p:sp>
          <p:nvSpPr>
            <p:cNvPr id="40" name="Rectángulo 39">
              <a:extLst>
                <a:ext uri="{FF2B5EF4-FFF2-40B4-BE49-F238E27FC236}">
                  <a16:creationId xmlns:a16="http://schemas.microsoft.com/office/drawing/2014/main" id="{FACC5F9A-5E29-3251-8BED-F66BE3F1BC80}"/>
                </a:ext>
              </a:extLst>
            </p:cNvPr>
            <p:cNvSpPr>
              <a:spLocks noChangeAspect="1"/>
            </p:cNvSpPr>
            <p:nvPr/>
          </p:nvSpPr>
          <p:spPr>
            <a:xfrm>
              <a:off x="1149729" y="5048875"/>
              <a:ext cx="504000" cy="432000"/>
            </a:xfrm>
            <a:prstGeom prst="rect">
              <a:avLst/>
            </a:prstGeom>
            <a:pattFill prst="wdUpDiag">
              <a:fgClr>
                <a:schemeClr val="tx1">
                  <a:lumMod val="65000"/>
                  <a:lumOff val="35000"/>
                </a:schemeClr>
              </a:fgClr>
              <a:bgClr>
                <a:schemeClr val="bg1"/>
              </a:bgClr>
            </a:patt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cxnSp>
          <p:nvCxnSpPr>
            <p:cNvPr id="41" name="Conector recto 40">
              <a:extLst>
                <a:ext uri="{FF2B5EF4-FFF2-40B4-BE49-F238E27FC236}">
                  <a16:creationId xmlns:a16="http://schemas.microsoft.com/office/drawing/2014/main" id="{1476BF03-4976-F2D7-B69D-5B12963ABB3F}"/>
                </a:ext>
              </a:extLst>
            </p:cNvPr>
            <p:cNvCxnSpPr/>
            <p:nvPr/>
          </p:nvCxnSpPr>
          <p:spPr>
            <a:xfrm>
              <a:off x="1149729" y="5640390"/>
              <a:ext cx="0" cy="18000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Conector recto 41">
              <a:extLst>
                <a:ext uri="{FF2B5EF4-FFF2-40B4-BE49-F238E27FC236}">
                  <a16:creationId xmlns:a16="http://schemas.microsoft.com/office/drawing/2014/main" id="{3801204E-C8EB-2857-D435-F98093810063}"/>
                </a:ext>
              </a:extLst>
            </p:cNvPr>
            <p:cNvCxnSpPr>
              <a:cxnSpLocks/>
            </p:cNvCxnSpPr>
            <p:nvPr/>
          </p:nvCxnSpPr>
          <p:spPr>
            <a:xfrm>
              <a:off x="1042821" y="5733256"/>
              <a:ext cx="63529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3" name="CuadroTexto 42">
                  <a:extLst>
                    <a:ext uri="{FF2B5EF4-FFF2-40B4-BE49-F238E27FC236}">
                      <a16:creationId xmlns:a16="http://schemas.microsoft.com/office/drawing/2014/main" id="{E2A07CE4-A1D6-A3B8-3CE5-E7E8C0D38395}"/>
                    </a:ext>
                  </a:extLst>
                </p:cNvPr>
                <p:cNvSpPr txBox="1"/>
                <p:nvPr/>
              </p:nvSpPr>
              <p:spPr>
                <a:xfrm>
                  <a:off x="1110400" y="5893305"/>
                  <a:ext cx="471283" cy="18466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PE" sz="1200" b="1" i="1" smtClean="0">
                            <a:latin typeface="Cambria Math" panose="02040503050406030204" pitchFamily="18" charset="0"/>
                          </a:rPr>
                          <m:t>𝟑𝟓</m:t>
                        </m:r>
                        <m:r>
                          <a:rPr lang="es-PE" sz="1200" b="1" i="1" smtClean="0">
                            <a:latin typeface="Cambria Math" panose="02040503050406030204" pitchFamily="18" charset="0"/>
                          </a:rPr>
                          <m:t> </m:t>
                        </m:r>
                        <m:r>
                          <a:rPr lang="es-PE" sz="1200" b="1" i="1" smtClean="0">
                            <a:latin typeface="Cambria Math" panose="02040503050406030204" pitchFamily="18" charset="0"/>
                          </a:rPr>
                          <m:t>𝒄𝒎</m:t>
                        </m:r>
                      </m:oMath>
                    </m:oMathPara>
                  </a14:m>
                  <a:endParaRPr lang="es-PE" sz="1200" b="1" i="1" dirty="0"/>
                </a:p>
              </p:txBody>
            </p:sp>
          </mc:Choice>
          <mc:Fallback xmlns="">
            <p:sp>
              <p:nvSpPr>
                <p:cNvPr id="43" name="CuadroTexto 42">
                  <a:extLst>
                    <a:ext uri="{FF2B5EF4-FFF2-40B4-BE49-F238E27FC236}">
                      <a16:creationId xmlns:a16="http://schemas.microsoft.com/office/drawing/2014/main" id="{E2A07CE4-A1D6-A3B8-3CE5-E7E8C0D38395}"/>
                    </a:ext>
                  </a:extLst>
                </p:cNvPr>
                <p:cNvSpPr txBox="1">
                  <a:spLocks noRot="1" noChangeAspect="1" noMove="1" noResize="1" noEditPoints="1" noAdjustHandles="1" noChangeArrowheads="1" noChangeShapeType="1" noTextEdit="1"/>
                </p:cNvSpPr>
                <p:nvPr/>
              </p:nvSpPr>
              <p:spPr>
                <a:xfrm>
                  <a:off x="1110400" y="5893305"/>
                  <a:ext cx="471283" cy="184666"/>
                </a:xfrm>
                <a:prstGeom prst="rect">
                  <a:avLst/>
                </a:prstGeom>
                <a:blipFill>
                  <a:blip r:embed="rId5"/>
                  <a:stretch>
                    <a:fillRect l="-9091" r="-5195" b="-6452"/>
                  </a:stretch>
                </a:blipFill>
              </p:spPr>
              <p:txBody>
                <a:bodyPr/>
                <a:lstStyle/>
                <a:p>
                  <a:r>
                    <a:rPr lang="es-PE">
                      <a:noFill/>
                    </a:rPr>
                    <a:t> </a:t>
                  </a:r>
                </a:p>
              </p:txBody>
            </p:sp>
          </mc:Fallback>
        </mc:AlternateContent>
        <p:cxnSp>
          <p:nvCxnSpPr>
            <p:cNvPr id="44" name="Conector recto 43">
              <a:extLst>
                <a:ext uri="{FF2B5EF4-FFF2-40B4-BE49-F238E27FC236}">
                  <a16:creationId xmlns:a16="http://schemas.microsoft.com/office/drawing/2014/main" id="{0097B614-9D4E-F932-40D6-22DEB0A2B7FD}"/>
                </a:ext>
              </a:extLst>
            </p:cNvPr>
            <p:cNvCxnSpPr>
              <a:cxnSpLocks/>
            </p:cNvCxnSpPr>
            <p:nvPr/>
          </p:nvCxnSpPr>
          <p:spPr>
            <a:xfrm>
              <a:off x="918571" y="4976843"/>
              <a:ext cx="0" cy="61274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Conector recto 44">
              <a:extLst>
                <a:ext uri="{FF2B5EF4-FFF2-40B4-BE49-F238E27FC236}">
                  <a16:creationId xmlns:a16="http://schemas.microsoft.com/office/drawing/2014/main" id="{71E37251-F13A-8BFB-D581-124A8965E6E4}"/>
                </a:ext>
              </a:extLst>
            </p:cNvPr>
            <p:cNvCxnSpPr/>
            <p:nvPr/>
          </p:nvCxnSpPr>
          <p:spPr>
            <a:xfrm>
              <a:off x="801276" y="5042849"/>
              <a:ext cx="216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Conector recto 45">
              <a:extLst>
                <a:ext uri="{FF2B5EF4-FFF2-40B4-BE49-F238E27FC236}">
                  <a16:creationId xmlns:a16="http://schemas.microsoft.com/office/drawing/2014/main" id="{540A507A-D001-AF41-662B-1259C0648680}"/>
                </a:ext>
              </a:extLst>
            </p:cNvPr>
            <p:cNvCxnSpPr/>
            <p:nvPr/>
          </p:nvCxnSpPr>
          <p:spPr>
            <a:xfrm>
              <a:off x="814039" y="5462158"/>
              <a:ext cx="216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 name="Conector recto 46">
              <a:extLst>
                <a:ext uri="{FF2B5EF4-FFF2-40B4-BE49-F238E27FC236}">
                  <a16:creationId xmlns:a16="http://schemas.microsoft.com/office/drawing/2014/main" id="{755B1E69-4C28-B938-BBB9-9CD1E12C14D0}"/>
                </a:ext>
              </a:extLst>
            </p:cNvPr>
            <p:cNvCxnSpPr/>
            <p:nvPr/>
          </p:nvCxnSpPr>
          <p:spPr>
            <a:xfrm>
              <a:off x="1644166" y="5650665"/>
              <a:ext cx="0" cy="18000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8" name="CuadroTexto 47">
                  <a:extLst>
                    <a:ext uri="{FF2B5EF4-FFF2-40B4-BE49-F238E27FC236}">
                      <a16:creationId xmlns:a16="http://schemas.microsoft.com/office/drawing/2014/main" id="{90F36EC7-41DC-5C3A-3CBC-B706C5961235}"/>
                    </a:ext>
                  </a:extLst>
                </p:cNvPr>
                <p:cNvSpPr txBox="1"/>
                <p:nvPr/>
              </p:nvSpPr>
              <p:spPr>
                <a:xfrm>
                  <a:off x="424663" y="5148731"/>
                  <a:ext cx="471283" cy="18466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PE" sz="1200" b="1" i="1" smtClean="0">
                            <a:latin typeface="Cambria Math" panose="02040503050406030204" pitchFamily="18" charset="0"/>
                          </a:rPr>
                          <m:t>𝟑𝟎</m:t>
                        </m:r>
                        <m:r>
                          <a:rPr lang="es-PE" sz="1200" b="1" i="1" smtClean="0">
                            <a:latin typeface="Cambria Math" panose="02040503050406030204" pitchFamily="18" charset="0"/>
                          </a:rPr>
                          <m:t> </m:t>
                        </m:r>
                        <m:r>
                          <a:rPr lang="es-PE" sz="1200" b="1" i="1" smtClean="0">
                            <a:latin typeface="Cambria Math" panose="02040503050406030204" pitchFamily="18" charset="0"/>
                          </a:rPr>
                          <m:t>𝒄𝒎</m:t>
                        </m:r>
                      </m:oMath>
                    </m:oMathPara>
                  </a14:m>
                  <a:endParaRPr lang="es-PE" sz="1200" b="1" i="1" dirty="0"/>
                </a:p>
              </p:txBody>
            </p:sp>
          </mc:Choice>
          <mc:Fallback xmlns="">
            <p:sp>
              <p:nvSpPr>
                <p:cNvPr id="48" name="CuadroTexto 47">
                  <a:extLst>
                    <a:ext uri="{FF2B5EF4-FFF2-40B4-BE49-F238E27FC236}">
                      <a16:creationId xmlns:a16="http://schemas.microsoft.com/office/drawing/2014/main" id="{90F36EC7-41DC-5C3A-3CBC-B706C5961235}"/>
                    </a:ext>
                  </a:extLst>
                </p:cNvPr>
                <p:cNvSpPr txBox="1">
                  <a:spLocks noRot="1" noChangeAspect="1" noMove="1" noResize="1" noEditPoints="1" noAdjustHandles="1" noChangeArrowheads="1" noChangeShapeType="1" noTextEdit="1"/>
                </p:cNvSpPr>
                <p:nvPr/>
              </p:nvSpPr>
              <p:spPr>
                <a:xfrm>
                  <a:off x="424663" y="5148731"/>
                  <a:ext cx="471283" cy="184666"/>
                </a:xfrm>
                <a:prstGeom prst="rect">
                  <a:avLst/>
                </a:prstGeom>
                <a:blipFill>
                  <a:blip r:embed="rId6"/>
                  <a:stretch>
                    <a:fillRect l="-7692" r="-5128" b="-3226"/>
                  </a:stretch>
                </a:blipFill>
              </p:spPr>
              <p:txBody>
                <a:bodyPr/>
                <a:lstStyle/>
                <a:p>
                  <a:r>
                    <a:rPr lang="es-PE">
                      <a:noFill/>
                    </a:rPr>
                    <a:t> </a:t>
                  </a:r>
                </a:p>
              </p:txBody>
            </p:sp>
          </mc:Fallback>
        </mc:AlternateContent>
      </p:grpSp>
      <p:grpSp>
        <p:nvGrpSpPr>
          <p:cNvPr id="49" name="Grupo 48">
            <a:extLst>
              <a:ext uri="{FF2B5EF4-FFF2-40B4-BE49-F238E27FC236}">
                <a16:creationId xmlns:a16="http://schemas.microsoft.com/office/drawing/2014/main" id="{B304BAF0-437D-3B6A-76B7-8A8CCA3E28B7}"/>
              </a:ext>
            </a:extLst>
          </p:cNvPr>
          <p:cNvGrpSpPr/>
          <p:nvPr/>
        </p:nvGrpSpPr>
        <p:grpSpPr>
          <a:xfrm>
            <a:off x="6565838" y="5190640"/>
            <a:ext cx="1301066" cy="1101128"/>
            <a:chOff x="424663" y="4976843"/>
            <a:chExt cx="1301066" cy="1101128"/>
          </a:xfrm>
        </p:grpSpPr>
        <p:sp>
          <p:nvSpPr>
            <p:cNvPr id="50" name="Rectángulo 49">
              <a:extLst>
                <a:ext uri="{FF2B5EF4-FFF2-40B4-BE49-F238E27FC236}">
                  <a16:creationId xmlns:a16="http://schemas.microsoft.com/office/drawing/2014/main" id="{41443029-9884-E4A1-0E69-4B2EE5B67629}"/>
                </a:ext>
              </a:extLst>
            </p:cNvPr>
            <p:cNvSpPr>
              <a:spLocks noChangeAspect="1"/>
            </p:cNvSpPr>
            <p:nvPr/>
          </p:nvSpPr>
          <p:spPr>
            <a:xfrm>
              <a:off x="1149729" y="5048875"/>
              <a:ext cx="576000" cy="432000"/>
            </a:xfrm>
            <a:prstGeom prst="rect">
              <a:avLst/>
            </a:prstGeom>
            <a:pattFill prst="wdUpDiag">
              <a:fgClr>
                <a:schemeClr val="tx1">
                  <a:lumMod val="65000"/>
                  <a:lumOff val="35000"/>
                </a:schemeClr>
              </a:fgClr>
              <a:bgClr>
                <a:schemeClr val="bg1"/>
              </a:bgClr>
            </a:patt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cxnSp>
          <p:nvCxnSpPr>
            <p:cNvPr id="51" name="Conector recto 50">
              <a:extLst>
                <a:ext uri="{FF2B5EF4-FFF2-40B4-BE49-F238E27FC236}">
                  <a16:creationId xmlns:a16="http://schemas.microsoft.com/office/drawing/2014/main" id="{847F684D-3233-EB67-C7AC-DDF841C4EC1C}"/>
                </a:ext>
              </a:extLst>
            </p:cNvPr>
            <p:cNvCxnSpPr/>
            <p:nvPr/>
          </p:nvCxnSpPr>
          <p:spPr>
            <a:xfrm>
              <a:off x="1149729" y="5640390"/>
              <a:ext cx="0" cy="18000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 name="Conector recto 51">
              <a:extLst>
                <a:ext uri="{FF2B5EF4-FFF2-40B4-BE49-F238E27FC236}">
                  <a16:creationId xmlns:a16="http://schemas.microsoft.com/office/drawing/2014/main" id="{F474D313-96D9-D812-2B99-899F3F55AE84}"/>
                </a:ext>
              </a:extLst>
            </p:cNvPr>
            <p:cNvCxnSpPr>
              <a:cxnSpLocks/>
            </p:cNvCxnSpPr>
            <p:nvPr/>
          </p:nvCxnSpPr>
          <p:spPr>
            <a:xfrm>
              <a:off x="1042821" y="5733256"/>
              <a:ext cx="63529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3" name="CuadroTexto 52">
                  <a:extLst>
                    <a:ext uri="{FF2B5EF4-FFF2-40B4-BE49-F238E27FC236}">
                      <a16:creationId xmlns:a16="http://schemas.microsoft.com/office/drawing/2014/main" id="{447BFE75-5D67-A0C0-EA78-3BC57F2FB6D9}"/>
                    </a:ext>
                  </a:extLst>
                </p:cNvPr>
                <p:cNvSpPr txBox="1"/>
                <p:nvPr/>
              </p:nvSpPr>
              <p:spPr>
                <a:xfrm>
                  <a:off x="1110400" y="5893305"/>
                  <a:ext cx="471283" cy="18466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PE" sz="1200" b="1" i="1" smtClean="0">
                            <a:latin typeface="Cambria Math" panose="02040503050406030204" pitchFamily="18" charset="0"/>
                          </a:rPr>
                          <m:t>𝟒𝟓</m:t>
                        </m:r>
                        <m:r>
                          <a:rPr lang="es-PE" sz="1200" b="1" i="1" smtClean="0">
                            <a:latin typeface="Cambria Math" panose="02040503050406030204" pitchFamily="18" charset="0"/>
                          </a:rPr>
                          <m:t> </m:t>
                        </m:r>
                        <m:r>
                          <a:rPr lang="es-PE" sz="1200" b="1" i="1" smtClean="0">
                            <a:latin typeface="Cambria Math" panose="02040503050406030204" pitchFamily="18" charset="0"/>
                          </a:rPr>
                          <m:t>𝒄𝒎</m:t>
                        </m:r>
                      </m:oMath>
                    </m:oMathPara>
                  </a14:m>
                  <a:endParaRPr lang="es-PE" sz="1200" b="1" i="1" dirty="0"/>
                </a:p>
              </p:txBody>
            </p:sp>
          </mc:Choice>
          <mc:Fallback xmlns="">
            <p:sp>
              <p:nvSpPr>
                <p:cNvPr id="53" name="CuadroTexto 52">
                  <a:extLst>
                    <a:ext uri="{FF2B5EF4-FFF2-40B4-BE49-F238E27FC236}">
                      <a16:creationId xmlns:a16="http://schemas.microsoft.com/office/drawing/2014/main" id="{447BFE75-5D67-A0C0-EA78-3BC57F2FB6D9}"/>
                    </a:ext>
                  </a:extLst>
                </p:cNvPr>
                <p:cNvSpPr txBox="1">
                  <a:spLocks noRot="1" noChangeAspect="1" noMove="1" noResize="1" noEditPoints="1" noAdjustHandles="1" noChangeArrowheads="1" noChangeShapeType="1" noTextEdit="1"/>
                </p:cNvSpPr>
                <p:nvPr/>
              </p:nvSpPr>
              <p:spPr>
                <a:xfrm>
                  <a:off x="1110400" y="5893305"/>
                  <a:ext cx="471283" cy="184666"/>
                </a:xfrm>
                <a:prstGeom prst="rect">
                  <a:avLst/>
                </a:prstGeom>
                <a:blipFill>
                  <a:blip r:embed="rId7"/>
                  <a:stretch>
                    <a:fillRect l="-9091" r="-5195" b="-6667"/>
                  </a:stretch>
                </a:blipFill>
              </p:spPr>
              <p:txBody>
                <a:bodyPr/>
                <a:lstStyle/>
                <a:p>
                  <a:r>
                    <a:rPr lang="es-PE">
                      <a:noFill/>
                    </a:rPr>
                    <a:t> </a:t>
                  </a:r>
                </a:p>
              </p:txBody>
            </p:sp>
          </mc:Fallback>
        </mc:AlternateContent>
        <p:cxnSp>
          <p:nvCxnSpPr>
            <p:cNvPr id="54" name="Conector recto 53">
              <a:extLst>
                <a:ext uri="{FF2B5EF4-FFF2-40B4-BE49-F238E27FC236}">
                  <a16:creationId xmlns:a16="http://schemas.microsoft.com/office/drawing/2014/main" id="{071A0967-D1A8-C4A1-A860-44CD3C803799}"/>
                </a:ext>
              </a:extLst>
            </p:cNvPr>
            <p:cNvCxnSpPr>
              <a:cxnSpLocks/>
            </p:cNvCxnSpPr>
            <p:nvPr/>
          </p:nvCxnSpPr>
          <p:spPr>
            <a:xfrm>
              <a:off x="918571" y="4976843"/>
              <a:ext cx="0" cy="61274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 name="Conector recto 54">
              <a:extLst>
                <a:ext uri="{FF2B5EF4-FFF2-40B4-BE49-F238E27FC236}">
                  <a16:creationId xmlns:a16="http://schemas.microsoft.com/office/drawing/2014/main" id="{7984E6A3-28E1-13A8-7A7E-ABBA2E2FA532}"/>
                </a:ext>
              </a:extLst>
            </p:cNvPr>
            <p:cNvCxnSpPr/>
            <p:nvPr/>
          </p:nvCxnSpPr>
          <p:spPr>
            <a:xfrm>
              <a:off x="801276" y="5042849"/>
              <a:ext cx="216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 name="Conector recto 55">
              <a:extLst>
                <a:ext uri="{FF2B5EF4-FFF2-40B4-BE49-F238E27FC236}">
                  <a16:creationId xmlns:a16="http://schemas.microsoft.com/office/drawing/2014/main" id="{FDCA4726-4C9F-A280-ED7F-3595283ED598}"/>
                </a:ext>
              </a:extLst>
            </p:cNvPr>
            <p:cNvCxnSpPr/>
            <p:nvPr/>
          </p:nvCxnSpPr>
          <p:spPr>
            <a:xfrm>
              <a:off x="814039" y="5462158"/>
              <a:ext cx="216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 name="Conector recto 56">
              <a:extLst>
                <a:ext uri="{FF2B5EF4-FFF2-40B4-BE49-F238E27FC236}">
                  <a16:creationId xmlns:a16="http://schemas.microsoft.com/office/drawing/2014/main" id="{0F093772-58C3-4601-298C-BE4744DC27D8}"/>
                </a:ext>
              </a:extLst>
            </p:cNvPr>
            <p:cNvCxnSpPr/>
            <p:nvPr/>
          </p:nvCxnSpPr>
          <p:spPr>
            <a:xfrm>
              <a:off x="1644166" y="5650665"/>
              <a:ext cx="0" cy="18000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8" name="CuadroTexto 57">
                  <a:extLst>
                    <a:ext uri="{FF2B5EF4-FFF2-40B4-BE49-F238E27FC236}">
                      <a16:creationId xmlns:a16="http://schemas.microsoft.com/office/drawing/2014/main" id="{4D8B660E-C570-7404-E61F-DCA0B963694D}"/>
                    </a:ext>
                  </a:extLst>
                </p:cNvPr>
                <p:cNvSpPr txBox="1"/>
                <p:nvPr/>
              </p:nvSpPr>
              <p:spPr>
                <a:xfrm>
                  <a:off x="424663" y="5148731"/>
                  <a:ext cx="471283" cy="18466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PE" sz="1200" b="1" i="1" smtClean="0">
                            <a:latin typeface="Cambria Math" panose="02040503050406030204" pitchFamily="18" charset="0"/>
                          </a:rPr>
                          <m:t>𝟑𝟎</m:t>
                        </m:r>
                        <m:r>
                          <a:rPr lang="es-PE" sz="1200" b="1" i="1" smtClean="0">
                            <a:latin typeface="Cambria Math" panose="02040503050406030204" pitchFamily="18" charset="0"/>
                          </a:rPr>
                          <m:t> </m:t>
                        </m:r>
                        <m:r>
                          <a:rPr lang="es-PE" sz="1200" b="1" i="1" smtClean="0">
                            <a:latin typeface="Cambria Math" panose="02040503050406030204" pitchFamily="18" charset="0"/>
                          </a:rPr>
                          <m:t>𝒄𝒎</m:t>
                        </m:r>
                      </m:oMath>
                    </m:oMathPara>
                  </a14:m>
                  <a:endParaRPr lang="es-PE" sz="1200" b="1" i="1" dirty="0"/>
                </a:p>
              </p:txBody>
            </p:sp>
          </mc:Choice>
          <mc:Fallback xmlns="">
            <p:sp>
              <p:nvSpPr>
                <p:cNvPr id="58" name="CuadroTexto 57">
                  <a:extLst>
                    <a:ext uri="{FF2B5EF4-FFF2-40B4-BE49-F238E27FC236}">
                      <a16:creationId xmlns:a16="http://schemas.microsoft.com/office/drawing/2014/main" id="{4D8B660E-C570-7404-E61F-DCA0B963694D}"/>
                    </a:ext>
                  </a:extLst>
                </p:cNvPr>
                <p:cNvSpPr txBox="1">
                  <a:spLocks noRot="1" noChangeAspect="1" noMove="1" noResize="1" noEditPoints="1" noAdjustHandles="1" noChangeArrowheads="1" noChangeShapeType="1" noTextEdit="1"/>
                </p:cNvSpPr>
                <p:nvPr/>
              </p:nvSpPr>
              <p:spPr>
                <a:xfrm>
                  <a:off x="424663" y="5148731"/>
                  <a:ext cx="471283" cy="184666"/>
                </a:xfrm>
                <a:prstGeom prst="rect">
                  <a:avLst/>
                </a:prstGeom>
                <a:blipFill>
                  <a:blip r:embed="rId4"/>
                  <a:stretch>
                    <a:fillRect l="-7792" r="-6494" b="-6667"/>
                  </a:stretch>
                </a:blipFill>
              </p:spPr>
              <p:txBody>
                <a:bodyPr/>
                <a:lstStyle/>
                <a:p>
                  <a:r>
                    <a:rPr lang="es-PE">
                      <a:noFill/>
                    </a:rPr>
                    <a:t> </a:t>
                  </a:r>
                </a:p>
              </p:txBody>
            </p:sp>
          </mc:Fallback>
        </mc:AlternateContent>
      </p:grpSp>
      <p:grpSp>
        <p:nvGrpSpPr>
          <p:cNvPr id="59" name="Grupo 58">
            <a:extLst>
              <a:ext uri="{FF2B5EF4-FFF2-40B4-BE49-F238E27FC236}">
                <a16:creationId xmlns:a16="http://schemas.microsoft.com/office/drawing/2014/main" id="{B9D0E3A8-D1D0-2B0D-B28C-4B4A300D8206}"/>
              </a:ext>
            </a:extLst>
          </p:cNvPr>
          <p:cNvGrpSpPr/>
          <p:nvPr/>
        </p:nvGrpSpPr>
        <p:grpSpPr>
          <a:xfrm>
            <a:off x="7888408" y="2337818"/>
            <a:ext cx="1155667" cy="1137101"/>
            <a:chOff x="426016" y="4940870"/>
            <a:chExt cx="1155667" cy="1137101"/>
          </a:xfrm>
        </p:grpSpPr>
        <p:sp>
          <p:nvSpPr>
            <p:cNvPr id="60" name="Rectángulo 59">
              <a:extLst>
                <a:ext uri="{FF2B5EF4-FFF2-40B4-BE49-F238E27FC236}">
                  <a16:creationId xmlns:a16="http://schemas.microsoft.com/office/drawing/2014/main" id="{8A559CAF-DBDB-9BFD-557A-9CB0D9E00E81}"/>
                </a:ext>
              </a:extLst>
            </p:cNvPr>
            <p:cNvSpPr>
              <a:spLocks noChangeAspect="1"/>
            </p:cNvSpPr>
            <p:nvPr/>
          </p:nvSpPr>
          <p:spPr>
            <a:xfrm>
              <a:off x="1149729" y="5048875"/>
              <a:ext cx="324000" cy="540000"/>
            </a:xfrm>
            <a:prstGeom prst="rect">
              <a:avLst/>
            </a:prstGeom>
            <a:pattFill prst="wdUpDiag">
              <a:fgClr>
                <a:schemeClr val="tx1">
                  <a:lumMod val="65000"/>
                  <a:lumOff val="35000"/>
                </a:schemeClr>
              </a:fgClr>
              <a:bgClr>
                <a:schemeClr val="bg1"/>
              </a:bgClr>
            </a:patt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dirty="0"/>
            </a:p>
          </p:txBody>
        </p:sp>
        <p:cxnSp>
          <p:nvCxnSpPr>
            <p:cNvPr id="61" name="Conector recto 60">
              <a:extLst>
                <a:ext uri="{FF2B5EF4-FFF2-40B4-BE49-F238E27FC236}">
                  <a16:creationId xmlns:a16="http://schemas.microsoft.com/office/drawing/2014/main" id="{30A144B4-A2B8-5233-FB46-84C03CA4553C}"/>
                </a:ext>
              </a:extLst>
            </p:cNvPr>
            <p:cNvCxnSpPr/>
            <p:nvPr/>
          </p:nvCxnSpPr>
          <p:spPr>
            <a:xfrm>
              <a:off x="1149729" y="5640390"/>
              <a:ext cx="0" cy="18000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 name="Conector recto 61">
              <a:extLst>
                <a:ext uri="{FF2B5EF4-FFF2-40B4-BE49-F238E27FC236}">
                  <a16:creationId xmlns:a16="http://schemas.microsoft.com/office/drawing/2014/main" id="{24214798-2537-4986-DD4F-A5E5C413666E}"/>
                </a:ext>
              </a:extLst>
            </p:cNvPr>
            <p:cNvCxnSpPr>
              <a:cxnSpLocks/>
            </p:cNvCxnSpPr>
            <p:nvPr/>
          </p:nvCxnSpPr>
          <p:spPr>
            <a:xfrm>
              <a:off x="1068222" y="5733256"/>
              <a:ext cx="468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3" name="CuadroTexto 62">
                  <a:extLst>
                    <a:ext uri="{FF2B5EF4-FFF2-40B4-BE49-F238E27FC236}">
                      <a16:creationId xmlns:a16="http://schemas.microsoft.com/office/drawing/2014/main" id="{6EBC0F68-DE55-F623-80C0-592EC4574729}"/>
                    </a:ext>
                  </a:extLst>
                </p:cNvPr>
                <p:cNvSpPr txBox="1"/>
                <p:nvPr/>
              </p:nvSpPr>
              <p:spPr>
                <a:xfrm>
                  <a:off x="1110400" y="5893305"/>
                  <a:ext cx="471283" cy="18466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PE" sz="1200" b="1" i="1" smtClean="0">
                            <a:latin typeface="Cambria Math" panose="02040503050406030204" pitchFamily="18" charset="0"/>
                          </a:rPr>
                          <m:t>𝟑𝟎</m:t>
                        </m:r>
                        <m:r>
                          <a:rPr lang="es-PE" sz="1200" b="1" i="1" smtClean="0">
                            <a:latin typeface="Cambria Math" panose="02040503050406030204" pitchFamily="18" charset="0"/>
                          </a:rPr>
                          <m:t> </m:t>
                        </m:r>
                        <m:r>
                          <a:rPr lang="es-PE" sz="1200" b="1" i="1" smtClean="0">
                            <a:latin typeface="Cambria Math" panose="02040503050406030204" pitchFamily="18" charset="0"/>
                          </a:rPr>
                          <m:t>𝒄𝒎</m:t>
                        </m:r>
                      </m:oMath>
                    </m:oMathPara>
                  </a14:m>
                  <a:endParaRPr lang="es-PE" sz="1200" b="1" i="1" dirty="0"/>
                </a:p>
              </p:txBody>
            </p:sp>
          </mc:Choice>
          <mc:Fallback xmlns="">
            <p:sp>
              <p:nvSpPr>
                <p:cNvPr id="63" name="CuadroTexto 62">
                  <a:extLst>
                    <a:ext uri="{FF2B5EF4-FFF2-40B4-BE49-F238E27FC236}">
                      <a16:creationId xmlns:a16="http://schemas.microsoft.com/office/drawing/2014/main" id="{6EBC0F68-DE55-F623-80C0-592EC4574729}"/>
                    </a:ext>
                  </a:extLst>
                </p:cNvPr>
                <p:cNvSpPr txBox="1">
                  <a:spLocks noRot="1" noChangeAspect="1" noMove="1" noResize="1" noEditPoints="1" noAdjustHandles="1" noChangeArrowheads="1" noChangeShapeType="1" noTextEdit="1"/>
                </p:cNvSpPr>
                <p:nvPr/>
              </p:nvSpPr>
              <p:spPr>
                <a:xfrm>
                  <a:off x="1110400" y="5893305"/>
                  <a:ext cx="471283" cy="184666"/>
                </a:xfrm>
                <a:prstGeom prst="rect">
                  <a:avLst/>
                </a:prstGeom>
                <a:blipFill>
                  <a:blip r:embed="rId4"/>
                  <a:stretch>
                    <a:fillRect l="-7692" r="-5128" b="-6667"/>
                  </a:stretch>
                </a:blipFill>
              </p:spPr>
              <p:txBody>
                <a:bodyPr/>
                <a:lstStyle/>
                <a:p>
                  <a:r>
                    <a:rPr lang="es-PE">
                      <a:noFill/>
                    </a:rPr>
                    <a:t> </a:t>
                  </a:r>
                </a:p>
              </p:txBody>
            </p:sp>
          </mc:Fallback>
        </mc:AlternateContent>
        <p:cxnSp>
          <p:nvCxnSpPr>
            <p:cNvPr id="64" name="Conector recto 63">
              <a:extLst>
                <a:ext uri="{FF2B5EF4-FFF2-40B4-BE49-F238E27FC236}">
                  <a16:creationId xmlns:a16="http://schemas.microsoft.com/office/drawing/2014/main" id="{BC7A24C7-DD4D-87DE-C72B-CF2B74C449BE}"/>
                </a:ext>
              </a:extLst>
            </p:cNvPr>
            <p:cNvCxnSpPr>
              <a:cxnSpLocks/>
            </p:cNvCxnSpPr>
            <p:nvPr/>
          </p:nvCxnSpPr>
          <p:spPr>
            <a:xfrm>
              <a:off x="918571" y="4940870"/>
              <a:ext cx="0" cy="72000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5" name="Conector recto 64">
              <a:extLst>
                <a:ext uri="{FF2B5EF4-FFF2-40B4-BE49-F238E27FC236}">
                  <a16:creationId xmlns:a16="http://schemas.microsoft.com/office/drawing/2014/main" id="{9CE1FA22-E1BE-8A39-F1D4-668589BD633C}"/>
                </a:ext>
              </a:extLst>
            </p:cNvPr>
            <p:cNvCxnSpPr/>
            <p:nvPr/>
          </p:nvCxnSpPr>
          <p:spPr>
            <a:xfrm>
              <a:off x="801276" y="5042849"/>
              <a:ext cx="216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6" name="Conector recto 65">
              <a:extLst>
                <a:ext uri="{FF2B5EF4-FFF2-40B4-BE49-F238E27FC236}">
                  <a16:creationId xmlns:a16="http://schemas.microsoft.com/office/drawing/2014/main" id="{51EAE19B-15B6-F643-596C-47AA44D7E0A6}"/>
                </a:ext>
              </a:extLst>
            </p:cNvPr>
            <p:cNvCxnSpPr/>
            <p:nvPr/>
          </p:nvCxnSpPr>
          <p:spPr>
            <a:xfrm>
              <a:off x="814039" y="5572229"/>
              <a:ext cx="216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7" name="Conector recto 66">
              <a:extLst>
                <a:ext uri="{FF2B5EF4-FFF2-40B4-BE49-F238E27FC236}">
                  <a16:creationId xmlns:a16="http://schemas.microsoft.com/office/drawing/2014/main" id="{E52223AB-855C-4DE8-6042-A187D31A64F9}"/>
                </a:ext>
              </a:extLst>
            </p:cNvPr>
            <p:cNvCxnSpPr/>
            <p:nvPr/>
          </p:nvCxnSpPr>
          <p:spPr>
            <a:xfrm>
              <a:off x="1500229" y="5650665"/>
              <a:ext cx="0" cy="18000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8" name="CuadroTexto 67">
                  <a:extLst>
                    <a:ext uri="{FF2B5EF4-FFF2-40B4-BE49-F238E27FC236}">
                      <a16:creationId xmlns:a16="http://schemas.microsoft.com/office/drawing/2014/main" id="{FBFB130B-B08B-2AFC-8A1E-7126928B240E}"/>
                    </a:ext>
                  </a:extLst>
                </p:cNvPr>
                <p:cNvSpPr txBox="1"/>
                <p:nvPr/>
              </p:nvSpPr>
              <p:spPr>
                <a:xfrm>
                  <a:off x="426016" y="5231081"/>
                  <a:ext cx="471283" cy="18466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PE" sz="1200" b="1" i="1" smtClean="0">
                            <a:latin typeface="Cambria Math" panose="02040503050406030204" pitchFamily="18" charset="0"/>
                          </a:rPr>
                          <m:t>𝟓𝟎</m:t>
                        </m:r>
                        <m:r>
                          <a:rPr lang="es-PE" sz="1200" b="1" i="1" smtClean="0">
                            <a:latin typeface="Cambria Math" panose="02040503050406030204" pitchFamily="18" charset="0"/>
                          </a:rPr>
                          <m:t> </m:t>
                        </m:r>
                        <m:r>
                          <a:rPr lang="es-PE" sz="1200" b="1" i="1" smtClean="0">
                            <a:latin typeface="Cambria Math" panose="02040503050406030204" pitchFamily="18" charset="0"/>
                          </a:rPr>
                          <m:t>𝒄𝒎</m:t>
                        </m:r>
                      </m:oMath>
                    </m:oMathPara>
                  </a14:m>
                  <a:endParaRPr lang="es-PE" sz="1200" b="1" i="1" dirty="0"/>
                </a:p>
              </p:txBody>
            </p:sp>
          </mc:Choice>
          <mc:Fallback xmlns="">
            <p:sp>
              <p:nvSpPr>
                <p:cNvPr id="68" name="CuadroTexto 67">
                  <a:extLst>
                    <a:ext uri="{FF2B5EF4-FFF2-40B4-BE49-F238E27FC236}">
                      <a16:creationId xmlns:a16="http://schemas.microsoft.com/office/drawing/2014/main" id="{FBFB130B-B08B-2AFC-8A1E-7126928B240E}"/>
                    </a:ext>
                  </a:extLst>
                </p:cNvPr>
                <p:cNvSpPr txBox="1">
                  <a:spLocks noRot="1" noChangeAspect="1" noMove="1" noResize="1" noEditPoints="1" noAdjustHandles="1" noChangeArrowheads="1" noChangeShapeType="1" noTextEdit="1"/>
                </p:cNvSpPr>
                <p:nvPr/>
              </p:nvSpPr>
              <p:spPr>
                <a:xfrm>
                  <a:off x="426016" y="5231081"/>
                  <a:ext cx="471283" cy="184666"/>
                </a:xfrm>
                <a:prstGeom prst="rect">
                  <a:avLst/>
                </a:prstGeom>
                <a:blipFill>
                  <a:blip r:embed="rId8"/>
                  <a:stretch>
                    <a:fillRect l="-7792" r="-6494" b="-10000"/>
                  </a:stretch>
                </a:blipFill>
              </p:spPr>
              <p:txBody>
                <a:bodyPr/>
                <a:lstStyle/>
                <a:p>
                  <a:r>
                    <a:rPr lang="es-PE">
                      <a:noFill/>
                    </a:rPr>
                    <a:t> </a:t>
                  </a:r>
                </a:p>
              </p:txBody>
            </p:sp>
          </mc:Fallback>
        </mc:AlternateContent>
      </p:grpSp>
      <mc:AlternateContent xmlns:mc="http://schemas.openxmlformats.org/markup-compatibility/2006" xmlns:a14="http://schemas.microsoft.com/office/drawing/2010/main">
        <mc:Choice Requires="a14">
          <p:sp>
            <p:nvSpPr>
              <p:cNvPr id="69" name="CuadroTexto 68">
                <a:extLst>
                  <a:ext uri="{FF2B5EF4-FFF2-40B4-BE49-F238E27FC236}">
                    <a16:creationId xmlns:a16="http://schemas.microsoft.com/office/drawing/2014/main" id="{F52E15BC-D1B4-36D4-705D-21DFAC84EC13}"/>
                  </a:ext>
                </a:extLst>
              </p:cNvPr>
              <p:cNvSpPr txBox="1"/>
              <p:nvPr/>
            </p:nvSpPr>
            <p:spPr>
              <a:xfrm>
                <a:off x="8112572" y="3594436"/>
                <a:ext cx="2084866" cy="1017266"/>
              </a:xfrm>
              <a:prstGeom prst="rect">
                <a:avLst/>
              </a:prstGeom>
              <a:noFill/>
            </p:spPr>
            <p:txBody>
              <a:bodyPr wrap="none" lIns="0" tIns="0" rIns="0" bIns="0" rtlCol="0">
                <a:spAutoFit/>
              </a:bodyPr>
              <a:lstStyle/>
              <a:p>
                <a:pPr/>
                <a14:m>
                  <m:oMathPara xmlns:m="http://schemas.openxmlformats.org/officeDocument/2006/math">
                    <m:oMathParaPr>
                      <m:jc m:val="left"/>
                    </m:oMathParaPr>
                    <m:oMath xmlns:m="http://schemas.openxmlformats.org/officeDocument/2006/math">
                      <m:r>
                        <a:rPr lang="es-PE" b="0" i="1" smtClean="0">
                          <a:latin typeface="Cambria Math" panose="02040503050406030204" pitchFamily="18" charset="0"/>
                        </a:rPr>
                        <m:t>𝐴𝑠𝑢𝑚𝑖𝑒𝑛𝑑𝑜</m:t>
                      </m:r>
                      <m:r>
                        <a:rPr lang="es-PE" b="0" i="1" smtClean="0">
                          <a:latin typeface="Cambria Math" panose="02040503050406030204" pitchFamily="18" charset="0"/>
                        </a:rPr>
                        <m:t>:</m:t>
                      </m:r>
                    </m:oMath>
                  </m:oMathPara>
                </a14:m>
                <a:endParaRPr lang="es-PE" b="0" i="1" dirty="0">
                  <a:latin typeface="Cambria Math" panose="02040503050406030204" pitchFamily="18" charset="0"/>
                </a:endParaRPr>
              </a:p>
              <a:p>
                <a:pPr/>
                <a14:m>
                  <m:oMathPara xmlns:m="http://schemas.openxmlformats.org/officeDocument/2006/math">
                    <m:oMathParaPr>
                      <m:jc m:val="left"/>
                    </m:oMathParaPr>
                    <m:oMath xmlns:m="http://schemas.openxmlformats.org/officeDocument/2006/math">
                      <m:sSubSup>
                        <m:sSubSupPr>
                          <m:ctrlPr>
                            <a:rPr lang="es-PE" b="0" i="1" smtClean="0">
                              <a:latin typeface="Cambria Math" panose="02040503050406030204" pitchFamily="18" charset="0"/>
                            </a:rPr>
                          </m:ctrlPr>
                        </m:sSubSupPr>
                        <m:e>
                          <m:r>
                            <a:rPr lang="es-PE" b="0" i="1" smtClean="0">
                              <a:latin typeface="Cambria Math" panose="02040503050406030204" pitchFamily="18" charset="0"/>
                            </a:rPr>
                            <m:t>𝑓</m:t>
                          </m:r>
                        </m:e>
                        <m:sub>
                          <m:r>
                            <a:rPr lang="es-PE" b="0" i="1" smtClean="0">
                              <a:latin typeface="Cambria Math" panose="02040503050406030204" pitchFamily="18" charset="0"/>
                            </a:rPr>
                            <m:t>𝑐</m:t>
                          </m:r>
                        </m:sub>
                        <m:sup>
                          <m:r>
                            <a:rPr lang="es-PE" b="0" i="1" smtClean="0">
                              <a:latin typeface="Cambria Math" panose="02040503050406030204" pitchFamily="18" charset="0"/>
                            </a:rPr>
                            <m:t>′</m:t>
                          </m:r>
                        </m:sup>
                      </m:sSubSup>
                      <m:r>
                        <a:rPr lang="es-PE" b="0" i="1" smtClean="0">
                          <a:latin typeface="Cambria Math" panose="02040503050406030204" pitchFamily="18" charset="0"/>
                        </a:rPr>
                        <m:t>=210 </m:t>
                      </m:r>
                      <m:f>
                        <m:fPr>
                          <m:type m:val="skw"/>
                          <m:ctrlPr>
                            <a:rPr lang="es-PE" b="0" i="1" smtClean="0">
                              <a:latin typeface="Cambria Math" panose="02040503050406030204" pitchFamily="18" charset="0"/>
                            </a:rPr>
                          </m:ctrlPr>
                        </m:fPr>
                        <m:num>
                          <m:r>
                            <a:rPr lang="es-PE" b="0" i="1" smtClean="0">
                              <a:latin typeface="Cambria Math" panose="02040503050406030204" pitchFamily="18" charset="0"/>
                            </a:rPr>
                            <m:t>𝐾𝑔𝑓</m:t>
                          </m:r>
                        </m:num>
                        <m:den>
                          <m:sSup>
                            <m:sSupPr>
                              <m:ctrlPr>
                                <a:rPr lang="es-PE" b="0" i="1" smtClean="0">
                                  <a:latin typeface="Cambria Math" panose="02040503050406030204" pitchFamily="18" charset="0"/>
                                </a:rPr>
                              </m:ctrlPr>
                            </m:sSupPr>
                            <m:e>
                              <m:r>
                                <a:rPr lang="es-PE" b="0" i="1" smtClean="0">
                                  <a:latin typeface="Cambria Math" panose="02040503050406030204" pitchFamily="18" charset="0"/>
                                </a:rPr>
                                <m:t>𝑐𝑚</m:t>
                              </m:r>
                            </m:e>
                            <m:sup>
                              <m:r>
                                <a:rPr lang="es-PE" b="0" i="1" smtClean="0">
                                  <a:latin typeface="Cambria Math" panose="02040503050406030204" pitchFamily="18" charset="0"/>
                                </a:rPr>
                                <m:t>2</m:t>
                              </m:r>
                            </m:sup>
                          </m:sSup>
                        </m:den>
                      </m:f>
                      <m:r>
                        <a:rPr lang="es-PE" b="0" i="1" smtClean="0">
                          <a:latin typeface="Cambria Math" panose="02040503050406030204" pitchFamily="18" charset="0"/>
                        </a:rPr>
                        <m:t> </m:t>
                      </m:r>
                    </m:oMath>
                  </m:oMathPara>
                </a14:m>
                <a:endParaRPr lang="es-PE" b="0" dirty="0"/>
              </a:p>
              <a:p>
                <a:r>
                  <a:rPr lang="es-PE" dirty="0"/>
                  <a:t> </a:t>
                </a:r>
              </a:p>
            </p:txBody>
          </p:sp>
        </mc:Choice>
        <mc:Fallback xmlns="">
          <p:sp>
            <p:nvSpPr>
              <p:cNvPr id="69" name="CuadroTexto 68">
                <a:extLst>
                  <a:ext uri="{FF2B5EF4-FFF2-40B4-BE49-F238E27FC236}">
                    <a16:creationId xmlns:a16="http://schemas.microsoft.com/office/drawing/2014/main" id="{F52E15BC-D1B4-36D4-705D-21DFAC84EC13}"/>
                  </a:ext>
                </a:extLst>
              </p:cNvPr>
              <p:cNvSpPr txBox="1">
                <a:spLocks noRot="1" noChangeAspect="1" noMove="1" noResize="1" noEditPoints="1" noAdjustHandles="1" noChangeArrowheads="1" noChangeShapeType="1" noTextEdit="1"/>
              </p:cNvSpPr>
              <p:nvPr/>
            </p:nvSpPr>
            <p:spPr>
              <a:xfrm>
                <a:off x="8112572" y="3594436"/>
                <a:ext cx="2084866" cy="1017266"/>
              </a:xfrm>
              <a:prstGeom prst="rect">
                <a:avLst/>
              </a:prstGeom>
              <a:blipFill>
                <a:blip r:embed="rId9"/>
                <a:stretch>
                  <a:fillRect l="-4094"/>
                </a:stretch>
              </a:blipFill>
            </p:spPr>
            <p:txBody>
              <a:bodyPr/>
              <a:lstStyle/>
              <a:p>
                <a:r>
                  <a:rPr lang="es-PE">
                    <a:noFill/>
                  </a:rPr>
                  <a:t> </a:t>
                </a:r>
              </a:p>
            </p:txBody>
          </p:sp>
        </mc:Fallback>
      </mc:AlternateContent>
      <p:sp>
        <p:nvSpPr>
          <p:cNvPr id="71" name="Elipse 70">
            <a:extLst>
              <a:ext uri="{FF2B5EF4-FFF2-40B4-BE49-F238E27FC236}">
                <a16:creationId xmlns:a16="http://schemas.microsoft.com/office/drawing/2014/main" id="{5797D301-E54F-7E4D-6053-EEA2CA4CA610}"/>
              </a:ext>
            </a:extLst>
          </p:cNvPr>
          <p:cNvSpPr>
            <a:spLocks noChangeAspect="1"/>
          </p:cNvSpPr>
          <p:nvPr/>
        </p:nvSpPr>
        <p:spPr>
          <a:xfrm>
            <a:off x="3113484" y="4233012"/>
            <a:ext cx="252000" cy="252000"/>
          </a:xfrm>
          <a:prstGeom prst="ellipse">
            <a:avLst/>
          </a:prstGeom>
          <a:solidFill>
            <a:schemeClr val="bg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PE" dirty="0">
                <a:solidFill>
                  <a:schemeClr val="tx1"/>
                </a:solidFill>
              </a:rPr>
              <a:t>A</a:t>
            </a:r>
          </a:p>
        </p:txBody>
      </p:sp>
      <p:sp>
        <p:nvSpPr>
          <p:cNvPr id="72" name="Elipse 71">
            <a:extLst>
              <a:ext uri="{FF2B5EF4-FFF2-40B4-BE49-F238E27FC236}">
                <a16:creationId xmlns:a16="http://schemas.microsoft.com/office/drawing/2014/main" id="{77D2F143-2B14-C132-AC59-40180FF1CE6C}"/>
              </a:ext>
            </a:extLst>
          </p:cNvPr>
          <p:cNvSpPr>
            <a:spLocks noChangeAspect="1"/>
          </p:cNvSpPr>
          <p:nvPr/>
        </p:nvSpPr>
        <p:spPr>
          <a:xfrm>
            <a:off x="2617529" y="2124579"/>
            <a:ext cx="252000" cy="252000"/>
          </a:xfrm>
          <a:prstGeom prst="ellipse">
            <a:avLst/>
          </a:prstGeom>
          <a:solidFill>
            <a:schemeClr val="bg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PE" dirty="0">
                <a:solidFill>
                  <a:schemeClr val="tx1"/>
                </a:solidFill>
              </a:rPr>
              <a:t>B</a:t>
            </a:r>
          </a:p>
        </p:txBody>
      </p:sp>
      <p:sp>
        <p:nvSpPr>
          <p:cNvPr id="73" name="Elipse 72">
            <a:extLst>
              <a:ext uri="{FF2B5EF4-FFF2-40B4-BE49-F238E27FC236}">
                <a16:creationId xmlns:a16="http://schemas.microsoft.com/office/drawing/2014/main" id="{9EC7B562-B335-1DED-E25C-D5CC2A67D10F}"/>
              </a:ext>
            </a:extLst>
          </p:cNvPr>
          <p:cNvSpPr>
            <a:spLocks noChangeAspect="1"/>
          </p:cNvSpPr>
          <p:nvPr/>
        </p:nvSpPr>
        <p:spPr>
          <a:xfrm>
            <a:off x="5375275" y="4225286"/>
            <a:ext cx="252000" cy="252000"/>
          </a:xfrm>
          <a:prstGeom prst="ellipse">
            <a:avLst/>
          </a:prstGeom>
          <a:solidFill>
            <a:schemeClr val="bg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PE" dirty="0">
                <a:solidFill>
                  <a:schemeClr val="tx1"/>
                </a:solidFill>
              </a:rPr>
              <a:t>C</a:t>
            </a:r>
          </a:p>
        </p:txBody>
      </p:sp>
      <p:sp>
        <p:nvSpPr>
          <p:cNvPr id="74" name="Elipse 73">
            <a:extLst>
              <a:ext uri="{FF2B5EF4-FFF2-40B4-BE49-F238E27FC236}">
                <a16:creationId xmlns:a16="http://schemas.microsoft.com/office/drawing/2014/main" id="{79329118-C02E-7578-1B67-CC7345185D06}"/>
              </a:ext>
            </a:extLst>
          </p:cNvPr>
          <p:cNvSpPr>
            <a:spLocks noChangeAspect="1"/>
          </p:cNvSpPr>
          <p:nvPr/>
        </p:nvSpPr>
        <p:spPr>
          <a:xfrm>
            <a:off x="5062092" y="2077932"/>
            <a:ext cx="252000" cy="252000"/>
          </a:xfrm>
          <a:prstGeom prst="ellipse">
            <a:avLst/>
          </a:prstGeom>
          <a:solidFill>
            <a:schemeClr val="bg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PE" dirty="0">
                <a:solidFill>
                  <a:schemeClr val="tx1"/>
                </a:solidFill>
              </a:rPr>
              <a:t>D</a:t>
            </a:r>
          </a:p>
        </p:txBody>
      </p:sp>
      <p:sp>
        <p:nvSpPr>
          <p:cNvPr id="75" name="Elipse 74">
            <a:extLst>
              <a:ext uri="{FF2B5EF4-FFF2-40B4-BE49-F238E27FC236}">
                <a16:creationId xmlns:a16="http://schemas.microsoft.com/office/drawing/2014/main" id="{1988DA50-0592-E658-0DC0-7F89F4A7D8C2}"/>
              </a:ext>
            </a:extLst>
          </p:cNvPr>
          <p:cNvSpPr>
            <a:spLocks noChangeAspect="1"/>
          </p:cNvSpPr>
          <p:nvPr/>
        </p:nvSpPr>
        <p:spPr>
          <a:xfrm>
            <a:off x="7761362" y="4215842"/>
            <a:ext cx="252000" cy="252000"/>
          </a:xfrm>
          <a:prstGeom prst="ellipse">
            <a:avLst/>
          </a:prstGeom>
          <a:solidFill>
            <a:schemeClr val="bg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PE" dirty="0">
                <a:solidFill>
                  <a:schemeClr val="tx1"/>
                </a:solidFill>
              </a:rPr>
              <a:t>E</a:t>
            </a:r>
          </a:p>
        </p:txBody>
      </p:sp>
      <p:sp>
        <p:nvSpPr>
          <p:cNvPr id="76" name="Elipse 75">
            <a:extLst>
              <a:ext uri="{FF2B5EF4-FFF2-40B4-BE49-F238E27FC236}">
                <a16:creationId xmlns:a16="http://schemas.microsoft.com/office/drawing/2014/main" id="{8A889275-A79C-3D1E-0941-98D89C3F79C6}"/>
              </a:ext>
            </a:extLst>
          </p:cNvPr>
          <p:cNvSpPr>
            <a:spLocks noChangeAspect="1"/>
          </p:cNvSpPr>
          <p:nvPr/>
        </p:nvSpPr>
        <p:spPr>
          <a:xfrm>
            <a:off x="7706711" y="2139169"/>
            <a:ext cx="252000" cy="252000"/>
          </a:xfrm>
          <a:prstGeom prst="ellipse">
            <a:avLst/>
          </a:prstGeom>
          <a:solidFill>
            <a:schemeClr val="bg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PE" dirty="0">
                <a:solidFill>
                  <a:schemeClr val="tx1"/>
                </a:solidFill>
              </a:rPr>
              <a:t>F</a:t>
            </a:r>
          </a:p>
        </p:txBody>
      </p:sp>
    </p:spTree>
    <p:extLst>
      <p:ext uri="{BB962C8B-B14F-4D97-AF65-F5344CB8AC3E}">
        <p14:creationId xmlns:p14="http://schemas.microsoft.com/office/powerpoint/2010/main" val="18302013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8BD4B30-9B7A-4FF3-9506-6E2F889CBD85}"/>
              </a:ext>
            </a:extLst>
          </p:cNvPr>
          <p:cNvSpPr>
            <a:spLocks noGrp="1"/>
          </p:cNvSpPr>
          <p:nvPr>
            <p:ph type="title"/>
          </p:nvPr>
        </p:nvSpPr>
        <p:spPr/>
        <p:txBody>
          <a:bodyPr/>
          <a:lstStyle/>
          <a:p>
            <a:r>
              <a:rPr lang="es-PE" dirty="0"/>
              <a:t>1° Determinando el módulo de elasticidad </a:t>
            </a:r>
          </a:p>
        </p:txBody>
      </p:sp>
      <p:grpSp>
        <p:nvGrpSpPr>
          <p:cNvPr id="13" name="Grupo 12">
            <a:extLst>
              <a:ext uri="{FF2B5EF4-FFF2-40B4-BE49-F238E27FC236}">
                <a16:creationId xmlns:a16="http://schemas.microsoft.com/office/drawing/2014/main" id="{3903A5C6-AB62-8217-6604-553267E4BC12}"/>
              </a:ext>
            </a:extLst>
          </p:cNvPr>
          <p:cNvGrpSpPr/>
          <p:nvPr/>
        </p:nvGrpSpPr>
        <p:grpSpPr>
          <a:xfrm>
            <a:off x="1488298" y="2081651"/>
            <a:ext cx="5149238" cy="2304901"/>
            <a:chOff x="802746" y="2708275"/>
            <a:chExt cx="4673826" cy="1950578"/>
          </a:xfrm>
        </p:grpSpPr>
        <p:sp>
          <p:nvSpPr>
            <p:cNvPr id="6" name="Rectángulo 5">
              <a:extLst>
                <a:ext uri="{FF2B5EF4-FFF2-40B4-BE49-F238E27FC236}">
                  <a16:creationId xmlns:a16="http://schemas.microsoft.com/office/drawing/2014/main" id="{F092B829-0F0C-F37E-7FB0-DF0011828F6E}"/>
                </a:ext>
              </a:extLst>
            </p:cNvPr>
            <p:cNvSpPr/>
            <p:nvPr/>
          </p:nvSpPr>
          <p:spPr>
            <a:xfrm>
              <a:off x="802746" y="4508726"/>
              <a:ext cx="499090" cy="150127"/>
            </a:xfrm>
            <a:prstGeom prst="rect">
              <a:avLst/>
            </a:prstGeom>
            <a:pattFill prst="wdUpDiag">
              <a:fgClr>
                <a:schemeClr val="accent2">
                  <a:lumMod val="75000"/>
                </a:schemeClr>
              </a:fgClr>
              <a:bgClr>
                <a:schemeClr val="bg1"/>
              </a:bgClr>
            </a:patt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dirty="0"/>
            </a:p>
          </p:txBody>
        </p:sp>
        <p:sp>
          <p:nvSpPr>
            <p:cNvPr id="7" name="Rectángulo 6">
              <a:extLst>
                <a:ext uri="{FF2B5EF4-FFF2-40B4-BE49-F238E27FC236}">
                  <a16:creationId xmlns:a16="http://schemas.microsoft.com/office/drawing/2014/main" id="{26E44751-1FBE-FDF6-F5DB-F916D18BA2C2}"/>
                </a:ext>
              </a:extLst>
            </p:cNvPr>
            <p:cNvSpPr/>
            <p:nvPr/>
          </p:nvSpPr>
          <p:spPr>
            <a:xfrm>
              <a:off x="948234" y="2708501"/>
              <a:ext cx="144000" cy="1800000"/>
            </a:xfrm>
            <a:prstGeom prst="rect">
              <a:avLst/>
            </a:prstGeom>
            <a:pattFill prst="lgConfetti">
              <a:fgClr>
                <a:schemeClr val="tx1">
                  <a:lumMod val="65000"/>
                  <a:lumOff val="35000"/>
                </a:schemeClr>
              </a:fgClr>
              <a:bgClr>
                <a:schemeClr val="bg1"/>
              </a:bgClr>
            </a:patt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dirty="0"/>
            </a:p>
          </p:txBody>
        </p:sp>
        <p:sp>
          <p:nvSpPr>
            <p:cNvPr id="8" name="Rectángulo 7">
              <a:extLst>
                <a:ext uri="{FF2B5EF4-FFF2-40B4-BE49-F238E27FC236}">
                  <a16:creationId xmlns:a16="http://schemas.microsoft.com/office/drawing/2014/main" id="{3BF99385-421A-A497-46F6-F625D68D10BB}"/>
                </a:ext>
              </a:extLst>
            </p:cNvPr>
            <p:cNvSpPr/>
            <p:nvPr/>
          </p:nvSpPr>
          <p:spPr>
            <a:xfrm>
              <a:off x="948234" y="2708275"/>
              <a:ext cx="4320224" cy="216250"/>
            </a:xfrm>
            <a:prstGeom prst="rect">
              <a:avLst/>
            </a:prstGeom>
            <a:pattFill prst="lgConfetti">
              <a:fgClr>
                <a:schemeClr val="tx1">
                  <a:lumMod val="65000"/>
                  <a:lumOff val="35000"/>
                </a:schemeClr>
              </a:fgClr>
              <a:bgClr>
                <a:schemeClr val="bg1"/>
              </a:bgClr>
            </a:patt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9" name="Rectángulo 8">
              <a:extLst>
                <a:ext uri="{FF2B5EF4-FFF2-40B4-BE49-F238E27FC236}">
                  <a16:creationId xmlns:a16="http://schemas.microsoft.com/office/drawing/2014/main" id="{1DD7C29E-220A-039C-4872-C5A9D7FD0E8A}"/>
                </a:ext>
              </a:extLst>
            </p:cNvPr>
            <p:cNvSpPr/>
            <p:nvPr/>
          </p:nvSpPr>
          <p:spPr>
            <a:xfrm>
              <a:off x="2785313" y="4508500"/>
              <a:ext cx="499090" cy="150127"/>
            </a:xfrm>
            <a:prstGeom prst="rect">
              <a:avLst/>
            </a:prstGeom>
            <a:pattFill prst="wdUpDiag">
              <a:fgClr>
                <a:schemeClr val="accent2">
                  <a:lumMod val="75000"/>
                </a:schemeClr>
              </a:fgClr>
              <a:bgClr>
                <a:schemeClr val="bg1"/>
              </a:bgClr>
            </a:patt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dirty="0"/>
            </a:p>
          </p:txBody>
        </p:sp>
        <p:sp>
          <p:nvSpPr>
            <p:cNvPr id="10" name="Rectángulo 9">
              <a:extLst>
                <a:ext uri="{FF2B5EF4-FFF2-40B4-BE49-F238E27FC236}">
                  <a16:creationId xmlns:a16="http://schemas.microsoft.com/office/drawing/2014/main" id="{35D9AF8B-3376-4798-8978-A804452CFF04}"/>
                </a:ext>
              </a:extLst>
            </p:cNvPr>
            <p:cNvSpPr/>
            <p:nvPr/>
          </p:nvSpPr>
          <p:spPr>
            <a:xfrm>
              <a:off x="2930801" y="2708275"/>
              <a:ext cx="144000" cy="1800000"/>
            </a:xfrm>
            <a:prstGeom prst="rect">
              <a:avLst/>
            </a:prstGeom>
            <a:pattFill prst="lgConfetti">
              <a:fgClr>
                <a:schemeClr val="tx1">
                  <a:lumMod val="65000"/>
                  <a:lumOff val="35000"/>
                </a:schemeClr>
              </a:fgClr>
              <a:bgClr>
                <a:schemeClr val="bg1"/>
              </a:bgClr>
            </a:patt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dirty="0"/>
            </a:p>
          </p:txBody>
        </p:sp>
        <p:sp>
          <p:nvSpPr>
            <p:cNvPr id="11" name="Rectángulo 10">
              <a:extLst>
                <a:ext uri="{FF2B5EF4-FFF2-40B4-BE49-F238E27FC236}">
                  <a16:creationId xmlns:a16="http://schemas.microsoft.com/office/drawing/2014/main" id="{15C6AAFD-A84E-784F-31DB-BA14CF663C50}"/>
                </a:ext>
              </a:extLst>
            </p:cNvPr>
            <p:cNvSpPr/>
            <p:nvPr/>
          </p:nvSpPr>
          <p:spPr>
            <a:xfrm>
              <a:off x="4977482" y="4508500"/>
              <a:ext cx="499090" cy="150127"/>
            </a:xfrm>
            <a:prstGeom prst="rect">
              <a:avLst/>
            </a:prstGeom>
            <a:pattFill prst="wdUpDiag">
              <a:fgClr>
                <a:schemeClr val="accent2">
                  <a:lumMod val="75000"/>
                </a:schemeClr>
              </a:fgClr>
              <a:bgClr>
                <a:schemeClr val="bg1"/>
              </a:bgClr>
            </a:patt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dirty="0"/>
            </a:p>
          </p:txBody>
        </p:sp>
        <p:sp>
          <p:nvSpPr>
            <p:cNvPr id="12" name="Rectángulo 11">
              <a:extLst>
                <a:ext uri="{FF2B5EF4-FFF2-40B4-BE49-F238E27FC236}">
                  <a16:creationId xmlns:a16="http://schemas.microsoft.com/office/drawing/2014/main" id="{DD95B2B8-AE41-91C8-8890-DCFAA99B3C61}"/>
                </a:ext>
              </a:extLst>
            </p:cNvPr>
            <p:cNvSpPr/>
            <p:nvPr/>
          </p:nvSpPr>
          <p:spPr>
            <a:xfrm>
              <a:off x="5122970" y="2708275"/>
              <a:ext cx="144000" cy="1800000"/>
            </a:xfrm>
            <a:prstGeom prst="rect">
              <a:avLst/>
            </a:prstGeom>
            <a:pattFill prst="lgConfetti">
              <a:fgClr>
                <a:schemeClr val="tx1">
                  <a:lumMod val="65000"/>
                  <a:lumOff val="35000"/>
                </a:schemeClr>
              </a:fgClr>
              <a:bgClr>
                <a:schemeClr val="bg1"/>
              </a:bgClr>
            </a:patt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dirty="0"/>
            </a:p>
          </p:txBody>
        </p:sp>
      </p:grpSp>
      <p:cxnSp>
        <p:nvCxnSpPr>
          <p:cNvPr id="15" name="Conector recto 14">
            <a:extLst>
              <a:ext uri="{FF2B5EF4-FFF2-40B4-BE49-F238E27FC236}">
                <a16:creationId xmlns:a16="http://schemas.microsoft.com/office/drawing/2014/main" id="{CFDC01DB-0147-3DB8-4328-BA956B91C19E}"/>
              </a:ext>
            </a:extLst>
          </p:cNvPr>
          <p:cNvCxnSpPr/>
          <p:nvPr/>
        </p:nvCxnSpPr>
        <p:spPr>
          <a:xfrm>
            <a:off x="1129474" y="2081974"/>
            <a:ext cx="0" cy="223195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Conector recto 16">
            <a:extLst>
              <a:ext uri="{FF2B5EF4-FFF2-40B4-BE49-F238E27FC236}">
                <a16:creationId xmlns:a16="http://schemas.microsoft.com/office/drawing/2014/main" id="{52F30F76-FB31-DB33-88D7-2FA65898AD1E}"/>
              </a:ext>
            </a:extLst>
          </p:cNvPr>
          <p:cNvCxnSpPr/>
          <p:nvPr/>
        </p:nvCxnSpPr>
        <p:spPr>
          <a:xfrm>
            <a:off x="985136" y="2225990"/>
            <a:ext cx="360362"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Conector recto 17">
            <a:extLst>
              <a:ext uri="{FF2B5EF4-FFF2-40B4-BE49-F238E27FC236}">
                <a16:creationId xmlns:a16="http://schemas.microsoft.com/office/drawing/2014/main" id="{3DDD77F7-59B6-616E-21DF-6C8373369C01}"/>
              </a:ext>
            </a:extLst>
          </p:cNvPr>
          <p:cNvCxnSpPr/>
          <p:nvPr/>
        </p:nvCxnSpPr>
        <p:spPr>
          <a:xfrm>
            <a:off x="984450" y="4208042"/>
            <a:ext cx="360362"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9" name="CuadroTexto 18">
                <a:extLst>
                  <a:ext uri="{FF2B5EF4-FFF2-40B4-BE49-F238E27FC236}">
                    <a16:creationId xmlns:a16="http://schemas.microsoft.com/office/drawing/2014/main" id="{F36189C6-ED21-2C89-17B8-BEB84760C08B}"/>
                  </a:ext>
                </a:extLst>
              </p:cNvPr>
              <p:cNvSpPr txBox="1"/>
              <p:nvPr/>
            </p:nvSpPr>
            <p:spPr>
              <a:xfrm>
                <a:off x="551384" y="2970795"/>
                <a:ext cx="604846"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PE" sz="1600" b="1" i="1" smtClean="0">
                          <a:latin typeface="Cambria Math" panose="02040503050406030204" pitchFamily="18" charset="0"/>
                        </a:rPr>
                        <m:t>𝟐</m:t>
                      </m:r>
                      <m:r>
                        <a:rPr lang="es-PE" sz="1600" b="1" i="1" smtClean="0">
                          <a:latin typeface="Cambria Math" panose="02040503050406030204" pitchFamily="18" charset="0"/>
                        </a:rPr>
                        <m:t>.</m:t>
                      </m:r>
                      <m:r>
                        <a:rPr lang="es-PE" sz="1600" b="1" i="1" smtClean="0">
                          <a:latin typeface="Cambria Math" panose="02040503050406030204" pitchFamily="18" charset="0"/>
                        </a:rPr>
                        <m:t>𝟖</m:t>
                      </m:r>
                      <m:r>
                        <a:rPr lang="es-PE" sz="1600" b="1" i="1" smtClean="0">
                          <a:latin typeface="Cambria Math" panose="02040503050406030204" pitchFamily="18" charset="0"/>
                        </a:rPr>
                        <m:t> </m:t>
                      </m:r>
                      <m:r>
                        <a:rPr lang="es-PE" sz="1600" b="1" i="1" smtClean="0">
                          <a:latin typeface="Cambria Math" panose="02040503050406030204" pitchFamily="18" charset="0"/>
                        </a:rPr>
                        <m:t>𝒎</m:t>
                      </m:r>
                    </m:oMath>
                  </m:oMathPara>
                </a14:m>
                <a:endParaRPr lang="es-PE" sz="1600" b="1" i="1" dirty="0"/>
              </a:p>
            </p:txBody>
          </p:sp>
        </mc:Choice>
        <mc:Fallback xmlns="">
          <p:sp>
            <p:nvSpPr>
              <p:cNvPr id="19" name="CuadroTexto 18">
                <a:extLst>
                  <a:ext uri="{FF2B5EF4-FFF2-40B4-BE49-F238E27FC236}">
                    <a16:creationId xmlns:a16="http://schemas.microsoft.com/office/drawing/2014/main" id="{F36189C6-ED21-2C89-17B8-BEB84760C08B}"/>
                  </a:ext>
                </a:extLst>
              </p:cNvPr>
              <p:cNvSpPr txBox="1">
                <a:spLocks noRot="1" noChangeAspect="1" noMove="1" noResize="1" noEditPoints="1" noAdjustHandles="1" noChangeArrowheads="1" noChangeShapeType="1" noTextEdit="1"/>
              </p:cNvSpPr>
              <p:nvPr/>
            </p:nvSpPr>
            <p:spPr>
              <a:xfrm>
                <a:off x="551384" y="2970795"/>
                <a:ext cx="604846" cy="246221"/>
              </a:xfrm>
              <a:prstGeom prst="rect">
                <a:avLst/>
              </a:prstGeom>
              <a:blipFill>
                <a:blip r:embed="rId2"/>
                <a:stretch>
                  <a:fillRect l="-7000" r="-4000" b="-4878"/>
                </a:stretch>
              </a:blipFill>
            </p:spPr>
            <p:txBody>
              <a:bodyPr/>
              <a:lstStyle/>
              <a:p>
                <a:r>
                  <a:rPr lang="es-PE">
                    <a:noFill/>
                  </a:rPr>
                  <a:t> </a:t>
                </a:r>
              </a:p>
            </p:txBody>
          </p:sp>
        </mc:Fallback>
      </mc:AlternateContent>
      <p:cxnSp>
        <p:nvCxnSpPr>
          <p:cNvPr id="20" name="Conector recto 19">
            <a:extLst>
              <a:ext uri="{FF2B5EF4-FFF2-40B4-BE49-F238E27FC236}">
                <a16:creationId xmlns:a16="http://schemas.microsoft.com/office/drawing/2014/main" id="{B4797FC6-1517-692D-2E56-B48C5032DCD5}"/>
              </a:ext>
            </a:extLst>
          </p:cNvPr>
          <p:cNvCxnSpPr>
            <a:cxnSpLocks/>
          </p:cNvCxnSpPr>
          <p:nvPr/>
        </p:nvCxnSpPr>
        <p:spPr>
          <a:xfrm>
            <a:off x="1452960" y="4602254"/>
            <a:ext cx="5155255"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Conector recto 22">
            <a:extLst>
              <a:ext uri="{FF2B5EF4-FFF2-40B4-BE49-F238E27FC236}">
                <a16:creationId xmlns:a16="http://schemas.microsoft.com/office/drawing/2014/main" id="{5AB85D76-1E13-A5EB-42FD-B6D5C1988733}"/>
              </a:ext>
            </a:extLst>
          </p:cNvPr>
          <p:cNvCxnSpPr/>
          <p:nvPr/>
        </p:nvCxnSpPr>
        <p:spPr>
          <a:xfrm>
            <a:off x="1727908" y="4467697"/>
            <a:ext cx="0" cy="28803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Conector recto 23">
            <a:extLst>
              <a:ext uri="{FF2B5EF4-FFF2-40B4-BE49-F238E27FC236}">
                <a16:creationId xmlns:a16="http://schemas.microsoft.com/office/drawing/2014/main" id="{E790FB11-125F-3F72-E8F5-2AB051658AFD}"/>
              </a:ext>
            </a:extLst>
          </p:cNvPr>
          <p:cNvCxnSpPr/>
          <p:nvPr/>
        </p:nvCxnSpPr>
        <p:spPr>
          <a:xfrm>
            <a:off x="3912137" y="4467697"/>
            <a:ext cx="0" cy="28803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Conector recto 24">
            <a:extLst>
              <a:ext uri="{FF2B5EF4-FFF2-40B4-BE49-F238E27FC236}">
                <a16:creationId xmlns:a16="http://schemas.microsoft.com/office/drawing/2014/main" id="{F4451327-6A7E-7295-09E3-6EB2308F348D}"/>
              </a:ext>
            </a:extLst>
          </p:cNvPr>
          <p:cNvCxnSpPr/>
          <p:nvPr/>
        </p:nvCxnSpPr>
        <p:spPr>
          <a:xfrm>
            <a:off x="6328239" y="4458238"/>
            <a:ext cx="0" cy="28803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38" name="Grupo 37">
            <a:extLst>
              <a:ext uri="{FF2B5EF4-FFF2-40B4-BE49-F238E27FC236}">
                <a16:creationId xmlns:a16="http://schemas.microsoft.com/office/drawing/2014/main" id="{54954D6D-CC84-C3E6-C3FC-2052C45EA298}"/>
              </a:ext>
            </a:extLst>
          </p:cNvPr>
          <p:cNvGrpSpPr/>
          <p:nvPr/>
        </p:nvGrpSpPr>
        <p:grpSpPr>
          <a:xfrm>
            <a:off x="822183" y="4781945"/>
            <a:ext cx="1253448" cy="1101128"/>
            <a:chOff x="424663" y="4976843"/>
            <a:chExt cx="1253448" cy="1101128"/>
          </a:xfrm>
        </p:grpSpPr>
        <p:sp>
          <p:nvSpPr>
            <p:cNvPr id="26" name="Rectángulo 25">
              <a:extLst>
                <a:ext uri="{FF2B5EF4-FFF2-40B4-BE49-F238E27FC236}">
                  <a16:creationId xmlns:a16="http://schemas.microsoft.com/office/drawing/2014/main" id="{180F0F17-A1B8-2181-B547-1C104145581E}"/>
                </a:ext>
              </a:extLst>
            </p:cNvPr>
            <p:cNvSpPr>
              <a:spLocks noChangeAspect="1"/>
            </p:cNvSpPr>
            <p:nvPr/>
          </p:nvSpPr>
          <p:spPr>
            <a:xfrm>
              <a:off x="1149729" y="5048875"/>
              <a:ext cx="431954" cy="432000"/>
            </a:xfrm>
            <a:prstGeom prst="rect">
              <a:avLst/>
            </a:prstGeom>
            <a:pattFill prst="wdUpDiag">
              <a:fgClr>
                <a:schemeClr val="tx1">
                  <a:lumMod val="65000"/>
                  <a:lumOff val="35000"/>
                </a:schemeClr>
              </a:fgClr>
              <a:bgClr>
                <a:schemeClr val="bg1"/>
              </a:bgClr>
            </a:patt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cxnSp>
          <p:nvCxnSpPr>
            <p:cNvPr id="27" name="Conector recto 26">
              <a:extLst>
                <a:ext uri="{FF2B5EF4-FFF2-40B4-BE49-F238E27FC236}">
                  <a16:creationId xmlns:a16="http://schemas.microsoft.com/office/drawing/2014/main" id="{77DD0DD3-F02E-B575-9564-FE09A1A55317}"/>
                </a:ext>
              </a:extLst>
            </p:cNvPr>
            <p:cNvCxnSpPr/>
            <p:nvPr/>
          </p:nvCxnSpPr>
          <p:spPr>
            <a:xfrm>
              <a:off x="1149729" y="5640390"/>
              <a:ext cx="0" cy="18000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Conector recto 28">
              <a:extLst>
                <a:ext uri="{FF2B5EF4-FFF2-40B4-BE49-F238E27FC236}">
                  <a16:creationId xmlns:a16="http://schemas.microsoft.com/office/drawing/2014/main" id="{E601BA6D-2052-749B-8E4C-285F80AFBB27}"/>
                </a:ext>
              </a:extLst>
            </p:cNvPr>
            <p:cNvCxnSpPr>
              <a:cxnSpLocks/>
            </p:cNvCxnSpPr>
            <p:nvPr/>
          </p:nvCxnSpPr>
          <p:spPr>
            <a:xfrm>
              <a:off x="1042821" y="5733256"/>
              <a:ext cx="63529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1" name="CuadroTexto 30">
                  <a:extLst>
                    <a:ext uri="{FF2B5EF4-FFF2-40B4-BE49-F238E27FC236}">
                      <a16:creationId xmlns:a16="http://schemas.microsoft.com/office/drawing/2014/main" id="{B0EC4A1B-117F-9ECA-4D5F-076E5A7F455E}"/>
                    </a:ext>
                  </a:extLst>
                </p:cNvPr>
                <p:cNvSpPr txBox="1"/>
                <p:nvPr/>
              </p:nvSpPr>
              <p:spPr>
                <a:xfrm>
                  <a:off x="1110400" y="5893305"/>
                  <a:ext cx="471283" cy="18466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PE" sz="1200" b="1" i="1" smtClean="0">
                            <a:latin typeface="Cambria Math" panose="02040503050406030204" pitchFamily="18" charset="0"/>
                          </a:rPr>
                          <m:t>𝟑𝟎</m:t>
                        </m:r>
                        <m:r>
                          <a:rPr lang="es-PE" sz="1200" b="1" i="1" smtClean="0">
                            <a:latin typeface="Cambria Math" panose="02040503050406030204" pitchFamily="18" charset="0"/>
                          </a:rPr>
                          <m:t> </m:t>
                        </m:r>
                        <m:r>
                          <a:rPr lang="es-PE" sz="1200" b="1" i="1" smtClean="0">
                            <a:latin typeface="Cambria Math" panose="02040503050406030204" pitchFamily="18" charset="0"/>
                          </a:rPr>
                          <m:t>𝒄𝒎</m:t>
                        </m:r>
                      </m:oMath>
                    </m:oMathPara>
                  </a14:m>
                  <a:endParaRPr lang="es-PE" sz="1200" b="1" i="1" dirty="0"/>
                </a:p>
              </p:txBody>
            </p:sp>
          </mc:Choice>
          <mc:Fallback xmlns="">
            <p:sp>
              <p:nvSpPr>
                <p:cNvPr id="31" name="CuadroTexto 30">
                  <a:extLst>
                    <a:ext uri="{FF2B5EF4-FFF2-40B4-BE49-F238E27FC236}">
                      <a16:creationId xmlns:a16="http://schemas.microsoft.com/office/drawing/2014/main" id="{B0EC4A1B-117F-9ECA-4D5F-076E5A7F455E}"/>
                    </a:ext>
                  </a:extLst>
                </p:cNvPr>
                <p:cNvSpPr txBox="1">
                  <a:spLocks noRot="1" noChangeAspect="1" noMove="1" noResize="1" noEditPoints="1" noAdjustHandles="1" noChangeArrowheads="1" noChangeShapeType="1" noTextEdit="1"/>
                </p:cNvSpPr>
                <p:nvPr/>
              </p:nvSpPr>
              <p:spPr>
                <a:xfrm>
                  <a:off x="1110400" y="5893305"/>
                  <a:ext cx="471283" cy="184666"/>
                </a:xfrm>
                <a:prstGeom prst="rect">
                  <a:avLst/>
                </a:prstGeom>
                <a:blipFill>
                  <a:blip r:embed="rId3"/>
                  <a:stretch>
                    <a:fillRect l="-7692" r="-5128" b="-6667"/>
                  </a:stretch>
                </a:blipFill>
              </p:spPr>
              <p:txBody>
                <a:bodyPr/>
                <a:lstStyle/>
                <a:p>
                  <a:r>
                    <a:rPr lang="es-PE">
                      <a:noFill/>
                    </a:rPr>
                    <a:t> </a:t>
                  </a:r>
                </a:p>
              </p:txBody>
            </p:sp>
          </mc:Fallback>
        </mc:AlternateContent>
        <p:cxnSp>
          <p:nvCxnSpPr>
            <p:cNvPr id="32" name="Conector recto 31">
              <a:extLst>
                <a:ext uri="{FF2B5EF4-FFF2-40B4-BE49-F238E27FC236}">
                  <a16:creationId xmlns:a16="http://schemas.microsoft.com/office/drawing/2014/main" id="{0256719A-02F0-50D3-CDD6-92586642DA3D}"/>
                </a:ext>
              </a:extLst>
            </p:cNvPr>
            <p:cNvCxnSpPr>
              <a:cxnSpLocks/>
            </p:cNvCxnSpPr>
            <p:nvPr/>
          </p:nvCxnSpPr>
          <p:spPr>
            <a:xfrm>
              <a:off x="918571" y="4976843"/>
              <a:ext cx="0" cy="61274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Conector recto 33">
              <a:extLst>
                <a:ext uri="{FF2B5EF4-FFF2-40B4-BE49-F238E27FC236}">
                  <a16:creationId xmlns:a16="http://schemas.microsoft.com/office/drawing/2014/main" id="{46561584-17C2-B301-B7C0-CBDE41AFEA25}"/>
                </a:ext>
              </a:extLst>
            </p:cNvPr>
            <p:cNvCxnSpPr/>
            <p:nvPr/>
          </p:nvCxnSpPr>
          <p:spPr>
            <a:xfrm>
              <a:off x="801276" y="5042849"/>
              <a:ext cx="216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Conector recto 34">
              <a:extLst>
                <a:ext uri="{FF2B5EF4-FFF2-40B4-BE49-F238E27FC236}">
                  <a16:creationId xmlns:a16="http://schemas.microsoft.com/office/drawing/2014/main" id="{47B61D6A-9196-506A-46BB-F468D4B44EB0}"/>
                </a:ext>
              </a:extLst>
            </p:cNvPr>
            <p:cNvCxnSpPr/>
            <p:nvPr/>
          </p:nvCxnSpPr>
          <p:spPr>
            <a:xfrm>
              <a:off x="814039" y="5462158"/>
              <a:ext cx="216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Conector recto 35">
              <a:extLst>
                <a:ext uri="{FF2B5EF4-FFF2-40B4-BE49-F238E27FC236}">
                  <a16:creationId xmlns:a16="http://schemas.microsoft.com/office/drawing/2014/main" id="{311EC56E-9699-0352-1A25-6133DAA12D25}"/>
                </a:ext>
              </a:extLst>
            </p:cNvPr>
            <p:cNvCxnSpPr/>
            <p:nvPr/>
          </p:nvCxnSpPr>
          <p:spPr>
            <a:xfrm>
              <a:off x="1576430" y="5659132"/>
              <a:ext cx="0" cy="18000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7" name="CuadroTexto 36">
                  <a:extLst>
                    <a:ext uri="{FF2B5EF4-FFF2-40B4-BE49-F238E27FC236}">
                      <a16:creationId xmlns:a16="http://schemas.microsoft.com/office/drawing/2014/main" id="{F470CAC1-752B-AA49-8BE2-E46BC72E6187}"/>
                    </a:ext>
                  </a:extLst>
                </p:cNvPr>
                <p:cNvSpPr txBox="1"/>
                <p:nvPr/>
              </p:nvSpPr>
              <p:spPr>
                <a:xfrm>
                  <a:off x="424663" y="5148731"/>
                  <a:ext cx="471283" cy="18466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PE" sz="1200" b="1" i="1" smtClean="0">
                            <a:latin typeface="Cambria Math" panose="02040503050406030204" pitchFamily="18" charset="0"/>
                          </a:rPr>
                          <m:t>𝟑𝟎</m:t>
                        </m:r>
                        <m:r>
                          <a:rPr lang="es-PE" sz="1200" b="1" i="1" smtClean="0">
                            <a:latin typeface="Cambria Math" panose="02040503050406030204" pitchFamily="18" charset="0"/>
                          </a:rPr>
                          <m:t> </m:t>
                        </m:r>
                        <m:r>
                          <a:rPr lang="es-PE" sz="1200" b="1" i="1" smtClean="0">
                            <a:latin typeface="Cambria Math" panose="02040503050406030204" pitchFamily="18" charset="0"/>
                          </a:rPr>
                          <m:t>𝒄𝒎</m:t>
                        </m:r>
                      </m:oMath>
                    </m:oMathPara>
                  </a14:m>
                  <a:endParaRPr lang="es-PE" sz="1200" b="1" i="1" dirty="0"/>
                </a:p>
              </p:txBody>
            </p:sp>
          </mc:Choice>
          <mc:Fallback xmlns="">
            <p:sp>
              <p:nvSpPr>
                <p:cNvPr id="37" name="CuadroTexto 36">
                  <a:extLst>
                    <a:ext uri="{FF2B5EF4-FFF2-40B4-BE49-F238E27FC236}">
                      <a16:creationId xmlns:a16="http://schemas.microsoft.com/office/drawing/2014/main" id="{F470CAC1-752B-AA49-8BE2-E46BC72E6187}"/>
                    </a:ext>
                  </a:extLst>
                </p:cNvPr>
                <p:cNvSpPr txBox="1">
                  <a:spLocks noRot="1" noChangeAspect="1" noMove="1" noResize="1" noEditPoints="1" noAdjustHandles="1" noChangeArrowheads="1" noChangeShapeType="1" noTextEdit="1"/>
                </p:cNvSpPr>
                <p:nvPr/>
              </p:nvSpPr>
              <p:spPr>
                <a:xfrm>
                  <a:off x="424663" y="5148731"/>
                  <a:ext cx="471283" cy="184666"/>
                </a:xfrm>
                <a:prstGeom prst="rect">
                  <a:avLst/>
                </a:prstGeom>
                <a:blipFill>
                  <a:blip r:embed="rId4"/>
                  <a:stretch>
                    <a:fillRect l="-7792" r="-5195" b="-6667"/>
                  </a:stretch>
                </a:blipFill>
              </p:spPr>
              <p:txBody>
                <a:bodyPr/>
                <a:lstStyle/>
                <a:p>
                  <a:r>
                    <a:rPr lang="es-PE">
                      <a:noFill/>
                    </a:rPr>
                    <a:t> </a:t>
                  </a:r>
                </a:p>
              </p:txBody>
            </p:sp>
          </mc:Fallback>
        </mc:AlternateContent>
      </p:grpSp>
      <p:grpSp>
        <p:nvGrpSpPr>
          <p:cNvPr id="39" name="Grupo 38">
            <a:extLst>
              <a:ext uri="{FF2B5EF4-FFF2-40B4-BE49-F238E27FC236}">
                <a16:creationId xmlns:a16="http://schemas.microsoft.com/office/drawing/2014/main" id="{9396947E-B5B7-9FEA-496A-C485D416760A}"/>
              </a:ext>
            </a:extLst>
          </p:cNvPr>
          <p:cNvGrpSpPr/>
          <p:nvPr/>
        </p:nvGrpSpPr>
        <p:grpSpPr>
          <a:xfrm>
            <a:off x="2987071" y="4893083"/>
            <a:ext cx="1253448" cy="1101128"/>
            <a:chOff x="424663" y="4976843"/>
            <a:chExt cx="1253448" cy="1101128"/>
          </a:xfrm>
        </p:grpSpPr>
        <p:sp>
          <p:nvSpPr>
            <p:cNvPr id="40" name="Rectángulo 39">
              <a:extLst>
                <a:ext uri="{FF2B5EF4-FFF2-40B4-BE49-F238E27FC236}">
                  <a16:creationId xmlns:a16="http://schemas.microsoft.com/office/drawing/2014/main" id="{FACC5F9A-5E29-3251-8BED-F66BE3F1BC80}"/>
                </a:ext>
              </a:extLst>
            </p:cNvPr>
            <p:cNvSpPr>
              <a:spLocks noChangeAspect="1"/>
            </p:cNvSpPr>
            <p:nvPr/>
          </p:nvSpPr>
          <p:spPr>
            <a:xfrm>
              <a:off x="1149729" y="5048875"/>
              <a:ext cx="504000" cy="432000"/>
            </a:xfrm>
            <a:prstGeom prst="rect">
              <a:avLst/>
            </a:prstGeom>
            <a:pattFill prst="wdUpDiag">
              <a:fgClr>
                <a:schemeClr val="tx1">
                  <a:lumMod val="65000"/>
                  <a:lumOff val="35000"/>
                </a:schemeClr>
              </a:fgClr>
              <a:bgClr>
                <a:schemeClr val="bg1"/>
              </a:bgClr>
            </a:patt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cxnSp>
          <p:nvCxnSpPr>
            <p:cNvPr id="41" name="Conector recto 40">
              <a:extLst>
                <a:ext uri="{FF2B5EF4-FFF2-40B4-BE49-F238E27FC236}">
                  <a16:creationId xmlns:a16="http://schemas.microsoft.com/office/drawing/2014/main" id="{1476BF03-4976-F2D7-B69D-5B12963ABB3F}"/>
                </a:ext>
              </a:extLst>
            </p:cNvPr>
            <p:cNvCxnSpPr/>
            <p:nvPr/>
          </p:nvCxnSpPr>
          <p:spPr>
            <a:xfrm>
              <a:off x="1149729" y="5640390"/>
              <a:ext cx="0" cy="18000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Conector recto 41">
              <a:extLst>
                <a:ext uri="{FF2B5EF4-FFF2-40B4-BE49-F238E27FC236}">
                  <a16:creationId xmlns:a16="http://schemas.microsoft.com/office/drawing/2014/main" id="{3801204E-C8EB-2857-D435-F98093810063}"/>
                </a:ext>
              </a:extLst>
            </p:cNvPr>
            <p:cNvCxnSpPr>
              <a:cxnSpLocks/>
            </p:cNvCxnSpPr>
            <p:nvPr/>
          </p:nvCxnSpPr>
          <p:spPr>
            <a:xfrm>
              <a:off x="1042821" y="5733256"/>
              <a:ext cx="63529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3" name="CuadroTexto 42">
                  <a:extLst>
                    <a:ext uri="{FF2B5EF4-FFF2-40B4-BE49-F238E27FC236}">
                      <a16:creationId xmlns:a16="http://schemas.microsoft.com/office/drawing/2014/main" id="{E2A07CE4-A1D6-A3B8-3CE5-E7E8C0D38395}"/>
                    </a:ext>
                  </a:extLst>
                </p:cNvPr>
                <p:cNvSpPr txBox="1"/>
                <p:nvPr/>
              </p:nvSpPr>
              <p:spPr>
                <a:xfrm>
                  <a:off x="1110400" y="5893305"/>
                  <a:ext cx="471283" cy="18466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PE" sz="1200" b="1" i="1" smtClean="0">
                            <a:latin typeface="Cambria Math" panose="02040503050406030204" pitchFamily="18" charset="0"/>
                          </a:rPr>
                          <m:t>𝟑𝟓</m:t>
                        </m:r>
                        <m:r>
                          <a:rPr lang="es-PE" sz="1200" b="1" i="1" smtClean="0">
                            <a:latin typeface="Cambria Math" panose="02040503050406030204" pitchFamily="18" charset="0"/>
                          </a:rPr>
                          <m:t> </m:t>
                        </m:r>
                        <m:r>
                          <a:rPr lang="es-PE" sz="1200" b="1" i="1" smtClean="0">
                            <a:latin typeface="Cambria Math" panose="02040503050406030204" pitchFamily="18" charset="0"/>
                          </a:rPr>
                          <m:t>𝒄𝒎</m:t>
                        </m:r>
                      </m:oMath>
                    </m:oMathPara>
                  </a14:m>
                  <a:endParaRPr lang="es-PE" sz="1200" b="1" i="1" dirty="0"/>
                </a:p>
              </p:txBody>
            </p:sp>
          </mc:Choice>
          <mc:Fallback xmlns="">
            <p:sp>
              <p:nvSpPr>
                <p:cNvPr id="43" name="CuadroTexto 42">
                  <a:extLst>
                    <a:ext uri="{FF2B5EF4-FFF2-40B4-BE49-F238E27FC236}">
                      <a16:creationId xmlns:a16="http://schemas.microsoft.com/office/drawing/2014/main" id="{E2A07CE4-A1D6-A3B8-3CE5-E7E8C0D38395}"/>
                    </a:ext>
                  </a:extLst>
                </p:cNvPr>
                <p:cNvSpPr txBox="1">
                  <a:spLocks noRot="1" noChangeAspect="1" noMove="1" noResize="1" noEditPoints="1" noAdjustHandles="1" noChangeArrowheads="1" noChangeShapeType="1" noTextEdit="1"/>
                </p:cNvSpPr>
                <p:nvPr/>
              </p:nvSpPr>
              <p:spPr>
                <a:xfrm>
                  <a:off x="1110400" y="5893305"/>
                  <a:ext cx="471283" cy="184666"/>
                </a:xfrm>
                <a:prstGeom prst="rect">
                  <a:avLst/>
                </a:prstGeom>
                <a:blipFill>
                  <a:blip r:embed="rId5"/>
                  <a:stretch>
                    <a:fillRect l="-7692" r="-5128" b="-10000"/>
                  </a:stretch>
                </a:blipFill>
              </p:spPr>
              <p:txBody>
                <a:bodyPr/>
                <a:lstStyle/>
                <a:p>
                  <a:r>
                    <a:rPr lang="es-PE">
                      <a:noFill/>
                    </a:rPr>
                    <a:t> </a:t>
                  </a:r>
                </a:p>
              </p:txBody>
            </p:sp>
          </mc:Fallback>
        </mc:AlternateContent>
        <p:cxnSp>
          <p:nvCxnSpPr>
            <p:cNvPr id="44" name="Conector recto 43">
              <a:extLst>
                <a:ext uri="{FF2B5EF4-FFF2-40B4-BE49-F238E27FC236}">
                  <a16:creationId xmlns:a16="http://schemas.microsoft.com/office/drawing/2014/main" id="{0097B614-9D4E-F932-40D6-22DEB0A2B7FD}"/>
                </a:ext>
              </a:extLst>
            </p:cNvPr>
            <p:cNvCxnSpPr>
              <a:cxnSpLocks/>
            </p:cNvCxnSpPr>
            <p:nvPr/>
          </p:nvCxnSpPr>
          <p:spPr>
            <a:xfrm>
              <a:off x="918571" y="4976843"/>
              <a:ext cx="0" cy="61274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Conector recto 44">
              <a:extLst>
                <a:ext uri="{FF2B5EF4-FFF2-40B4-BE49-F238E27FC236}">
                  <a16:creationId xmlns:a16="http://schemas.microsoft.com/office/drawing/2014/main" id="{71E37251-F13A-8BFB-D581-124A8965E6E4}"/>
                </a:ext>
              </a:extLst>
            </p:cNvPr>
            <p:cNvCxnSpPr/>
            <p:nvPr/>
          </p:nvCxnSpPr>
          <p:spPr>
            <a:xfrm>
              <a:off x="801276" y="5042849"/>
              <a:ext cx="216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Conector recto 45">
              <a:extLst>
                <a:ext uri="{FF2B5EF4-FFF2-40B4-BE49-F238E27FC236}">
                  <a16:creationId xmlns:a16="http://schemas.microsoft.com/office/drawing/2014/main" id="{540A507A-D001-AF41-662B-1259C0648680}"/>
                </a:ext>
              </a:extLst>
            </p:cNvPr>
            <p:cNvCxnSpPr/>
            <p:nvPr/>
          </p:nvCxnSpPr>
          <p:spPr>
            <a:xfrm>
              <a:off x="814039" y="5462158"/>
              <a:ext cx="216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 name="Conector recto 46">
              <a:extLst>
                <a:ext uri="{FF2B5EF4-FFF2-40B4-BE49-F238E27FC236}">
                  <a16:creationId xmlns:a16="http://schemas.microsoft.com/office/drawing/2014/main" id="{755B1E69-4C28-B938-BBB9-9CD1E12C14D0}"/>
                </a:ext>
              </a:extLst>
            </p:cNvPr>
            <p:cNvCxnSpPr/>
            <p:nvPr/>
          </p:nvCxnSpPr>
          <p:spPr>
            <a:xfrm>
              <a:off x="1644166" y="5650665"/>
              <a:ext cx="0" cy="18000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8" name="CuadroTexto 47">
                  <a:extLst>
                    <a:ext uri="{FF2B5EF4-FFF2-40B4-BE49-F238E27FC236}">
                      <a16:creationId xmlns:a16="http://schemas.microsoft.com/office/drawing/2014/main" id="{90F36EC7-41DC-5C3A-3CBC-B706C5961235}"/>
                    </a:ext>
                  </a:extLst>
                </p:cNvPr>
                <p:cNvSpPr txBox="1"/>
                <p:nvPr/>
              </p:nvSpPr>
              <p:spPr>
                <a:xfrm>
                  <a:off x="424663" y="5148731"/>
                  <a:ext cx="471283" cy="18466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PE" sz="1200" b="1" i="1" smtClean="0">
                            <a:latin typeface="Cambria Math" panose="02040503050406030204" pitchFamily="18" charset="0"/>
                          </a:rPr>
                          <m:t>𝟑𝟎</m:t>
                        </m:r>
                        <m:r>
                          <a:rPr lang="es-PE" sz="1200" b="1" i="1" smtClean="0">
                            <a:latin typeface="Cambria Math" panose="02040503050406030204" pitchFamily="18" charset="0"/>
                          </a:rPr>
                          <m:t> </m:t>
                        </m:r>
                        <m:r>
                          <a:rPr lang="es-PE" sz="1200" b="1" i="1" smtClean="0">
                            <a:latin typeface="Cambria Math" panose="02040503050406030204" pitchFamily="18" charset="0"/>
                          </a:rPr>
                          <m:t>𝒄𝒎</m:t>
                        </m:r>
                      </m:oMath>
                    </m:oMathPara>
                  </a14:m>
                  <a:endParaRPr lang="es-PE" sz="1200" b="1" i="1" dirty="0"/>
                </a:p>
              </p:txBody>
            </p:sp>
          </mc:Choice>
          <mc:Fallback xmlns="">
            <p:sp>
              <p:nvSpPr>
                <p:cNvPr id="48" name="CuadroTexto 47">
                  <a:extLst>
                    <a:ext uri="{FF2B5EF4-FFF2-40B4-BE49-F238E27FC236}">
                      <a16:creationId xmlns:a16="http://schemas.microsoft.com/office/drawing/2014/main" id="{90F36EC7-41DC-5C3A-3CBC-B706C5961235}"/>
                    </a:ext>
                  </a:extLst>
                </p:cNvPr>
                <p:cNvSpPr txBox="1">
                  <a:spLocks noRot="1" noChangeAspect="1" noMove="1" noResize="1" noEditPoints="1" noAdjustHandles="1" noChangeArrowheads="1" noChangeShapeType="1" noTextEdit="1"/>
                </p:cNvSpPr>
                <p:nvPr/>
              </p:nvSpPr>
              <p:spPr>
                <a:xfrm>
                  <a:off x="424663" y="5148731"/>
                  <a:ext cx="471283" cy="184666"/>
                </a:xfrm>
                <a:prstGeom prst="rect">
                  <a:avLst/>
                </a:prstGeom>
                <a:blipFill>
                  <a:blip r:embed="rId3"/>
                  <a:stretch>
                    <a:fillRect l="-7792" r="-6494" b="-6667"/>
                  </a:stretch>
                </a:blipFill>
              </p:spPr>
              <p:txBody>
                <a:bodyPr/>
                <a:lstStyle/>
                <a:p>
                  <a:r>
                    <a:rPr lang="es-PE">
                      <a:noFill/>
                    </a:rPr>
                    <a:t> </a:t>
                  </a:r>
                </a:p>
              </p:txBody>
            </p:sp>
          </mc:Fallback>
        </mc:AlternateContent>
      </p:grpSp>
      <p:grpSp>
        <p:nvGrpSpPr>
          <p:cNvPr id="49" name="Grupo 48">
            <a:extLst>
              <a:ext uri="{FF2B5EF4-FFF2-40B4-BE49-F238E27FC236}">
                <a16:creationId xmlns:a16="http://schemas.microsoft.com/office/drawing/2014/main" id="{B304BAF0-437D-3B6A-76B7-8A8CCA3E28B7}"/>
              </a:ext>
            </a:extLst>
          </p:cNvPr>
          <p:cNvGrpSpPr/>
          <p:nvPr/>
        </p:nvGrpSpPr>
        <p:grpSpPr>
          <a:xfrm>
            <a:off x="5307149" y="4913670"/>
            <a:ext cx="1301066" cy="1101128"/>
            <a:chOff x="424663" y="4976843"/>
            <a:chExt cx="1301066" cy="1101128"/>
          </a:xfrm>
        </p:grpSpPr>
        <p:sp>
          <p:nvSpPr>
            <p:cNvPr id="50" name="Rectángulo 49">
              <a:extLst>
                <a:ext uri="{FF2B5EF4-FFF2-40B4-BE49-F238E27FC236}">
                  <a16:creationId xmlns:a16="http://schemas.microsoft.com/office/drawing/2014/main" id="{41443029-9884-E4A1-0E69-4B2EE5B67629}"/>
                </a:ext>
              </a:extLst>
            </p:cNvPr>
            <p:cNvSpPr>
              <a:spLocks noChangeAspect="1"/>
            </p:cNvSpPr>
            <p:nvPr/>
          </p:nvSpPr>
          <p:spPr>
            <a:xfrm>
              <a:off x="1149729" y="5048875"/>
              <a:ext cx="576000" cy="432000"/>
            </a:xfrm>
            <a:prstGeom prst="rect">
              <a:avLst/>
            </a:prstGeom>
            <a:pattFill prst="wdUpDiag">
              <a:fgClr>
                <a:schemeClr val="tx1">
                  <a:lumMod val="65000"/>
                  <a:lumOff val="35000"/>
                </a:schemeClr>
              </a:fgClr>
              <a:bgClr>
                <a:schemeClr val="bg1"/>
              </a:bgClr>
            </a:patt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cxnSp>
          <p:nvCxnSpPr>
            <p:cNvPr id="51" name="Conector recto 50">
              <a:extLst>
                <a:ext uri="{FF2B5EF4-FFF2-40B4-BE49-F238E27FC236}">
                  <a16:creationId xmlns:a16="http://schemas.microsoft.com/office/drawing/2014/main" id="{847F684D-3233-EB67-C7AC-DDF841C4EC1C}"/>
                </a:ext>
              </a:extLst>
            </p:cNvPr>
            <p:cNvCxnSpPr/>
            <p:nvPr/>
          </p:nvCxnSpPr>
          <p:spPr>
            <a:xfrm>
              <a:off x="1149729" y="5640390"/>
              <a:ext cx="0" cy="18000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 name="Conector recto 51">
              <a:extLst>
                <a:ext uri="{FF2B5EF4-FFF2-40B4-BE49-F238E27FC236}">
                  <a16:creationId xmlns:a16="http://schemas.microsoft.com/office/drawing/2014/main" id="{F474D313-96D9-D812-2B99-899F3F55AE84}"/>
                </a:ext>
              </a:extLst>
            </p:cNvPr>
            <p:cNvCxnSpPr>
              <a:cxnSpLocks/>
            </p:cNvCxnSpPr>
            <p:nvPr/>
          </p:nvCxnSpPr>
          <p:spPr>
            <a:xfrm>
              <a:off x="1042821" y="5733256"/>
              <a:ext cx="63529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3" name="CuadroTexto 52">
                  <a:extLst>
                    <a:ext uri="{FF2B5EF4-FFF2-40B4-BE49-F238E27FC236}">
                      <a16:creationId xmlns:a16="http://schemas.microsoft.com/office/drawing/2014/main" id="{447BFE75-5D67-A0C0-EA78-3BC57F2FB6D9}"/>
                    </a:ext>
                  </a:extLst>
                </p:cNvPr>
                <p:cNvSpPr txBox="1"/>
                <p:nvPr/>
              </p:nvSpPr>
              <p:spPr>
                <a:xfrm>
                  <a:off x="1110400" y="5893305"/>
                  <a:ext cx="471283" cy="18466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PE" sz="1200" b="1" i="1" smtClean="0">
                            <a:latin typeface="Cambria Math" panose="02040503050406030204" pitchFamily="18" charset="0"/>
                          </a:rPr>
                          <m:t>𝟒𝟓</m:t>
                        </m:r>
                        <m:r>
                          <a:rPr lang="es-PE" sz="1200" b="1" i="1" smtClean="0">
                            <a:latin typeface="Cambria Math" panose="02040503050406030204" pitchFamily="18" charset="0"/>
                          </a:rPr>
                          <m:t> </m:t>
                        </m:r>
                        <m:r>
                          <a:rPr lang="es-PE" sz="1200" b="1" i="1" smtClean="0">
                            <a:latin typeface="Cambria Math" panose="02040503050406030204" pitchFamily="18" charset="0"/>
                          </a:rPr>
                          <m:t>𝒄𝒎</m:t>
                        </m:r>
                      </m:oMath>
                    </m:oMathPara>
                  </a14:m>
                  <a:endParaRPr lang="es-PE" sz="1200" b="1" i="1" dirty="0"/>
                </a:p>
              </p:txBody>
            </p:sp>
          </mc:Choice>
          <mc:Fallback xmlns="">
            <p:sp>
              <p:nvSpPr>
                <p:cNvPr id="53" name="CuadroTexto 52">
                  <a:extLst>
                    <a:ext uri="{FF2B5EF4-FFF2-40B4-BE49-F238E27FC236}">
                      <a16:creationId xmlns:a16="http://schemas.microsoft.com/office/drawing/2014/main" id="{447BFE75-5D67-A0C0-EA78-3BC57F2FB6D9}"/>
                    </a:ext>
                  </a:extLst>
                </p:cNvPr>
                <p:cNvSpPr txBox="1">
                  <a:spLocks noRot="1" noChangeAspect="1" noMove="1" noResize="1" noEditPoints="1" noAdjustHandles="1" noChangeArrowheads="1" noChangeShapeType="1" noTextEdit="1"/>
                </p:cNvSpPr>
                <p:nvPr/>
              </p:nvSpPr>
              <p:spPr>
                <a:xfrm>
                  <a:off x="1110400" y="5893305"/>
                  <a:ext cx="471283" cy="184666"/>
                </a:xfrm>
                <a:prstGeom prst="rect">
                  <a:avLst/>
                </a:prstGeom>
                <a:blipFill>
                  <a:blip r:embed="rId6"/>
                  <a:stretch>
                    <a:fillRect l="-7792" r="-6494" b="-6452"/>
                  </a:stretch>
                </a:blipFill>
              </p:spPr>
              <p:txBody>
                <a:bodyPr/>
                <a:lstStyle/>
                <a:p>
                  <a:r>
                    <a:rPr lang="es-PE">
                      <a:noFill/>
                    </a:rPr>
                    <a:t> </a:t>
                  </a:r>
                </a:p>
              </p:txBody>
            </p:sp>
          </mc:Fallback>
        </mc:AlternateContent>
        <p:cxnSp>
          <p:nvCxnSpPr>
            <p:cNvPr id="54" name="Conector recto 53">
              <a:extLst>
                <a:ext uri="{FF2B5EF4-FFF2-40B4-BE49-F238E27FC236}">
                  <a16:creationId xmlns:a16="http://schemas.microsoft.com/office/drawing/2014/main" id="{071A0967-D1A8-C4A1-A860-44CD3C803799}"/>
                </a:ext>
              </a:extLst>
            </p:cNvPr>
            <p:cNvCxnSpPr>
              <a:cxnSpLocks/>
            </p:cNvCxnSpPr>
            <p:nvPr/>
          </p:nvCxnSpPr>
          <p:spPr>
            <a:xfrm>
              <a:off x="918571" y="4976843"/>
              <a:ext cx="0" cy="61274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 name="Conector recto 54">
              <a:extLst>
                <a:ext uri="{FF2B5EF4-FFF2-40B4-BE49-F238E27FC236}">
                  <a16:creationId xmlns:a16="http://schemas.microsoft.com/office/drawing/2014/main" id="{7984E6A3-28E1-13A8-7A7E-ABBA2E2FA532}"/>
                </a:ext>
              </a:extLst>
            </p:cNvPr>
            <p:cNvCxnSpPr/>
            <p:nvPr/>
          </p:nvCxnSpPr>
          <p:spPr>
            <a:xfrm>
              <a:off x="801276" y="5042849"/>
              <a:ext cx="216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 name="Conector recto 55">
              <a:extLst>
                <a:ext uri="{FF2B5EF4-FFF2-40B4-BE49-F238E27FC236}">
                  <a16:creationId xmlns:a16="http://schemas.microsoft.com/office/drawing/2014/main" id="{FDCA4726-4C9F-A280-ED7F-3595283ED598}"/>
                </a:ext>
              </a:extLst>
            </p:cNvPr>
            <p:cNvCxnSpPr/>
            <p:nvPr/>
          </p:nvCxnSpPr>
          <p:spPr>
            <a:xfrm>
              <a:off x="814039" y="5462158"/>
              <a:ext cx="216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 name="Conector recto 56">
              <a:extLst>
                <a:ext uri="{FF2B5EF4-FFF2-40B4-BE49-F238E27FC236}">
                  <a16:creationId xmlns:a16="http://schemas.microsoft.com/office/drawing/2014/main" id="{0F093772-58C3-4601-298C-BE4744DC27D8}"/>
                </a:ext>
              </a:extLst>
            </p:cNvPr>
            <p:cNvCxnSpPr/>
            <p:nvPr/>
          </p:nvCxnSpPr>
          <p:spPr>
            <a:xfrm>
              <a:off x="1644166" y="5650665"/>
              <a:ext cx="0" cy="18000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8" name="CuadroTexto 57">
                  <a:extLst>
                    <a:ext uri="{FF2B5EF4-FFF2-40B4-BE49-F238E27FC236}">
                      <a16:creationId xmlns:a16="http://schemas.microsoft.com/office/drawing/2014/main" id="{4D8B660E-C570-7404-E61F-DCA0B963694D}"/>
                    </a:ext>
                  </a:extLst>
                </p:cNvPr>
                <p:cNvSpPr txBox="1"/>
                <p:nvPr/>
              </p:nvSpPr>
              <p:spPr>
                <a:xfrm>
                  <a:off x="424663" y="5148731"/>
                  <a:ext cx="471283" cy="18466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PE" sz="1200" b="1" i="1" smtClean="0">
                            <a:latin typeface="Cambria Math" panose="02040503050406030204" pitchFamily="18" charset="0"/>
                          </a:rPr>
                          <m:t>𝟑𝟎</m:t>
                        </m:r>
                        <m:r>
                          <a:rPr lang="es-PE" sz="1200" b="1" i="1" smtClean="0">
                            <a:latin typeface="Cambria Math" panose="02040503050406030204" pitchFamily="18" charset="0"/>
                          </a:rPr>
                          <m:t> </m:t>
                        </m:r>
                        <m:r>
                          <a:rPr lang="es-PE" sz="1200" b="1" i="1" smtClean="0">
                            <a:latin typeface="Cambria Math" panose="02040503050406030204" pitchFamily="18" charset="0"/>
                          </a:rPr>
                          <m:t>𝒄𝒎</m:t>
                        </m:r>
                      </m:oMath>
                    </m:oMathPara>
                  </a14:m>
                  <a:endParaRPr lang="es-PE" sz="1200" b="1" i="1" dirty="0"/>
                </a:p>
              </p:txBody>
            </p:sp>
          </mc:Choice>
          <mc:Fallback xmlns="">
            <p:sp>
              <p:nvSpPr>
                <p:cNvPr id="58" name="CuadroTexto 57">
                  <a:extLst>
                    <a:ext uri="{FF2B5EF4-FFF2-40B4-BE49-F238E27FC236}">
                      <a16:creationId xmlns:a16="http://schemas.microsoft.com/office/drawing/2014/main" id="{4D8B660E-C570-7404-E61F-DCA0B963694D}"/>
                    </a:ext>
                  </a:extLst>
                </p:cNvPr>
                <p:cNvSpPr txBox="1">
                  <a:spLocks noRot="1" noChangeAspect="1" noMove="1" noResize="1" noEditPoints="1" noAdjustHandles="1" noChangeArrowheads="1" noChangeShapeType="1" noTextEdit="1"/>
                </p:cNvSpPr>
                <p:nvPr/>
              </p:nvSpPr>
              <p:spPr>
                <a:xfrm>
                  <a:off x="424663" y="5148731"/>
                  <a:ext cx="471283" cy="184666"/>
                </a:xfrm>
                <a:prstGeom prst="rect">
                  <a:avLst/>
                </a:prstGeom>
                <a:blipFill>
                  <a:blip r:embed="rId4"/>
                  <a:stretch>
                    <a:fillRect l="-7792" r="-5195" b="-3226"/>
                  </a:stretch>
                </a:blipFill>
              </p:spPr>
              <p:txBody>
                <a:bodyPr/>
                <a:lstStyle/>
                <a:p>
                  <a:r>
                    <a:rPr lang="es-PE">
                      <a:noFill/>
                    </a:rPr>
                    <a:t> </a:t>
                  </a:r>
                </a:p>
              </p:txBody>
            </p:sp>
          </mc:Fallback>
        </mc:AlternateContent>
      </p:grpSp>
      <p:grpSp>
        <p:nvGrpSpPr>
          <p:cNvPr id="59" name="Grupo 58">
            <a:extLst>
              <a:ext uri="{FF2B5EF4-FFF2-40B4-BE49-F238E27FC236}">
                <a16:creationId xmlns:a16="http://schemas.microsoft.com/office/drawing/2014/main" id="{B9D0E3A8-D1D0-2B0D-B28C-4B4A300D8206}"/>
              </a:ext>
            </a:extLst>
          </p:cNvPr>
          <p:cNvGrpSpPr/>
          <p:nvPr/>
        </p:nvGrpSpPr>
        <p:grpSpPr>
          <a:xfrm>
            <a:off x="6629719" y="2060848"/>
            <a:ext cx="1155667" cy="1137101"/>
            <a:chOff x="426016" y="4940870"/>
            <a:chExt cx="1155667" cy="1137101"/>
          </a:xfrm>
        </p:grpSpPr>
        <p:sp>
          <p:nvSpPr>
            <p:cNvPr id="60" name="Rectángulo 59">
              <a:extLst>
                <a:ext uri="{FF2B5EF4-FFF2-40B4-BE49-F238E27FC236}">
                  <a16:creationId xmlns:a16="http://schemas.microsoft.com/office/drawing/2014/main" id="{8A559CAF-DBDB-9BFD-557A-9CB0D9E00E81}"/>
                </a:ext>
              </a:extLst>
            </p:cNvPr>
            <p:cNvSpPr>
              <a:spLocks noChangeAspect="1"/>
            </p:cNvSpPr>
            <p:nvPr/>
          </p:nvSpPr>
          <p:spPr>
            <a:xfrm>
              <a:off x="1149729" y="5048875"/>
              <a:ext cx="324000" cy="540000"/>
            </a:xfrm>
            <a:prstGeom prst="rect">
              <a:avLst/>
            </a:prstGeom>
            <a:pattFill prst="wdUpDiag">
              <a:fgClr>
                <a:schemeClr val="tx1">
                  <a:lumMod val="65000"/>
                  <a:lumOff val="35000"/>
                </a:schemeClr>
              </a:fgClr>
              <a:bgClr>
                <a:schemeClr val="bg1"/>
              </a:bgClr>
            </a:patt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dirty="0"/>
            </a:p>
          </p:txBody>
        </p:sp>
        <p:cxnSp>
          <p:nvCxnSpPr>
            <p:cNvPr id="61" name="Conector recto 60">
              <a:extLst>
                <a:ext uri="{FF2B5EF4-FFF2-40B4-BE49-F238E27FC236}">
                  <a16:creationId xmlns:a16="http://schemas.microsoft.com/office/drawing/2014/main" id="{30A144B4-A2B8-5233-FB46-84C03CA4553C}"/>
                </a:ext>
              </a:extLst>
            </p:cNvPr>
            <p:cNvCxnSpPr/>
            <p:nvPr/>
          </p:nvCxnSpPr>
          <p:spPr>
            <a:xfrm>
              <a:off x="1149729" y="5640390"/>
              <a:ext cx="0" cy="18000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 name="Conector recto 61">
              <a:extLst>
                <a:ext uri="{FF2B5EF4-FFF2-40B4-BE49-F238E27FC236}">
                  <a16:creationId xmlns:a16="http://schemas.microsoft.com/office/drawing/2014/main" id="{24214798-2537-4986-DD4F-A5E5C413666E}"/>
                </a:ext>
              </a:extLst>
            </p:cNvPr>
            <p:cNvCxnSpPr>
              <a:cxnSpLocks/>
            </p:cNvCxnSpPr>
            <p:nvPr/>
          </p:nvCxnSpPr>
          <p:spPr>
            <a:xfrm>
              <a:off x="1068222" y="5733256"/>
              <a:ext cx="468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3" name="CuadroTexto 62">
                  <a:extLst>
                    <a:ext uri="{FF2B5EF4-FFF2-40B4-BE49-F238E27FC236}">
                      <a16:creationId xmlns:a16="http://schemas.microsoft.com/office/drawing/2014/main" id="{6EBC0F68-DE55-F623-80C0-592EC4574729}"/>
                    </a:ext>
                  </a:extLst>
                </p:cNvPr>
                <p:cNvSpPr txBox="1"/>
                <p:nvPr/>
              </p:nvSpPr>
              <p:spPr>
                <a:xfrm>
                  <a:off x="1110400" y="5893305"/>
                  <a:ext cx="471283" cy="18466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PE" sz="1200" b="1" i="1" smtClean="0">
                            <a:latin typeface="Cambria Math" panose="02040503050406030204" pitchFamily="18" charset="0"/>
                          </a:rPr>
                          <m:t>𝟑𝟎</m:t>
                        </m:r>
                        <m:r>
                          <a:rPr lang="es-PE" sz="1200" b="1" i="1" smtClean="0">
                            <a:latin typeface="Cambria Math" panose="02040503050406030204" pitchFamily="18" charset="0"/>
                          </a:rPr>
                          <m:t> </m:t>
                        </m:r>
                        <m:r>
                          <a:rPr lang="es-PE" sz="1200" b="1" i="1" smtClean="0">
                            <a:latin typeface="Cambria Math" panose="02040503050406030204" pitchFamily="18" charset="0"/>
                          </a:rPr>
                          <m:t>𝒄𝒎</m:t>
                        </m:r>
                      </m:oMath>
                    </m:oMathPara>
                  </a14:m>
                  <a:endParaRPr lang="es-PE" sz="1200" b="1" i="1" dirty="0"/>
                </a:p>
              </p:txBody>
            </p:sp>
          </mc:Choice>
          <mc:Fallback xmlns="">
            <p:sp>
              <p:nvSpPr>
                <p:cNvPr id="63" name="CuadroTexto 62">
                  <a:extLst>
                    <a:ext uri="{FF2B5EF4-FFF2-40B4-BE49-F238E27FC236}">
                      <a16:creationId xmlns:a16="http://schemas.microsoft.com/office/drawing/2014/main" id="{6EBC0F68-DE55-F623-80C0-592EC4574729}"/>
                    </a:ext>
                  </a:extLst>
                </p:cNvPr>
                <p:cNvSpPr txBox="1">
                  <a:spLocks noRot="1" noChangeAspect="1" noMove="1" noResize="1" noEditPoints="1" noAdjustHandles="1" noChangeArrowheads="1" noChangeShapeType="1" noTextEdit="1"/>
                </p:cNvSpPr>
                <p:nvPr/>
              </p:nvSpPr>
              <p:spPr>
                <a:xfrm>
                  <a:off x="1110400" y="5893305"/>
                  <a:ext cx="471283" cy="184666"/>
                </a:xfrm>
                <a:prstGeom prst="rect">
                  <a:avLst/>
                </a:prstGeom>
                <a:blipFill>
                  <a:blip r:embed="rId4"/>
                  <a:stretch>
                    <a:fillRect l="-7792" r="-5195" b="-3226"/>
                  </a:stretch>
                </a:blipFill>
              </p:spPr>
              <p:txBody>
                <a:bodyPr/>
                <a:lstStyle/>
                <a:p>
                  <a:r>
                    <a:rPr lang="es-PE">
                      <a:noFill/>
                    </a:rPr>
                    <a:t> </a:t>
                  </a:r>
                </a:p>
              </p:txBody>
            </p:sp>
          </mc:Fallback>
        </mc:AlternateContent>
        <p:cxnSp>
          <p:nvCxnSpPr>
            <p:cNvPr id="64" name="Conector recto 63">
              <a:extLst>
                <a:ext uri="{FF2B5EF4-FFF2-40B4-BE49-F238E27FC236}">
                  <a16:creationId xmlns:a16="http://schemas.microsoft.com/office/drawing/2014/main" id="{BC7A24C7-DD4D-87DE-C72B-CF2B74C449BE}"/>
                </a:ext>
              </a:extLst>
            </p:cNvPr>
            <p:cNvCxnSpPr>
              <a:cxnSpLocks/>
            </p:cNvCxnSpPr>
            <p:nvPr/>
          </p:nvCxnSpPr>
          <p:spPr>
            <a:xfrm>
              <a:off x="918571" y="4940870"/>
              <a:ext cx="0" cy="72000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5" name="Conector recto 64">
              <a:extLst>
                <a:ext uri="{FF2B5EF4-FFF2-40B4-BE49-F238E27FC236}">
                  <a16:creationId xmlns:a16="http://schemas.microsoft.com/office/drawing/2014/main" id="{9CE1FA22-E1BE-8A39-F1D4-668589BD633C}"/>
                </a:ext>
              </a:extLst>
            </p:cNvPr>
            <p:cNvCxnSpPr/>
            <p:nvPr/>
          </p:nvCxnSpPr>
          <p:spPr>
            <a:xfrm>
              <a:off x="801276" y="5042849"/>
              <a:ext cx="216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6" name="Conector recto 65">
              <a:extLst>
                <a:ext uri="{FF2B5EF4-FFF2-40B4-BE49-F238E27FC236}">
                  <a16:creationId xmlns:a16="http://schemas.microsoft.com/office/drawing/2014/main" id="{51EAE19B-15B6-F643-596C-47AA44D7E0A6}"/>
                </a:ext>
              </a:extLst>
            </p:cNvPr>
            <p:cNvCxnSpPr/>
            <p:nvPr/>
          </p:nvCxnSpPr>
          <p:spPr>
            <a:xfrm>
              <a:off x="814039" y="5572229"/>
              <a:ext cx="216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7" name="Conector recto 66">
              <a:extLst>
                <a:ext uri="{FF2B5EF4-FFF2-40B4-BE49-F238E27FC236}">
                  <a16:creationId xmlns:a16="http://schemas.microsoft.com/office/drawing/2014/main" id="{E52223AB-855C-4DE8-6042-A187D31A64F9}"/>
                </a:ext>
              </a:extLst>
            </p:cNvPr>
            <p:cNvCxnSpPr/>
            <p:nvPr/>
          </p:nvCxnSpPr>
          <p:spPr>
            <a:xfrm>
              <a:off x="1500229" y="5650665"/>
              <a:ext cx="0" cy="18000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8" name="CuadroTexto 67">
                  <a:extLst>
                    <a:ext uri="{FF2B5EF4-FFF2-40B4-BE49-F238E27FC236}">
                      <a16:creationId xmlns:a16="http://schemas.microsoft.com/office/drawing/2014/main" id="{FBFB130B-B08B-2AFC-8A1E-7126928B240E}"/>
                    </a:ext>
                  </a:extLst>
                </p:cNvPr>
                <p:cNvSpPr txBox="1"/>
                <p:nvPr/>
              </p:nvSpPr>
              <p:spPr>
                <a:xfrm>
                  <a:off x="426016" y="5231081"/>
                  <a:ext cx="471283" cy="18466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PE" sz="1200" b="1" i="1" smtClean="0">
                            <a:latin typeface="Cambria Math" panose="02040503050406030204" pitchFamily="18" charset="0"/>
                          </a:rPr>
                          <m:t>𝟓𝟎</m:t>
                        </m:r>
                        <m:r>
                          <a:rPr lang="es-PE" sz="1200" b="1" i="1" smtClean="0">
                            <a:latin typeface="Cambria Math" panose="02040503050406030204" pitchFamily="18" charset="0"/>
                          </a:rPr>
                          <m:t> </m:t>
                        </m:r>
                        <m:r>
                          <a:rPr lang="es-PE" sz="1200" b="1" i="1" smtClean="0">
                            <a:latin typeface="Cambria Math" panose="02040503050406030204" pitchFamily="18" charset="0"/>
                          </a:rPr>
                          <m:t>𝒄𝒎</m:t>
                        </m:r>
                      </m:oMath>
                    </m:oMathPara>
                  </a14:m>
                  <a:endParaRPr lang="es-PE" sz="1200" b="1" i="1" dirty="0"/>
                </a:p>
              </p:txBody>
            </p:sp>
          </mc:Choice>
          <mc:Fallback xmlns="">
            <p:sp>
              <p:nvSpPr>
                <p:cNvPr id="68" name="CuadroTexto 67">
                  <a:extLst>
                    <a:ext uri="{FF2B5EF4-FFF2-40B4-BE49-F238E27FC236}">
                      <a16:creationId xmlns:a16="http://schemas.microsoft.com/office/drawing/2014/main" id="{FBFB130B-B08B-2AFC-8A1E-7126928B240E}"/>
                    </a:ext>
                  </a:extLst>
                </p:cNvPr>
                <p:cNvSpPr txBox="1">
                  <a:spLocks noRot="1" noChangeAspect="1" noMove="1" noResize="1" noEditPoints="1" noAdjustHandles="1" noChangeArrowheads="1" noChangeShapeType="1" noTextEdit="1"/>
                </p:cNvSpPr>
                <p:nvPr/>
              </p:nvSpPr>
              <p:spPr>
                <a:xfrm>
                  <a:off x="426016" y="5231081"/>
                  <a:ext cx="471283" cy="184666"/>
                </a:xfrm>
                <a:prstGeom prst="rect">
                  <a:avLst/>
                </a:prstGeom>
                <a:blipFill>
                  <a:blip r:embed="rId7"/>
                  <a:stretch>
                    <a:fillRect l="-9091" r="-5195" b="-6667"/>
                  </a:stretch>
                </a:blipFill>
              </p:spPr>
              <p:txBody>
                <a:bodyPr/>
                <a:lstStyle/>
                <a:p>
                  <a:r>
                    <a:rPr lang="es-PE">
                      <a:noFill/>
                    </a:rPr>
                    <a:t> </a:t>
                  </a:r>
                </a:p>
              </p:txBody>
            </p:sp>
          </mc:Fallback>
        </mc:AlternateContent>
      </p:grpSp>
      <mc:AlternateContent xmlns:mc="http://schemas.openxmlformats.org/markup-compatibility/2006" xmlns:a14="http://schemas.microsoft.com/office/drawing/2010/main">
        <mc:Choice Requires="a14">
          <p:sp>
            <p:nvSpPr>
              <p:cNvPr id="69" name="CuadroTexto 68">
                <a:extLst>
                  <a:ext uri="{FF2B5EF4-FFF2-40B4-BE49-F238E27FC236}">
                    <a16:creationId xmlns:a16="http://schemas.microsoft.com/office/drawing/2014/main" id="{F52E15BC-D1B4-36D4-705D-21DFAC84EC13}"/>
                  </a:ext>
                </a:extLst>
              </p:cNvPr>
              <p:cNvSpPr txBox="1"/>
              <p:nvPr/>
            </p:nvSpPr>
            <p:spPr>
              <a:xfrm>
                <a:off x="6853883" y="3317466"/>
                <a:ext cx="3185872" cy="1766959"/>
              </a:xfrm>
              <a:prstGeom prst="rect">
                <a:avLst/>
              </a:prstGeom>
              <a:noFill/>
            </p:spPr>
            <p:txBody>
              <a:bodyPr wrap="none" lIns="0" tIns="0" rIns="0" bIns="0" rtlCol="0">
                <a:spAutoFit/>
              </a:bodyPr>
              <a:lstStyle/>
              <a:p>
                <a:pPr/>
                <a14:m>
                  <m:oMathPara xmlns:m="http://schemas.openxmlformats.org/officeDocument/2006/math">
                    <m:oMathParaPr>
                      <m:jc m:val="left"/>
                    </m:oMathParaPr>
                    <m:oMath xmlns:m="http://schemas.openxmlformats.org/officeDocument/2006/math">
                      <m:r>
                        <a:rPr lang="es-PE" b="0" i="1" smtClean="0">
                          <a:latin typeface="Cambria Math" panose="02040503050406030204" pitchFamily="18" charset="0"/>
                        </a:rPr>
                        <m:t>𝐴𝑠𝑢𝑚𝑖𝑒𝑛𝑑𝑜</m:t>
                      </m:r>
                      <m:r>
                        <a:rPr lang="es-PE" b="0" i="1" smtClean="0">
                          <a:latin typeface="Cambria Math" panose="02040503050406030204" pitchFamily="18" charset="0"/>
                        </a:rPr>
                        <m:t>:</m:t>
                      </m:r>
                    </m:oMath>
                  </m:oMathPara>
                </a14:m>
                <a:endParaRPr lang="es-PE" b="0" i="1" dirty="0">
                  <a:latin typeface="Cambria Math" panose="02040503050406030204" pitchFamily="18" charset="0"/>
                </a:endParaRPr>
              </a:p>
              <a:p>
                <a:pPr/>
                <a14:m>
                  <m:oMathPara xmlns:m="http://schemas.openxmlformats.org/officeDocument/2006/math">
                    <m:oMathParaPr>
                      <m:jc m:val="left"/>
                    </m:oMathParaPr>
                    <m:oMath xmlns:m="http://schemas.openxmlformats.org/officeDocument/2006/math">
                      <m:sSubSup>
                        <m:sSubSupPr>
                          <m:ctrlPr>
                            <a:rPr lang="es-PE" b="0" i="1" smtClean="0">
                              <a:latin typeface="Cambria Math" panose="02040503050406030204" pitchFamily="18" charset="0"/>
                            </a:rPr>
                          </m:ctrlPr>
                        </m:sSubSupPr>
                        <m:e>
                          <m:r>
                            <a:rPr lang="es-PE" b="0" i="1" smtClean="0">
                              <a:latin typeface="Cambria Math" panose="02040503050406030204" pitchFamily="18" charset="0"/>
                            </a:rPr>
                            <m:t>𝑓</m:t>
                          </m:r>
                        </m:e>
                        <m:sub>
                          <m:r>
                            <a:rPr lang="es-PE" b="0" i="1" smtClean="0">
                              <a:latin typeface="Cambria Math" panose="02040503050406030204" pitchFamily="18" charset="0"/>
                            </a:rPr>
                            <m:t>𝑐</m:t>
                          </m:r>
                        </m:sub>
                        <m:sup>
                          <m:r>
                            <a:rPr lang="es-PE" b="0" i="1" smtClean="0">
                              <a:latin typeface="Cambria Math" panose="02040503050406030204" pitchFamily="18" charset="0"/>
                            </a:rPr>
                            <m:t>′</m:t>
                          </m:r>
                        </m:sup>
                      </m:sSubSup>
                      <m:r>
                        <a:rPr lang="es-PE" b="0" i="1" smtClean="0">
                          <a:latin typeface="Cambria Math" panose="02040503050406030204" pitchFamily="18" charset="0"/>
                        </a:rPr>
                        <m:t>=210 </m:t>
                      </m:r>
                      <m:f>
                        <m:fPr>
                          <m:type m:val="skw"/>
                          <m:ctrlPr>
                            <a:rPr lang="es-PE" b="0" i="1" smtClean="0">
                              <a:latin typeface="Cambria Math" panose="02040503050406030204" pitchFamily="18" charset="0"/>
                            </a:rPr>
                          </m:ctrlPr>
                        </m:fPr>
                        <m:num>
                          <m:r>
                            <a:rPr lang="es-PE" b="0" i="1" smtClean="0">
                              <a:latin typeface="Cambria Math" panose="02040503050406030204" pitchFamily="18" charset="0"/>
                            </a:rPr>
                            <m:t>𝐾𝑔𝑓</m:t>
                          </m:r>
                        </m:num>
                        <m:den>
                          <m:sSup>
                            <m:sSupPr>
                              <m:ctrlPr>
                                <a:rPr lang="es-PE" b="0" i="1" smtClean="0">
                                  <a:latin typeface="Cambria Math" panose="02040503050406030204" pitchFamily="18" charset="0"/>
                                </a:rPr>
                              </m:ctrlPr>
                            </m:sSupPr>
                            <m:e>
                              <m:r>
                                <a:rPr lang="es-PE" b="0" i="1" smtClean="0">
                                  <a:latin typeface="Cambria Math" panose="02040503050406030204" pitchFamily="18" charset="0"/>
                                </a:rPr>
                                <m:t>𝑐𝑚</m:t>
                              </m:r>
                            </m:e>
                            <m:sup>
                              <m:r>
                                <a:rPr lang="es-PE" b="0" i="1" smtClean="0">
                                  <a:latin typeface="Cambria Math" panose="02040503050406030204" pitchFamily="18" charset="0"/>
                                </a:rPr>
                                <m:t>2</m:t>
                              </m:r>
                            </m:sup>
                          </m:sSup>
                        </m:den>
                      </m:f>
                    </m:oMath>
                  </m:oMathPara>
                </a14:m>
                <a:endParaRPr lang="es-PE" b="0" i="1" dirty="0">
                  <a:latin typeface="Cambria Math" panose="02040503050406030204" pitchFamily="18" charset="0"/>
                </a:endParaRPr>
              </a:p>
              <a:p>
                <a:pPr/>
                <a14:m>
                  <m:oMathPara xmlns:m="http://schemas.openxmlformats.org/officeDocument/2006/math">
                    <m:oMathParaPr>
                      <m:jc m:val="left"/>
                    </m:oMathParaPr>
                    <m:oMath xmlns:m="http://schemas.openxmlformats.org/officeDocument/2006/math">
                      <m:r>
                        <a:rPr lang="es-PE" b="0" i="1" smtClean="0">
                          <a:latin typeface="Cambria Math" panose="02040503050406030204" pitchFamily="18" charset="0"/>
                        </a:rPr>
                        <m:t>𝐸𝑙</m:t>
                      </m:r>
                      <m:r>
                        <a:rPr lang="es-PE" b="0" i="1" smtClean="0">
                          <a:latin typeface="Cambria Math" panose="02040503050406030204" pitchFamily="18" charset="0"/>
                        </a:rPr>
                        <m:t> </m:t>
                      </m:r>
                      <m:r>
                        <a:rPr lang="es-PE" b="0" i="1" smtClean="0">
                          <a:latin typeface="Cambria Math" panose="02040503050406030204" pitchFamily="18" charset="0"/>
                        </a:rPr>
                        <m:t>𝑚</m:t>
                      </m:r>
                      <m:r>
                        <a:rPr lang="es-PE" b="0" i="1" smtClean="0">
                          <a:latin typeface="Cambria Math" panose="02040503050406030204" pitchFamily="18" charset="0"/>
                        </a:rPr>
                        <m:t>ó</m:t>
                      </m:r>
                      <m:r>
                        <a:rPr lang="es-PE" b="0" i="1" smtClean="0">
                          <a:latin typeface="Cambria Math" panose="02040503050406030204" pitchFamily="18" charset="0"/>
                        </a:rPr>
                        <m:t>𝑑𝑢𝑙𝑜</m:t>
                      </m:r>
                      <m:r>
                        <a:rPr lang="es-PE" b="0" i="1" smtClean="0">
                          <a:latin typeface="Cambria Math" panose="02040503050406030204" pitchFamily="18" charset="0"/>
                        </a:rPr>
                        <m:t> </m:t>
                      </m:r>
                      <m:r>
                        <a:rPr lang="es-PE" b="0" i="1" smtClean="0">
                          <a:latin typeface="Cambria Math" panose="02040503050406030204" pitchFamily="18" charset="0"/>
                        </a:rPr>
                        <m:t>𝑑𝑒</m:t>
                      </m:r>
                      <m:r>
                        <a:rPr lang="es-PE" b="0" i="1" smtClean="0">
                          <a:latin typeface="Cambria Math" panose="02040503050406030204" pitchFamily="18" charset="0"/>
                        </a:rPr>
                        <m:t> </m:t>
                      </m:r>
                      <m:r>
                        <a:rPr lang="es-PE" b="0" i="1" smtClean="0">
                          <a:latin typeface="Cambria Math" panose="02040503050406030204" pitchFamily="18" charset="0"/>
                        </a:rPr>
                        <m:t>𝑒𝑙𝑎𝑠𝑡𝑖𝑐𝑖𝑑𝑎𝑑</m:t>
                      </m:r>
                      <m:r>
                        <a:rPr lang="es-PE" b="0" i="1" smtClean="0">
                          <a:latin typeface="Cambria Math" panose="02040503050406030204" pitchFamily="18" charset="0"/>
                        </a:rPr>
                        <m:t> </m:t>
                      </m:r>
                      <m:r>
                        <a:rPr lang="es-PE" b="0" i="1" smtClean="0">
                          <a:latin typeface="Cambria Math" panose="02040503050406030204" pitchFamily="18" charset="0"/>
                        </a:rPr>
                        <m:t>𝑠𝑒𝑟</m:t>
                      </m:r>
                      <m:r>
                        <a:rPr lang="es-PE" b="0" i="1" smtClean="0">
                          <a:latin typeface="Cambria Math" panose="02040503050406030204" pitchFamily="18" charset="0"/>
                        </a:rPr>
                        <m:t>á:</m:t>
                      </m:r>
                    </m:oMath>
                  </m:oMathPara>
                </a14:m>
                <a:endParaRPr lang="es-PE" b="0" i="1" dirty="0">
                  <a:latin typeface="Cambria Math" panose="02040503050406030204" pitchFamily="18" charset="0"/>
                </a:endParaRPr>
              </a:p>
              <a:p>
                <a:pPr/>
                <a14:m>
                  <m:oMathPara xmlns:m="http://schemas.openxmlformats.org/officeDocument/2006/math">
                    <m:oMathParaPr>
                      <m:jc m:val="left"/>
                    </m:oMathParaPr>
                    <m:oMath xmlns:m="http://schemas.openxmlformats.org/officeDocument/2006/math">
                      <m:r>
                        <a:rPr lang="es-PE" b="0" i="1" smtClean="0">
                          <a:latin typeface="Cambria Math" panose="02040503050406030204" pitchFamily="18" charset="0"/>
                        </a:rPr>
                        <m:t>𝐸</m:t>
                      </m:r>
                      <m:r>
                        <a:rPr lang="es-PE" b="0" i="1" smtClean="0">
                          <a:latin typeface="Cambria Math" panose="02040503050406030204" pitchFamily="18" charset="0"/>
                        </a:rPr>
                        <m:t>=15100 </m:t>
                      </m:r>
                      <m:rad>
                        <m:radPr>
                          <m:degHide m:val="on"/>
                          <m:ctrlPr>
                            <a:rPr lang="es-PE" b="0" i="1" smtClean="0">
                              <a:latin typeface="Cambria Math" panose="02040503050406030204" pitchFamily="18" charset="0"/>
                            </a:rPr>
                          </m:ctrlPr>
                        </m:radPr>
                        <m:deg/>
                        <m:e>
                          <m:sSubSup>
                            <m:sSubSupPr>
                              <m:ctrlPr>
                                <a:rPr lang="es-PE" b="0" i="1" smtClean="0">
                                  <a:latin typeface="Cambria Math" panose="02040503050406030204" pitchFamily="18" charset="0"/>
                                </a:rPr>
                              </m:ctrlPr>
                            </m:sSubSupPr>
                            <m:e>
                              <m:r>
                                <a:rPr lang="es-PE" b="0" i="1" smtClean="0">
                                  <a:latin typeface="Cambria Math" panose="02040503050406030204" pitchFamily="18" charset="0"/>
                                </a:rPr>
                                <m:t>𝑓</m:t>
                              </m:r>
                            </m:e>
                            <m:sub>
                              <m:r>
                                <a:rPr lang="es-PE" b="0" i="1" smtClean="0">
                                  <a:latin typeface="Cambria Math" panose="02040503050406030204" pitchFamily="18" charset="0"/>
                                </a:rPr>
                                <m:t>𝑐</m:t>
                              </m:r>
                            </m:sub>
                            <m:sup>
                              <m:r>
                                <a:rPr lang="es-PE" b="0" i="1" smtClean="0">
                                  <a:latin typeface="Cambria Math" panose="02040503050406030204" pitchFamily="18" charset="0"/>
                                </a:rPr>
                                <m:t>′</m:t>
                              </m:r>
                            </m:sup>
                          </m:sSubSup>
                        </m:e>
                      </m:rad>
                      <m:r>
                        <a:rPr lang="es-PE" b="0" i="1" smtClean="0">
                          <a:latin typeface="Cambria Math" panose="02040503050406030204" pitchFamily="18" charset="0"/>
                        </a:rPr>
                        <m:t>=15100</m:t>
                      </m:r>
                      <m:rad>
                        <m:radPr>
                          <m:degHide m:val="on"/>
                          <m:ctrlPr>
                            <a:rPr lang="es-PE" b="0" i="1" smtClean="0">
                              <a:latin typeface="Cambria Math" panose="02040503050406030204" pitchFamily="18" charset="0"/>
                            </a:rPr>
                          </m:ctrlPr>
                        </m:radPr>
                        <m:deg/>
                        <m:e>
                          <m:r>
                            <a:rPr lang="es-PE" b="0" i="1" smtClean="0">
                              <a:latin typeface="Cambria Math" panose="02040503050406030204" pitchFamily="18" charset="0"/>
                            </a:rPr>
                            <m:t>210</m:t>
                          </m:r>
                        </m:e>
                      </m:rad>
                      <m:r>
                        <a:rPr lang="es-PE" b="0" i="1" smtClean="0">
                          <a:latin typeface="Cambria Math" panose="02040503050406030204" pitchFamily="18" charset="0"/>
                        </a:rPr>
                        <m:t> </m:t>
                      </m:r>
                    </m:oMath>
                  </m:oMathPara>
                </a14:m>
                <a:endParaRPr lang="es-PE" b="0" i="1" dirty="0">
                  <a:latin typeface="Cambria Math" panose="02040503050406030204" pitchFamily="18" charset="0"/>
                </a:endParaRPr>
              </a:p>
              <a:p>
                <a:pPr/>
                <a14:m>
                  <m:oMathPara xmlns:m="http://schemas.openxmlformats.org/officeDocument/2006/math">
                    <m:oMathParaPr>
                      <m:jc m:val="left"/>
                    </m:oMathParaPr>
                    <m:oMath xmlns:m="http://schemas.openxmlformats.org/officeDocument/2006/math">
                      <m:r>
                        <a:rPr lang="es-PE" b="0" i="1" smtClean="0">
                          <a:latin typeface="Cambria Math" panose="02040503050406030204" pitchFamily="18" charset="0"/>
                        </a:rPr>
                        <m:t>𝐸</m:t>
                      </m:r>
                      <m:r>
                        <a:rPr lang="es-PE" b="0" i="1" smtClean="0">
                          <a:latin typeface="Cambria Math" panose="02040503050406030204" pitchFamily="18" charset="0"/>
                        </a:rPr>
                        <m:t>=  218 819.79 </m:t>
                      </m:r>
                      <m:f>
                        <m:fPr>
                          <m:type m:val="skw"/>
                          <m:ctrlPr>
                            <a:rPr lang="es-PE" b="0" i="1" smtClean="0">
                              <a:latin typeface="Cambria Math" panose="02040503050406030204" pitchFamily="18" charset="0"/>
                            </a:rPr>
                          </m:ctrlPr>
                        </m:fPr>
                        <m:num>
                          <m:r>
                            <a:rPr lang="es-PE" b="0" i="1" smtClean="0">
                              <a:latin typeface="Cambria Math" panose="02040503050406030204" pitchFamily="18" charset="0"/>
                            </a:rPr>
                            <m:t>𝐾𝑔𝑓</m:t>
                          </m:r>
                        </m:num>
                        <m:den>
                          <m:sSup>
                            <m:sSupPr>
                              <m:ctrlPr>
                                <a:rPr lang="es-PE" b="0" i="1" smtClean="0">
                                  <a:latin typeface="Cambria Math" panose="02040503050406030204" pitchFamily="18" charset="0"/>
                                </a:rPr>
                              </m:ctrlPr>
                            </m:sSupPr>
                            <m:e>
                              <m:r>
                                <a:rPr lang="es-PE" b="0" i="1" smtClean="0">
                                  <a:latin typeface="Cambria Math" panose="02040503050406030204" pitchFamily="18" charset="0"/>
                                </a:rPr>
                                <m:t>𝑐𝑚</m:t>
                              </m:r>
                            </m:e>
                            <m:sup>
                              <m:r>
                                <a:rPr lang="es-PE" b="0" i="1" smtClean="0">
                                  <a:latin typeface="Cambria Math" panose="02040503050406030204" pitchFamily="18" charset="0"/>
                                </a:rPr>
                                <m:t>2</m:t>
                              </m:r>
                            </m:sup>
                          </m:sSup>
                        </m:den>
                      </m:f>
                    </m:oMath>
                  </m:oMathPara>
                </a14:m>
                <a:endParaRPr lang="es-PE" dirty="0"/>
              </a:p>
            </p:txBody>
          </p:sp>
        </mc:Choice>
        <mc:Fallback xmlns="">
          <p:sp>
            <p:nvSpPr>
              <p:cNvPr id="69" name="CuadroTexto 68">
                <a:extLst>
                  <a:ext uri="{FF2B5EF4-FFF2-40B4-BE49-F238E27FC236}">
                    <a16:creationId xmlns:a16="http://schemas.microsoft.com/office/drawing/2014/main" id="{F52E15BC-D1B4-36D4-705D-21DFAC84EC13}"/>
                  </a:ext>
                </a:extLst>
              </p:cNvPr>
              <p:cNvSpPr txBox="1">
                <a:spLocks noRot="1" noChangeAspect="1" noMove="1" noResize="1" noEditPoints="1" noAdjustHandles="1" noChangeArrowheads="1" noChangeShapeType="1" noTextEdit="1"/>
              </p:cNvSpPr>
              <p:nvPr/>
            </p:nvSpPr>
            <p:spPr>
              <a:xfrm>
                <a:off x="6853883" y="3317466"/>
                <a:ext cx="3185872" cy="1766959"/>
              </a:xfrm>
              <a:prstGeom prst="rect">
                <a:avLst/>
              </a:prstGeom>
              <a:blipFill>
                <a:blip r:embed="rId8"/>
                <a:stretch>
                  <a:fillRect l="-2677"/>
                </a:stretch>
              </a:blipFill>
            </p:spPr>
            <p:txBody>
              <a:bodyPr/>
              <a:lstStyle/>
              <a:p>
                <a:r>
                  <a:rPr lang="es-PE">
                    <a:noFill/>
                  </a:rPr>
                  <a:t> </a:t>
                </a:r>
              </a:p>
            </p:txBody>
          </p:sp>
        </mc:Fallback>
      </mc:AlternateContent>
      <mc:AlternateContent xmlns:mc="http://schemas.openxmlformats.org/markup-compatibility/2006" xmlns:a14="http://schemas.microsoft.com/office/drawing/2010/main">
        <mc:Choice Requires="a14">
          <p:sp>
            <p:nvSpPr>
              <p:cNvPr id="3" name="CuadroTexto 2">
                <a:extLst>
                  <a:ext uri="{FF2B5EF4-FFF2-40B4-BE49-F238E27FC236}">
                    <a16:creationId xmlns:a16="http://schemas.microsoft.com/office/drawing/2014/main" id="{EE2548BE-8736-3C1C-1412-D142E5CB5AA9}"/>
                  </a:ext>
                </a:extLst>
              </p:cNvPr>
              <p:cNvSpPr txBox="1"/>
              <p:nvPr/>
            </p:nvSpPr>
            <p:spPr>
              <a:xfrm>
                <a:off x="2485424" y="4325669"/>
                <a:ext cx="728276"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PE" sz="1600" b="1" i="1" smtClean="0">
                          <a:latin typeface="Cambria Math" panose="02040503050406030204" pitchFamily="18" charset="0"/>
                        </a:rPr>
                        <m:t>𝟑</m:t>
                      </m:r>
                      <m:r>
                        <a:rPr lang="es-PE" sz="1600" b="1" i="1" smtClean="0">
                          <a:latin typeface="Cambria Math" panose="02040503050406030204" pitchFamily="18" charset="0"/>
                        </a:rPr>
                        <m:t>.</m:t>
                      </m:r>
                      <m:r>
                        <a:rPr lang="es-PE" sz="1600" b="1" i="1" smtClean="0">
                          <a:latin typeface="Cambria Math" panose="02040503050406030204" pitchFamily="18" charset="0"/>
                        </a:rPr>
                        <m:t>𝟖𝟎</m:t>
                      </m:r>
                      <m:r>
                        <a:rPr lang="es-PE" sz="1600" b="1" i="1" smtClean="0">
                          <a:latin typeface="Cambria Math" panose="02040503050406030204" pitchFamily="18" charset="0"/>
                        </a:rPr>
                        <m:t> </m:t>
                      </m:r>
                      <m:r>
                        <a:rPr lang="es-PE" sz="1600" b="1" i="1" smtClean="0">
                          <a:latin typeface="Cambria Math" panose="02040503050406030204" pitchFamily="18" charset="0"/>
                        </a:rPr>
                        <m:t>𝒎</m:t>
                      </m:r>
                    </m:oMath>
                  </m:oMathPara>
                </a14:m>
                <a:endParaRPr lang="es-PE" sz="1600" b="1" i="1" dirty="0"/>
              </a:p>
            </p:txBody>
          </p:sp>
        </mc:Choice>
        <mc:Fallback xmlns="">
          <p:sp>
            <p:nvSpPr>
              <p:cNvPr id="3" name="CuadroTexto 2">
                <a:extLst>
                  <a:ext uri="{FF2B5EF4-FFF2-40B4-BE49-F238E27FC236}">
                    <a16:creationId xmlns:a16="http://schemas.microsoft.com/office/drawing/2014/main" id="{EE2548BE-8736-3C1C-1412-D142E5CB5AA9}"/>
                  </a:ext>
                </a:extLst>
              </p:cNvPr>
              <p:cNvSpPr txBox="1">
                <a:spLocks noRot="1" noChangeAspect="1" noMove="1" noResize="1" noEditPoints="1" noAdjustHandles="1" noChangeArrowheads="1" noChangeShapeType="1" noTextEdit="1"/>
              </p:cNvSpPr>
              <p:nvPr/>
            </p:nvSpPr>
            <p:spPr>
              <a:xfrm>
                <a:off x="2485424" y="4325669"/>
                <a:ext cx="728276" cy="246221"/>
              </a:xfrm>
              <a:prstGeom prst="rect">
                <a:avLst/>
              </a:prstGeom>
              <a:blipFill>
                <a:blip r:embed="rId9"/>
                <a:stretch>
                  <a:fillRect l="-6723" r="-3361" b="-5000"/>
                </a:stretch>
              </a:blipFill>
            </p:spPr>
            <p:txBody>
              <a:bodyPr/>
              <a:lstStyle/>
              <a:p>
                <a:r>
                  <a:rPr lang="es-PE">
                    <a:noFill/>
                  </a:rPr>
                  <a:t> </a:t>
                </a:r>
              </a:p>
            </p:txBody>
          </p:sp>
        </mc:Fallback>
      </mc:AlternateContent>
      <mc:AlternateContent xmlns:mc="http://schemas.openxmlformats.org/markup-compatibility/2006" xmlns:a14="http://schemas.microsoft.com/office/drawing/2010/main">
        <mc:Choice Requires="a14">
          <p:sp>
            <p:nvSpPr>
              <p:cNvPr id="4" name="CuadroTexto 3">
                <a:extLst>
                  <a:ext uri="{FF2B5EF4-FFF2-40B4-BE49-F238E27FC236}">
                    <a16:creationId xmlns:a16="http://schemas.microsoft.com/office/drawing/2014/main" id="{6897EB06-9331-951B-3FA0-633C5451AA96}"/>
                  </a:ext>
                </a:extLst>
              </p:cNvPr>
              <p:cNvSpPr txBox="1"/>
              <p:nvPr/>
            </p:nvSpPr>
            <p:spPr>
              <a:xfrm>
                <a:off x="4741828" y="4278680"/>
                <a:ext cx="604846"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PE" sz="1600" b="1" i="1" smtClean="0">
                          <a:latin typeface="Cambria Math" panose="02040503050406030204" pitchFamily="18" charset="0"/>
                        </a:rPr>
                        <m:t>𝟒</m:t>
                      </m:r>
                      <m:r>
                        <a:rPr lang="es-PE" sz="1600" b="1" i="1" smtClean="0">
                          <a:latin typeface="Cambria Math" panose="02040503050406030204" pitchFamily="18" charset="0"/>
                        </a:rPr>
                        <m:t>.</m:t>
                      </m:r>
                      <m:r>
                        <a:rPr lang="es-PE" sz="1600" b="1" i="1" smtClean="0">
                          <a:latin typeface="Cambria Math" panose="02040503050406030204" pitchFamily="18" charset="0"/>
                        </a:rPr>
                        <m:t>𝟐</m:t>
                      </m:r>
                      <m:r>
                        <a:rPr lang="es-PE" sz="1600" b="1" i="1" smtClean="0">
                          <a:latin typeface="Cambria Math" panose="02040503050406030204" pitchFamily="18" charset="0"/>
                        </a:rPr>
                        <m:t> </m:t>
                      </m:r>
                      <m:r>
                        <a:rPr lang="es-PE" sz="1600" b="1" i="1" smtClean="0">
                          <a:latin typeface="Cambria Math" panose="02040503050406030204" pitchFamily="18" charset="0"/>
                        </a:rPr>
                        <m:t>𝒎</m:t>
                      </m:r>
                    </m:oMath>
                  </m:oMathPara>
                </a14:m>
                <a:endParaRPr lang="es-PE" sz="1600" b="1" i="1" dirty="0"/>
              </a:p>
            </p:txBody>
          </p:sp>
        </mc:Choice>
        <mc:Fallback xmlns="">
          <p:sp>
            <p:nvSpPr>
              <p:cNvPr id="4" name="CuadroTexto 3">
                <a:extLst>
                  <a:ext uri="{FF2B5EF4-FFF2-40B4-BE49-F238E27FC236}">
                    <a16:creationId xmlns:a16="http://schemas.microsoft.com/office/drawing/2014/main" id="{6897EB06-9331-951B-3FA0-633C5451AA96}"/>
                  </a:ext>
                </a:extLst>
              </p:cNvPr>
              <p:cNvSpPr txBox="1">
                <a:spLocks noRot="1" noChangeAspect="1" noMove="1" noResize="1" noEditPoints="1" noAdjustHandles="1" noChangeArrowheads="1" noChangeShapeType="1" noTextEdit="1"/>
              </p:cNvSpPr>
              <p:nvPr/>
            </p:nvSpPr>
            <p:spPr>
              <a:xfrm>
                <a:off x="4741828" y="4278680"/>
                <a:ext cx="604846" cy="246221"/>
              </a:xfrm>
              <a:prstGeom prst="rect">
                <a:avLst/>
              </a:prstGeom>
              <a:blipFill>
                <a:blip r:embed="rId10"/>
                <a:stretch>
                  <a:fillRect l="-8081" r="-4040" b="-5000"/>
                </a:stretch>
              </a:blipFill>
            </p:spPr>
            <p:txBody>
              <a:bodyPr/>
              <a:lstStyle/>
              <a:p>
                <a:r>
                  <a:rPr lang="es-PE">
                    <a:noFill/>
                  </a:rPr>
                  <a:t> </a:t>
                </a:r>
              </a:p>
            </p:txBody>
          </p:sp>
        </mc:Fallback>
      </mc:AlternateContent>
      <p:sp>
        <p:nvSpPr>
          <p:cNvPr id="5" name="Elipse 4">
            <a:extLst>
              <a:ext uri="{FF2B5EF4-FFF2-40B4-BE49-F238E27FC236}">
                <a16:creationId xmlns:a16="http://schemas.microsoft.com/office/drawing/2014/main" id="{71B2BDE7-C9C8-1BED-8078-A58807BFF3AD}"/>
              </a:ext>
            </a:extLst>
          </p:cNvPr>
          <p:cNvSpPr>
            <a:spLocks noChangeAspect="1"/>
          </p:cNvSpPr>
          <p:nvPr/>
        </p:nvSpPr>
        <p:spPr>
          <a:xfrm>
            <a:off x="1868787" y="3958696"/>
            <a:ext cx="252000" cy="252000"/>
          </a:xfrm>
          <a:prstGeom prst="ellipse">
            <a:avLst/>
          </a:prstGeom>
          <a:solidFill>
            <a:schemeClr val="bg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PE" dirty="0">
                <a:solidFill>
                  <a:schemeClr val="tx1"/>
                </a:solidFill>
              </a:rPr>
              <a:t>A</a:t>
            </a:r>
          </a:p>
        </p:txBody>
      </p:sp>
      <p:sp>
        <p:nvSpPr>
          <p:cNvPr id="14" name="Elipse 13">
            <a:extLst>
              <a:ext uri="{FF2B5EF4-FFF2-40B4-BE49-F238E27FC236}">
                <a16:creationId xmlns:a16="http://schemas.microsoft.com/office/drawing/2014/main" id="{91EA0B83-AE74-3852-B5DE-2A88ED9C8D49}"/>
              </a:ext>
            </a:extLst>
          </p:cNvPr>
          <p:cNvSpPr>
            <a:spLocks noChangeAspect="1"/>
          </p:cNvSpPr>
          <p:nvPr/>
        </p:nvSpPr>
        <p:spPr>
          <a:xfrm>
            <a:off x="1372832" y="1850263"/>
            <a:ext cx="252000" cy="252000"/>
          </a:xfrm>
          <a:prstGeom prst="ellipse">
            <a:avLst/>
          </a:prstGeom>
          <a:solidFill>
            <a:schemeClr val="bg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PE" dirty="0">
                <a:solidFill>
                  <a:schemeClr val="tx1"/>
                </a:solidFill>
              </a:rPr>
              <a:t>B</a:t>
            </a:r>
          </a:p>
        </p:txBody>
      </p:sp>
      <p:sp>
        <p:nvSpPr>
          <p:cNvPr id="16" name="Elipse 15">
            <a:extLst>
              <a:ext uri="{FF2B5EF4-FFF2-40B4-BE49-F238E27FC236}">
                <a16:creationId xmlns:a16="http://schemas.microsoft.com/office/drawing/2014/main" id="{8CF205D0-BB5C-249A-21B2-90553ED05323}"/>
              </a:ext>
            </a:extLst>
          </p:cNvPr>
          <p:cNvSpPr>
            <a:spLocks noChangeAspect="1"/>
          </p:cNvSpPr>
          <p:nvPr/>
        </p:nvSpPr>
        <p:spPr>
          <a:xfrm>
            <a:off x="4130578" y="3950970"/>
            <a:ext cx="252000" cy="252000"/>
          </a:xfrm>
          <a:prstGeom prst="ellipse">
            <a:avLst/>
          </a:prstGeom>
          <a:solidFill>
            <a:schemeClr val="bg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PE" dirty="0">
                <a:solidFill>
                  <a:schemeClr val="tx1"/>
                </a:solidFill>
              </a:rPr>
              <a:t>C</a:t>
            </a:r>
          </a:p>
        </p:txBody>
      </p:sp>
      <p:sp>
        <p:nvSpPr>
          <p:cNvPr id="21" name="Elipse 20">
            <a:extLst>
              <a:ext uri="{FF2B5EF4-FFF2-40B4-BE49-F238E27FC236}">
                <a16:creationId xmlns:a16="http://schemas.microsoft.com/office/drawing/2014/main" id="{0DCD015F-3008-5DAA-FF83-E516465B02F3}"/>
              </a:ext>
            </a:extLst>
          </p:cNvPr>
          <p:cNvSpPr>
            <a:spLocks noChangeAspect="1"/>
          </p:cNvSpPr>
          <p:nvPr/>
        </p:nvSpPr>
        <p:spPr>
          <a:xfrm>
            <a:off x="3817395" y="1803616"/>
            <a:ext cx="252000" cy="252000"/>
          </a:xfrm>
          <a:prstGeom prst="ellipse">
            <a:avLst/>
          </a:prstGeom>
          <a:solidFill>
            <a:schemeClr val="bg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PE" dirty="0">
                <a:solidFill>
                  <a:schemeClr val="tx1"/>
                </a:solidFill>
              </a:rPr>
              <a:t>D</a:t>
            </a:r>
          </a:p>
        </p:txBody>
      </p:sp>
      <p:sp>
        <p:nvSpPr>
          <p:cNvPr id="22" name="Elipse 21">
            <a:extLst>
              <a:ext uri="{FF2B5EF4-FFF2-40B4-BE49-F238E27FC236}">
                <a16:creationId xmlns:a16="http://schemas.microsoft.com/office/drawing/2014/main" id="{23E3FAD5-0E44-F8FA-6C75-9759F86A9B52}"/>
              </a:ext>
            </a:extLst>
          </p:cNvPr>
          <p:cNvSpPr>
            <a:spLocks noChangeAspect="1"/>
          </p:cNvSpPr>
          <p:nvPr/>
        </p:nvSpPr>
        <p:spPr>
          <a:xfrm>
            <a:off x="6516665" y="3941526"/>
            <a:ext cx="252000" cy="252000"/>
          </a:xfrm>
          <a:prstGeom prst="ellipse">
            <a:avLst/>
          </a:prstGeom>
          <a:solidFill>
            <a:schemeClr val="bg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PE" dirty="0">
                <a:solidFill>
                  <a:schemeClr val="tx1"/>
                </a:solidFill>
              </a:rPr>
              <a:t>E</a:t>
            </a:r>
          </a:p>
        </p:txBody>
      </p:sp>
      <p:sp>
        <p:nvSpPr>
          <p:cNvPr id="28" name="Elipse 27">
            <a:extLst>
              <a:ext uri="{FF2B5EF4-FFF2-40B4-BE49-F238E27FC236}">
                <a16:creationId xmlns:a16="http://schemas.microsoft.com/office/drawing/2014/main" id="{90569800-D23B-D80A-037D-F6F07D328839}"/>
              </a:ext>
            </a:extLst>
          </p:cNvPr>
          <p:cNvSpPr>
            <a:spLocks noChangeAspect="1"/>
          </p:cNvSpPr>
          <p:nvPr/>
        </p:nvSpPr>
        <p:spPr>
          <a:xfrm>
            <a:off x="6462014" y="1864853"/>
            <a:ext cx="252000" cy="252000"/>
          </a:xfrm>
          <a:prstGeom prst="ellipse">
            <a:avLst/>
          </a:prstGeom>
          <a:solidFill>
            <a:schemeClr val="bg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PE" dirty="0">
                <a:solidFill>
                  <a:schemeClr val="tx1"/>
                </a:solidFill>
              </a:rPr>
              <a:t>F</a:t>
            </a:r>
          </a:p>
        </p:txBody>
      </p:sp>
    </p:spTree>
    <p:extLst>
      <p:ext uri="{BB962C8B-B14F-4D97-AF65-F5344CB8AC3E}">
        <p14:creationId xmlns:p14="http://schemas.microsoft.com/office/powerpoint/2010/main" val="38160506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8BD4B30-9B7A-4FF3-9506-6E2F889CBD85}"/>
              </a:ext>
            </a:extLst>
          </p:cNvPr>
          <p:cNvSpPr>
            <a:spLocks noGrp="1"/>
          </p:cNvSpPr>
          <p:nvPr>
            <p:ph type="title"/>
          </p:nvPr>
        </p:nvSpPr>
        <p:spPr/>
        <p:txBody>
          <a:bodyPr>
            <a:noAutofit/>
          </a:bodyPr>
          <a:lstStyle/>
          <a:p>
            <a:r>
              <a:rPr lang="es-PE" sz="3300" dirty="0"/>
              <a:t>2° Determinando la rigidez de las columnas, esta pertenece al Caso (a), de las relaciones planteadas por el Método de Muto </a:t>
            </a:r>
          </a:p>
        </p:txBody>
      </p:sp>
      <p:grpSp>
        <p:nvGrpSpPr>
          <p:cNvPr id="13" name="Grupo 12">
            <a:extLst>
              <a:ext uri="{FF2B5EF4-FFF2-40B4-BE49-F238E27FC236}">
                <a16:creationId xmlns:a16="http://schemas.microsoft.com/office/drawing/2014/main" id="{3903A5C6-AB62-8217-6604-553267E4BC12}"/>
              </a:ext>
            </a:extLst>
          </p:cNvPr>
          <p:cNvGrpSpPr/>
          <p:nvPr/>
        </p:nvGrpSpPr>
        <p:grpSpPr>
          <a:xfrm>
            <a:off x="1271992" y="2349500"/>
            <a:ext cx="2447115" cy="2304902"/>
            <a:chOff x="802746" y="2708274"/>
            <a:chExt cx="2221181" cy="1950579"/>
          </a:xfrm>
        </p:grpSpPr>
        <p:sp>
          <p:nvSpPr>
            <p:cNvPr id="6" name="Rectángulo 5">
              <a:extLst>
                <a:ext uri="{FF2B5EF4-FFF2-40B4-BE49-F238E27FC236}">
                  <a16:creationId xmlns:a16="http://schemas.microsoft.com/office/drawing/2014/main" id="{F092B829-0F0C-F37E-7FB0-DF0011828F6E}"/>
                </a:ext>
              </a:extLst>
            </p:cNvPr>
            <p:cNvSpPr/>
            <p:nvPr/>
          </p:nvSpPr>
          <p:spPr>
            <a:xfrm>
              <a:off x="802746" y="4508726"/>
              <a:ext cx="499090" cy="150127"/>
            </a:xfrm>
            <a:prstGeom prst="rect">
              <a:avLst/>
            </a:prstGeom>
            <a:pattFill prst="wdUpDiag">
              <a:fgClr>
                <a:schemeClr val="accent2">
                  <a:lumMod val="75000"/>
                </a:schemeClr>
              </a:fgClr>
              <a:bgClr>
                <a:schemeClr val="bg1"/>
              </a:bgClr>
            </a:patt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dirty="0"/>
            </a:p>
          </p:txBody>
        </p:sp>
        <p:sp>
          <p:nvSpPr>
            <p:cNvPr id="7" name="Rectángulo 6">
              <a:extLst>
                <a:ext uri="{FF2B5EF4-FFF2-40B4-BE49-F238E27FC236}">
                  <a16:creationId xmlns:a16="http://schemas.microsoft.com/office/drawing/2014/main" id="{26E44751-1FBE-FDF6-F5DB-F916D18BA2C2}"/>
                </a:ext>
              </a:extLst>
            </p:cNvPr>
            <p:cNvSpPr/>
            <p:nvPr/>
          </p:nvSpPr>
          <p:spPr>
            <a:xfrm>
              <a:off x="948234" y="2708501"/>
              <a:ext cx="144000" cy="1800000"/>
            </a:xfrm>
            <a:prstGeom prst="rect">
              <a:avLst/>
            </a:prstGeom>
            <a:pattFill prst="lgConfetti">
              <a:fgClr>
                <a:schemeClr val="tx1">
                  <a:lumMod val="65000"/>
                  <a:lumOff val="35000"/>
                </a:schemeClr>
              </a:fgClr>
              <a:bgClr>
                <a:schemeClr val="bg1"/>
              </a:bgClr>
            </a:patt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dirty="0"/>
            </a:p>
          </p:txBody>
        </p:sp>
        <p:sp>
          <p:nvSpPr>
            <p:cNvPr id="8" name="Rectángulo 7">
              <a:extLst>
                <a:ext uri="{FF2B5EF4-FFF2-40B4-BE49-F238E27FC236}">
                  <a16:creationId xmlns:a16="http://schemas.microsoft.com/office/drawing/2014/main" id="{3BF99385-421A-A497-46F6-F625D68D10BB}"/>
                </a:ext>
              </a:extLst>
            </p:cNvPr>
            <p:cNvSpPr/>
            <p:nvPr/>
          </p:nvSpPr>
          <p:spPr>
            <a:xfrm>
              <a:off x="948234" y="2708274"/>
              <a:ext cx="2075693" cy="152329"/>
            </a:xfrm>
            <a:prstGeom prst="rect">
              <a:avLst/>
            </a:prstGeom>
            <a:pattFill prst="lgConfetti">
              <a:fgClr>
                <a:schemeClr val="tx1">
                  <a:lumMod val="65000"/>
                  <a:lumOff val="35000"/>
                </a:schemeClr>
              </a:fgClr>
              <a:bgClr>
                <a:schemeClr val="bg1"/>
              </a:bgClr>
            </a:patt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grpSp>
      <p:cxnSp>
        <p:nvCxnSpPr>
          <p:cNvPr id="15" name="Conector recto 14">
            <a:extLst>
              <a:ext uri="{FF2B5EF4-FFF2-40B4-BE49-F238E27FC236}">
                <a16:creationId xmlns:a16="http://schemas.microsoft.com/office/drawing/2014/main" id="{CFDC01DB-0147-3DB8-4328-BA956B91C19E}"/>
              </a:ext>
            </a:extLst>
          </p:cNvPr>
          <p:cNvCxnSpPr/>
          <p:nvPr/>
        </p:nvCxnSpPr>
        <p:spPr>
          <a:xfrm>
            <a:off x="913168" y="2349824"/>
            <a:ext cx="0" cy="223195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Conector recto 16">
            <a:extLst>
              <a:ext uri="{FF2B5EF4-FFF2-40B4-BE49-F238E27FC236}">
                <a16:creationId xmlns:a16="http://schemas.microsoft.com/office/drawing/2014/main" id="{52F30F76-FB31-DB33-88D7-2FA65898AD1E}"/>
              </a:ext>
            </a:extLst>
          </p:cNvPr>
          <p:cNvCxnSpPr/>
          <p:nvPr/>
        </p:nvCxnSpPr>
        <p:spPr>
          <a:xfrm>
            <a:off x="768830" y="2493840"/>
            <a:ext cx="360362"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Conector recto 17">
            <a:extLst>
              <a:ext uri="{FF2B5EF4-FFF2-40B4-BE49-F238E27FC236}">
                <a16:creationId xmlns:a16="http://schemas.microsoft.com/office/drawing/2014/main" id="{3DDD77F7-59B6-616E-21DF-6C8373369C01}"/>
              </a:ext>
            </a:extLst>
          </p:cNvPr>
          <p:cNvCxnSpPr/>
          <p:nvPr/>
        </p:nvCxnSpPr>
        <p:spPr>
          <a:xfrm>
            <a:off x="768144" y="4475892"/>
            <a:ext cx="360362"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9" name="CuadroTexto 18">
                <a:extLst>
                  <a:ext uri="{FF2B5EF4-FFF2-40B4-BE49-F238E27FC236}">
                    <a16:creationId xmlns:a16="http://schemas.microsoft.com/office/drawing/2014/main" id="{F36189C6-ED21-2C89-17B8-BEB84760C08B}"/>
                  </a:ext>
                </a:extLst>
              </p:cNvPr>
              <p:cNvSpPr txBox="1"/>
              <p:nvPr/>
            </p:nvSpPr>
            <p:spPr>
              <a:xfrm>
                <a:off x="335078" y="3238645"/>
                <a:ext cx="604846"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PE" sz="1600" b="1" i="1" smtClean="0">
                          <a:latin typeface="Cambria Math" panose="02040503050406030204" pitchFamily="18" charset="0"/>
                        </a:rPr>
                        <m:t>𝟐</m:t>
                      </m:r>
                      <m:r>
                        <a:rPr lang="es-PE" sz="1600" b="1" i="1" smtClean="0">
                          <a:latin typeface="Cambria Math" panose="02040503050406030204" pitchFamily="18" charset="0"/>
                        </a:rPr>
                        <m:t>.</m:t>
                      </m:r>
                      <m:r>
                        <a:rPr lang="es-PE" sz="1600" b="1" i="1" smtClean="0">
                          <a:latin typeface="Cambria Math" panose="02040503050406030204" pitchFamily="18" charset="0"/>
                        </a:rPr>
                        <m:t>𝟖</m:t>
                      </m:r>
                      <m:r>
                        <a:rPr lang="es-PE" sz="1600" b="1" i="1" smtClean="0">
                          <a:latin typeface="Cambria Math" panose="02040503050406030204" pitchFamily="18" charset="0"/>
                        </a:rPr>
                        <m:t> </m:t>
                      </m:r>
                      <m:r>
                        <a:rPr lang="es-PE" sz="1600" b="1" i="1" smtClean="0">
                          <a:latin typeface="Cambria Math" panose="02040503050406030204" pitchFamily="18" charset="0"/>
                        </a:rPr>
                        <m:t>𝒎</m:t>
                      </m:r>
                    </m:oMath>
                  </m:oMathPara>
                </a14:m>
                <a:endParaRPr lang="es-PE" sz="1600" b="1" i="1" dirty="0"/>
              </a:p>
            </p:txBody>
          </p:sp>
        </mc:Choice>
        <mc:Fallback xmlns="">
          <p:sp>
            <p:nvSpPr>
              <p:cNvPr id="19" name="CuadroTexto 18">
                <a:extLst>
                  <a:ext uri="{FF2B5EF4-FFF2-40B4-BE49-F238E27FC236}">
                    <a16:creationId xmlns:a16="http://schemas.microsoft.com/office/drawing/2014/main" id="{F36189C6-ED21-2C89-17B8-BEB84760C08B}"/>
                  </a:ext>
                </a:extLst>
              </p:cNvPr>
              <p:cNvSpPr txBox="1">
                <a:spLocks noRot="1" noChangeAspect="1" noMove="1" noResize="1" noEditPoints="1" noAdjustHandles="1" noChangeArrowheads="1" noChangeShapeType="1" noTextEdit="1"/>
              </p:cNvSpPr>
              <p:nvPr/>
            </p:nvSpPr>
            <p:spPr>
              <a:xfrm>
                <a:off x="335078" y="3238645"/>
                <a:ext cx="604846" cy="246221"/>
              </a:xfrm>
              <a:prstGeom prst="rect">
                <a:avLst/>
              </a:prstGeom>
              <a:blipFill>
                <a:blip r:embed="rId2"/>
                <a:stretch>
                  <a:fillRect l="-8081" r="-4040" b="-4878"/>
                </a:stretch>
              </a:blipFill>
            </p:spPr>
            <p:txBody>
              <a:bodyPr/>
              <a:lstStyle/>
              <a:p>
                <a:r>
                  <a:rPr lang="es-PE">
                    <a:noFill/>
                  </a:rPr>
                  <a:t> </a:t>
                </a:r>
              </a:p>
            </p:txBody>
          </p:sp>
        </mc:Fallback>
      </mc:AlternateContent>
      <p:cxnSp>
        <p:nvCxnSpPr>
          <p:cNvPr id="20" name="Conector recto 19">
            <a:extLst>
              <a:ext uri="{FF2B5EF4-FFF2-40B4-BE49-F238E27FC236}">
                <a16:creationId xmlns:a16="http://schemas.microsoft.com/office/drawing/2014/main" id="{B4797FC6-1517-692D-2E56-B48C5032DCD5}"/>
              </a:ext>
            </a:extLst>
          </p:cNvPr>
          <p:cNvCxnSpPr>
            <a:cxnSpLocks/>
          </p:cNvCxnSpPr>
          <p:nvPr/>
        </p:nvCxnSpPr>
        <p:spPr>
          <a:xfrm>
            <a:off x="1236654" y="4870104"/>
            <a:ext cx="2691131"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Conector recto 22">
            <a:extLst>
              <a:ext uri="{FF2B5EF4-FFF2-40B4-BE49-F238E27FC236}">
                <a16:creationId xmlns:a16="http://schemas.microsoft.com/office/drawing/2014/main" id="{5AB85D76-1E13-A5EB-42FD-B6D5C1988733}"/>
              </a:ext>
            </a:extLst>
          </p:cNvPr>
          <p:cNvCxnSpPr/>
          <p:nvPr/>
        </p:nvCxnSpPr>
        <p:spPr>
          <a:xfrm>
            <a:off x="1511602" y="4735547"/>
            <a:ext cx="0" cy="28803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Conector recto 23">
            <a:extLst>
              <a:ext uri="{FF2B5EF4-FFF2-40B4-BE49-F238E27FC236}">
                <a16:creationId xmlns:a16="http://schemas.microsoft.com/office/drawing/2014/main" id="{E790FB11-125F-3F72-E8F5-2AB051658AFD}"/>
              </a:ext>
            </a:extLst>
          </p:cNvPr>
          <p:cNvCxnSpPr/>
          <p:nvPr/>
        </p:nvCxnSpPr>
        <p:spPr>
          <a:xfrm>
            <a:off x="3695831" y="4735547"/>
            <a:ext cx="0" cy="28803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38" name="Grupo 37">
            <a:extLst>
              <a:ext uri="{FF2B5EF4-FFF2-40B4-BE49-F238E27FC236}">
                <a16:creationId xmlns:a16="http://schemas.microsoft.com/office/drawing/2014/main" id="{54954D6D-CC84-C3E6-C3FC-2052C45EA298}"/>
              </a:ext>
            </a:extLst>
          </p:cNvPr>
          <p:cNvGrpSpPr/>
          <p:nvPr/>
        </p:nvGrpSpPr>
        <p:grpSpPr>
          <a:xfrm>
            <a:off x="605877" y="5049795"/>
            <a:ext cx="1253448" cy="1101128"/>
            <a:chOff x="424663" y="4976843"/>
            <a:chExt cx="1253448" cy="1101128"/>
          </a:xfrm>
        </p:grpSpPr>
        <p:sp>
          <p:nvSpPr>
            <p:cNvPr id="26" name="Rectángulo 25">
              <a:extLst>
                <a:ext uri="{FF2B5EF4-FFF2-40B4-BE49-F238E27FC236}">
                  <a16:creationId xmlns:a16="http://schemas.microsoft.com/office/drawing/2014/main" id="{180F0F17-A1B8-2181-B547-1C104145581E}"/>
                </a:ext>
              </a:extLst>
            </p:cNvPr>
            <p:cNvSpPr>
              <a:spLocks noChangeAspect="1"/>
            </p:cNvSpPr>
            <p:nvPr/>
          </p:nvSpPr>
          <p:spPr>
            <a:xfrm>
              <a:off x="1149729" y="5048875"/>
              <a:ext cx="431954" cy="432000"/>
            </a:xfrm>
            <a:prstGeom prst="rect">
              <a:avLst/>
            </a:prstGeom>
            <a:pattFill prst="wdUpDiag">
              <a:fgClr>
                <a:schemeClr val="tx1">
                  <a:lumMod val="65000"/>
                  <a:lumOff val="35000"/>
                </a:schemeClr>
              </a:fgClr>
              <a:bgClr>
                <a:schemeClr val="bg1"/>
              </a:bgClr>
            </a:patt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cxnSp>
          <p:nvCxnSpPr>
            <p:cNvPr id="27" name="Conector recto 26">
              <a:extLst>
                <a:ext uri="{FF2B5EF4-FFF2-40B4-BE49-F238E27FC236}">
                  <a16:creationId xmlns:a16="http://schemas.microsoft.com/office/drawing/2014/main" id="{77DD0DD3-F02E-B575-9564-FE09A1A55317}"/>
                </a:ext>
              </a:extLst>
            </p:cNvPr>
            <p:cNvCxnSpPr/>
            <p:nvPr/>
          </p:nvCxnSpPr>
          <p:spPr>
            <a:xfrm>
              <a:off x="1149729" y="5640390"/>
              <a:ext cx="0" cy="18000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Conector recto 28">
              <a:extLst>
                <a:ext uri="{FF2B5EF4-FFF2-40B4-BE49-F238E27FC236}">
                  <a16:creationId xmlns:a16="http://schemas.microsoft.com/office/drawing/2014/main" id="{E601BA6D-2052-749B-8E4C-285F80AFBB27}"/>
                </a:ext>
              </a:extLst>
            </p:cNvPr>
            <p:cNvCxnSpPr>
              <a:cxnSpLocks/>
            </p:cNvCxnSpPr>
            <p:nvPr/>
          </p:nvCxnSpPr>
          <p:spPr>
            <a:xfrm>
              <a:off x="1042821" y="5733256"/>
              <a:ext cx="63529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1" name="CuadroTexto 30">
                  <a:extLst>
                    <a:ext uri="{FF2B5EF4-FFF2-40B4-BE49-F238E27FC236}">
                      <a16:creationId xmlns:a16="http://schemas.microsoft.com/office/drawing/2014/main" id="{B0EC4A1B-117F-9ECA-4D5F-076E5A7F455E}"/>
                    </a:ext>
                  </a:extLst>
                </p:cNvPr>
                <p:cNvSpPr txBox="1"/>
                <p:nvPr/>
              </p:nvSpPr>
              <p:spPr>
                <a:xfrm>
                  <a:off x="1110400" y="5893305"/>
                  <a:ext cx="471283" cy="18466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PE" sz="1200" b="1" i="1" smtClean="0">
                            <a:latin typeface="Cambria Math" panose="02040503050406030204" pitchFamily="18" charset="0"/>
                          </a:rPr>
                          <m:t>𝟑𝟎</m:t>
                        </m:r>
                        <m:r>
                          <a:rPr lang="es-PE" sz="1200" b="1" i="1" smtClean="0">
                            <a:latin typeface="Cambria Math" panose="02040503050406030204" pitchFamily="18" charset="0"/>
                          </a:rPr>
                          <m:t> </m:t>
                        </m:r>
                        <m:r>
                          <a:rPr lang="es-PE" sz="1200" b="1" i="1" smtClean="0">
                            <a:latin typeface="Cambria Math" panose="02040503050406030204" pitchFamily="18" charset="0"/>
                          </a:rPr>
                          <m:t>𝒄𝒎</m:t>
                        </m:r>
                      </m:oMath>
                    </m:oMathPara>
                  </a14:m>
                  <a:endParaRPr lang="es-PE" sz="1200" b="1" i="1" dirty="0"/>
                </a:p>
              </p:txBody>
            </p:sp>
          </mc:Choice>
          <mc:Fallback xmlns="">
            <p:sp>
              <p:nvSpPr>
                <p:cNvPr id="31" name="CuadroTexto 30">
                  <a:extLst>
                    <a:ext uri="{FF2B5EF4-FFF2-40B4-BE49-F238E27FC236}">
                      <a16:creationId xmlns:a16="http://schemas.microsoft.com/office/drawing/2014/main" id="{B0EC4A1B-117F-9ECA-4D5F-076E5A7F455E}"/>
                    </a:ext>
                  </a:extLst>
                </p:cNvPr>
                <p:cNvSpPr txBox="1">
                  <a:spLocks noRot="1" noChangeAspect="1" noMove="1" noResize="1" noEditPoints="1" noAdjustHandles="1" noChangeArrowheads="1" noChangeShapeType="1" noTextEdit="1"/>
                </p:cNvSpPr>
                <p:nvPr/>
              </p:nvSpPr>
              <p:spPr>
                <a:xfrm>
                  <a:off x="1110400" y="5893305"/>
                  <a:ext cx="471283" cy="184666"/>
                </a:xfrm>
                <a:prstGeom prst="rect">
                  <a:avLst/>
                </a:prstGeom>
                <a:blipFill>
                  <a:blip r:embed="rId3"/>
                  <a:stretch>
                    <a:fillRect l="-7792" r="-5195" b="-6667"/>
                  </a:stretch>
                </a:blipFill>
              </p:spPr>
              <p:txBody>
                <a:bodyPr/>
                <a:lstStyle/>
                <a:p>
                  <a:r>
                    <a:rPr lang="es-PE">
                      <a:noFill/>
                    </a:rPr>
                    <a:t> </a:t>
                  </a:r>
                </a:p>
              </p:txBody>
            </p:sp>
          </mc:Fallback>
        </mc:AlternateContent>
        <p:cxnSp>
          <p:nvCxnSpPr>
            <p:cNvPr id="32" name="Conector recto 31">
              <a:extLst>
                <a:ext uri="{FF2B5EF4-FFF2-40B4-BE49-F238E27FC236}">
                  <a16:creationId xmlns:a16="http://schemas.microsoft.com/office/drawing/2014/main" id="{0256719A-02F0-50D3-CDD6-92586642DA3D}"/>
                </a:ext>
              </a:extLst>
            </p:cNvPr>
            <p:cNvCxnSpPr>
              <a:cxnSpLocks/>
            </p:cNvCxnSpPr>
            <p:nvPr/>
          </p:nvCxnSpPr>
          <p:spPr>
            <a:xfrm>
              <a:off x="918571" y="4976843"/>
              <a:ext cx="0" cy="61274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Conector recto 33">
              <a:extLst>
                <a:ext uri="{FF2B5EF4-FFF2-40B4-BE49-F238E27FC236}">
                  <a16:creationId xmlns:a16="http://schemas.microsoft.com/office/drawing/2014/main" id="{46561584-17C2-B301-B7C0-CBDE41AFEA25}"/>
                </a:ext>
              </a:extLst>
            </p:cNvPr>
            <p:cNvCxnSpPr/>
            <p:nvPr/>
          </p:nvCxnSpPr>
          <p:spPr>
            <a:xfrm>
              <a:off x="801276" y="5042849"/>
              <a:ext cx="216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Conector recto 34">
              <a:extLst>
                <a:ext uri="{FF2B5EF4-FFF2-40B4-BE49-F238E27FC236}">
                  <a16:creationId xmlns:a16="http://schemas.microsoft.com/office/drawing/2014/main" id="{47B61D6A-9196-506A-46BB-F468D4B44EB0}"/>
                </a:ext>
              </a:extLst>
            </p:cNvPr>
            <p:cNvCxnSpPr/>
            <p:nvPr/>
          </p:nvCxnSpPr>
          <p:spPr>
            <a:xfrm>
              <a:off x="814039" y="5462158"/>
              <a:ext cx="216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Conector recto 35">
              <a:extLst>
                <a:ext uri="{FF2B5EF4-FFF2-40B4-BE49-F238E27FC236}">
                  <a16:creationId xmlns:a16="http://schemas.microsoft.com/office/drawing/2014/main" id="{311EC56E-9699-0352-1A25-6133DAA12D25}"/>
                </a:ext>
              </a:extLst>
            </p:cNvPr>
            <p:cNvCxnSpPr/>
            <p:nvPr/>
          </p:nvCxnSpPr>
          <p:spPr>
            <a:xfrm>
              <a:off x="1576430" y="5659132"/>
              <a:ext cx="0" cy="18000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7" name="CuadroTexto 36">
                  <a:extLst>
                    <a:ext uri="{FF2B5EF4-FFF2-40B4-BE49-F238E27FC236}">
                      <a16:creationId xmlns:a16="http://schemas.microsoft.com/office/drawing/2014/main" id="{F470CAC1-752B-AA49-8BE2-E46BC72E6187}"/>
                    </a:ext>
                  </a:extLst>
                </p:cNvPr>
                <p:cNvSpPr txBox="1"/>
                <p:nvPr/>
              </p:nvSpPr>
              <p:spPr>
                <a:xfrm>
                  <a:off x="424663" y="5148731"/>
                  <a:ext cx="471283" cy="18466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PE" sz="1200" b="1" i="1" smtClean="0">
                            <a:latin typeface="Cambria Math" panose="02040503050406030204" pitchFamily="18" charset="0"/>
                          </a:rPr>
                          <m:t>𝟑𝟎</m:t>
                        </m:r>
                        <m:r>
                          <a:rPr lang="es-PE" sz="1200" b="1" i="1" smtClean="0">
                            <a:latin typeface="Cambria Math" panose="02040503050406030204" pitchFamily="18" charset="0"/>
                          </a:rPr>
                          <m:t> </m:t>
                        </m:r>
                        <m:r>
                          <a:rPr lang="es-PE" sz="1200" b="1" i="1" smtClean="0">
                            <a:latin typeface="Cambria Math" panose="02040503050406030204" pitchFamily="18" charset="0"/>
                          </a:rPr>
                          <m:t>𝒄𝒎</m:t>
                        </m:r>
                      </m:oMath>
                    </m:oMathPara>
                  </a14:m>
                  <a:endParaRPr lang="es-PE" sz="1200" b="1" i="1" dirty="0"/>
                </a:p>
              </p:txBody>
            </p:sp>
          </mc:Choice>
          <mc:Fallback xmlns="">
            <p:sp>
              <p:nvSpPr>
                <p:cNvPr id="37" name="CuadroTexto 36">
                  <a:extLst>
                    <a:ext uri="{FF2B5EF4-FFF2-40B4-BE49-F238E27FC236}">
                      <a16:creationId xmlns:a16="http://schemas.microsoft.com/office/drawing/2014/main" id="{F470CAC1-752B-AA49-8BE2-E46BC72E6187}"/>
                    </a:ext>
                  </a:extLst>
                </p:cNvPr>
                <p:cNvSpPr txBox="1">
                  <a:spLocks noRot="1" noChangeAspect="1" noMove="1" noResize="1" noEditPoints="1" noAdjustHandles="1" noChangeArrowheads="1" noChangeShapeType="1" noTextEdit="1"/>
                </p:cNvSpPr>
                <p:nvPr/>
              </p:nvSpPr>
              <p:spPr>
                <a:xfrm>
                  <a:off x="424663" y="5148731"/>
                  <a:ext cx="471283" cy="184666"/>
                </a:xfrm>
                <a:prstGeom prst="rect">
                  <a:avLst/>
                </a:prstGeom>
                <a:blipFill>
                  <a:blip r:embed="rId4"/>
                  <a:stretch>
                    <a:fillRect l="-7692" r="-5128" b="-6667"/>
                  </a:stretch>
                </a:blipFill>
              </p:spPr>
              <p:txBody>
                <a:bodyPr/>
                <a:lstStyle/>
                <a:p>
                  <a:r>
                    <a:rPr lang="es-PE">
                      <a:noFill/>
                    </a:rPr>
                    <a:t> </a:t>
                  </a:r>
                </a:p>
              </p:txBody>
            </p:sp>
          </mc:Fallback>
        </mc:AlternateContent>
      </p:grpSp>
      <p:grpSp>
        <p:nvGrpSpPr>
          <p:cNvPr id="59" name="Grupo 58">
            <a:extLst>
              <a:ext uri="{FF2B5EF4-FFF2-40B4-BE49-F238E27FC236}">
                <a16:creationId xmlns:a16="http://schemas.microsoft.com/office/drawing/2014/main" id="{B9D0E3A8-D1D0-2B0D-B28C-4B4A300D8206}"/>
              </a:ext>
            </a:extLst>
          </p:cNvPr>
          <p:cNvGrpSpPr/>
          <p:nvPr/>
        </p:nvGrpSpPr>
        <p:grpSpPr>
          <a:xfrm>
            <a:off x="3818712" y="2032698"/>
            <a:ext cx="1155667" cy="1137101"/>
            <a:chOff x="426016" y="4940870"/>
            <a:chExt cx="1155667" cy="1137101"/>
          </a:xfrm>
        </p:grpSpPr>
        <p:sp>
          <p:nvSpPr>
            <p:cNvPr id="60" name="Rectángulo 59">
              <a:extLst>
                <a:ext uri="{FF2B5EF4-FFF2-40B4-BE49-F238E27FC236}">
                  <a16:creationId xmlns:a16="http://schemas.microsoft.com/office/drawing/2014/main" id="{8A559CAF-DBDB-9BFD-557A-9CB0D9E00E81}"/>
                </a:ext>
              </a:extLst>
            </p:cNvPr>
            <p:cNvSpPr>
              <a:spLocks noChangeAspect="1"/>
            </p:cNvSpPr>
            <p:nvPr/>
          </p:nvSpPr>
          <p:spPr>
            <a:xfrm>
              <a:off x="1149729" y="5048875"/>
              <a:ext cx="324000" cy="540000"/>
            </a:xfrm>
            <a:prstGeom prst="rect">
              <a:avLst/>
            </a:prstGeom>
            <a:pattFill prst="wdUpDiag">
              <a:fgClr>
                <a:schemeClr val="tx1">
                  <a:lumMod val="65000"/>
                  <a:lumOff val="35000"/>
                </a:schemeClr>
              </a:fgClr>
              <a:bgClr>
                <a:schemeClr val="bg1"/>
              </a:bgClr>
            </a:patt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dirty="0"/>
            </a:p>
          </p:txBody>
        </p:sp>
        <p:cxnSp>
          <p:nvCxnSpPr>
            <p:cNvPr id="61" name="Conector recto 60">
              <a:extLst>
                <a:ext uri="{FF2B5EF4-FFF2-40B4-BE49-F238E27FC236}">
                  <a16:creationId xmlns:a16="http://schemas.microsoft.com/office/drawing/2014/main" id="{30A144B4-A2B8-5233-FB46-84C03CA4553C}"/>
                </a:ext>
              </a:extLst>
            </p:cNvPr>
            <p:cNvCxnSpPr/>
            <p:nvPr/>
          </p:nvCxnSpPr>
          <p:spPr>
            <a:xfrm>
              <a:off x="1149729" y="5640390"/>
              <a:ext cx="0" cy="18000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 name="Conector recto 61">
              <a:extLst>
                <a:ext uri="{FF2B5EF4-FFF2-40B4-BE49-F238E27FC236}">
                  <a16:creationId xmlns:a16="http://schemas.microsoft.com/office/drawing/2014/main" id="{24214798-2537-4986-DD4F-A5E5C413666E}"/>
                </a:ext>
              </a:extLst>
            </p:cNvPr>
            <p:cNvCxnSpPr>
              <a:cxnSpLocks/>
            </p:cNvCxnSpPr>
            <p:nvPr/>
          </p:nvCxnSpPr>
          <p:spPr>
            <a:xfrm>
              <a:off x="1068222" y="5733256"/>
              <a:ext cx="468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3" name="CuadroTexto 62">
                  <a:extLst>
                    <a:ext uri="{FF2B5EF4-FFF2-40B4-BE49-F238E27FC236}">
                      <a16:creationId xmlns:a16="http://schemas.microsoft.com/office/drawing/2014/main" id="{6EBC0F68-DE55-F623-80C0-592EC4574729}"/>
                    </a:ext>
                  </a:extLst>
                </p:cNvPr>
                <p:cNvSpPr txBox="1"/>
                <p:nvPr/>
              </p:nvSpPr>
              <p:spPr>
                <a:xfrm>
                  <a:off x="1110400" y="5893305"/>
                  <a:ext cx="471283" cy="18466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PE" sz="1200" b="1" i="1" smtClean="0">
                            <a:latin typeface="Cambria Math" panose="02040503050406030204" pitchFamily="18" charset="0"/>
                          </a:rPr>
                          <m:t>𝟑𝟎</m:t>
                        </m:r>
                        <m:r>
                          <a:rPr lang="es-PE" sz="1200" b="1" i="1" smtClean="0">
                            <a:latin typeface="Cambria Math" panose="02040503050406030204" pitchFamily="18" charset="0"/>
                          </a:rPr>
                          <m:t> </m:t>
                        </m:r>
                        <m:r>
                          <a:rPr lang="es-PE" sz="1200" b="1" i="1" smtClean="0">
                            <a:latin typeface="Cambria Math" panose="02040503050406030204" pitchFamily="18" charset="0"/>
                          </a:rPr>
                          <m:t>𝒄𝒎</m:t>
                        </m:r>
                      </m:oMath>
                    </m:oMathPara>
                  </a14:m>
                  <a:endParaRPr lang="es-PE" sz="1200" b="1" i="1" dirty="0"/>
                </a:p>
              </p:txBody>
            </p:sp>
          </mc:Choice>
          <mc:Fallback xmlns="">
            <p:sp>
              <p:nvSpPr>
                <p:cNvPr id="63" name="CuadroTexto 62">
                  <a:extLst>
                    <a:ext uri="{FF2B5EF4-FFF2-40B4-BE49-F238E27FC236}">
                      <a16:creationId xmlns:a16="http://schemas.microsoft.com/office/drawing/2014/main" id="{6EBC0F68-DE55-F623-80C0-592EC4574729}"/>
                    </a:ext>
                  </a:extLst>
                </p:cNvPr>
                <p:cNvSpPr txBox="1">
                  <a:spLocks noRot="1" noChangeAspect="1" noMove="1" noResize="1" noEditPoints="1" noAdjustHandles="1" noChangeArrowheads="1" noChangeShapeType="1" noTextEdit="1"/>
                </p:cNvSpPr>
                <p:nvPr/>
              </p:nvSpPr>
              <p:spPr>
                <a:xfrm>
                  <a:off x="1110400" y="5893305"/>
                  <a:ext cx="471283" cy="184666"/>
                </a:xfrm>
                <a:prstGeom prst="rect">
                  <a:avLst/>
                </a:prstGeom>
                <a:blipFill>
                  <a:blip r:embed="rId3"/>
                  <a:stretch>
                    <a:fillRect l="-7792" r="-5195" b="-6667"/>
                  </a:stretch>
                </a:blipFill>
              </p:spPr>
              <p:txBody>
                <a:bodyPr/>
                <a:lstStyle/>
                <a:p>
                  <a:r>
                    <a:rPr lang="es-PE">
                      <a:noFill/>
                    </a:rPr>
                    <a:t> </a:t>
                  </a:r>
                </a:p>
              </p:txBody>
            </p:sp>
          </mc:Fallback>
        </mc:AlternateContent>
        <p:cxnSp>
          <p:nvCxnSpPr>
            <p:cNvPr id="64" name="Conector recto 63">
              <a:extLst>
                <a:ext uri="{FF2B5EF4-FFF2-40B4-BE49-F238E27FC236}">
                  <a16:creationId xmlns:a16="http://schemas.microsoft.com/office/drawing/2014/main" id="{BC7A24C7-DD4D-87DE-C72B-CF2B74C449BE}"/>
                </a:ext>
              </a:extLst>
            </p:cNvPr>
            <p:cNvCxnSpPr>
              <a:cxnSpLocks/>
            </p:cNvCxnSpPr>
            <p:nvPr/>
          </p:nvCxnSpPr>
          <p:spPr>
            <a:xfrm>
              <a:off x="918571" y="4940870"/>
              <a:ext cx="0" cy="72000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5" name="Conector recto 64">
              <a:extLst>
                <a:ext uri="{FF2B5EF4-FFF2-40B4-BE49-F238E27FC236}">
                  <a16:creationId xmlns:a16="http://schemas.microsoft.com/office/drawing/2014/main" id="{9CE1FA22-E1BE-8A39-F1D4-668589BD633C}"/>
                </a:ext>
              </a:extLst>
            </p:cNvPr>
            <p:cNvCxnSpPr/>
            <p:nvPr/>
          </p:nvCxnSpPr>
          <p:spPr>
            <a:xfrm>
              <a:off x="801276" y="5042849"/>
              <a:ext cx="216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6" name="Conector recto 65">
              <a:extLst>
                <a:ext uri="{FF2B5EF4-FFF2-40B4-BE49-F238E27FC236}">
                  <a16:creationId xmlns:a16="http://schemas.microsoft.com/office/drawing/2014/main" id="{51EAE19B-15B6-F643-596C-47AA44D7E0A6}"/>
                </a:ext>
              </a:extLst>
            </p:cNvPr>
            <p:cNvCxnSpPr/>
            <p:nvPr/>
          </p:nvCxnSpPr>
          <p:spPr>
            <a:xfrm>
              <a:off x="814039" y="5572229"/>
              <a:ext cx="216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7" name="Conector recto 66">
              <a:extLst>
                <a:ext uri="{FF2B5EF4-FFF2-40B4-BE49-F238E27FC236}">
                  <a16:creationId xmlns:a16="http://schemas.microsoft.com/office/drawing/2014/main" id="{E52223AB-855C-4DE8-6042-A187D31A64F9}"/>
                </a:ext>
              </a:extLst>
            </p:cNvPr>
            <p:cNvCxnSpPr/>
            <p:nvPr/>
          </p:nvCxnSpPr>
          <p:spPr>
            <a:xfrm>
              <a:off x="1500229" y="5650665"/>
              <a:ext cx="0" cy="18000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8" name="CuadroTexto 67">
                  <a:extLst>
                    <a:ext uri="{FF2B5EF4-FFF2-40B4-BE49-F238E27FC236}">
                      <a16:creationId xmlns:a16="http://schemas.microsoft.com/office/drawing/2014/main" id="{FBFB130B-B08B-2AFC-8A1E-7126928B240E}"/>
                    </a:ext>
                  </a:extLst>
                </p:cNvPr>
                <p:cNvSpPr txBox="1"/>
                <p:nvPr/>
              </p:nvSpPr>
              <p:spPr>
                <a:xfrm>
                  <a:off x="426016" y="5231081"/>
                  <a:ext cx="471283" cy="18466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PE" sz="1200" b="1" i="1" smtClean="0">
                            <a:latin typeface="Cambria Math" panose="02040503050406030204" pitchFamily="18" charset="0"/>
                          </a:rPr>
                          <m:t>𝟓𝟎</m:t>
                        </m:r>
                        <m:r>
                          <a:rPr lang="es-PE" sz="1200" b="1" i="1" smtClean="0">
                            <a:latin typeface="Cambria Math" panose="02040503050406030204" pitchFamily="18" charset="0"/>
                          </a:rPr>
                          <m:t> </m:t>
                        </m:r>
                        <m:r>
                          <a:rPr lang="es-PE" sz="1200" b="1" i="1" smtClean="0">
                            <a:latin typeface="Cambria Math" panose="02040503050406030204" pitchFamily="18" charset="0"/>
                          </a:rPr>
                          <m:t>𝒄𝒎</m:t>
                        </m:r>
                      </m:oMath>
                    </m:oMathPara>
                  </a14:m>
                  <a:endParaRPr lang="es-PE" sz="1200" b="1" i="1" dirty="0"/>
                </a:p>
              </p:txBody>
            </p:sp>
          </mc:Choice>
          <mc:Fallback xmlns="">
            <p:sp>
              <p:nvSpPr>
                <p:cNvPr id="68" name="CuadroTexto 67">
                  <a:extLst>
                    <a:ext uri="{FF2B5EF4-FFF2-40B4-BE49-F238E27FC236}">
                      <a16:creationId xmlns:a16="http://schemas.microsoft.com/office/drawing/2014/main" id="{FBFB130B-B08B-2AFC-8A1E-7126928B240E}"/>
                    </a:ext>
                  </a:extLst>
                </p:cNvPr>
                <p:cNvSpPr txBox="1">
                  <a:spLocks noRot="1" noChangeAspect="1" noMove="1" noResize="1" noEditPoints="1" noAdjustHandles="1" noChangeArrowheads="1" noChangeShapeType="1" noTextEdit="1"/>
                </p:cNvSpPr>
                <p:nvPr/>
              </p:nvSpPr>
              <p:spPr>
                <a:xfrm>
                  <a:off x="426016" y="5231081"/>
                  <a:ext cx="471283" cy="184666"/>
                </a:xfrm>
                <a:prstGeom prst="rect">
                  <a:avLst/>
                </a:prstGeom>
                <a:blipFill>
                  <a:blip r:embed="rId5"/>
                  <a:stretch>
                    <a:fillRect l="-7692" r="-5128" b="-10000"/>
                  </a:stretch>
                </a:blipFill>
              </p:spPr>
              <p:txBody>
                <a:bodyPr/>
                <a:lstStyle/>
                <a:p>
                  <a:r>
                    <a:rPr lang="es-PE">
                      <a:noFill/>
                    </a:rPr>
                    <a:t> </a:t>
                  </a:r>
                </a:p>
              </p:txBody>
            </p:sp>
          </mc:Fallback>
        </mc:AlternateContent>
      </p:grpSp>
      <mc:AlternateContent xmlns:mc="http://schemas.openxmlformats.org/markup-compatibility/2006" xmlns:a14="http://schemas.microsoft.com/office/drawing/2010/main">
        <mc:Choice Requires="a14">
          <p:sp>
            <p:nvSpPr>
              <p:cNvPr id="3" name="CuadroTexto 2">
                <a:extLst>
                  <a:ext uri="{FF2B5EF4-FFF2-40B4-BE49-F238E27FC236}">
                    <a16:creationId xmlns:a16="http://schemas.microsoft.com/office/drawing/2014/main" id="{EE2548BE-8736-3C1C-1412-D142E5CB5AA9}"/>
                  </a:ext>
                </a:extLst>
              </p:cNvPr>
              <p:cNvSpPr txBox="1"/>
              <p:nvPr/>
            </p:nvSpPr>
            <p:spPr>
              <a:xfrm>
                <a:off x="2269118" y="4593519"/>
                <a:ext cx="728276"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PE" sz="1600" b="1" i="1" smtClean="0">
                          <a:latin typeface="Cambria Math" panose="02040503050406030204" pitchFamily="18" charset="0"/>
                        </a:rPr>
                        <m:t>𝟑</m:t>
                      </m:r>
                      <m:r>
                        <a:rPr lang="es-PE" sz="1600" b="1" i="1" smtClean="0">
                          <a:latin typeface="Cambria Math" panose="02040503050406030204" pitchFamily="18" charset="0"/>
                        </a:rPr>
                        <m:t>.</m:t>
                      </m:r>
                      <m:r>
                        <a:rPr lang="es-PE" sz="1600" b="1" i="1" smtClean="0">
                          <a:latin typeface="Cambria Math" panose="02040503050406030204" pitchFamily="18" charset="0"/>
                        </a:rPr>
                        <m:t>𝟖𝟎</m:t>
                      </m:r>
                      <m:r>
                        <a:rPr lang="es-PE" sz="1600" b="1" i="1" smtClean="0">
                          <a:latin typeface="Cambria Math" panose="02040503050406030204" pitchFamily="18" charset="0"/>
                        </a:rPr>
                        <m:t> </m:t>
                      </m:r>
                      <m:r>
                        <a:rPr lang="es-PE" sz="1600" b="1" i="1" smtClean="0">
                          <a:latin typeface="Cambria Math" panose="02040503050406030204" pitchFamily="18" charset="0"/>
                        </a:rPr>
                        <m:t>𝒎</m:t>
                      </m:r>
                    </m:oMath>
                  </m:oMathPara>
                </a14:m>
                <a:endParaRPr lang="es-PE" sz="1600" b="1" i="1" dirty="0"/>
              </a:p>
            </p:txBody>
          </p:sp>
        </mc:Choice>
        <mc:Fallback xmlns="">
          <p:sp>
            <p:nvSpPr>
              <p:cNvPr id="3" name="CuadroTexto 2">
                <a:extLst>
                  <a:ext uri="{FF2B5EF4-FFF2-40B4-BE49-F238E27FC236}">
                    <a16:creationId xmlns:a16="http://schemas.microsoft.com/office/drawing/2014/main" id="{EE2548BE-8736-3C1C-1412-D142E5CB5AA9}"/>
                  </a:ext>
                </a:extLst>
              </p:cNvPr>
              <p:cNvSpPr txBox="1">
                <a:spLocks noRot="1" noChangeAspect="1" noMove="1" noResize="1" noEditPoints="1" noAdjustHandles="1" noChangeArrowheads="1" noChangeShapeType="1" noTextEdit="1"/>
              </p:cNvSpPr>
              <p:nvPr/>
            </p:nvSpPr>
            <p:spPr>
              <a:xfrm>
                <a:off x="2269118" y="4593519"/>
                <a:ext cx="728276" cy="246221"/>
              </a:xfrm>
              <a:prstGeom prst="rect">
                <a:avLst/>
              </a:prstGeom>
              <a:blipFill>
                <a:blip r:embed="rId6"/>
                <a:stretch>
                  <a:fillRect l="-5833" r="-3333" b="-5000"/>
                </a:stretch>
              </a:blipFill>
            </p:spPr>
            <p:txBody>
              <a:bodyPr/>
              <a:lstStyle/>
              <a:p>
                <a:r>
                  <a:rPr lang="es-PE">
                    <a:noFill/>
                  </a:rPr>
                  <a:t> </a:t>
                </a:r>
              </a:p>
            </p:txBody>
          </p:sp>
        </mc:Fallback>
      </mc:AlternateContent>
      <p:sp>
        <p:nvSpPr>
          <p:cNvPr id="5" name="Elipse 4">
            <a:extLst>
              <a:ext uri="{FF2B5EF4-FFF2-40B4-BE49-F238E27FC236}">
                <a16:creationId xmlns:a16="http://schemas.microsoft.com/office/drawing/2014/main" id="{77C462ED-6A79-3855-C197-3929291E5A9F}"/>
              </a:ext>
            </a:extLst>
          </p:cNvPr>
          <p:cNvSpPr>
            <a:spLocks noChangeAspect="1"/>
          </p:cNvSpPr>
          <p:nvPr/>
        </p:nvSpPr>
        <p:spPr>
          <a:xfrm>
            <a:off x="1634954" y="4187778"/>
            <a:ext cx="252000" cy="252000"/>
          </a:xfrm>
          <a:prstGeom prst="ellipse">
            <a:avLst/>
          </a:prstGeom>
          <a:solidFill>
            <a:schemeClr val="bg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PE" dirty="0">
                <a:solidFill>
                  <a:schemeClr val="tx1"/>
                </a:solidFill>
              </a:rPr>
              <a:t>A</a:t>
            </a:r>
          </a:p>
        </p:txBody>
      </p:sp>
      <p:sp>
        <p:nvSpPr>
          <p:cNvPr id="14" name="Elipse 13">
            <a:extLst>
              <a:ext uri="{FF2B5EF4-FFF2-40B4-BE49-F238E27FC236}">
                <a16:creationId xmlns:a16="http://schemas.microsoft.com/office/drawing/2014/main" id="{11937C94-265B-F166-7749-A72C9F0FCCF9}"/>
              </a:ext>
            </a:extLst>
          </p:cNvPr>
          <p:cNvSpPr>
            <a:spLocks noChangeAspect="1"/>
          </p:cNvSpPr>
          <p:nvPr/>
        </p:nvSpPr>
        <p:spPr>
          <a:xfrm>
            <a:off x="1138999" y="2079345"/>
            <a:ext cx="252000" cy="252000"/>
          </a:xfrm>
          <a:prstGeom prst="ellipse">
            <a:avLst/>
          </a:prstGeom>
          <a:solidFill>
            <a:schemeClr val="bg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PE" dirty="0">
                <a:solidFill>
                  <a:schemeClr val="tx1"/>
                </a:solidFill>
              </a:rPr>
              <a:t>B</a:t>
            </a:r>
          </a:p>
        </p:txBody>
      </p:sp>
      <p:sp>
        <p:nvSpPr>
          <p:cNvPr id="21" name="Elipse 20">
            <a:extLst>
              <a:ext uri="{FF2B5EF4-FFF2-40B4-BE49-F238E27FC236}">
                <a16:creationId xmlns:a16="http://schemas.microsoft.com/office/drawing/2014/main" id="{B95439FB-BF42-ED1B-63D8-52239D77A557}"/>
              </a:ext>
            </a:extLst>
          </p:cNvPr>
          <p:cNvSpPr>
            <a:spLocks noChangeAspect="1"/>
          </p:cNvSpPr>
          <p:nvPr/>
        </p:nvSpPr>
        <p:spPr>
          <a:xfrm>
            <a:off x="3583562" y="2032698"/>
            <a:ext cx="252000" cy="252000"/>
          </a:xfrm>
          <a:prstGeom prst="ellipse">
            <a:avLst/>
          </a:prstGeom>
          <a:solidFill>
            <a:schemeClr val="bg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PE" dirty="0">
                <a:solidFill>
                  <a:schemeClr val="tx1"/>
                </a:solidFill>
              </a:rPr>
              <a:t>D</a:t>
            </a:r>
          </a:p>
        </p:txBody>
      </p:sp>
      <p:sp>
        <p:nvSpPr>
          <p:cNvPr id="33" name="CuadroTexto 32">
            <a:extLst>
              <a:ext uri="{FF2B5EF4-FFF2-40B4-BE49-F238E27FC236}">
                <a16:creationId xmlns:a16="http://schemas.microsoft.com/office/drawing/2014/main" id="{05EBFB56-23F0-1ACC-CF95-1AB2A5108CE1}"/>
              </a:ext>
            </a:extLst>
          </p:cNvPr>
          <p:cNvSpPr txBox="1"/>
          <p:nvPr/>
        </p:nvSpPr>
        <p:spPr>
          <a:xfrm>
            <a:off x="5159896" y="2223675"/>
            <a:ext cx="3787704" cy="400110"/>
          </a:xfrm>
          <a:prstGeom prst="rect">
            <a:avLst/>
          </a:prstGeom>
          <a:noFill/>
        </p:spPr>
        <p:txBody>
          <a:bodyPr wrap="none" rtlCol="0">
            <a:spAutoFit/>
          </a:bodyPr>
          <a:lstStyle/>
          <a:p>
            <a:r>
              <a:rPr lang="es-PE" sz="2000" dirty="0"/>
              <a:t>Calculando la inercia de la viga BD:</a:t>
            </a:r>
          </a:p>
        </p:txBody>
      </p:sp>
      <mc:AlternateContent xmlns:mc="http://schemas.openxmlformats.org/markup-compatibility/2006" xmlns:a14="http://schemas.microsoft.com/office/drawing/2010/main">
        <mc:Choice Requires="a14">
          <p:sp>
            <p:nvSpPr>
              <p:cNvPr id="70" name="CuadroTexto 69">
                <a:extLst>
                  <a:ext uri="{FF2B5EF4-FFF2-40B4-BE49-F238E27FC236}">
                    <a16:creationId xmlns:a16="http://schemas.microsoft.com/office/drawing/2014/main" id="{2DFAB904-356C-5FC5-014C-527F0D32B393}"/>
                  </a:ext>
                </a:extLst>
              </p:cNvPr>
              <p:cNvSpPr txBox="1"/>
              <p:nvPr/>
            </p:nvSpPr>
            <p:spPr>
              <a:xfrm>
                <a:off x="5225187" y="2623785"/>
                <a:ext cx="3994812" cy="55399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PE" i="1" smtClean="0">
                              <a:latin typeface="Cambria Math" panose="02040503050406030204" pitchFamily="18" charset="0"/>
                            </a:rPr>
                          </m:ctrlPr>
                        </m:sSubPr>
                        <m:e>
                          <m:r>
                            <a:rPr lang="es-PE" b="0" i="1" smtClean="0">
                              <a:latin typeface="Cambria Math" panose="02040503050406030204" pitchFamily="18" charset="0"/>
                            </a:rPr>
                            <m:t>𝐼</m:t>
                          </m:r>
                        </m:e>
                        <m:sub>
                          <m:r>
                            <a:rPr lang="es-PE" b="0" i="1" smtClean="0">
                              <a:latin typeface="Cambria Math" panose="02040503050406030204" pitchFamily="18" charset="0"/>
                            </a:rPr>
                            <m:t>𝐵𝐷</m:t>
                          </m:r>
                        </m:sub>
                      </m:sSub>
                      <m:r>
                        <a:rPr lang="es-PE" b="0" i="1" smtClean="0">
                          <a:latin typeface="Cambria Math" panose="02040503050406030204" pitchFamily="18" charset="0"/>
                        </a:rPr>
                        <m:t>= </m:t>
                      </m:r>
                      <m:f>
                        <m:fPr>
                          <m:ctrlPr>
                            <a:rPr lang="es-PE" b="0" i="1" smtClean="0">
                              <a:latin typeface="Cambria Math" panose="02040503050406030204" pitchFamily="18" charset="0"/>
                            </a:rPr>
                          </m:ctrlPr>
                        </m:fPr>
                        <m:num>
                          <m:r>
                            <a:rPr lang="es-PE" b="0" i="1" smtClean="0">
                              <a:latin typeface="Cambria Math" panose="02040503050406030204" pitchFamily="18" charset="0"/>
                            </a:rPr>
                            <m:t>𝑏</m:t>
                          </m:r>
                          <m:sSup>
                            <m:sSupPr>
                              <m:ctrlPr>
                                <a:rPr lang="es-PE" b="0" i="1" smtClean="0">
                                  <a:latin typeface="Cambria Math" panose="02040503050406030204" pitchFamily="18" charset="0"/>
                                </a:rPr>
                              </m:ctrlPr>
                            </m:sSupPr>
                            <m:e>
                              <m:r>
                                <a:rPr lang="es-PE" b="0" i="1" smtClean="0">
                                  <a:latin typeface="Cambria Math" panose="02040503050406030204" pitchFamily="18" charset="0"/>
                                </a:rPr>
                                <m:t>h</m:t>
                              </m:r>
                            </m:e>
                            <m:sup>
                              <m:r>
                                <a:rPr lang="es-PE" b="0" i="1" smtClean="0">
                                  <a:latin typeface="Cambria Math" panose="02040503050406030204" pitchFamily="18" charset="0"/>
                                </a:rPr>
                                <m:t>3</m:t>
                              </m:r>
                            </m:sup>
                          </m:sSup>
                        </m:num>
                        <m:den>
                          <m:r>
                            <a:rPr lang="es-PE" b="0" i="1" smtClean="0">
                              <a:latin typeface="Cambria Math" panose="02040503050406030204" pitchFamily="18" charset="0"/>
                            </a:rPr>
                            <m:t>12</m:t>
                          </m:r>
                        </m:den>
                      </m:f>
                      <m:r>
                        <a:rPr lang="es-PE" b="0" i="1" smtClean="0">
                          <a:latin typeface="Cambria Math" panose="02040503050406030204" pitchFamily="18" charset="0"/>
                        </a:rPr>
                        <m:t>=</m:t>
                      </m:r>
                      <m:f>
                        <m:fPr>
                          <m:ctrlPr>
                            <a:rPr lang="es-PE" i="1">
                              <a:latin typeface="Cambria Math" panose="02040503050406030204" pitchFamily="18" charset="0"/>
                            </a:rPr>
                          </m:ctrlPr>
                        </m:fPr>
                        <m:num>
                          <m:r>
                            <a:rPr lang="es-PE" b="0" i="1" smtClean="0">
                              <a:latin typeface="Cambria Math" panose="02040503050406030204" pitchFamily="18" charset="0"/>
                            </a:rPr>
                            <m:t>(30)</m:t>
                          </m:r>
                          <m:sSup>
                            <m:sSupPr>
                              <m:ctrlPr>
                                <a:rPr lang="es-PE" i="1">
                                  <a:latin typeface="Cambria Math" panose="02040503050406030204" pitchFamily="18" charset="0"/>
                                </a:rPr>
                              </m:ctrlPr>
                            </m:sSupPr>
                            <m:e>
                              <m:r>
                                <a:rPr lang="es-PE" b="0" i="1" smtClean="0">
                                  <a:latin typeface="Cambria Math" panose="02040503050406030204" pitchFamily="18" charset="0"/>
                                </a:rPr>
                                <m:t>(50)</m:t>
                              </m:r>
                            </m:e>
                            <m:sup>
                              <m:r>
                                <a:rPr lang="es-PE" i="1">
                                  <a:latin typeface="Cambria Math" panose="02040503050406030204" pitchFamily="18" charset="0"/>
                                </a:rPr>
                                <m:t>3</m:t>
                              </m:r>
                            </m:sup>
                          </m:sSup>
                        </m:num>
                        <m:den>
                          <m:r>
                            <a:rPr lang="es-PE" i="1">
                              <a:latin typeface="Cambria Math" panose="02040503050406030204" pitchFamily="18" charset="0"/>
                            </a:rPr>
                            <m:t>12</m:t>
                          </m:r>
                        </m:den>
                      </m:f>
                      <m:r>
                        <a:rPr lang="es-PE" b="0" i="1" smtClean="0">
                          <a:latin typeface="Cambria Math" panose="02040503050406030204" pitchFamily="18" charset="0"/>
                        </a:rPr>
                        <m:t>=312500 </m:t>
                      </m:r>
                      <m:sSup>
                        <m:sSupPr>
                          <m:ctrlPr>
                            <a:rPr lang="es-PE" b="0" i="1" smtClean="0">
                              <a:latin typeface="Cambria Math" panose="02040503050406030204" pitchFamily="18" charset="0"/>
                            </a:rPr>
                          </m:ctrlPr>
                        </m:sSupPr>
                        <m:e>
                          <m:r>
                            <a:rPr lang="es-PE" b="0" i="1" smtClean="0">
                              <a:latin typeface="Cambria Math" panose="02040503050406030204" pitchFamily="18" charset="0"/>
                            </a:rPr>
                            <m:t>𝑐𝑚</m:t>
                          </m:r>
                        </m:e>
                        <m:sup>
                          <m:r>
                            <a:rPr lang="es-PE" b="0" i="1" smtClean="0">
                              <a:latin typeface="Cambria Math" panose="02040503050406030204" pitchFamily="18" charset="0"/>
                            </a:rPr>
                            <m:t>4</m:t>
                          </m:r>
                        </m:sup>
                      </m:sSup>
                    </m:oMath>
                  </m:oMathPara>
                </a14:m>
                <a:endParaRPr lang="es-PE" dirty="0"/>
              </a:p>
            </p:txBody>
          </p:sp>
        </mc:Choice>
        <mc:Fallback xmlns="">
          <p:sp>
            <p:nvSpPr>
              <p:cNvPr id="70" name="CuadroTexto 69">
                <a:extLst>
                  <a:ext uri="{FF2B5EF4-FFF2-40B4-BE49-F238E27FC236}">
                    <a16:creationId xmlns:a16="http://schemas.microsoft.com/office/drawing/2014/main" id="{2DFAB904-356C-5FC5-014C-527F0D32B393}"/>
                  </a:ext>
                </a:extLst>
              </p:cNvPr>
              <p:cNvSpPr txBox="1">
                <a:spLocks noRot="1" noChangeAspect="1" noMove="1" noResize="1" noEditPoints="1" noAdjustHandles="1" noChangeArrowheads="1" noChangeShapeType="1" noTextEdit="1"/>
              </p:cNvSpPr>
              <p:nvPr/>
            </p:nvSpPr>
            <p:spPr>
              <a:xfrm>
                <a:off x="5225187" y="2623785"/>
                <a:ext cx="3994812" cy="553998"/>
              </a:xfrm>
              <a:prstGeom prst="rect">
                <a:avLst/>
              </a:prstGeom>
              <a:blipFill>
                <a:blip r:embed="rId7"/>
                <a:stretch>
                  <a:fillRect/>
                </a:stretch>
              </a:blipFill>
            </p:spPr>
            <p:txBody>
              <a:bodyPr/>
              <a:lstStyle/>
              <a:p>
                <a:r>
                  <a:rPr lang="es-PE">
                    <a:noFill/>
                  </a:rPr>
                  <a:t> </a:t>
                </a:r>
              </a:p>
            </p:txBody>
          </p:sp>
        </mc:Fallback>
      </mc:AlternateContent>
      <p:sp>
        <p:nvSpPr>
          <p:cNvPr id="71" name="CuadroTexto 70">
            <a:extLst>
              <a:ext uri="{FF2B5EF4-FFF2-40B4-BE49-F238E27FC236}">
                <a16:creationId xmlns:a16="http://schemas.microsoft.com/office/drawing/2014/main" id="{B48896D0-D6F6-AFE3-6A90-2907EE48A53E}"/>
              </a:ext>
            </a:extLst>
          </p:cNvPr>
          <p:cNvSpPr txBox="1"/>
          <p:nvPr/>
        </p:nvSpPr>
        <p:spPr>
          <a:xfrm>
            <a:off x="5159896" y="3213198"/>
            <a:ext cx="4669099" cy="400110"/>
          </a:xfrm>
          <a:prstGeom prst="rect">
            <a:avLst/>
          </a:prstGeom>
          <a:noFill/>
        </p:spPr>
        <p:txBody>
          <a:bodyPr wrap="none" rtlCol="0">
            <a:spAutoFit/>
          </a:bodyPr>
          <a:lstStyle/>
          <a:p>
            <a:r>
              <a:rPr lang="es-PE" sz="2000" dirty="0"/>
              <a:t>Calculando la rigidez relativa de la viga BD:</a:t>
            </a:r>
          </a:p>
        </p:txBody>
      </p:sp>
      <mc:AlternateContent xmlns:mc="http://schemas.openxmlformats.org/markup-compatibility/2006" xmlns:a14="http://schemas.microsoft.com/office/drawing/2010/main">
        <mc:Choice Requires="a14">
          <p:sp>
            <p:nvSpPr>
              <p:cNvPr id="72" name="CuadroTexto 71">
                <a:extLst>
                  <a:ext uri="{FF2B5EF4-FFF2-40B4-BE49-F238E27FC236}">
                    <a16:creationId xmlns:a16="http://schemas.microsoft.com/office/drawing/2014/main" id="{871A160A-E817-4E46-D679-8A9EEE8F819F}"/>
                  </a:ext>
                </a:extLst>
              </p:cNvPr>
              <p:cNvSpPr txBox="1"/>
              <p:nvPr/>
            </p:nvSpPr>
            <p:spPr>
              <a:xfrm>
                <a:off x="5159896" y="3582050"/>
                <a:ext cx="3749360" cy="57131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PE" i="1" smtClean="0">
                              <a:latin typeface="Cambria Math" panose="02040503050406030204" pitchFamily="18" charset="0"/>
                            </a:rPr>
                          </m:ctrlPr>
                        </m:sSubPr>
                        <m:e>
                          <m:r>
                            <a:rPr lang="es-PE" b="0" i="1" smtClean="0">
                              <a:latin typeface="Cambria Math" panose="02040503050406030204" pitchFamily="18" charset="0"/>
                            </a:rPr>
                            <m:t>𝐾</m:t>
                          </m:r>
                        </m:e>
                        <m:sub>
                          <m:r>
                            <a:rPr lang="es-PE" b="0" i="1" smtClean="0">
                              <a:latin typeface="Cambria Math" panose="02040503050406030204" pitchFamily="18" charset="0"/>
                            </a:rPr>
                            <m:t>𝐵𝐷</m:t>
                          </m:r>
                        </m:sub>
                      </m:sSub>
                      <m:r>
                        <a:rPr lang="es-PE" b="0" i="1" smtClean="0">
                          <a:latin typeface="Cambria Math" panose="02040503050406030204" pitchFamily="18" charset="0"/>
                        </a:rPr>
                        <m:t>= </m:t>
                      </m:r>
                      <m:f>
                        <m:fPr>
                          <m:ctrlPr>
                            <a:rPr lang="es-PE" b="0" i="1" smtClean="0">
                              <a:latin typeface="Cambria Math" panose="02040503050406030204" pitchFamily="18" charset="0"/>
                            </a:rPr>
                          </m:ctrlPr>
                        </m:fPr>
                        <m:num>
                          <m:sSub>
                            <m:sSubPr>
                              <m:ctrlPr>
                                <a:rPr lang="es-PE" b="0" i="1" smtClean="0">
                                  <a:latin typeface="Cambria Math" panose="02040503050406030204" pitchFamily="18" charset="0"/>
                                </a:rPr>
                              </m:ctrlPr>
                            </m:sSubPr>
                            <m:e>
                              <m:r>
                                <a:rPr lang="es-PE" b="0" i="1" smtClean="0">
                                  <a:latin typeface="Cambria Math" panose="02040503050406030204" pitchFamily="18" charset="0"/>
                                </a:rPr>
                                <m:t>𝐼</m:t>
                              </m:r>
                            </m:e>
                            <m:sub>
                              <m:r>
                                <a:rPr lang="es-PE" b="0" i="1" smtClean="0">
                                  <a:latin typeface="Cambria Math" panose="02040503050406030204" pitchFamily="18" charset="0"/>
                                </a:rPr>
                                <m:t>𝐵𝐷</m:t>
                              </m:r>
                            </m:sub>
                          </m:sSub>
                        </m:num>
                        <m:den>
                          <m:sSub>
                            <m:sSubPr>
                              <m:ctrlPr>
                                <a:rPr lang="es-PE" b="0" i="1" smtClean="0">
                                  <a:latin typeface="Cambria Math" panose="02040503050406030204" pitchFamily="18" charset="0"/>
                                </a:rPr>
                              </m:ctrlPr>
                            </m:sSubPr>
                            <m:e>
                              <m:r>
                                <a:rPr lang="es-PE" b="0" i="1" smtClean="0">
                                  <a:latin typeface="Cambria Math" panose="02040503050406030204" pitchFamily="18" charset="0"/>
                                </a:rPr>
                                <m:t>𝐿</m:t>
                              </m:r>
                            </m:e>
                            <m:sub>
                              <m:r>
                                <a:rPr lang="es-PE" b="0" i="1" smtClean="0">
                                  <a:latin typeface="Cambria Math" panose="02040503050406030204" pitchFamily="18" charset="0"/>
                                </a:rPr>
                                <m:t>𝐵𝐷</m:t>
                              </m:r>
                            </m:sub>
                          </m:sSub>
                        </m:den>
                      </m:f>
                      <m:r>
                        <a:rPr lang="es-PE" b="0" i="1" smtClean="0">
                          <a:latin typeface="Cambria Math" panose="02040503050406030204" pitchFamily="18" charset="0"/>
                        </a:rPr>
                        <m:t>=</m:t>
                      </m:r>
                      <m:f>
                        <m:fPr>
                          <m:ctrlPr>
                            <a:rPr lang="es-PE" i="1">
                              <a:latin typeface="Cambria Math" panose="02040503050406030204" pitchFamily="18" charset="0"/>
                            </a:rPr>
                          </m:ctrlPr>
                        </m:fPr>
                        <m:num>
                          <m:r>
                            <a:rPr lang="es-PE" b="0" i="1" smtClean="0">
                              <a:latin typeface="Cambria Math" panose="02040503050406030204" pitchFamily="18" charset="0"/>
                            </a:rPr>
                            <m:t>312500</m:t>
                          </m:r>
                        </m:num>
                        <m:den>
                          <m:r>
                            <a:rPr lang="es-PE" b="0" i="1" smtClean="0">
                              <a:latin typeface="Cambria Math" panose="02040503050406030204" pitchFamily="18" charset="0"/>
                            </a:rPr>
                            <m:t>380</m:t>
                          </m:r>
                        </m:den>
                      </m:f>
                      <m:r>
                        <a:rPr lang="es-PE" b="0" i="1" smtClean="0">
                          <a:latin typeface="Cambria Math" panose="02040503050406030204" pitchFamily="18" charset="0"/>
                        </a:rPr>
                        <m:t>=822.37 </m:t>
                      </m:r>
                      <m:sSup>
                        <m:sSupPr>
                          <m:ctrlPr>
                            <a:rPr lang="es-PE" b="0" i="1" smtClean="0">
                              <a:latin typeface="Cambria Math" panose="02040503050406030204" pitchFamily="18" charset="0"/>
                            </a:rPr>
                          </m:ctrlPr>
                        </m:sSupPr>
                        <m:e>
                          <m:r>
                            <a:rPr lang="es-PE" b="0" i="1" smtClean="0">
                              <a:latin typeface="Cambria Math" panose="02040503050406030204" pitchFamily="18" charset="0"/>
                            </a:rPr>
                            <m:t>𝑐𝑚</m:t>
                          </m:r>
                        </m:e>
                        <m:sup>
                          <m:r>
                            <a:rPr lang="es-PE" b="0" i="1" smtClean="0">
                              <a:latin typeface="Cambria Math" panose="02040503050406030204" pitchFamily="18" charset="0"/>
                            </a:rPr>
                            <m:t>3</m:t>
                          </m:r>
                        </m:sup>
                      </m:sSup>
                    </m:oMath>
                  </m:oMathPara>
                </a14:m>
                <a:endParaRPr lang="es-PE" dirty="0"/>
              </a:p>
            </p:txBody>
          </p:sp>
        </mc:Choice>
        <mc:Fallback xmlns="">
          <p:sp>
            <p:nvSpPr>
              <p:cNvPr id="72" name="CuadroTexto 71">
                <a:extLst>
                  <a:ext uri="{FF2B5EF4-FFF2-40B4-BE49-F238E27FC236}">
                    <a16:creationId xmlns:a16="http://schemas.microsoft.com/office/drawing/2014/main" id="{871A160A-E817-4E46-D679-8A9EEE8F819F}"/>
                  </a:ext>
                </a:extLst>
              </p:cNvPr>
              <p:cNvSpPr txBox="1">
                <a:spLocks noRot="1" noChangeAspect="1" noMove="1" noResize="1" noEditPoints="1" noAdjustHandles="1" noChangeArrowheads="1" noChangeShapeType="1" noTextEdit="1"/>
              </p:cNvSpPr>
              <p:nvPr/>
            </p:nvSpPr>
            <p:spPr>
              <a:xfrm>
                <a:off x="5159896" y="3582050"/>
                <a:ext cx="3749360" cy="571310"/>
              </a:xfrm>
              <a:prstGeom prst="rect">
                <a:avLst/>
              </a:prstGeom>
              <a:blipFill>
                <a:blip r:embed="rId8"/>
                <a:stretch>
                  <a:fillRect/>
                </a:stretch>
              </a:blipFill>
            </p:spPr>
            <p:txBody>
              <a:bodyPr/>
              <a:lstStyle/>
              <a:p>
                <a:r>
                  <a:rPr lang="es-PE">
                    <a:noFill/>
                  </a:rPr>
                  <a:t> </a:t>
                </a:r>
              </a:p>
            </p:txBody>
          </p:sp>
        </mc:Fallback>
      </mc:AlternateContent>
      <p:sp>
        <p:nvSpPr>
          <p:cNvPr id="73" name="CuadroTexto 72">
            <a:extLst>
              <a:ext uri="{FF2B5EF4-FFF2-40B4-BE49-F238E27FC236}">
                <a16:creationId xmlns:a16="http://schemas.microsoft.com/office/drawing/2014/main" id="{459D21C9-221E-7671-8C15-740CD57B38A9}"/>
              </a:ext>
            </a:extLst>
          </p:cNvPr>
          <p:cNvSpPr txBox="1"/>
          <p:nvPr/>
        </p:nvSpPr>
        <p:spPr>
          <a:xfrm>
            <a:off x="5159896" y="4304165"/>
            <a:ext cx="4322530" cy="400110"/>
          </a:xfrm>
          <a:prstGeom prst="rect">
            <a:avLst/>
          </a:prstGeom>
          <a:noFill/>
        </p:spPr>
        <p:txBody>
          <a:bodyPr wrap="none" rtlCol="0">
            <a:spAutoFit/>
          </a:bodyPr>
          <a:lstStyle/>
          <a:p>
            <a:r>
              <a:rPr lang="es-PE" sz="2000" dirty="0"/>
              <a:t>Calculando la inercia de la  columna AB:</a:t>
            </a:r>
          </a:p>
        </p:txBody>
      </p:sp>
      <mc:AlternateContent xmlns:mc="http://schemas.openxmlformats.org/markup-compatibility/2006" xmlns:a14="http://schemas.microsoft.com/office/drawing/2010/main">
        <mc:Choice Requires="a14">
          <p:sp>
            <p:nvSpPr>
              <p:cNvPr id="74" name="CuadroTexto 73">
                <a:extLst>
                  <a:ext uri="{FF2B5EF4-FFF2-40B4-BE49-F238E27FC236}">
                    <a16:creationId xmlns:a16="http://schemas.microsoft.com/office/drawing/2014/main" id="{A40E5339-5CA4-3FCE-28D0-8011A74719DD}"/>
                  </a:ext>
                </a:extLst>
              </p:cNvPr>
              <p:cNvSpPr txBox="1"/>
              <p:nvPr/>
            </p:nvSpPr>
            <p:spPr>
              <a:xfrm>
                <a:off x="5225187" y="4704275"/>
                <a:ext cx="3789755" cy="55399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PE" i="1" smtClean="0">
                              <a:latin typeface="Cambria Math" panose="02040503050406030204" pitchFamily="18" charset="0"/>
                            </a:rPr>
                          </m:ctrlPr>
                        </m:sSubPr>
                        <m:e>
                          <m:r>
                            <a:rPr lang="es-PE" b="0" i="1" smtClean="0">
                              <a:latin typeface="Cambria Math" panose="02040503050406030204" pitchFamily="18" charset="0"/>
                            </a:rPr>
                            <m:t>𝐼</m:t>
                          </m:r>
                        </m:e>
                        <m:sub>
                          <m:r>
                            <a:rPr lang="es-PE" b="0" i="1" smtClean="0">
                              <a:latin typeface="Cambria Math" panose="02040503050406030204" pitchFamily="18" charset="0"/>
                            </a:rPr>
                            <m:t>𝐴𝐵</m:t>
                          </m:r>
                        </m:sub>
                      </m:sSub>
                      <m:r>
                        <a:rPr lang="es-PE" b="0" i="1" smtClean="0">
                          <a:latin typeface="Cambria Math" panose="02040503050406030204" pitchFamily="18" charset="0"/>
                        </a:rPr>
                        <m:t>= </m:t>
                      </m:r>
                      <m:f>
                        <m:fPr>
                          <m:ctrlPr>
                            <a:rPr lang="es-PE" b="0" i="1" smtClean="0">
                              <a:latin typeface="Cambria Math" panose="02040503050406030204" pitchFamily="18" charset="0"/>
                            </a:rPr>
                          </m:ctrlPr>
                        </m:fPr>
                        <m:num>
                          <m:r>
                            <a:rPr lang="es-PE" b="0" i="1" smtClean="0">
                              <a:latin typeface="Cambria Math" panose="02040503050406030204" pitchFamily="18" charset="0"/>
                            </a:rPr>
                            <m:t>𝑏</m:t>
                          </m:r>
                          <m:sSup>
                            <m:sSupPr>
                              <m:ctrlPr>
                                <a:rPr lang="es-PE" b="0" i="1" smtClean="0">
                                  <a:latin typeface="Cambria Math" panose="02040503050406030204" pitchFamily="18" charset="0"/>
                                </a:rPr>
                              </m:ctrlPr>
                            </m:sSupPr>
                            <m:e>
                              <m:r>
                                <a:rPr lang="es-PE" b="0" i="1" smtClean="0">
                                  <a:latin typeface="Cambria Math" panose="02040503050406030204" pitchFamily="18" charset="0"/>
                                </a:rPr>
                                <m:t>h</m:t>
                              </m:r>
                            </m:e>
                            <m:sup>
                              <m:r>
                                <a:rPr lang="es-PE" b="0" i="1" smtClean="0">
                                  <a:latin typeface="Cambria Math" panose="02040503050406030204" pitchFamily="18" charset="0"/>
                                </a:rPr>
                                <m:t>3</m:t>
                              </m:r>
                            </m:sup>
                          </m:sSup>
                        </m:num>
                        <m:den>
                          <m:r>
                            <a:rPr lang="es-PE" b="0" i="1" smtClean="0">
                              <a:latin typeface="Cambria Math" panose="02040503050406030204" pitchFamily="18" charset="0"/>
                            </a:rPr>
                            <m:t>12</m:t>
                          </m:r>
                        </m:den>
                      </m:f>
                      <m:r>
                        <a:rPr lang="es-PE" b="0" i="1" smtClean="0">
                          <a:latin typeface="Cambria Math" panose="02040503050406030204" pitchFamily="18" charset="0"/>
                        </a:rPr>
                        <m:t>=</m:t>
                      </m:r>
                      <m:f>
                        <m:fPr>
                          <m:ctrlPr>
                            <a:rPr lang="es-PE" i="1">
                              <a:latin typeface="Cambria Math" panose="02040503050406030204" pitchFamily="18" charset="0"/>
                            </a:rPr>
                          </m:ctrlPr>
                        </m:fPr>
                        <m:num>
                          <m:r>
                            <a:rPr lang="es-PE" b="0" i="1" smtClean="0">
                              <a:latin typeface="Cambria Math" panose="02040503050406030204" pitchFamily="18" charset="0"/>
                            </a:rPr>
                            <m:t>(30)</m:t>
                          </m:r>
                          <m:sSup>
                            <m:sSupPr>
                              <m:ctrlPr>
                                <a:rPr lang="es-PE" i="1">
                                  <a:latin typeface="Cambria Math" panose="02040503050406030204" pitchFamily="18" charset="0"/>
                                </a:rPr>
                              </m:ctrlPr>
                            </m:sSupPr>
                            <m:e>
                              <m:r>
                                <a:rPr lang="es-PE" b="0" i="1" smtClean="0">
                                  <a:latin typeface="Cambria Math" panose="02040503050406030204" pitchFamily="18" charset="0"/>
                                </a:rPr>
                                <m:t>(30)</m:t>
                              </m:r>
                            </m:e>
                            <m:sup>
                              <m:r>
                                <a:rPr lang="es-PE" i="1">
                                  <a:latin typeface="Cambria Math" panose="02040503050406030204" pitchFamily="18" charset="0"/>
                                </a:rPr>
                                <m:t>3</m:t>
                              </m:r>
                            </m:sup>
                          </m:sSup>
                        </m:num>
                        <m:den>
                          <m:r>
                            <a:rPr lang="es-PE" i="1">
                              <a:latin typeface="Cambria Math" panose="02040503050406030204" pitchFamily="18" charset="0"/>
                            </a:rPr>
                            <m:t>12</m:t>
                          </m:r>
                        </m:den>
                      </m:f>
                      <m:r>
                        <a:rPr lang="es-PE" b="0" i="1" smtClean="0">
                          <a:latin typeface="Cambria Math" panose="02040503050406030204" pitchFamily="18" charset="0"/>
                        </a:rPr>
                        <m:t>=67500 </m:t>
                      </m:r>
                      <m:sSup>
                        <m:sSupPr>
                          <m:ctrlPr>
                            <a:rPr lang="es-PE" b="0" i="1" smtClean="0">
                              <a:latin typeface="Cambria Math" panose="02040503050406030204" pitchFamily="18" charset="0"/>
                            </a:rPr>
                          </m:ctrlPr>
                        </m:sSupPr>
                        <m:e>
                          <m:r>
                            <a:rPr lang="es-PE" b="0" i="1" smtClean="0">
                              <a:latin typeface="Cambria Math" panose="02040503050406030204" pitchFamily="18" charset="0"/>
                            </a:rPr>
                            <m:t>𝑐𝑚</m:t>
                          </m:r>
                        </m:e>
                        <m:sup>
                          <m:r>
                            <a:rPr lang="es-PE" b="0" i="1" smtClean="0">
                              <a:latin typeface="Cambria Math" panose="02040503050406030204" pitchFamily="18" charset="0"/>
                            </a:rPr>
                            <m:t>4</m:t>
                          </m:r>
                        </m:sup>
                      </m:sSup>
                    </m:oMath>
                  </m:oMathPara>
                </a14:m>
                <a:endParaRPr lang="es-PE" dirty="0"/>
              </a:p>
            </p:txBody>
          </p:sp>
        </mc:Choice>
        <mc:Fallback xmlns="">
          <p:sp>
            <p:nvSpPr>
              <p:cNvPr id="74" name="CuadroTexto 73">
                <a:extLst>
                  <a:ext uri="{FF2B5EF4-FFF2-40B4-BE49-F238E27FC236}">
                    <a16:creationId xmlns:a16="http://schemas.microsoft.com/office/drawing/2014/main" id="{A40E5339-5CA4-3FCE-28D0-8011A74719DD}"/>
                  </a:ext>
                </a:extLst>
              </p:cNvPr>
              <p:cNvSpPr txBox="1">
                <a:spLocks noRot="1" noChangeAspect="1" noMove="1" noResize="1" noEditPoints="1" noAdjustHandles="1" noChangeArrowheads="1" noChangeShapeType="1" noTextEdit="1"/>
              </p:cNvSpPr>
              <p:nvPr/>
            </p:nvSpPr>
            <p:spPr>
              <a:xfrm>
                <a:off x="5225187" y="4704275"/>
                <a:ext cx="3789755" cy="553998"/>
              </a:xfrm>
              <a:prstGeom prst="rect">
                <a:avLst/>
              </a:prstGeom>
              <a:blipFill>
                <a:blip r:embed="rId9"/>
                <a:stretch>
                  <a:fillRect/>
                </a:stretch>
              </a:blipFill>
            </p:spPr>
            <p:txBody>
              <a:bodyPr/>
              <a:lstStyle/>
              <a:p>
                <a:r>
                  <a:rPr lang="es-PE">
                    <a:noFill/>
                  </a:rPr>
                  <a:t> </a:t>
                </a:r>
              </a:p>
            </p:txBody>
          </p:sp>
        </mc:Fallback>
      </mc:AlternateContent>
      <p:sp>
        <p:nvSpPr>
          <p:cNvPr id="75" name="CuadroTexto 74">
            <a:extLst>
              <a:ext uri="{FF2B5EF4-FFF2-40B4-BE49-F238E27FC236}">
                <a16:creationId xmlns:a16="http://schemas.microsoft.com/office/drawing/2014/main" id="{E09D9C79-DB8D-9184-22FB-2A4FD0C75583}"/>
              </a:ext>
            </a:extLst>
          </p:cNvPr>
          <p:cNvSpPr txBox="1"/>
          <p:nvPr/>
        </p:nvSpPr>
        <p:spPr>
          <a:xfrm>
            <a:off x="5159896" y="5293688"/>
            <a:ext cx="5096523" cy="400110"/>
          </a:xfrm>
          <a:prstGeom prst="rect">
            <a:avLst/>
          </a:prstGeom>
          <a:noFill/>
        </p:spPr>
        <p:txBody>
          <a:bodyPr wrap="none" rtlCol="0">
            <a:spAutoFit/>
          </a:bodyPr>
          <a:lstStyle/>
          <a:p>
            <a:r>
              <a:rPr lang="es-PE" sz="2000" dirty="0"/>
              <a:t>Calculando la rigidez relativa de la columna BD:</a:t>
            </a:r>
          </a:p>
        </p:txBody>
      </p:sp>
      <mc:AlternateContent xmlns:mc="http://schemas.openxmlformats.org/markup-compatibility/2006" xmlns:a14="http://schemas.microsoft.com/office/drawing/2010/main">
        <mc:Choice Requires="a14">
          <p:sp>
            <p:nvSpPr>
              <p:cNvPr id="76" name="CuadroTexto 75">
                <a:extLst>
                  <a:ext uri="{FF2B5EF4-FFF2-40B4-BE49-F238E27FC236}">
                    <a16:creationId xmlns:a16="http://schemas.microsoft.com/office/drawing/2014/main" id="{CACB6D05-CDFB-92F7-8929-AD8292E7BC48}"/>
                  </a:ext>
                </a:extLst>
              </p:cNvPr>
              <p:cNvSpPr txBox="1"/>
              <p:nvPr/>
            </p:nvSpPr>
            <p:spPr>
              <a:xfrm>
                <a:off x="5159896" y="5662540"/>
                <a:ext cx="3582904" cy="57131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PE" i="1" smtClean="0">
                              <a:latin typeface="Cambria Math" panose="02040503050406030204" pitchFamily="18" charset="0"/>
                            </a:rPr>
                          </m:ctrlPr>
                        </m:sSubPr>
                        <m:e>
                          <m:r>
                            <a:rPr lang="es-PE" b="0" i="1" smtClean="0">
                              <a:latin typeface="Cambria Math" panose="02040503050406030204" pitchFamily="18" charset="0"/>
                            </a:rPr>
                            <m:t>𝐾</m:t>
                          </m:r>
                        </m:e>
                        <m:sub>
                          <m:r>
                            <a:rPr lang="es-PE" b="0" i="1" smtClean="0">
                              <a:latin typeface="Cambria Math" panose="02040503050406030204" pitchFamily="18" charset="0"/>
                            </a:rPr>
                            <m:t>𝐴𝐵</m:t>
                          </m:r>
                        </m:sub>
                      </m:sSub>
                      <m:r>
                        <a:rPr lang="es-PE" b="0" i="1" smtClean="0">
                          <a:latin typeface="Cambria Math" panose="02040503050406030204" pitchFamily="18" charset="0"/>
                        </a:rPr>
                        <m:t>= </m:t>
                      </m:r>
                      <m:f>
                        <m:fPr>
                          <m:ctrlPr>
                            <a:rPr lang="es-PE" b="0" i="1" smtClean="0">
                              <a:latin typeface="Cambria Math" panose="02040503050406030204" pitchFamily="18" charset="0"/>
                            </a:rPr>
                          </m:ctrlPr>
                        </m:fPr>
                        <m:num>
                          <m:sSub>
                            <m:sSubPr>
                              <m:ctrlPr>
                                <a:rPr lang="es-PE" b="0" i="1" smtClean="0">
                                  <a:latin typeface="Cambria Math" panose="02040503050406030204" pitchFamily="18" charset="0"/>
                                </a:rPr>
                              </m:ctrlPr>
                            </m:sSubPr>
                            <m:e>
                              <m:r>
                                <a:rPr lang="es-PE" b="0" i="1" smtClean="0">
                                  <a:latin typeface="Cambria Math" panose="02040503050406030204" pitchFamily="18" charset="0"/>
                                </a:rPr>
                                <m:t>𝐼</m:t>
                              </m:r>
                            </m:e>
                            <m:sub>
                              <m:r>
                                <a:rPr lang="es-PE" b="0" i="1" smtClean="0">
                                  <a:latin typeface="Cambria Math" panose="02040503050406030204" pitchFamily="18" charset="0"/>
                                </a:rPr>
                                <m:t>𝐴𝐵</m:t>
                              </m:r>
                            </m:sub>
                          </m:sSub>
                        </m:num>
                        <m:den>
                          <m:sSub>
                            <m:sSubPr>
                              <m:ctrlPr>
                                <a:rPr lang="es-PE" b="0" i="1" smtClean="0">
                                  <a:latin typeface="Cambria Math" panose="02040503050406030204" pitchFamily="18" charset="0"/>
                                </a:rPr>
                              </m:ctrlPr>
                            </m:sSubPr>
                            <m:e>
                              <m:r>
                                <a:rPr lang="es-PE" b="0" i="1" smtClean="0">
                                  <a:latin typeface="Cambria Math" panose="02040503050406030204" pitchFamily="18" charset="0"/>
                                </a:rPr>
                                <m:t>𝐿</m:t>
                              </m:r>
                            </m:e>
                            <m:sub>
                              <m:r>
                                <a:rPr lang="es-PE" b="0" i="1" smtClean="0">
                                  <a:latin typeface="Cambria Math" panose="02040503050406030204" pitchFamily="18" charset="0"/>
                                </a:rPr>
                                <m:t>𝐴𝐵</m:t>
                              </m:r>
                            </m:sub>
                          </m:sSub>
                        </m:den>
                      </m:f>
                      <m:r>
                        <a:rPr lang="es-PE" b="0" i="1" smtClean="0">
                          <a:latin typeface="Cambria Math" panose="02040503050406030204" pitchFamily="18" charset="0"/>
                        </a:rPr>
                        <m:t>=</m:t>
                      </m:r>
                      <m:f>
                        <m:fPr>
                          <m:ctrlPr>
                            <a:rPr lang="es-PE" i="1">
                              <a:latin typeface="Cambria Math" panose="02040503050406030204" pitchFamily="18" charset="0"/>
                            </a:rPr>
                          </m:ctrlPr>
                        </m:fPr>
                        <m:num>
                          <m:r>
                            <a:rPr lang="es-PE" b="0" i="1" smtClean="0">
                              <a:latin typeface="Cambria Math" panose="02040503050406030204" pitchFamily="18" charset="0"/>
                            </a:rPr>
                            <m:t>67500</m:t>
                          </m:r>
                        </m:num>
                        <m:den>
                          <m:r>
                            <a:rPr lang="es-PE" b="0" i="1" smtClean="0">
                              <a:latin typeface="Cambria Math" panose="02040503050406030204" pitchFamily="18" charset="0"/>
                            </a:rPr>
                            <m:t>280</m:t>
                          </m:r>
                        </m:den>
                      </m:f>
                      <m:r>
                        <a:rPr lang="es-PE" b="0" i="1" smtClean="0">
                          <a:latin typeface="Cambria Math" panose="02040503050406030204" pitchFamily="18" charset="0"/>
                        </a:rPr>
                        <m:t>=241.07 </m:t>
                      </m:r>
                      <m:sSup>
                        <m:sSupPr>
                          <m:ctrlPr>
                            <a:rPr lang="es-PE" b="0" i="1" smtClean="0">
                              <a:latin typeface="Cambria Math" panose="02040503050406030204" pitchFamily="18" charset="0"/>
                            </a:rPr>
                          </m:ctrlPr>
                        </m:sSupPr>
                        <m:e>
                          <m:r>
                            <a:rPr lang="es-PE" b="0" i="1" smtClean="0">
                              <a:latin typeface="Cambria Math" panose="02040503050406030204" pitchFamily="18" charset="0"/>
                            </a:rPr>
                            <m:t>𝑐𝑚</m:t>
                          </m:r>
                        </m:e>
                        <m:sup>
                          <m:r>
                            <a:rPr lang="es-PE" b="0" i="1" smtClean="0">
                              <a:latin typeface="Cambria Math" panose="02040503050406030204" pitchFamily="18" charset="0"/>
                            </a:rPr>
                            <m:t>3</m:t>
                          </m:r>
                        </m:sup>
                      </m:sSup>
                    </m:oMath>
                  </m:oMathPara>
                </a14:m>
                <a:endParaRPr lang="es-PE" dirty="0"/>
              </a:p>
            </p:txBody>
          </p:sp>
        </mc:Choice>
        <mc:Fallback xmlns="">
          <p:sp>
            <p:nvSpPr>
              <p:cNvPr id="76" name="CuadroTexto 75">
                <a:extLst>
                  <a:ext uri="{FF2B5EF4-FFF2-40B4-BE49-F238E27FC236}">
                    <a16:creationId xmlns:a16="http://schemas.microsoft.com/office/drawing/2014/main" id="{CACB6D05-CDFB-92F7-8929-AD8292E7BC48}"/>
                  </a:ext>
                </a:extLst>
              </p:cNvPr>
              <p:cNvSpPr txBox="1">
                <a:spLocks noRot="1" noChangeAspect="1" noMove="1" noResize="1" noEditPoints="1" noAdjustHandles="1" noChangeArrowheads="1" noChangeShapeType="1" noTextEdit="1"/>
              </p:cNvSpPr>
              <p:nvPr/>
            </p:nvSpPr>
            <p:spPr>
              <a:xfrm>
                <a:off x="5159896" y="5662540"/>
                <a:ext cx="3582904" cy="571310"/>
              </a:xfrm>
              <a:prstGeom prst="rect">
                <a:avLst/>
              </a:prstGeom>
              <a:blipFill>
                <a:blip r:embed="rId10"/>
                <a:stretch>
                  <a:fillRect/>
                </a:stretch>
              </a:blipFill>
            </p:spPr>
            <p:txBody>
              <a:bodyPr/>
              <a:lstStyle/>
              <a:p>
                <a:r>
                  <a:rPr lang="es-PE">
                    <a:noFill/>
                  </a:rPr>
                  <a:t> </a:t>
                </a:r>
              </a:p>
            </p:txBody>
          </p:sp>
        </mc:Fallback>
      </mc:AlternateContent>
    </p:spTree>
    <p:extLst>
      <p:ext uri="{BB962C8B-B14F-4D97-AF65-F5344CB8AC3E}">
        <p14:creationId xmlns:p14="http://schemas.microsoft.com/office/powerpoint/2010/main" val="9749812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8BD4B30-9B7A-4FF3-9506-6E2F889CBD85}"/>
              </a:ext>
            </a:extLst>
          </p:cNvPr>
          <p:cNvSpPr>
            <a:spLocks noGrp="1"/>
          </p:cNvSpPr>
          <p:nvPr>
            <p:ph type="title"/>
          </p:nvPr>
        </p:nvSpPr>
        <p:spPr/>
        <p:txBody>
          <a:bodyPr>
            <a:noAutofit/>
          </a:bodyPr>
          <a:lstStyle/>
          <a:p>
            <a:r>
              <a:rPr lang="es-PE" sz="3300" dirty="0"/>
              <a:t>2° Determinando la rigidez de las columnas, esta pertenece al Caso (a), de las relaciones planteadas por el Método de Muto </a:t>
            </a:r>
          </a:p>
        </p:txBody>
      </p:sp>
      <p:grpSp>
        <p:nvGrpSpPr>
          <p:cNvPr id="13" name="Grupo 12">
            <a:extLst>
              <a:ext uri="{FF2B5EF4-FFF2-40B4-BE49-F238E27FC236}">
                <a16:creationId xmlns:a16="http://schemas.microsoft.com/office/drawing/2014/main" id="{3903A5C6-AB62-8217-6604-553267E4BC12}"/>
              </a:ext>
            </a:extLst>
          </p:cNvPr>
          <p:cNvGrpSpPr/>
          <p:nvPr/>
        </p:nvGrpSpPr>
        <p:grpSpPr>
          <a:xfrm>
            <a:off x="1271992" y="2349500"/>
            <a:ext cx="2447115" cy="2304902"/>
            <a:chOff x="802746" y="2708274"/>
            <a:chExt cx="2221181" cy="1950579"/>
          </a:xfrm>
        </p:grpSpPr>
        <p:sp>
          <p:nvSpPr>
            <p:cNvPr id="6" name="Rectángulo 5">
              <a:extLst>
                <a:ext uri="{FF2B5EF4-FFF2-40B4-BE49-F238E27FC236}">
                  <a16:creationId xmlns:a16="http://schemas.microsoft.com/office/drawing/2014/main" id="{F092B829-0F0C-F37E-7FB0-DF0011828F6E}"/>
                </a:ext>
              </a:extLst>
            </p:cNvPr>
            <p:cNvSpPr/>
            <p:nvPr/>
          </p:nvSpPr>
          <p:spPr>
            <a:xfrm>
              <a:off x="802746" y="4508726"/>
              <a:ext cx="499090" cy="150127"/>
            </a:xfrm>
            <a:prstGeom prst="rect">
              <a:avLst/>
            </a:prstGeom>
            <a:pattFill prst="wdUpDiag">
              <a:fgClr>
                <a:schemeClr val="accent2">
                  <a:lumMod val="75000"/>
                </a:schemeClr>
              </a:fgClr>
              <a:bgClr>
                <a:schemeClr val="bg1"/>
              </a:bgClr>
            </a:patt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dirty="0"/>
            </a:p>
          </p:txBody>
        </p:sp>
        <p:sp>
          <p:nvSpPr>
            <p:cNvPr id="7" name="Rectángulo 6">
              <a:extLst>
                <a:ext uri="{FF2B5EF4-FFF2-40B4-BE49-F238E27FC236}">
                  <a16:creationId xmlns:a16="http://schemas.microsoft.com/office/drawing/2014/main" id="{26E44751-1FBE-FDF6-F5DB-F916D18BA2C2}"/>
                </a:ext>
              </a:extLst>
            </p:cNvPr>
            <p:cNvSpPr/>
            <p:nvPr/>
          </p:nvSpPr>
          <p:spPr>
            <a:xfrm>
              <a:off x="948234" y="2708501"/>
              <a:ext cx="144000" cy="1800000"/>
            </a:xfrm>
            <a:prstGeom prst="rect">
              <a:avLst/>
            </a:prstGeom>
            <a:pattFill prst="lgConfetti">
              <a:fgClr>
                <a:schemeClr val="tx1">
                  <a:lumMod val="65000"/>
                  <a:lumOff val="35000"/>
                </a:schemeClr>
              </a:fgClr>
              <a:bgClr>
                <a:schemeClr val="bg1"/>
              </a:bgClr>
            </a:patt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dirty="0"/>
            </a:p>
          </p:txBody>
        </p:sp>
        <p:sp>
          <p:nvSpPr>
            <p:cNvPr id="8" name="Rectángulo 7">
              <a:extLst>
                <a:ext uri="{FF2B5EF4-FFF2-40B4-BE49-F238E27FC236}">
                  <a16:creationId xmlns:a16="http://schemas.microsoft.com/office/drawing/2014/main" id="{3BF99385-421A-A497-46F6-F625D68D10BB}"/>
                </a:ext>
              </a:extLst>
            </p:cNvPr>
            <p:cNvSpPr/>
            <p:nvPr/>
          </p:nvSpPr>
          <p:spPr>
            <a:xfrm>
              <a:off x="948234" y="2708274"/>
              <a:ext cx="2075693" cy="152329"/>
            </a:xfrm>
            <a:prstGeom prst="rect">
              <a:avLst/>
            </a:prstGeom>
            <a:pattFill prst="lgConfetti">
              <a:fgClr>
                <a:schemeClr val="tx1">
                  <a:lumMod val="65000"/>
                  <a:lumOff val="35000"/>
                </a:schemeClr>
              </a:fgClr>
              <a:bgClr>
                <a:schemeClr val="bg1"/>
              </a:bgClr>
            </a:patt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grpSp>
      <p:cxnSp>
        <p:nvCxnSpPr>
          <p:cNvPr id="15" name="Conector recto 14">
            <a:extLst>
              <a:ext uri="{FF2B5EF4-FFF2-40B4-BE49-F238E27FC236}">
                <a16:creationId xmlns:a16="http://schemas.microsoft.com/office/drawing/2014/main" id="{CFDC01DB-0147-3DB8-4328-BA956B91C19E}"/>
              </a:ext>
            </a:extLst>
          </p:cNvPr>
          <p:cNvCxnSpPr/>
          <p:nvPr/>
        </p:nvCxnSpPr>
        <p:spPr>
          <a:xfrm>
            <a:off x="913168" y="2349824"/>
            <a:ext cx="0" cy="223195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Conector recto 16">
            <a:extLst>
              <a:ext uri="{FF2B5EF4-FFF2-40B4-BE49-F238E27FC236}">
                <a16:creationId xmlns:a16="http://schemas.microsoft.com/office/drawing/2014/main" id="{52F30F76-FB31-DB33-88D7-2FA65898AD1E}"/>
              </a:ext>
            </a:extLst>
          </p:cNvPr>
          <p:cNvCxnSpPr/>
          <p:nvPr/>
        </p:nvCxnSpPr>
        <p:spPr>
          <a:xfrm>
            <a:off x="768830" y="2493840"/>
            <a:ext cx="360362"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Conector recto 17">
            <a:extLst>
              <a:ext uri="{FF2B5EF4-FFF2-40B4-BE49-F238E27FC236}">
                <a16:creationId xmlns:a16="http://schemas.microsoft.com/office/drawing/2014/main" id="{3DDD77F7-59B6-616E-21DF-6C8373369C01}"/>
              </a:ext>
            </a:extLst>
          </p:cNvPr>
          <p:cNvCxnSpPr/>
          <p:nvPr/>
        </p:nvCxnSpPr>
        <p:spPr>
          <a:xfrm>
            <a:off x="768144" y="4475892"/>
            <a:ext cx="360362"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9" name="CuadroTexto 18">
                <a:extLst>
                  <a:ext uri="{FF2B5EF4-FFF2-40B4-BE49-F238E27FC236}">
                    <a16:creationId xmlns:a16="http://schemas.microsoft.com/office/drawing/2014/main" id="{F36189C6-ED21-2C89-17B8-BEB84760C08B}"/>
                  </a:ext>
                </a:extLst>
              </p:cNvPr>
              <p:cNvSpPr txBox="1"/>
              <p:nvPr/>
            </p:nvSpPr>
            <p:spPr>
              <a:xfrm>
                <a:off x="335078" y="3238645"/>
                <a:ext cx="604846"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PE" sz="1600" b="1" i="1" smtClean="0">
                          <a:latin typeface="Cambria Math" panose="02040503050406030204" pitchFamily="18" charset="0"/>
                        </a:rPr>
                        <m:t>𝟐</m:t>
                      </m:r>
                      <m:r>
                        <a:rPr lang="es-PE" sz="1600" b="1" i="1" smtClean="0">
                          <a:latin typeface="Cambria Math" panose="02040503050406030204" pitchFamily="18" charset="0"/>
                        </a:rPr>
                        <m:t>.</m:t>
                      </m:r>
                      <m:r>
                        <a:rPr lang="es-PE" sz="1600" b="1" i="1" smtClean="0">
                          <a:latin typeface="Cambria Math" panose="02040503050406030204" pitchFamily="18" charset="0"/>
                        </a:rPr>
                        <m:t>𝟖</m:t>
                      </m:r>
                      <m:r>
                        <a:rPr lang="es-PE" sz="1600" b="1" i="1" smtClean="0">
                          <a:latin typeface="Cambria Math" panose="02040503050406030204" pitchFamily="18" charset="0"/>
                        </a:rPr>
                        <m:t> </m:t>
                      </m:r>
                      <m:r>
                        <a:rPr lang="es-PE" sz="1600" b="1" i="1" smtClean="0">
                          <a:latin typeface="Cambria Math" panose="02040503050406030204" pitchFamily="18" charset="0"/>
                        </a:rPr>
                        <m:t>𝒎</m:t>
                      </m:r>
                    </m:oMath>
                  </m:oMathPara>
                </a14:m>
                <a:endParaRPr lang="es-PE" sz="1600" b="1" i="1" dirty="0"/>
              </a:p>
            </p:txBody>
          </p:sp>
        </mc:Choice>
        <mc:Fallback xmlns="">
          <p:sp>
            <p:nvSpPr>
              <p:cNvPr id="19" name="CuadroTexto 18">
                <a:extLst>
                  <a:ext uri="{FF2B5EF4-FFF2-40B4-BE49-F238E27FC236}">
                    <a16:creationId xmlns:a16="http://schemas.microsoft.com/office/drawing/2014/main" id="{F36189C6-ED21-2C89-17B8-BEB84760C08B}"/>
                  </a:ext>
                </a:extLst>
              </p:cNvPr>
              <p:cNvSpPr txBox="1">
                <a:spLocks noRot="1" noChangeAspect="1" noMove="1" noResize="1" noEditPoints="1" noAdjustHandles="1" noChangeArrowheads="1" noChangeShapeType="1" noTextEdit="1"/>
              </p:cNvSpPr>
              <p:nvPr/>
            </p:nvSpPr>
            <p:spPr>
              <a:xfrm>
                <a:off x="335078" y="3238645"/>
                <a:ext cx="604846" cy="246221"/>
              </a:xfrm>
              <a:prstGeom prst="rect">
                <a:avLst/>
              </a:prstGeom>
              <a:blipFill>
                <a:blip r:embed="rId2"/>
                <a:stretch>
                  <a:fillRect l="-8081" r="-4040" b="-4878"/>
                </a:stretch>
              </a:blipFill>
            </p:spPr>
            <p:txBody>
              <a:bodyPr/>
              <a:lstStyle/>
              <a:p>
                <a:r>
                  <a:rPr lang="es-PE">
                    <a:noFill/>
                  </a:rPr>
                  <a:t> </a:t>
                </a:r>
              </a:p>
            </p:txBody>
          </p:sp>
        </mc:Fallback>
      </mc:AlternateContent>
      <p:cxnSp>
        <p:nvCxnSpPr>
          <p:cNvPr id="20" name="Conector recto 19">
            <a:extLst>
              <a:ext uri="{FF2B5EF4-FFF2-40B4-BE49-F238E27FC236}">
                <a16:creationId xmlns:a16="http://schemas.microsoft.com/office/drawing/2014/main" id="{B4797FC6-1517-692D-2E56-B48C5032DCD5}"/>
              </a:ext>
            </a:extLst>
          </p:cNvPr>
          <p:cNvCxnSpPr>
            <a:cxnSpLocks/>
          </p:cNvCxnSpPr>
          <p:nvPr/>
        </p:nvCxnSpPr>
        <p:spPr>
          <a:xfrm>
            <a:off x="1236654" y="4870104"/>
            <a:ext cx="2691131"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Conector recto 22">
            <a:extLst>
              <a:ext uri="{FF2B5EF4-FFF2-40B4-BE49-F238E27FC236}">
                <a16:creationId xmlns:a16="http://schemas.microsoft.com/office/drawing/2014/main" id="{5AB85D76-1E13-A5EB-42FD-B6D5C1988733}"/>
              </a:ext>
            </a:extLst>
          </p:cNvPr>
          <p:cNvCxnSpPr/>
          <p:nvPr/>
        </p:nvCxnSpPr>
        <p:spPr>
          <a:xfrm>
            <a:off x="1511602" y="4735547"/>
            <a:ext cx="0" cy="28803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Conector recto 23">
            <a:extLst>
              <a:ext uri="{FF2B5EF4-FFF2-40B4-BE49-F238E27FC236}">
                <a16:creationId xmlns:a16="http://schemas.microsoft.com/office/drawing/2014/main" id="{E790FB11-125F-3F72-E8F5-2AB051658AFD}"/>
              </a:ext>
            </a:extLst>
          </p:cNvPr>
          <p:cNvCxnSpPr/>
          <p:nvPr/>
        </p:nvCxnSpPr>
        <p:spPr>
          <a:xfrm>
            <a:off x="3695831" y="4735547"/>
            <a:ext cx="0" cy="28803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38" name="Grupo 37">
            <a:extLst>
              <a:ext uri="{FF2B5EF4-FFF2-40B4-BE49-F238E27FC236}">
                <a16:creationId xmlns:a16="http://schemas.microsoft.com/office/drawing/2014/main" id="{54954D6D-CC84-C3E6-C3FC-2052C45EA298}"/>
              </a:ext>
            </a:extLst>
          </p:cNvPr>
          <p:cNvGrpSpPr/>
          <p:nvPr/>
        </p:nvGrpSpPr>
        <p:grpSpPr>
          <a:xfrm>
            <a:off x="605877" y="5049795"/>
            <a:ext cx="1253448" cy="1101128"/>
            <a:chOff x="424663" y="4976843"/>
            <a:chExt cx="1253448" cy="1101128"/>
          </a:xfrm>
        </p:grpSpPr>
        <p:sp>
          <p:nvSpPr>
            <p:cNvPr id="26" name="Rectángulo 25">
              <a:extLst>
                <a:ext uri="{FF2B5EF4-FFF2-40B4-BE49-F238E27FC236}">
                  <a16:creationId xmlns:a16="http://schemas.microsoft.com/office/drawing/2014/main" id="{180F0F17-A1B8-2181-B547-1C104145581E}"/>
                </a:ext>
              </a:extLst>
            </p:cNvPr>
            <p:cNvSpPr>
              <a:spLocks noChangeAspect="1"/>
            </p:cNvSpPr>
            <p:nvPr/>
          </p:nvSpPr>
          <p:spPr>
            <a:xfrm>
              <a:off x="1149729" y="5048875"/>
              <a:ext cx="431954" cy="432000"/>
            </a:xfrm>
            <a:prstGeom prst="rect">
              <a:avLst/>
            </a:prstGeom>
            <a:pattFill prst="wdUpDiag">
              <a:fgClr>
                <a:schemeClr val="tx1">
                  <a:lumMod val="65000"/>
                  <a:lumOff val="35000"/>
                </a:schemeClr>
              </a:fgClr>
              <a:bgClr>
                <a:schemeClr val="bg1"/>
              </a:bgClr>
            </a:patt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cxnSp>
          <p:nvCxnSpPr>
            <p:cNvPr id="27" name="Conector recto 26">
              <a:extLst>
                <a:ext uri="{FF2B5EF4-FFF2-40B4-BE49-F238E27FC236}">
                  <a16:creationId xmlns:a16="http://schemas.microsoft.com/office/drawing/2014/main" id="{77DD0DD3-F02E-B575-9564-FE09A1A55317}"/>
                </a:ext>
              </a:extLst>
            </p:cNvPr>
            <p:cNvCxnSpPr/>
            <p:nvPr/>
          </p:nvCxnSpPr>
          <p:spPr>
            <a:xfrm>
              <a:off x="1149729" y="5640390"/>
              <a:ext cx="0" cy="18000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Conector recto 28">
              <a:extLst>
                <a:ext uri="{FF2B5EF4-FFF2-40B4-BE49-F238E27FC236}">
                  <a16:creationId xmlns:a16="http://schemas.microsoft.com/office/drawing/2014/main" id="{E601BA6D-2052-749B-8E4C-285F80AFBB27}"/>
                </a:ext>
              </a:extLst>
            </p:cNvPr>
            <p:cNvCxnSpPr>
              <a:cxnSpLocks/>
            </p:cNvCxnSpPr>
            <p:nvPr/>
          </p:nvCxnSpPr>
          <p:spPr>
            <a:xfrm>
              <a:off x="1042821" y="5733256"/>
              <a:ext cx="63529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1" name="CuadroTexto 30">
                  <a:extLst>
                    <a:ext uri="{FF2B5EF4-FFF2-40B4-BE49-F238E27FC236}">
                      <a16:creationId xmlns:a16="http://schemas.microsoft.com/office/drawing/2014/main" id="{B0EC4A1B-117F-9ECA-4D5F-076E5A7F455E}"/>
                    </a:ext>
                  </a:extLst>
                </p:cNvPr>
                <p:cNvSpPr txBox="1"/>
                <p:nvPr/>
              </p:nvSpPr>
              <p:spPr>
                <a:xfrm>
                  <a:off x="1110400" y="5893305"/>
                  <a:ext cx="471283" cy="18466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PE" sz="1200" b="1" i="1" smtClean="0">
                            <a:latin typeface="Cambria Math" panose="02040503050406030204" pitchFamily="18" charset="0"/>
                          </a:rPr>
                          <m:t>𝟑𝟎</m:t>
                        </m:r>
                        <m:r>
                          <a:rPr lang="es-PE" sz="1200" b="1" i="1" smtClean="0">
                            <a:latin typeface="Cambria Math" panose="02040503050406030204" pitchFamily="18" charset="0"/>
                          </a:rPr>
                          <m:t> </m:t>
                        </m:r>
                        <m:r>
                          <a:rPr lang="es-PE" sz="1200" b="1" i="1" smtClean="0">
                            <a:latin typeface="Cambria Math" panose="02040503050406030204" pitchFamily="18" charset="0"/>
                          </a:rPr>
                          <m:t>𝒄𝒎</m:t>
                        </m:r>
                      </m:oMath>
                    </m:oMathPara>
                  </a14:m>
                  <a:endParaRPr lang="es-PE" sz="1200" b="1" i="1" dirty="0"/>
                </a:p>
              </p:txBody>
            </p:sp>
          </mc:Choice>
          <mc:Fallback xmlns="">
            <p:sp>
              <p:nvSpPr>
                <p:cNvPr id="31" name="CuadroTexto 30">
                  <a:extLst>
                    <a:ext uri="{FF2B5EF4-FFF2-40B4-BE49-F238E27FC236}">
                      <a16:creationId xmlns:a16="http://schemas.microsoft.com/office/drawing/2014/main" id="{B0EC4A1B-117F-9ECA-4D5F-076E5A7F455E}"/>
                    </a:ext>
                  </a:extLst>
                </p:cNvPr>
                <p:cNvSpPr txBox="1">
                  <a:spLocks noRot="1" noChangeAspect="1" noMove="1" noResize="1" noEditPoints="1" noAdjustHandles="1" noChangeArrowheads="1" noChangeShapeType="1" noTextEdit="1"/>
                </p:cNvSpPr>
                <p:nvPr/>
              </p:nvSpPr>
              <p:spPr>
                <a:xfrm>
                  <a:off x="1110400" y="5893305"/>
                  <a:ext cx="471283" cy="184666"/>
                </a:xfrm>
                <a:prstGeom prst="rect">
                  <a:avLst/>
                </a:prstGeom>
                <a:blipFill>
                  <a:blip r:embed="rId3"/>
                  <a:stretch>
                    <a:fillRect l="-7792" r="-5195" b="-6667"/>
                  </a:stretch>
                </a:blipFill>
              </p:spPr>
              <p:txBody>
                <a:bodyPr/>
                <a:lstStyle/>
                <a:p>
                  <a:r>
                    <a:rPr lang="es-PE">
                      <a:noFill/>
                    </a:rPr>
                    <a:t> </a:t>
                  </a:r>
                </a:p>
              </p:txBody>
            </p:sp>
          </mc:Fallback>
        </mc:AlternateContent>
        <p:cxnSp>
          <p:nvCxnSpPr>
            <p:cNvPr id="32" name="Conector recto 31">
              <a:extLst>
                <a:ext uri="{FF2B5EF4-FFF2-40B4-BE49-F238E27FC236}">
                  <a16:creationId xmlns:a16="http://schemas.microsoft.com/office/drawing/2014/main" id="{0256719A-02F0-50D3-CDD6-92586642DA3D}"/>
                </a:ext>
              </a:extLst>
            </p:cNvPr>
            <p:cNvCxnSpPr>
              <a:cxnSpLocks/>
            </p:cNvCxnSpPr>
            <p:nvPr/>
          </p:nvCxnSpPr>
          <p:spPr>
            <a:xfrm>
              <a:off x="918571" y="4976843"/>
              <a:ext cx="0" cy="61274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Conector recto 33">
              <a:extLst>
                <a:ext uri="{FF2B5EF4-FFF2-40B4-BE49-F238E27FC236}">
                  <a16:creationId xmlns:a16="http://schemas.microsoft.com/office/drawing/2014/main" id="{46561584-17C2-B301-B7C0-CBDE41AFEA25}"/>
                </a:ext>
              </a:extLst>
            </p:cNvPr>
            <p:cNvCxnSpPr/>
            <p:nvPr/>
          </p:nvCxnSpPr>
          <p:spPr>
            <a:xfrm>
              <a:off x="801276" y="5042849"/>
              <a:ext cx="216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Conector recto 34">
              <a:extLst>
                <a:ext uri="{FF2B5EF4-FFF2-40B4-BE49-F238E27FC236}">
                  <a16:creationId xmlns:a16="http://schemas.microsoft.com/office/drawing/2014/main" id="{47B61D6A-9196-506A-46BB-F468D4B44EB0}"/>
                </a:ext>
              </a:extLst>
            </p:cNvPr>
            <p:cNvCxnSpPr/>
            <p:nvPr/>
          </p:nvCxnSpPr>
          <p:spPr>
            <a:xfrm>
              <a:off x="814039" y="5462158"/>
              <a:ext cx="216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Conector recto 35">
              <a:extLst>
                <a:ext uri="{FF2B5EF4-FFF2-40B4-BE49-F238E27FC236}">
                  <a16:creationId xmlns:a16="http://schemas.microsoft.com/office/drawing/2014/main" id="{311EC56E-9699-0352-1A25-6133DAA12D25}"/>
                </a:ext>
              </a:extLst>
            </p:cNvPr>
            <p:cNvCxnSpPr/>
            <p:nvPr/>
          </p:nvCxnSpPr>
          <p:spPr>
            <a:xfrm>
              <a:off x="1576430" y="5659132"/>
              <a:ext cx="0" cy="18000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7" name="CuadroTexto 36">
                  <a:extLst>
                    <a:ext uri="{FF2B5EF4-FFF2-40B4-BE49-F238E27FC236}">
                      <a16:creationId xmlns:a16="http://schemas.microsoft.com/office/drawing/2014/main" id="{F470CAC1-752B-AA49-8BE2-E46BC72E6187}"/>
                    </a:ext>
                  </a:extLst>
                </p:cNvPr>
                <p:cNvSpPr txBox="1"/>
                <p:nvPr/>
              </p:nvSpPr>
              <p:spPr>
                <a:xfrm>
                  <a:off x="424663" y="5148731"/>
                  <a:ext cx="471283" cy="18466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PE" sz="1200" b="1" i="1" smtClean="0">
                            <a:latin typeface="Cambria Math" panose="02040503050406030204" pitchFamily="18" charset="0"/>
                          </a:rPr>
                          <m:t>𝟑𝟎</m:t>
                        </m:r>
                        <m:r>
                          <a:rPr lang="es-PE" sz="1200" b="1" i="1" smtClean="0">
                            <a:latin typeface="Cambria Math" panose="02040503050406030204" pitchFamily="18" charset="0"/>
                          </a:rPr>
                          <m:t> </m:t>
                        </m:r>
                        <m:r>
                          <a:rPr lang="es-PE" sz="1200" b="1" i="1" smtClean="0">
                            <a:latin typeface="Cambria Math" panose="02040503050406030204" pitchFamily="18" charset="0"/>
                          </a:rPr>
                          <m:t>𝒄𝒎</m:t>
                        </m:r>
                      </m:oMath>
                    </m:oMathPara>
                  </a14:m>
                  <a:endParaRPr lang="es-PE" sz="1200" b="1" i="1" dirty="0"/>
                </a:p>
              </p:txBody>
            </p:sp>
          </mc:Choice>
          <mc:Fallback xmlns="">
            <p:sp>
              <p:nvSpPr>
                <p:cNvPr id="37" name="CuadroTexto 36">
                  <a:extLst>
                    <a:ext uri="{FF2B5EF4-FFF2-40B4-BE49-F238E27FC236}">
                      <a16:creationId xmlns:a16="http://schemas.microsoft.com/office/drawing/2014/main" id="{F470CAC1-752B-AA49-8BE2-E46BC72E6187}"/>
                    </a:ext>
                  </a:extLst>
                </p:cNvPr>
                <p:cNvSpPr txBox="1">
                  <a:spLocks noRot="1" noChangeAspect="1" noMove="1" noResize="1" noEditPoints="1" noAdjustHandles="1" noChangeArrowheads="1" noChangeShapeType="1" noTextEdit="1"/>
                </p:cNvSpPr>
                <p:nvPr/>
              </p:nvSpPr>
              <p:spPr>
                <a:xfrm>
                  <a:off x="424663" y="5148731"/>
                  <a:ext cx="471283" cy="184666"/>
                </a:xfrm>
                <a:prstGeom prst="rect">
                  <a:avLst/>
                </a:prstGeom>
                <a:blipFill>
                  <a:blip r:embed="rId4"/>
                  <a:stretch>
                    <a:fillRect l="-7692" r="-5128" b="-6667"/>
                  </a:stretch>
                </a:blipFill>
              </p:spPr>
              <p:txBody>
                <a:bodyPr/>
                <a:lstStyle/>
                <a:p>
                  <a:r>
                    <a:rPr lang="es-PE">
                      <a:noFill/>
                    </a:rPr>
                    <a:t> </a:t>
                  </a:r>
                </a:p>
              </p:txBody>
            </p:sp>
          </mc:Fallback>
        </mc:AlternateContent>
      </p:grpSp>
      <p:grpSp>
        <p:nvGrpSpPr>
          <p:cNvPr id="59" name="Grupo 58">
            <a:extLst>
              <a:ext uri="{FF2B5EF4-FFF2-40B4-BE49-F238E27FC236}">
                <a16:creationId xmlns:a16="http://schemas.microsoft.com/office/drawing/2014/main" id="{B9D0E3A8-D1D0-2B0D-B28C-4B4A300D8206}"/>
              </a:ext>
            </a:extLst>
          </p:cNvPr>
          <p:cNvGrpSpPr/>
          <p:nvPr/>
        </p:nvGrpSpPr>
        <p:grpSpPr>
          <a:xfrm>
            <a:off x="3818712" y="2032698"/>
            <a:ext cx="1155667" cy="1137101"/>
            <a:chOff x="426016" y="4940870"/>
            <a:chExt cx="1155667" cy="1137101"/>
          </a:xfrm>
        </p:grpSpPr>
        <p:sp>
          <p:nvSpPr>
            <p:cNvPr id="60" name="Rectángulo 59">
              <a:extLst>
                <a:ext uri="{FF2B5EF4-FFF2-40B4-BE49-F238E27FC236}">
                  <a16:creationId xmlns:a16="http://schemas.microsoft.com/office/drawing/2014/main" id="{8A559CAF-DBDB-9BFD-557A-9CB0D9E00E81}"/>
                </a:ext>
              </a:extLst>
            </p:cNvPr>
            <p:cNvSpPr>
              <a:spLocks noChangeAspect="1"/>
            </p:cNvSpPr>
            <p:nvPr/>
          </p:nvSpPr>
          <p:spPr>
            <a:xfrm>
              <a:off x="1149729" y="5048875"/>
              <a:ext cx="324000" cy="540000"/>
            </a:xfrm>
            <a:prstGeom prst="rect">
              <a:avLst/>
            </a:prstGeom>
            <a:pattFill prst="wdUpDiag">
              <a:fgClr>
                <a:schemeClr val="tx1">
                  <a:lumMod val="65000"/>
                  <a:lumOff val="35000"/>
                </a:schemeClr>
              </a:fgClr>
              <a:bgClr>
                <a:schemeClr val="bg1"/>
              </a:bgClr>
            </a:patt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dirty="0"/>
            </a:p>
          </p:txBody>
        </p:sp>
        <p:cxnSp>
          <p:nvCxnSpPr>
            <p:cNvPr id="61" name="Conector recto 60">
              <a:extLst>
                <a:ext uri="{FF2B5EF4-FFF2-40B4-BE49-F238E27FC236}">
                  <a16:creationId xmlns:a16="http://schemas.microsoft.com/office/drawing/2014/main" id="{30A144B4-A2B8-5233-FB46-84C03CA4553C}"/>
                </a:ext>
              </a:extLst>
            </p:cNvPr>
            <p:cNvCxnSpPr/>
            <p:nvPr/>
          </p:nvCxnSpPr>
          <p:spPr>
            <a:xfrm>
              <a:off x="1149729" y="5640390"/>
              <a:ext cx="0" cy="18000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 name="Conector recto 61">
              <a:extLst>
                <a:ext uri="{FF2B5EF4-FFF2-40B4-BE49-F238E27FC236}">
                  <a16:creationId xmlns:a16="http://schemas.microsoft.com/office/drawing/2014/main" id="{24214798-2537-4986-DD4F-A5E5C413666E}"/>
                </a:ext>
              </a:extLst>
            </p:cNvPr>
            <p:cNvCxnSpPr>
              <a:cxnSpLocks/>
            </p:cNvCxnSpPr>
            <p:nvPr/>
          </p:nvCxnSpPr>
          <p:spPr>
            <a:xfrm>
              <a:off x="1068222" y="5733256"/>
              <a:ext cx="468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3" name="CuadroTexto 62">
                  <a:extLst>
                    <a:ext uri="{FF2B5EF4-FFF2-40B4-BE49-F238E27FC236}">
                      <a16:creationId xmlns:a16="http://schemas.microsoft.com/office/drawing/2014/main" id="{6EBC0F68-DE55-F623-80C0-592EC4574729}"/>
                    </a:ext>
                  </a:extLst>
                </p:cNvPr>
                <p:cNvSpPr txBox="1"/>
                <p:nvPr/>
              </p:nvSpPr>
              <p:spPr>
                <a:xfrm>
                  <a:off x="1110400" y="5893305"/>
                  <a:ext cx="471283" cy="18466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PE" sz="1200" b="1" i="1" smtClean="0">
                            <a:latin typeface="Cambria Math" panose="02040503050406030204" pitchFamily="18" charset="0"/>
                          </a:rPr>
                          <m:t>𝟑𝟎</m:t>
                        </m:r>
                        <m:r>
                          <a:rPr lang="es-PE" sz="1200" b="1" i="1" smtClean="0">
                            <a:latin typeface="Cambria Math" panose="02040503050406030204" pitchFamily="18" charset="0"/>
                          </a:rPr>
                          <m:t> </m:t>
                        </m:r>
                        <m:r>
                          <a:rPr lang="es-PE" sz="1200" b="1" i="1" smtClean="0">
                            <a:latin typeface="Cambria Math" panose="02040503050406030204" pitchFamily="18" charset="0"/>
                          </a:rPr>
                          <m:t>𝒄𝒎</m:t>
                        </m:r>
                      </m:oMath>
                    </m:oMathPara>
                  </a14:m>
                  <a:endParaRPr lang="es-PE" sz="1200" b="1" i="1" dirty="0"/>
                </a:p>
              </p:txBody>
            </p:sp>
          </mc:Choice>
          <mc:Fallback xmlns="">
            <p:sp>
              <p:nvSpPr>
                <p:cNvPr id="63" name="CuadroTexto 62">
                  <a:extLst>
                    <a:ext uri="{FF2B5EF4-FFF2-40B4-BE49-F238E27FC236}">
                      <a16:creationId xmlns:a16="http://schemas.microsoft.com/office/drawing/2014/main" id="{6EBC0F68-DE55-F623-80C0-592EC4574729}"/>
                    </a:ext>
                  </a:extLst>
                </p:cNvPr>
                <p:cNvSpPr txBox="1">
                  <a:spLocks noRot="1" noChangeAspect="1" noMove="1" noResize="1" noEditPoints="1" noAdjustHandles="1" noChangeArrowheads="1" noChangeShapeType="1" noTextEdit="1"/>
                </p:cNvSpPr>
                <p:nvPr/>
              </p:nvSpPr>
              <p:spPr>
                <a:xfrm>
                  <a:off x="1110400" y="5893305"/>
                  <a:ext cx="471283" cy="184666"/>
                </a:xfrm>
                <a:prstGeom prst="rect">
                  <a:avLst/>
                </a:prstGeom>
                <a:blipFill>
                  <a:blip r:embed="rId3"/>
                  <a:stretch>
                    <a:fillRect l="-7792" r="-5195" b="-6667"/>
                  </a:stretch>
                </a:blipFill>
              </p:spPr>
              <p:txBody>
                <a:bodyPr/>
                <a:lstStyle/>
                <a:p>
                  <a:r>
                    <a:rPr lang="es-PE">
                      <a:noFill/>
                    </a:rPr>
                    <a:t> </a:t>
                  </a:r>
                </a:p>
              </p:txBody>
            </p:sp>
          </mc:Fallback>
        </mc:AlternateContent>
        <p:cxnSp>
          <p:nvCxnSpPr>
            <p:cNvPr id="64" name="Conector recto 63">
              <a:extLst>
                <a:ext uri="{FF2B5EF4-FFF2-40B4-BE49-F238E27FC236}">
                  <a16:creationId xmlns:a16="http://schemas.microsoft.com/office/drawing/2014/main" id="{BC7A24C7-DD4D-87DE-C72B-CF2B74C449BE}"/>
                </a:ext>
              </a:extLst>
            </p:cNvPr>
            <p:cNvCxnSpPr>
              <a:cxnSpLocks/>
            </p:cNvCxnSpPr>
            <p:nvPr/>
          </p:nvCxnSpPr>
          <p:spPr>
            <a:xfrm>
              <a:off x="918571" y="4940870"/>
              <a:ext cx="0" cy="72000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5" name="Conector recto 64">
              <a:extLst>
                <a:ext uri="{FF2B5EF4-FFF2-40B4-BE49-F238E27FC236}">
                  <a16:creationId xmlns:a16="http://schemas.microsoft.com/office/drawing/2014/main" id="{9CE1FA22-E1BE-8A39-F1D4-668589BD633C}"/>
                </a:ext>
              </a:extLst>
            </p:cNvPr>
            <p:cNvCxnSpPr/>
            <p:nvPr/>
          </p:nvCxnSpPr>
          <p:spPr>
            <a:xfrm>
              <a:off x="801276" y="5042849"/>
              <a:ext cx="216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6" name="Conector recto 65">
              <a:extLst>
                <a:ext uri="{FF2B5EF4-FFF2-40B4-BE49-F238E27FC236}">
                  <a16:creationId xmlns:a16="http://schemas.microsoft.com/office/drawing/2014/main" id="{51EAE19B-15B6-F643-596C-47AA44D7E0A6}"/>
                </a:ext>
              </a:extLst>
            </p:cNvPr>
            <p:cNvCxnSpPr/>
            <p:nvPr/>
          </p:nvCxnSpPr>
          <p:spPr>
            <a:xfrm>
              <a:off x="814039" y="5572229"/>
              <a:ext cx="216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7" name="Conector recto 66">
              <a:extLst>
                <a:ext uri="{FF2B5EF4-FFF2-40B4-BE49-F238E27FC236}">
                  <a16:creationId xmlns:a16="http://schemas.microsoft.com/office/drawing/2014/main" id="{E52223AB-855C-4DE8-6042-A187D31A64F9}"/>
                </a:ext>
              </a:extLst>
            </p:cNvPr>
            <p:cNvCxnSpPr/>
            <p:nvPr/>
          </p:nvCxnSpPr>
          <p:spPr>
            <a:xfrm>
              <a:off x="1500229" y="5650665"/>
              <a:ext cx="0" cy="18000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8" name="CuadroTexto 67">
                  <a:extLst>
                    <a:ext uri="{FF2B5EF4-FFF2-40B4-BE49-F238E27FC236}">
                      <a16:creationId xmlns:a16="http://schemas.microsoft.com/office/drawing/2014/main" id="{FBFB130B-B08B-2AFC-8A1E-7126928B240E}"/>
                    </a:ext>
                  </a:extLst>
                </p:cNvPr>
                <p:cNvSpPr txBox="1"/>
                <p:nvPr/>
              </p:nvSpPr>
              <p:spPr>
                <a:xfrm>
                  <a:off x="426016" y="5231081"/>
                  <a:ext cx="471283" cy="18466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PE" sz="1200" b="1" i="1" smtClean="0">
                            <a:latin typeface="Cambria Math" panose="02040503050406030204" pitchFamily="18" charset="0"/>
                          </a:rPr>
                          <m:t>𝟓𝟎</m:t>
                        </m:r>
                        <m:r>
                          <a:rPr lang="es-PE" sz="1200" b="1" i="1" smtClean="0">
                            <a:latin typeface="Cambria Math" panose="02040503050406030204" pitchFamily="18" charset="0"/>
                          </a:rPr>
                          <m:t> </m:t>
                        </m:r>
                        <m:r>
                          <a:rPr lang="es-PE" sz="1200" b="1" i="1" smtClean="0">
                            <a:latin typeface="Cambria Math" panose="02040503050406030204" pitchFamily="18" charset="0"/>
                          </a:rPr>
                          <m:t>𝒄𝒎</m:t>
                        </m:r>
                      </m:oMath>
                    </m:oMathPara>
                  </a14:m>
                  <a:endParaRPr lang="es-PE" sz="1200" b="1" i="1" dirty="0"/>
                </a:p>
              </p:txBody>
            </p:sp>
          </mc:Choice>
          <mc:Fallback xmlns="">
            <p:sp>
              <p:nvSpPr>
                <p:cNvPr id="68" name="CuadroTexto 67">
                  <a:extLst>
                    <a:ext uri="{FF2B5EF4-FFF2-40B4-BE49-F238E27FC236}">
                      <a16:creationId xmlns:a16="http://schemas.microsoft.com/office/drawing/2014/main" id="{FBFB130B-B08B-2AFC-8A1E-7126928B240E}"/>
                    </a:ext>
                  </a:extLst>
                </p:cNvPr>
                <p:cNvSpPr txBox="1">
                  <a:spLocks noRot="1" noChangeAspect="1" noMove="1" noResize="1" noEditPoints="1" noAdjustHandles="1" noChangeArrowheads="1" noChangeShapeType="1" noTextEdit="1"/>
                </p:cNvSpPr>
                <p:nvPr/>
              </p:nvSpPr>
              <p:spPr>
                <a:xfrm>
                  <a:off x="426016" y="5231081"/>
                  <a:ext cx="471283" cy="184666"/>
                </a:xfrm>
                <a:prstGeom prst="rect">
                  <a:avLst/>
                </a:prstGeom>
                <a:blipFill>
                  <a:blip r:embed="rId5"/>
                  <a:stretch>
                    <a:fillRect l="-7692" r="-5128" b="-10000"/>
                  </a:stretch>
                </a:blipFill>
              </p:spPr>
              <p:txBody>
                <a:bodyPr/>
                <a:lstStyle/>
                <a:p>
                  <a:r>
                    <a:rPr lang="es-PE">
                      <a:noFill/>
                    </a:rPr>
                    <a:t> </a:t>
                  </a:r>
                </a:p>
              </p:txBody>
            </p:sp>
          </mc:Fallback>
        </mc:AlternateContent>
      </p:grpSp>
      <mc:AlternateContent xmlns:mc="http://schemas.openxmlformats.org/markup-compatibility/2006" xmlns:a14="http://schemas.microsoft.com/office/drawing/2010/main">
        <mc:Choice Requires="a14">
          <p:sp>
            <p:nvSpPr>
              <p:cNvPr id="3" name="CuadroTexto 2">
                <a:extLst>
                  <a:ext uri="{FF2B5EF4-FFF2-40B4-BE49-F238E27FC236}">
                    <a16:creationId xmlns:a16="http://schemas.microsoft.com/office/drawing/2014/main" id="{EE2548BE-8736-3C1C-1412-D142E5CB5AA9}"/>
                  </a:ext>
                </a:extLst>
              </p:cNvPr>
              <p:cNvSpPr txBox="1"/>
              <p:nvPr/>
            </p:nvSpPr>
            <p:spPr>
              <a:xfrm>
                <a:off x="2269118" y="4593519"/>
                <a:ext cx="728276"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PE" sz="1600" b="1" i="1" smtClean="0">
                          <a:latin typeface="Cambria Math" panose="02040503050406030204" pitchFamily="18" charset="0"/>
                        </a:rPr>
                        <m:t>𝟑</m:t>
                      </m:r>
                      <m:r>
                        <a:rPr lang="es-PE" sz="1600" b="1" i="1" smtClean="0">
                          <a:latin typeface="Cambria Math" panose="02040503050406030204" pitchFamily="18" charset="0"/>
                        </a:rPr>
                        <m:t>.</m:t>
                      </m:r>
                      <m:r>
                        <a:rPr lang="es-PE" sz="1600" b="1" i="1" smtClean="0">
                          <a:latin typeface="Cambria Math" panose="02040503050406030204" pitchFamily="18" charset="0"/>
                        </a:rPr>
                        <m:t>𝟖𝟎</m:t>
                      </m:r>
                      <m:r>
                        <a:rPr lang="es-PE" sz="1600" b="1" i="1" smtClean="0">
                          <a:latin typeface="Cambria Math" panose="02040503050406030204" pitchFamily="18" charset="0"/>
                        </a:rPr>
                        <m:t> </m:t>
                      </m:r>
                      <m:r>
                        <a:rPr lang="es-PE" sz="1600" b="1" i="1" smtClean="0">
                          <a:latin typeface="Cambria Math" panose="02040503050406030204" pitchFamily="18" charset="0"/>
                        </a:rPr>
                        <m:t>𝒎</m:t>
                      </m:r>
                    </m:oMath>
                  </m:oMathPara>
                </a14:m>
                <a:endParaRPr lang="es-PE" sz="1600" b="1" i="1" dirty="0"/>
              </a:p>
            </p:txBody>
          </p:sp>
        </mc:Choice>
        <mc:Fallback xmlns="">
          <p:sp>
            <p:nvSpPr>
              <p:cNvPr id="3" name="CuadroTexto 2">
                <a:extLst>
                  <a:ext uri="{FF2B5EF4-FFF2-40B4-BE49-F238E27FC236}">
                    <a16:creationId xmlns:a16="http://schemas.microsoft.com/office/drawing/2014/main" id="{EE2548BE-8736-3C1C-1412-D142E5CB5AA9}"/>
                  </a:ext>
                </a:extLst>
              </p:cNvPr>
              <p:cNvSpPr txBox="1">
                <a:spLocks noRot="1" noChangeAspect="1" noMove="1" noResize="1" noEditPoints="1" noAdjustHandles="1" noChangeArrowheads="1" noChangeShapeType="1" noTextEdit="1"/>
              </p:cNvSpPr>
              <p:nvPr/>
            </p:nvSpPr>
            <p:spPr>
              <a:xfrm>
                <a:off x="2269118" y="4593519"/>
                <a:ext cx="728276" cy="246221"/>
              </a:xfrm>
              <a:prstGeom prst="rect">
                <a:avLst/>
              </a:prstGeom>
              <a:blipFill>
                <a:blip r:embed="rId6"/>
                <a:stretch>
                  <a:fillRect l="-5833" r="-3333" b="-5000"/>
                </a:stretch>
              </a:blipFill>
            </p:spPr>
            <p:txBody>
              <a:bodyPr/>
              <a:lstStyle/>
              <a:p>
                <a:r>
                  <a:rPr lang="es-PE">
                    <a:noFill/>
                  </a:rPr>
                  <a:t> </a:t>
                </a:r>
              </a:p>
            </p:txBody>
          </p:sp>
        </mc:Fallback>
      </mc:AlternateContent>
      <p:sp>
        <p:nvSpPr>
          <p:cNvPr id="5" name="Elipse 4">
            <a:extLst>
              <a:ext uri="{FF2B5EF4-FFF2-40B4-BE49-F238E27FC236}">
                <a16:creationId xmlns:a16="http://schemas.microsoft.com/office/drawing/2014/main" id="{77C462ED-6A79-3855-C197-3929291E5A9F}"/>
              </a:ext>
            </a:extLst>
          </p:cNvPr>
          <p:cNvSpPr>
            <a:spLocks noChangeAspect="1"/>
          </p:cNvSpPr>
          <p:nvPr/>
        </p:nvSpPr>
        <p:spPr>
          <a:xfrm>
            <a:off x="1634954" y="4187778"/>
            <a:ext cx="252000" cy="252000"/>
          </a:xfrm>
          <a:prstGeom prst="ellipse">
            <a:avLst/>
          </a:prstGeom>
          <a:solidFill>
            <a:schemeClr val="bg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PE" dirty="0">
                <a:solidFill>
                  <a:schemeClr val="tx1"/>
                </a:solidFill>
              </a:rPr>
              <a:t>A</a:t>
            </a:r>
          </a:p>
        </p:txBody>
      </p:sp>
      <p:sp>
        <p:nvSpPr>
          <p:cNvPr id="14" name="Elipse 13">
            <a:extLst>
              <a:ext uri="{FF2B5EF4-FFF2-40B4-BE49-F238E27FC236}">
                <a16:creationId xmlns:a16="http://schemas.microsoft.com/office/drawing/2014/main" id="{11937C94-265B-F166-7749-A72C9F0FCCF9}"/>
              </a:ext>
            </a:extLst>
          </p:cNvPr>
          <p:cNvSpPr>
            <a:spLocks noChangeAspect="1"/>
          </p:cNvSpPr>
          <p:nvPr/>
        </p:nvSpPr>
        <p:spPr>
          <a:xfrm>
            <a:off x="1138999" y="2079345"/>
            <a:ext cx="252000" cy="252000"/>
          </a:xfrm>
          <a:prstGeom prst="ellipse">
            <a:avLst/>
          </a:prstGeom>
          <a:solidFill>
            <a:schemeClr val="bg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PE" dirty="0">
                <a:solidFill>
                  <a:schemeClr val="tx1"/>
                </a:solidFill>
              </a:rPr>
              <a:t>B</a:t>
            </a:r>
          </a:p>
        </p:txBody>
      </p:sp>
      <p:sp>
        <p:nvSpPr>
          <p:cNvPr id="21" name="Elipse 20">
            <a:extLst>
              <a:ext uri="{FF2B5EF4-FFF2-40B4-BE49-F238E27FC236}">
                <a16:creationId xmlns:a16="http://schemas.microsoft.com/office/drawing/2014/main" id="{B95439FB-BF42-ED1B-63D8-52239D77A557}"/>
              </a:ext>
            </a:extLst>
          </p:cNvPr>
          <p:cNvSpPr>
            <a:spLocks noChangeAspect="1"/>
          </p:cNvSpPr>
          <p:nvPr/>
        </p:nvSpPr>
        <p:spPr>
          <a:xfrm>
            <a:off x="3583562" y="2032698"/>
            <a:ext cx="252000" cy="252000"/>
          </a:xfrm>
          <a:prstGeom prst="ellipse">
            <a:avLst/>
          </a:prstGeom>
          <a:solidFill>
            <a:schemeClr val="bg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PE" dirty="0">
                <a:solidFill>
                  <a:schemeClr val="tx1"/>
                </a:solidFill>
              </a:rPr>
              <a:t>D</a:t>
            </a:r>
          </a:p>
        </p:txBody>
      </p:sp>
      <p:sp>
        <p:nvSpPr>
          <p:cNvPr id="73" name="CuadroTexto 72">
            <a:extLst>
              <a:ext uri="{FF2B5EF4-FFF2-40B4-BE49-F238E27FC236}">
                <a16:creationId xmlns:a16="http://schemas.microsoft.com/office/drawing/2014/main" id="{459D21C9-221E-7671-8C15-740CD57B38A9}"/>
              </a:ext>
            </a:extLst>
          </p:cNvPr>
          <p:cNvSpPr txBox="1"/>
          <p:nvPr/>
        </p:nvSpPr>
        <p:spPr>
          <a:xfrm>
            <a:off x="6853677" y="2064314"/>
            <a:ext cx="4254883" cy="400110"/>
          </a:xfrm>
          <a:prstGeom prst="rect">
            <a:avLst/>
          </a:prstGeom>
          <a:noFill/>
        </p:spPr>
        <p:txBody>
          <a:bodyPr wrap="none" rtlCol="0">
            <a:spAutoFit/>
          </a:bodyPr>
          <a:lstStyle/>
          <a:p>
            <a:r>
              <a:rPr lang="es-PE" sz="2000" dirty="0"/>
              <a:t>Calculando la rigidez de la columna AB:</a:t>
            </a:r>
          </a:p>
        </p:txBody>
      </p:sp>
      <mc:AlternateContent xmlns:mc="http://schemas.openxmlformats.org/markup-compatibility/2006" xmlns:a14="http://schemas.microsoft.com/office/drawing/2010/main">
        <mc:Choice Requires="a14">
          <p:sp>
            <p:nvSpPr>
              <p:cNvPr id="74" name="CuadroTexto 73">
                <a:extLst>
                  <a:ext uri="{FF2B5EF4-FFF2-40B4-BE49-F238E27FC236}">
                    <a16:creationId xmlns:a16="http://schemas.microsoft.com/office/drawing/2014/main" id="{A40E5339-5CA4-3FCE-28D0-8011A74719DD}"/>
                  </a:ext>
                </a:extLst>
              </p:cNvPr>
              <p:cNvSpPr txBox="1"/>
              <p:nvPr/>
            </p:nvSpPr>
            <p:spPr>
              <a:xfrm>
                <a:off x="6840722" y="2645494"/>
                <a:ext cx="3201326" cy="5657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PE" i="1" smtClean="0">
                              <a:latin typeface="Cambria Math" panose="02040503050406030204" pitchFamily="18" charset="0"/>
                            </a:rPr>
                          </m:ctrlPr>
                        </m:sSubPr>
                        <m:e>
                          <m:acc>
                            <m:accPr>
                              <m:chr m:val="̅"/>
                              <m:ctrlPr>
                                <a:rPr lang="es-PE" i="1" smtClean="0">
                                  <a:latin typeface="Cambria Math" panose="02040503050406030204" pitchFamily="18" charset="0"/>
                                </a:rPr>
                              </m:ctrlPr>
                            </m:accPr>
                            <m:e>
                              <m:r>
                                <a:rPr lang="es-PE" b="0" i="1" smtClean="0">
                                  <a:latin typeface="Cambria Math" panose="02040503050406030204" pitchFamily="18" charset="0"/>
                                </a:rPr>
                                <m:t>𝐾</m:t>
                              </m:r>
                            </m:e>
                          </m:acc>
                        </m:e>
                        <m:sub>
                          <m:r>
                            <a:rPr lang="es-PE" b="0" i="1" smtClean="0">
                              <a:latin typeface="Cambria Math" panose="02040503050406030204" pitchFamily="18" charset="0"/>
                            </a:rPr>
                            <m:t>𝐴𝐵</m:t>
                          </m:r>
                        </m:sub>
                      </m:sSub>
                      <m:r>
                        <a:rPr lang="es-PE" b="0" i="1" smtClean="0">
                          <a:latin typeface="Cambria Math" panose="02040503050406030204" pitchFamily="18" charset="0"/>
                        </a:rPr>
                        <m:t>= </m:t>
                      </m:r>
                      <m:f>
                        <m:fPr>
                          <m:ctrlPr>
                            <a:rPr lang="es-PE" b="0" i="1" smtClean="0">
                              <a:latin typeface="Cambria Math" panose="02040503050406030204" pitchFamily="18" charset="0"/>
                            </a:rPr>
                          </m:ctrlPr>
                        </m:fPr>
                        <m:num>
                          <m:sSub>
                            <m:sSubPr>
                              <m:ctrlPr>
                                <a:rPr lang="es-PE" b="0" i="1" smtClean="0">
                                  <a:latin typeface="Cambria Math" panose="02040503050406030204" pitchFamily="18" charset="0"/>
                                </a:rPr>
                              </m:ctrlPr>
                            </m:sSubPr>
                            <m:e>
                              <m:r>
                                <a:rPr lang="es-PE" b="0" i="1" smtClean="0">
                                  <a:latin typeface="Cambria Math" panose="02040503050406030204" pitchFamily="18" charset="0"/>
                                </a:rPr>
                                <m:t>𝐾</m:t>
                              </m:r>
                            </m:e>
                            <m:sub>
                              <m:r>
                                <a:rPr lang="es-PE" b="0" i="1" smtClean="0">
                                  <a:latin typeface="Cambria Math" panose="02040503050406030204" pitchFamily="18" charset="0"/>
                                </a:rPr>
                                <m:t>𝐵𝐷</m:t>
                              </m:r>
                            </m:sub>
                          </m:sSub>
                        </m:num>
                        <m:den>
                          <m:sSub>
                            <m:sSubPr>
                              <m:ctrlPr>
                                <a:rPr lang="es-PE" b="0" i="1" smtClean="0">
                                  <a:latin typeface="Cambria Math" panose="02040503050406030204" pitchFamily="18" charset="0"/>
                                </a:rPr>
                              </m:ctrlPr>
                            </m:sSubPr>
                            <m:e>
                              <m:r>
                                <a:rPr lang="es-PE" b="0" i="1" smtClean="0">
                                  <a:latin typeface="Cambria Math" panose="02040503050406030204" pitchFamily="18" charset="0"/>
                                </a:rPr>
                                <m:t>𝐾</m:t>
                              </m:r>
                            </m:e>
                            <m:sub>
                              <m:r>
                                <a:rPr lang="es-PE" b="0" i="1" smtClean="0">
                                  <a:latin typeface="Cambria Math" panose="02040503050406030204" pitchFamily="18" charset="0"/>
                                </a:rPr>
                                <m:t>𝐴𝐵</m:t>
                              </m:r>
                            </m:sub>
                          </m:sSub>
                        </m:den>
                      </m:f>
                      <m:r>
                        <a:rPr lang="es-PE" b="0" i="1" smtClean="0">
                          <a:latin typeface="Cambria Math" panose="02040503050406030204" pitchFamily="18" charset="0"/>
                        </a:rPr>
                        <m:t>=</m:t>
                      </m:r>
                      <m:f>
                        <m:fPr>
                          <m:ctrlPr>
                            <a:rPr lang="es-PE" i="1">
                              <a:latin typeface="Cambria Math" panose="02040503050406030204" pitchFamily="18" charset="0"/>
                            </a:rPr>
                          </m:ctrlPr>
                        </m:fPr>
                        <m:num>
                          <m:r>
                            <a:rPr lang="es-PE" b="0" i="1" smtClean="0">
                              <a:latin typeface="Cambria Math" panose="02040503050406030204" pitchFamily="18" charset="0"/>
                            </a:rPr>
                            <m:t>822.37</m:t>
                          </m:r>
                        </m:num>
                        <m:den>
                          <m:r>
                            <a:rPr lang="es-PE" b="0" i="1" smtClean="0">
                              <a:latin typeface="Cambria Math" panose="02040503050406030204" pitchFamily="18" charset="0"/>
                            </a:rPr>
                            <m:t>241.07</m:t>
                          </m:r>
                        </m:den>
                      </m:f>
                      <m:r>
                        <a:rPr lang="es-PE" b="0" i="1" smtClean="0">
                          <a:latin typeface="Cambria Math" panose="02040503050406030204" pitchFamily="18" charset="0"/>
                        </a:rPr>
                        <m:t>=3.4113 </m:t>
                      </m:r>
                    </m:oMath>
                  </m:oMathPara>
                </a14:m>
                <a:endParaRPr lang="es-PE" dirty="0"/>
              </a:p>
            </p:txBody>
          </p:sp>
        </mc:Choice>
        <mc:Fallback xmlns="">
          <p:sp>
            <p:nvSpPr>
              <p:cNvPr id="74" name="CuadroTexto 73">
                <a:extLst>
                  <a:ext uri="{FF2B5EF4-FFF2-40B4-BE49-F238E27FC236}">
                    <a16:creationId xmlns:a16="http://schemas.microsoft.com/office/drawing/2014/main" id="{A40E5339-5CA4-3FCE-28D0-8011A74719DD}"/>
                  </a:ext>
                </a:extLst>
              </p:cNvPr>
              <p:cNvSpPr txBox="1">
                <a:spLocks noRot="1" noChangeAspect="1" noMove="1" noResize="1" noEditPoints="1" noAdjustHandles="1" noChangeArrowheads="1" noChangeShapeType="1" noTextEdit="1"/>
              </p:cNvSpPr>
              <p:nvPr/>
            </p:nvSpPr>
            <p:spPr>
              <a:xfrm>
                <a:off x="6840722" y="2645494"/>
                <a:ext cx="3201326" cy="565732"/>
              </a:xfrm>
              <a:prstGeom prst="rect">
                <a:avLst/>
              </a:prstGeom>
              <a:blipFill>
                <a:blip r:embed="rId7"/>
                <a:stretch>
                  <a:fillRect/>
                </a:stretch>
              </a:blipFill>
            </p:spPr>
            <p:txBody>
              <a:bodyPr/>
              <a:lstStyle/>
              <a:p>
                <a:r>
                  <a:rPr lang="es-PE">
                    <a:noFill/>
                  </a:rPr>
                  <a:t> </a:t>
                </a:r>
              </a:p>
            </p:txBody>
          </p:sp>
        </mc:Fallback>
      </mc:AlternateContent>
      <p:sp>
        <p:nvSpPr>
          <p:cNvPr id="75" name="CuadroTexto 74">
            <a:extLst>
              <a:ext uri="{FF2B5EF4-FFF2-40B4-BE49-F238E27FC236}">
                <a16:creationId xmlns:a16="http://schemas.microsoft.com/office/drawing/2014/main" id="{E09D9C79-DB8D-9184-22FB-2A4FD0C75583}"/>
              </a:ext>
            </a:extLst>
          </p:cNvPr>
          <p:cNvSpPr txBox="1"/>
          <p:nvPr/>
        </p:nvSpPr>
        <p:spPr>
          <a:xfrm>
            <a:off x="5159896" y="4653136"/>
            <a:ext cx="4972259" cy="400110"/>
          </a:xfrm>
          <a:prstGeom prst="rect">
            <a:avLst/>
          </a:prstGeom>
          <a:noFill/>
        </p:spPr>
        <p:txBody>
          <a:bodyPr wrap="none" rtlCol="0">
            <a:spAutoFit/>
          </a:bodyPr>
          <a:lstStyle/>
          <a:p>
            <a:r>
              <a:rPr lang="es-PE" sz="2000" dirty="0"/>
              <a:t>Calculando la rigidez lateral de la columna AB:</a:t>
            </a:r>
          </a:p>
        </p:txBody>
      </p:sp>
      <mc:AlternateContent xmlns:mc="http://schemas.openxmlformats.org/markup-compatibility/2006" xmlns:a14="http://schemas.microsoft.com/office/drawing/2010/main">
        <mc:Choice Requires="a14">
          <p:sp>
            <p:nvSpPr>
              <p:cNvPr id="76" name="CuadroTexto 75">
                <a:extLst>
                  <a:ext uri="{FF2B5EF4-FFF2-40B4-BE49-F238E27FC236}">
                    <a16:creationId xmlns:a16="http://schemas.microsoft.com/office/drawing/2014/main" id="{CACB6D05-CDFB-92F7-8929-AD8292E7BC48}"/>
                  </a:ext>
                </a:extLst>
              </p:cNvPr>
              <p:cNvSpPr txBox="1"/>
              <p:nvPr/>
            </p:nvSpPr>
            <p:spPr>
              <a:xfrm>
                <a:off x="5231904" y="5229200"/>
                <a:ext cx="6428363" cy="57676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s-PE" b="0" i="1" smtClean="0">
                              <a:latin typeface="Cambria Math" panose="02040503050406030204" pitchFamily="18" charset="0"/>
                            </a:rPr>
                          </m:ctrlPr>
                        </m:sSubSupPr>
                        <m:e>
                          <m:r>
                            <a:rPr lang="es-PE" b="0" i="1" smtClean="0">
                              <a:latin typeface="Cambria Math" panose="02040503050406030204" pitchFamily="18" charset="0"/>
                            </a:rPr>
                            <m:t>𝐾</m:t>
                          </m:r>
                        </m:e>
                        <m:sub>
                          <m:r>
                            <a:rPr lang="es-PE" b="0" i="1" smtClean="0">
                              <a:latin typeface="Cambria Math" panose="02040503050406030204" pitchFamily="18" charset="0"/>
                            </a:rPr>
                            <m:t>𝐴𝐵</m:t>
                          </m:r>
                        </m:sub>
                        <m:sup>
                          <m:r>
                            <a:rPr lang="es-PE" b="0" i="1" smtClean="0">
                              <a:latin typeface="Cambria Math" panose="02040503050406030204" pitchFamily="18" charset="0"/>
                            </a:rPr>
                            <m:t>0</m:t>
                          </m:r>
                        </m:sup>
                      </m:sSubSup>
                      <m:r>
                        <a:rPr lang="es-PE" b="0" i="1" smtClean="0">
                          <a:latin typeface="Cambria Math" panose="02040503050406030204" pitchFamily="18" charset="0"/>
                        </a:rPr>
                        <m:t> = </m:t>
                      </m:r>
                      <m:f>
                        <m:fPr>
                          <m:ctrlPr>
                            <a:rPr lang="es-PE" b="0" i="1" smtClean="0">
                              <a:latin typeface="Cambria Math" panose="02040503050406030204" pitchFamily="18" charset="0"/>
                            </a:rPr>
                          </m:ctrlPr>
                        </m:fPr>
                        <m:num>
                          <m:r>
                            <a:rPr lang="es-PE" b="0" i="1" smtClean="0">
                              <a:latin typeface="Cambria Math" panose="02040503050406030204" pitchFamily="18" charset="0"/>
                            </a:rPr>
                            <m:t>12 </m:t>
                          </m:r>
                          <m:r>
                            <a:rPr lang="es-PE" b="0" i="1" smtClean="0">
                              <a:latin typeface="Cambria Math" panose="02040503050406030204" pitchFamily="18" charset="0"/>
                            </a:rPr>
                            <m:t>𝐸</m:t>
                          </m:r>
                          <m:r>
                            <a:rPr lang="es-PE" b="0" i="1" smtClean="0">
                              <a:latin typeface="Cambria Math" panose="02040503050406030204" pitchFamily="18" charset="0"/>
                            </a:rPr>
                            <m:t> </m:t>
                          </m:r>
                          <m:r>
                            <a:rPr lang="es-PE" b="0" i="1" smtClean="0">
                              <a:latin typeface="Cambria Math" panose="02040503050406030204" pitchFamily="18" charset="0"/>
                            </a:rPr>
                            <m:t>𝐼</m:t>
                          </m:r>
                        </m:num>
                        <m:den>
                          <m:sSup>
                            <m:sSupPr>
                              <m:ctrlPr>
                                <a:rPr lang="es-PE" b="0" i="1" smtClean="0">
                                  <a:latin typeface="Cambria Math" panose="02040503050406030204" pitchFamily="18" charset="0"/>
                                </a:rPr>
                              </m:ctrlPr>
                            </m:sSupPr>
                            <m:e>
                              <m:r>
                                <a:rPr lang="es-PE" b="0" i="1" smtClean="0">
                                  <a:latin typeface="Cambria Math" panose="02040503050406030204" pitchFamily="18" charset="0"/>
                                </a:rPr>
                                <m:t>h</m:t>
                              </m:r>
                            </m:e>
                            <m:sup>
                              <m:r>
                                <a:rPr lang="es-PE" b="0" i="1" smtClean="0">
                                  <a:latin typeface="Cambria Math" panose="02040503050406030204" pitchFamily="18" charset="0"/>
                                </a:rPr>
                                <m:t>3</m:t>
                              </m:r>
                            </m:sup>
                          </m:sSup>
                        </m:den>
                      </m:f>
                      <m:r>
                        <a:rPr lang="es-PE" b="0" i="1" smtClean="0">
                          <a:latin typeface="Cambria Math" panose="02040503050406030204" pitchFamily="18" charset="0"/>
                        </a:rPr>
                        <m:t>=</m:t>
                      </m:r>
                      <m:f>
                        <m:fPr>
                          <m:ctrlPr>
                            <a:rPr lang="es-PE" i="1">
                              <a:latin typeface="Cambria Math" panose="02040503050406030204" pitchFamily="18" charset="0"/>
                            </a:rPr>
                          </m:ctrlPr>
                        </m:fPr>
                        <m:num>
                          <m:r>
                            <a:rPr lang="es-PE" i="1">
                              <a:latin typeface="Cambria Math" panose="02040503050406030204" pitchFamily="18" charset="0"/>
                            </a:rPr>
                            <m:t>(12)(218 819.79)(67500)</m:t>
                          </m:r>
                        </m:num>
                        <m:den>
                          <m:sSup>
                            <m:sSupPr>
                              <m:ctrlPr>
                                <a:rPr lang="es-PE" b="0" i="1" smtClean="0">
                                  <a:latin typeface="Cambria Math" panose="02040503050406030204" pitchFamily="18" charset="0"/>
                                </a:rPr>
                              </m:ctrlPr>
                            </m:sSupPr>
                            <m:e>
                              <m:r>
                                <a:rPr lang="es-PE" b="0" i="1" smtClean="0">
                                  <a:latin typeface="Cambria Math" panose="02040503050406030204" pitchFamily="18" charset="0"/>
                                </a:rPr>
                                <m:t>(280)</m:t>
                              </m:r>
                            </m:e>
                            <m:sup>
                              <m:r>
                                <a:rPr lang="es-PE" b="0" i="1" smtClean="0">
                                  <a:latin typeface="Cambria Math" panose="02040503050406030204" pitchFamily="18" charset="0"/>
                                </a:rPr>
                                <m:t>3</m:t>
                              </m:r>
                            </m:sup>
                          </m:sSup>
                        </m:den>
                      </m:f>
                      <m:r>
                        <a:rPr lang="es-PE" b="0" i="1" smtClean="0">
                          <a:latin typeface="Cambria Math" panose="02040503050406030204" pitchFamily="18" charset="0"/>
                        </a:rPr>
                        <m:t>=8074.16 </m:t>
                      </m:r>
                      <m:f>
                        <m:fPr>
                          <m:type m:val="skw"/>
                          <m:ctrlPr>
                            <a:rPr lang="es-PE" b="0" i="1" smtClean="0">
                              <a:latin typeface="Cambria Math" panose="02040503050406030204" pitchFamily="18" charset="0"/>
                            </a:rPr>
                          </m:ctrlPr>
                        </m:fPr>
                        <m:num>
                          <m:r>
                            <a:rPr lang="es-PE" b="0" i="1" smtClean="0">
                              <a:latin typeface="Cambria Math" panose="02040503050406030204" pitchFamily="18" charset="0"/>
                            </a:rPr>
                            <m:t>𝐾𝑔𝑓</m:t>
                          </m:r>
                        </m:num>
                        <m:den>
                          <m:r>
                            <a:rPr lang="es-PE" b="0" i="1" smtClean="0">
                              <a:latin typeface="Cambria Math" panose="02040503050406030204" pitchFamily="18" charset="0"/>
                            </a:rPr>
                            <m:t>𝑐𝑚</m:t>
                          </m:r>
                        </m:den>
                      </m:f>
                      <m:r>
                        <a:rPr lang="es-PE" b="0" i="1" smtClean="0">
                          <a:latin typeface="Cambria Math" panose="02040503050406030204" pitchFamily="18" charset="0"/>
                        </a:rPr>
                        <m:t> </m:t>
                      </m:r>
                    </m:oMath>
                  </m:oMathPara>
                </a14:m>
                <a:endParaRPr lang="es-PE" dirty="0"/>
              </a:p>
            </p:txBody>
          </p:sp>
        </mc:Choice>
        <mc:Fallback xmlns="">
          <p:sp>
            <p:nvSpPr>
              <p:cNvPr id="76" name="CuadroTexto 75">
                <a:extLst>
                  <a:ext uri="{FF2B5EF4-FFF2-40B4-BE49-F238E27FC236}">
                    <a16:creationId xmlns:a16="http://schemas.microsoft.com/office/drawing/2014/main" id="{CACB6D05-CDFB-92F7-8929-AD8292E7BC48}"/>
                  </a:ext>
                </a:extLst>
              </p:cNvPr>
              <p:cNvSpPr txBox="1">
                <a:spLocks noRot="1" noChangeAspect="1" noMove="1" noResize="1" noEditPoints="1" noAdjustHandles="1" noChangeArrowheads="1" noChangeShapeType="1" noTextEdit="1"/>
              </p:cNvSpPr>
              <p:nvPr/>
            </p:nvSpPr>
            <p:spPr>
              <a:xfrm>
                <a:off x="5231904" y="5229200"/>
                <a:ext cx="6428363" cy="576761"/>
              </a:xfrm>
              <a:prstGeom prst="rect">
                <a:avLst/>
              </a:prstGeom>
              <a:blipFill>
                <a:blip r:embed="rId8"/>
                <a:stretch>
                  <a:fillRect/>
                </a:stretch>
              </a:blipFill>
            </p:spPr>
            <p:txBody>
              <a:bodyPr/>
              <a:lstStyle/>
              <a:p>
                <a:r>
                  <a:rPr lang="es-PE">
                    <a:noFill/>
                  </a:rPr>
                  <a:t> </a:t>
                </a:r>
              </a:p>
            </p:txBody>
          </p:sp>
        </mc:Fallback>
      </mc:AlternateContent>
      <p:pic>
        <p:nvPicPr>
          <p:cNvPr id="4" name="Imagen 3">
            <a:extLst>
              <a:ext uri="{FF2B5EF4-FFF2-40B4-BE49-F238E27FC236}">
                <a16:creationId xmlns:a16="http://schemas.microsoft.com/office/drawing/2014/main" id="{D2C90CCC-5210-6D88-9DB3-B27D7E1F0CDD}"/>
              </a:ext>
            </a:extLst>
          </p:cNvPr>
          <p:cNvPicPr>
            <a:picLocks noChangeAspect="1"/>
          </p:cNvPicPr>
          <p:nvPr/>
        </p:nvPicPr>
        <p:blipFill>
          <a:blip r:embed="rId9"/>
          <a:stretch>
            <a:fillRect/>
          </a:stretch>
        </p:blipFill>
        <p:spPr>
          <a:xfrm>
            <a:off x="5391834" y="2109003"/>
            <a:ext cx="1055013" cy="2564709"/>
          </a:xfrm>
          <a:prstGeom prst="rect">
            <a:avLst/>
          </a:prstGeom>
        </p:spPr>
      </p:pic>
      <mc:AlternateContent xmlns:mc="http://schemas.openxmlformats.org/markup-compatibility/2006" xmlns:a14="http://schemas.microsoft.com/office/drawing/2010/main">
        <mc:Choice Requires="a14">
          <p:sp>
            <p:nvSpPr>
              <p:cNvPr id="9" name="CuadroTexto 8">
                <a:extLst>
                  <a:ext uri="{FF2B5EF4-FFF2-40B4-BE49-F238E27FC236}">
                    <a16:creationId xmlns:a16="http://schemas.microsoft.com/office/drawing/2014/main" id="{B83690EF-AB3C-DBD5-E19E-226067BB35DF}"/>
                  </a:ext>
                </a:extLst>
              </p:cNvPr>
              <p:cNvSpPr txBox="1"/>
              <p:nvPr/>
            </p:nvSpPr>
            <p:spPr>
              <a:xfrm>
                <a:off x="6840722" y="3506497"/>
                <a:ext cx="4155946" cy="60779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PE" b="0" i="1" smtClean="0">
                          <a:latin typeface="Cambria Math" panose="02040503050406030204" pitchFamily="18" charset="0"/>
                        </a:rPr>
                        <m:t>𝑎</m:t>
                      </m:r>
                      <m:r>
                        <a:rPr lang="es-PE" b="0" i="1" smtClean="0">
                          <a:latin typeface="Cambria Math" panose="02040503050406030204" pitchFamily="18" charset="0"/>
                        </a:rPr>
                        <m:t>= </m:t>
                      </m:r>
                      <m:f>
                        <m:fPr>
                          <m:ctrlPr>
                            <a:rPr lang="es-PE" b="0" i="1" smtClean="0">
                              <a:latin typeface="Cambria Math" panose="02040503050406030204" pitchFamily="18" charset="0"/>
                            </a:rPr>
                          </m:ctrlPr>
                        </m:fPr>
                        <m:num>
                          <m:r>
                            <a:rPr lang="es-PE" b="0" i="1" smtClean="0">
                              <a:latin typeface="Cambria Math" panose="02040503050406030204" pitchFamily="18" charset="0"/>
                            </a:rPr>
                            <m:t>0.5+</m:t>
                          </m:r>
                          <m:sSub>
                            <m:sSubPr>
                              <m:ctrlPr>
                                <a:rPr lang="es-PE" i="1">
                                  <a:latin typeface="Cambria Math" panose="02040503050406030204" pitchFamily="18" charset="0"/>
                                </a:rPr>
                              </m:ctrlPr>
                            </m:sSubPr>
                            <m:e>
                              <m:acc>
                                <m:accPr>
                                  <m:chr m:val="̅"/>
                                  <m:ctrlPr>
                                    <a:rPr lang="es-PE" i="1">
                                      <a:latin typeface="Cambria Math" panose="02040503050406030204" pitchFamily="18" charset="0"/>
                                    </a:rPr>
                                  </m:ctrlPr>
                                </m:accPr>
                                <m:e>
                                  <m:r>
                                    <a:rPr lang="es-PE" i="1">
                                      <a:latin typeface="Cambria Math" panose="02040503050406030204" pitchFamily="18" charset="0"/>
                                    </a:rPr>
                                    <m:t>𝐾</m:t>
                                  </m:r>
                                </m:e>
                              </m:acc>
                            </m:e>
                            <m:sub>
                              <m:r>
                                <a:rPr lang="es-PE" i="1">
                                  <a:latin typeface="Cambria Math" panose="02040503050406030204" pitchFamily="18" charset="0"/>
                                </a:rPr>
                                <m:t>𝐴𝐵</m:t>
                              </m:r>
                            </m:sub>
                          </m:sSub>
                        </m:num>
                        <m:den>
                          <m:r>
                            <a:rPr lang="es-PE" b="0" i="1" smtClean="0">
                              <a:latin typeface="Cambria Math" panose="02040503050406030204" pitchFamily="18" charset="0"/>
                            </a:rPr>
                            <m:t>2+</m:t>
                          </m:r>
                          <m:sSub>
                            <m:sSubPr>
                              <m:ctrlPr>
                                <a:rPr lang="es-PE" i="1">
                                  <a:latin typeface="Cambria Math" panose="02040503050406030204" pitchFamily="18" charset="0"/>
                                </a:rPr>
                              </m:ctrlPr>
                            </m:sSubPr>
                            <m:e>
                              <m:acc>
                                <m:accPr>
                                  <m:chr m:val="̅"/>
                                  <m:ctrlPr>
                                    <a:rPr lang="es-PE" i="1">
                                      <a:latin typeface="Cambria Math" panose="02040503050406030204" pitchFamily="18" charset="0"/>
                                    </a:rPr>
                                  </m:ctrlPr>
                                </m:accPr>
                                <m:e>
                                  <m:r>
                                    <a:rPr lang="es-PE" i="1">
                                      <a:latin typeface="Cambria Math" panose="02040503050406030204" pitchFamily="18" charset="0"/>
                                    </a:rPr>
                                    <m:t>𝐾</m:t>
                                  </m:r>
                                </m:e>
                              </m:acc>
                            </m:e>
                            <m:sub>
                              <m:r>
                                <a:rPr lang="es-PE" i="1">
                                  <a:latin typeface="Cambria Math" panose="02040503050406030204" pitchFamily="18" charset="0"/>
                                </a:rPr>
                                <m:t>𝐴𝐵</m:t>
                              </m:r>
                            </m:sub>
                          </m:sSub>
                        </m:den>
                      </m:f>
                      <m:r>
                        <a:rPr lang="es-PE" b="0" i="1" smtClean="0">
                          <a:latin typeface="Cambria Math" panose="02040503050406030204" pitchFamily="18" charset="0"/>
                        </a:rPr>
                        <m:t>=</m:t>
                      </m:r>
                      <m:f>
                        <m:fPr>
                          <m:ctrlPr>
                            <a:rPr lang="es-PE" i="1">
                              <a:latin typeface="Cambria Math" panose="02040503050406030204" pitchFamily="18" charset="0"/>
                            </a:rPr>
                          </m:ctrlPr>
                        </m:fPr>
                        <m:num>
                          <m:r>
                            <a:rPr lang="es-PE" b="0" i="1" smtClean="0">
                              <a:latin typeface="Cambria Math" panose="02040503050406030204" pitchFamily="18" charset="0"/>
                            </a:rPr>
                            <m:t>0.5+3.4113</m:t>
                          </m:r>
                        </m:num>
                        <m:den>
                          <m:r>
                            <a:rPr lang="es-PE" b="0" i="1" smtClean="0">
                              <a:latin typeface="Cambria Math" panose="02040503050406030204" pitchFamily="18" charset="0"/>
                            </a:rPr>
                            <m:t>2+3.4113</m:t>
                          </m:r>
                        </m:den>
                      </m:f>
                      <m:r>
                        <a:rPr lang="es-PE" b="0" i="1" smtClean="0">
                          <a:latin typeface="Cambria Math" panose="02040503050406030204" pitchFamily="18" charset="0"/>
                        </a:rPr>
                        <m:t>=0.7228  </m:t>
                      </m:r>
                    </m:oMath>
                  </m:oMathPara>
                </a14:m>
                <a:endParaRPr lang="es-PE" dirty="0"/>
              </a:p>
            </p:txBody>
          </p:sp>
        </mc:Choice>
        <mc:Fallback xmlns="">
          <p:sp>
            <p:nvSpPr>
              <p:cNvPr id="9" name="CuadroTexto 8">
                <a:extLst>
                  <a:ext uri="{FF2B5EF4-FFF2-40B4-BE49-F238E27FC236}">
                    <a16:creationId xmlns:a16="http://schemas.microsoft.com/office/drawing/2014/main" id="{B83690EF-AB3C-DBD5-E19E-226067BB35DF}"/>
                  </a:ext>
                </a:extLst>
              </p:cNvPr>
              <p:cNvSpPr txBox="1">
                <a:spLocks noRot="1" noChangeAspect="1" noMove="1" noResize="1" noEditPoints="1" noAdjustHandles="1" noChangeArrowheads="1" noChangeShapeType="1" noTextEdit="1"/>
              </p:cNvSpPr>
              <p:nvPr/>
            </p:nvSpPr>
            <p:spPr>
              <a:xfrm>
                <a:off x="6840722" y="3506497"/>
                <a:ext cx="4155946" cy="607795"/>
              </a:xfrm>
              <a:prstGeom prst="rect">
                <a:avLst/>
              </a:prstGeom>
              <a:blipFill>
                <a:blip r:embed="rId10"/>
                <a:stretch>
                  <a:fillRect/>
                </a:stretch>
              </a:blipFill>
            </p:spPr>
            <p:txBody>
              <a:bodyPr/>
              <a:lstStyle/>
              <a:p>
                <a:r>
                  <a:rPr lang="es-PE">
                    <a:noFill/>
                  </a:rPr>
                  <a:t> </a:t>
                </a:r>
              </a:p>
            </p:txBody>
          </p:sp>
        </mc:Fallback>
      </mc:AlternateContent>
      <mc:AlternateContent xmlns:mc="http://schemas.openxmlformats.org/markup-compatibility/2006" xmlns:a14="http://schemas.microsoft.com/office/drawing/2010/main">
        <mc:Choice Requires="a14">
          <p:sp>
            <p:nvSpPr>
              <p:cNvPr id="10" name="CuadroTexto 9">
                <a:extLst>
                  <a:ext uri="{FF2B5EF4-FFF2-40B4-BE49-F238E27FC236}">
                    <a16:creationId xmlns:a16="http://schemas.microsoft.com/office/drawing/2014/main" id="{21E2F073-3213-455A-E65C-DF4F63AB7B05}"/>
                  </a:ext>
                </a:extLst>
              </p:cNvPr>
              <p:cNvSpPr txBox="1"/>
              <p:nvPr/>
            </p:nvSpPr>
            <p:spPr>
              <a:xfrm>
                <a:off x="5186295" y="5839727"/>
                <a:ext cx="5652317" cy="37260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s-PE" b="0" i="1" smtClean="0">
                              <a:latin typeface="Cambria Math" panose="02040503050406030204" pitchFamily="18" charset="0"/>
                            </a:rPr>
                          </m:ctrlPr>
                        </m:sSubSupPr>
                        <m:e>
                          <m:r>
                            <a:rPr lang="es-PE" b="0" i="1" smtClean="0">
                              <a:latin typeface="Cambria Math" panose="02040503050406030204" pitchFamily="18" charset="0"/>
                            </a:rPr>
                            <m:t>𝐾</m:t>
                          </m:r>
                        </m:e>
                        <m:sub>
                          <m:r>
                            <a:rPr lang="es-PE" b="0" i="1" smtClean="0">
                              <a:latin typeface="Cambria Math" panose="02040503050406030204" pitchFamily="18" charset="0"/>
                            </a:rPr>
                            <m:t>𝐴𝐵</m:t>
                          </m:r>
                        </m:sub>
                        <m:sup>
                          <m:r>
                            <a:rPr lang="es-PE" b="0" i="1" smtClean="0">
                              <a:latin typeface="Cambria Math" panose="02040503050406030204" pitchFamily="18" charset="0"/>
                            </a:rPr>
                            <m:t>𝑃𝐸</m:t>
                          </m:r>
                        </m:sup>
                      </m:sSubSup>
                      <m:r>
                        <a:rPr lang="es-PE" b="0" i="1" smtClean="0">
                          <a:latin typeface="Cambria Math" panose="02040503050406030204" pitchFamily="18" charset="0"/>
                        </a:rPr>
                        <m:t> =</m:t>
                      </m:r>
                      <m:r>
                        <a:rPr lang="es-PE" b="0" i="1" smtClean="0">
                          <a:latin typeface="Cambria Math" panose="02040503050406030204" pitchFamily="18" charset="0"/>
                        </a:rPr>
                        <m:t>𝑎</m:t>
                      </m:r>
                      <m:r>
                        <a:rPr lang="es-PE" b="0" i="1" smtClean="0">
                          <a:latin typeface="Cambria Math" panose="02040503050406030204" pitchFamily="18" charset="0"/>
                        </a:rPr>
                        <m:t> </m:t>
                      </m:r>
                      <m:sSubSup>
                        <m:sSubSupPr>
                          <m:ctrlPr>
                            <a:rPr lang="es-PE" b="0" i="1" smtClean="0">
                              <a:latin typeface="Cambria Math" panose="02040503050406030204" pitchFamily="18" charset="0"/>
                            </a:rPr>
                          </m:ctrlPr>
                        </m:sSubSupPr>
                        <m:e>
                          <m:r>
                            <a:rPr lang="es-PE" b="0" i="1" smtClean="0">
                              <a:latin typeface="Cambria Math" panose="02040503050406030204" pitchFamily="18" charset="0"/>
                            </a:rPr>
                            <m:t>𝐾</m:t>
                          </m:r>
                        </m:e>
                        <m:sub>
                          <m:r>
                            <a:rPr lang="es-PE" b="0" i="1" smtClean="0">
                              <a:latin typeface="Cambria Math" panose="02040503050406030204" pitchFamily="18" charset="0"/>
                            </a:rPr>
                            <m:t>𝐴𝐵</m:t>
                          </m:r>
                        </m:sub>
                        <m:sup>
                          <m:r>
                            <a:rPr lang="es-PE" b="0" i="1" smtClean="0">
                              <a:latin typeface="Cambria Math" panose="02040503050406030204" pitchFamily="18" charset="0"/>
                            </a:rPr>
                            <m:t>0</m:t>
                          </m:r>
                        </m:sup>
                      </m:sSubSup>
                      <m:r>
                        <a:rPr lang="es-PE" b="0" i="1" smtClean="0">
                          <a:latin typeface="Cambria Math" panose="02040503050406030204" pitchFamily="18" charset="0"/>
                        </a:rPr>
                        <m:t>=</m:t>
                      </m:r>
                      <m:r>
                        <a:rPr lang="es-PE" i="1" smtClean="0">
                          <a:latin typeface="Cambria Math" panose="02040503050406030204" pitchFamily="18" charset="0"/>
                        </a:rPr>
                        <m:t>(</m:t>
                      </m:r>
                      <m:r>
                        <a:rPr lang="es-PE" b="0" i="1" smtClean="0">
                          <a:latin typeface="Cambria Math" panose="02040503050406030204" pitchFamily="18" charset="0"/>
                        </a:rPr>
                        <m:t>0.7228)(8074.16)=5836.03 </m:t>
                      </m:r>
                      <m:f>
                        <m:fPr>
                          <m:type m:val="skw"/>
                          <m:ctrlPr>
                            <a:rPr lang="es-PE" b="0" i="1" smtClean="0">
                              <a:latin typeface="Cambria Math" panose="02040503050406030204" pitchFamily="18" charset="0"/>
                            </a:rPr>
                          </m:ctrlPr>
                        </m:fPr>
                        <m:num>
                          <m:r>
                            <a:rPr lang="es-PE" b="0" i="1" smtClean="0">
                              <a:latin typeface="Cambria Math" panose="02040503050406030204" pitchFamily="18" charset="0"/>
                            </a:rPr>
                            <m:t>𝐾𝑔𝑓</m:t>
                          </m:r>
                        </m:num>
                        <m:den>
                          <m:r>
                            <a:rPr lang="es-PE" b="0" i="1" smtClean="0">
                              <a:latin typeface="Cambria Math" panose="02040503050406030204" pitchFamily="18" charset="0"/>
                            </a:rPr>
                            <m:t>𝑐𝑚</m:t>
                          </m:r>
                        </m:den>
                      </m:f>
                      <m:r>
                        <a:rPr lang="es-PE" b="0" i="1" smtClean="0">
                          <a:latin typeface="Cambria Math" panose="02040503050406030204" pitchFamily="18" charset="0"/>
                        </a:rPr>
                        <m:t> </m:t>
                      </m:r>
                    </m:oMath>
                  </m:oMathPara>
                </a14:m>
                <a:endParaRPr lang="es-PE" dirty="0"/>
              </a:p>
            </p:txBody>
          </p:sp>
        </mc:Choice>
        <mc:Fallback xmlns="">
          <p:sp>
            <p:nvSpPr>
              <p:cNvPr id="10" name="CuadroTexto 9">
                <a:extLst>
                  <a:ext uri="{FF2B5EF4-FFF2-40B4-BE49-F238E27FC236}">
                    <a16:creationId xmlns:a16="http://schemas.microsoft.com/office/drawing/2014/main" id="{21E2F073-3213-455A-E65C-DF4F63AB7B05}"/>
                  </a:ext>
                </a:extLst>
              </p:cNvPr>
              <p:cNvSpPr txBox="1">
                <a:spLocks noRot="1" noChangeAspect="1" noMove="1" noResize="1" noEditPoints="1" noAdjustHandles="1" noChangeArrowheads="1" noChangeShapeType="1" noTextEdit="1"/>
              </p:cNvSpPr>
              <p:nvPr/>
            </p:nvSpPr>
            <p:spPr>
              <a:xfrm>
                <a:off x="5186295" y="5839727"/>
                <a:ext cx="5652317" cy="372603"/>
              </a:xfrm>
              <a:prstGeom prst="rect">
                <a:avLst/>
              </a:prstGeom>
              <a:blipFill>
                <a:blip r:embed="rId11"/>
                <a:stretch>
                  <a:fillRect/>
                </a:stretch>
              </a:blipFill>
            </p:spPr>
            <p:txBody>
              <a:bodyPr/>
              <a:lstStyle/>
              <a:p>
                <a:r>
                  <a:rPr lang="es-PE">
                    <a:noFill/>
                  </a:rPr>
                  <a:t> </a:t>
                </a:r>
              </a:p>
            </p:txBody>
          </p:sp>
        </mc:Fallback>
      </mc:AlternateContent>
    </p:spTree>
    <p:extLst>
      <p:ext uri="{BB962C8B-B14F-4D97-AF65-F5344CB8AC3E}">
        <p14:creationId xmlns:p14="http://schemas.microsoft.com/office/powerpoint/2010/main" val="21250859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8BD4B30-9B7A-4FF3-9506-6E2F889CBD85}"/>
              </a:ext>
            </a:extLst>
          </p:cNvPr>
          <p:cNvSpPr>
            <a:spLocks noGrp="1"/>
          </p:cNvSpPr>
          <p:nvPr>
            <p:ph type="title"/>
          </p:nvPr>
        </p:nvSpPr>
        <p:spPr/>
        <p:txBody>
          <a:bodyPr>
            <a:noAutofit/>
          </a:bodyPr>
          <a:lstStyle/>
          <a:p>
            <a:r>
              <a:rPr lang="es-PE" sz="3300" dirty="0"/>
              <a:t>2° Determinando la rigidez de las columnas, esta pertenece al Caso (a), de las relaciones planteadas por el Método de Muto </a:t>
            </a:r>
          </a:p>
        </p:txBody>
      </p:sp>
      <p:sp>
        <p:nvSpPr>
          <p:cNvPr id="33" name="CuadroTexto 32">
            <a:extLst>
              <a:ext uri="{FF2B5EF4-FFF2-40B4-BE49-F238E27FC236}">
                <a16:creationId xmlns:a16="http://schemas.microsoft.com/office/drawing/2014/main" id="{05EBFB56-23F0-1ACC-CF95-1AB2A5108CE1}"/>
              </a:ext>
            </a:extLst>
          </p:cNvPr>
          <p:cNvSpPr txBox="1"/>
          <p:nvPr/>
        </p:nvSpPr>
        <p:spPr>
          <a:xfrm>
            <a:off x="6168008" y="1844824"/>
            <a:ext cx="4496231" cy="400110"/>
          </a:xfrm>
          <a:prstGeom prst="rect">
            <a:avLst/>
          </a:prstGeom>
          <a:noFill/>
        </p:spPr>
        <p:txBody>
          <a:bodyPr wrap="none" rtlCol="0">
            <a:spAutoFit/>
          </a:bodyPr>
          <a:lstStyle/>
          <a:p>
            <a:r>
              <a:rPr lang="es-PE" sz="2000" dirty="0"/>
              <a:t>Calculando la inercia de las vigas BD y DF:</a:t>
            </a:r>
          </a:p>
        </p:txBody>
      </p:sp>
      <mc:AlternateContent xmlns:mc="http://schemas.openxmlformats.org/markup-compatibility/2006" xmlns:a14="http://schemas.microsoft.com/office/drawing/2010/main">
        <mc:Choice Requires="a14">
          <p:sp>
            <p:nvSpPr>
              <p:cNvPr id="70" name="CuadroTexto 69">
                <a:extLst>
                  <a:ext uri="{FF2B5EF4-FFF2-40B4-BE49-F238E27FC236}">
                    <a16:creationId xmlns:a16="http://schemas.microsoft.com/office/drawing/2014/main" id="{2DFAB904-356C-5FC5-014C-527F0D32B393}"/>
                  </a:ext>
                </a:extLst>
              </p:cNvPr>
              <p:cNvSpPr txBox="1"/>
              <p:nvPr/>
            </p:nvSpPr>
            <p:spPr>
              <a:xfrm>
                <a:off x="6233299" y="2244934"/>
                <a:ext cx="4615110" cy="55399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PE" i="1" smtClean="0">
                              <a:latin typeface="Cambria Math" panose="02040503050406030204" pitchFamily="18" charset="0"/>
                            </a:rPr>
                          </m:ctrlPr>
                        </m:sSubPr>
                        <m:e>
                          <m:r>
                            <a:rPr lang="es-PE" b="0" i="1" smtClean="0">
                              <a:latin typeface="Cambria Math" panose="02040503050406030204" pitchFamily="18" charset="0"/>
                            </a:rPr>
                            <m:t>𝐼</m:t>
                          </m:r>
                        </m:e>
                        <m:sub>
                          <m:r>
                            <a:rPr lang="es-PE" b="0" i="1" smtClean="0">
                              <a:latin typeface="Cambria Math" panose="02040503050406030204" pitchFamily="18" charset="0"/>
                            </a:rPr>
                            <m:t>𝐵𝐷</m:t>
                          </m:r>
                        </m:sub>
                      </m:sSub>
                      <m:r>
                        <a:rPr lang="es-PE" b="0" i="1" smtClean="0">
                          <a:latin typeface="Cambria Math" panose="02040503050406030204" pitchFamily="18" charset="0"/>
                        </a:rPr>
                        <m:t>=</m:t>
                      </m:r>
                      <m:sSub>
                        <m:sSubPr>
                          <m:ctrlPr>
                            <a:rPr lang="es-PE" b="0" i="1" smtClean="0">
                              <a:latin typeface="Cambria Math" panose="02040503050406030204" pitchFamily="18" charset="0"/>
                            </a:rPr>
                          </m:ctrlPr>
                        </m:sSubPr>
                        <m:e>
                          <m:r>
                            <a:rPr lang="es-PE" b="0" i="1" smtClean="0">
                              <a:latin typeface="Cambria Math" panose="02040503050406030204" pitchFamily="18" charset="0"/>
                            </a:rPr>
                            <m:t>𝐼</m:t>
                          </m:r>
                        </m:e>
                        <m:sub>
                          <m:r>
                            <a:rPr lang="es-PE" b="0" i="1" smtClean="0">
                              <a:latin typeface="Cambria Math" panose="02040503050406030204" pitchFamily="18" charset="0"/>
                            </a:rPr>
                            <m:t>𝐷𝐹</m:t>
                          </m:r>
                        </m:sub>
                      </m:sSub>
                      <m:r>
                        <a:rPr lang="es-PE" b="0" i="1" smtClean="0">
                          <a:latin typeface="Cambria Math" panose="02040503050406030204" pitchFamily="18" charset="0"/>
                        </a:rPr>
                        <m:t>= </m:t>
                      </m:r>
                      <m:f>
                        <m:fPr>
                          <m:ctrlPr>
                            <a:rPr lang="es-PE" b="0" i="1" smtClean="0">
                              <a:latin typeface="Cambria Math" panose="02040503050406030204" pitchFamily="18" charset="0"/>
                            </a:rPr>
                          </m:ctrlPr>
                        </m:fPr>
                        <m:num>
                          <m:r>
                            <a:rPr lang="es-PE" b="0" i="1" smtClean="0">
                              <a:latin typeface="Cambria Math" panose="02040503050406030204" pitchFamily="18" charset="0"/>
                            </a:rPr>
                            <m:t>𝑏</m:t>
                          </m:r>
                          <m:sSup>
                            <m:sSupPr>
                              <m:ctrlPr>
                                <a:rPr lang="es-PE" b="0" i="1" smtClean="0">
                                  <a:latin typeface="Cambria Math" panose="02040503050406030204" pitchFamily="18" charset="0"/>
                                </a:rPr>
                              </m:ctrlPr>
                            </m:sSupPr>
                            <m:e>
                              <m:r>
                                <a:rPr lang="es-PE" b="0" i="1" smtClean="0">
                                  <a:latin typeface="Cambria Math" panose="02040503050406030204" pitchFamily="18" charset="0"/>
                                </a:rPr>
                                <m:t>h</m:t>
                              </m:r>
                            </m:e>
                            <m:sup>
                              <m:r>
                                <a:rPr lang="es-PE" b="0" i="1" smtClean="0">
                                  <a:latin typeface="Cambria Math" panose="02040503050406030204" pitchFamily="18" charset="0"/>
                                </a:rPr>
                                <m:t>3</m:t>
                              </m:r>
                            </m:sup>
                          </m:sSup>
                        </m:num>
                        <m:den>
                          <m:r>
                            <a:rPr lang="es-PE" b="0" i="1" smtClean="0">
                              <a:latin typeface="Cambria Math" panose="02040503050406030204" pitchFamily="18" charset="0"/>
                            </a:rPr>
                            <m:t>12</m:t>
                          </m:r>
                        </m:den>
                      </m:f>
                      <m:r>
                        <a:rPr lang="es-PE" b="0" i="1" smtClean="0">
                          <a:latin typeface="Cambria Math" panose="02040503050406030204" pitchFamily="18" charset="0"/>
                        </a:rPr>
                        <m:t>=</m:t>
                      </m:r>
                      <m:f>
                        <m:fPr>
                          <m:ctrlPr>
                            <a:rPr lang="es-PE" i="1">
                              <a:latin typeface="Cambria Math" panose="02040503050406030204" pitchFamily="18" charset="0"/>
                            </a:rPr>
                          </m:ctrlPr>
                        </m:fPr>
                        <m:num>
                          <m:r>
                            <a:rPr lang="es-PE" b="0" i="1" smtClean="0">
                              <a:latin typeface="Cambria Math" panose="02040503050406030204" pitchFamily="18" charset="0"/>
                            </a:rPr>
                            <m:t>(30)</m:t>
                          </m:r>
                          <m:sSup>
                            <m:sSupPr>
                              <m:ctrlPr>
                                <a:rPr lang="es-PE" i="1">
                                  <a:latin typeface="Cambria Math" panose="02040503050406030204" pitchFamily="18" charset="0"/>
                                </a:rPr>
                              </m:ctrlPr>
                            </m:sSupPr>
                            <m:e>
                              <m:r>
                                <a:rPr lang="es-PE" b="0" i="1" smtClean="0">
                                  <a:latin typeface="Cambria Math" panose="02040503050406030204" pitchFamily="18" charset="0"/>
                                </a:rPr>
                                <m:t>(50)</m:t>
                              </m:r>
                            </m:e>
                            <m:sup>
                              <m:r>
                                <a:rPr lang="es-PE" i="1">
                                  <a:latin typeface="Cambria Math" panose="02040503050406030204" pitchFamily="18" charset="0"/>
                                </a:rPr>
                                <m:t>3</m:t>
                              </m:r>
                            </m:sup>
                          </m:sSup>
                        </m:num>
                        <m:den>
                          <m:r>
                            <a:rPr lang="es-PE" i="1">
                              <a:latin typeface="Cambria Math" panose="02040503050406030204" pitchFamily="18" charset="0"/>
                            </a:rPr>
                            <m:t>12</m:t>
                          </m:r>
                        </m:den>
                      </m:f>
                      <m:r>
                        <a:rPr lang="es-PE" b="0" i="1" smtClean="0">
                          <a:latin typeface="Cambria Math" panose="02040503050406030204" pitchFamily="18" charset="0"/>
                        </a:rPr>
                        <m:t>=312500 </m:t>
                      </m:r>
                      <m:sSup>
                        <m:sSupPr>
                          <m:ctrlPr>
                            <a:rPr lang="es-PE" b="0" i="1" smtClean="0">
                              <a:latin typeface="Cambria Math" panose="02040503050406030204" pitchFamily="18" charset="0"/>
                            </a:rPr>
                          </m:ctrlPr>
                        </m:sSupPr>
                        <m:e>
                          <m:r>
                            <a:rPr lang="es-PE" b="0" i="1" smtClean="0">
                              <a:latin typeface="Cambria Math" panose="02040503050406030204" pitchFamily="18" charset="0"/>
                            </a:rPr>
                            <m:t>𝑐𝑚</m:t>
                          </m:r>
                        </m:e>
                        <m:sup>
                          <m:r>
                            <a:rPr lang="es-PE" b="0" i="1" smtClean="0">
                              <a:latin typeface="Cambria Math" panose="02040503050406030204" pitchFamily="18" charset="0"/>
                            </a:rPr>
                            <m:t>4</m:t>
                          </m:r>
                        </m:sup>
                      </m:sSup>
                    </m:oMath>
                  </m:oMathPara>
                </a14:m>
                <a:endParaRPr lang="es-PE" dirty="0"/>
              </a:p>
            </p:txBody>
          </p:sp>
        </mc:Choice>
        <mc:Fallback xmlns="">
          <p:sp>
            <p:nvSpPr>
              <p:cNvPr id="70" name="CuadroTexto 69">
                <a:extLst>
                  <a:ext uri="{FF2B5EF4-FFF2-40B4-BE49-F238E27FC236}">
                    <a16:creationId xmlns:a16="http://schemas.microsoft.com/office/drawing/2014/main" id="{2DFAB904-356C-5FC5-014C-527F0D32B393}"/>
                  </a:ext>
                </a:extLst>
              </p:cNvPr>
              <p:cNvSpPr txBox="1">
                <a:spLocks noRot="1" noChangeAspect="1" noMove="1" noResize="1" noEditPoints="1" noAdjustHandles="1" noChangeArrowheads="1" noChangeShapeType="1" noTextEdit="1"/>
              </p:cNvSpPr>
              <p:nvPr/>
            </p:nvSpPr>
            <p:spPr>
              <a:xfrm>
                <a:off x="6233299" y="2244934"/>
                <a:ext cx="4615110" cy="553998"/>
              </a:xfrm>
              <a:prstGeom prst="rect">
                <a:avLst/>
              </a:prstGeom>
              <a:blipFill>
                <a:blip r:embed="rId2"/>
                <a:stretch>
                  <a:fillRect/>
                </a:stretch>
              </a:blipFill>
            </p:spPr>
            <p:txBody>
              <a:bodyPr/>
              <a:lstStyle/>
              <a:p>
                <a:r>
                  <a:rPr lang="es-PE">
                    <a:noFill/>
                  </a:rPr>
                  <a:t> </a:t>
                </a:r>
              </a:p>
            </p:txBody>
          </p:sp>
        </mc:Fallback>
      </mc:AlternateContent>
      <p:sp>
        <p:nvSpPr>
          <p:cNvPr id="71" name="CuadroTexto 70">
            <a:extLst>
              <a:ext uri="{FF2B5EF4-FFF2-40B4-BE49-F238E27FC236}">
                <a16:creationId xmlns:a16="http://schemas.microsoft.com/office/drawing/2014/main" id="{B48896D0-D6F6-AFE3-6A90-2907EE48A53E}"/>
              </a:ext>
            </a:extLst>
          </p:cNvPr>
          <p:cNvSpPr txBox="1"/>
          <p:nvPr/>
        </p:nvSpPr>
        <p:spPr>
          <a:xfrm>
            <a:off x="6168008" y="2834347"/>
            <a:ext cx="5319918" cy="400110"/>
          </a:xfrm>
          <a:prstGeom prst="rect">
            <a:avLst/>
          </a:prstGeom>
          <a:noFill/>
        </p:spPr>
        <p:txBody>
          <a:bodyPr wrap="none" rtlCol="0">
            <a:spAutoFit/>
          </a:bodyPr>
          <a:lstStyle/>
          <a:p>
            <a:r>
              <a:rPr lang="es-PE" sz="2000" dirty="0"/>
              <a:t>Calculando la rigidez relativa de las vigas BD y DF:</a:t>
            </a:r>
          </a:p>
        </p:txBody>
      </p:sp>
      <mc:AlternateContent xmlns:mc="http://schemas.openxmlformats.org/markup-compatibility/2006" xmlns:a14="http://schemas.microsoft.com/office/drawing/2010/main">
        <mc:Choice Requires="a14">
          <p:sp>
            <p:nvSpPr>
              <p:cNvPr id="72" name="CuadroTexto 71">
                <a:extLst>
                  <a:ext uri="{FF2B5EF4-FFF2-40B4-BE49-F238E27FC236}">
                    <a16:creationId xmlns:a16="http://schemas.microsoft.com/office/drawing/2014/main" id="{871A160A-E817-4E46-D679-8A9EEE8F819F}"/>
                  </a:ext>
                </a:extLst>
              </p:cNvPr>
              <p:cNvSpPr txBox="1"/>
              <p:nvPr/>
            </p:nvSpPr>
            <p:spPr>
              <a:xfrm>
                <a:off x="6168008" y="3203199"/>
                <a:ext cx="3749360" cy="57131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PE" i="1" smtClean="0">
                              <a:latin typeface="Cambria Math" panose="02040503050406030204" pitchFamily="18" charset="0"/>
                            </a:rPr>
                          </m:ctrlPr>
                        </m:sSubPr>
                        <m:e>
                          <m:r>
                            <a:rPr lang="es-PE" b="0" i="1" smtClean="0">
                              <a:latin typeface="Cambria Math" panose="02040503050406030204" pitchFamily="18" charset="0"/>
                            </a:rPr>
                            <m:t>𝐾</m:t>
                          </m:r>
                        </m:e>
                        <m:sub>
                          <m:r>
                            <a:rPr lang="es-PE" b="0" i="1" smtClean="0">
                              <a:latin typeface="Cambria Math" panose="02040503050406030204" pitchFamily="18" charset="0"/>
                            </a:rPr>
                            <m:t>𝐵𝐷</m:t>
                          </m:r>
                        </m:sub>
                      </m:sSub>
                      <m:r>
                        <a:rPr lang="es-PE" b="0" i="1" smtClean="0">
                          <a:latin typeface="Cambria Math" panose="02040503050406030204" pitchFamily="18" charset="0"/>
                        </a:rPr>
                        <m:t>= </m:t>
                      </m:r>
                      <m:f>
                        <m:fPr>
                          <m:ctrlPr>
                            <a:rPr lang="es-PE" b="0" i="1" smtClean="0">
                              <a:latin typeface="Cambria Math" panose="02040503050406030204" pitchFamily="18" charset="0"/>
                            </a:rPr>
                          </m:ctrlPr>
                        </m:fPr>
                        <m:num>
                          <m:sSub>
                            <m:sSubPr>
                              <m:ctrlPr>
                                <a:rPr lang="es-PE" b="0" i="1" smtClean="0">
                                  <a:latin typeface="Cambria Math" panose="02040503050406030204" pitchFamily="18" charset="0"/>
                                </a:rPr>
                              </m:ctrlPr>
                            </m:sSubPr>
                            <m:e>
                              <m:r>
                                <a:rPr lang="es-PE" b="0" i="1" smtClean="0">
                                  <a:latin typeface="Cambria Math" panose="02040503050406030204" pitchFamily="18" charset="0"/>
                                </a:rPr>
                                <m:t>𝐼</m:t>
                              </m:r>
                            </m:e>
                            <m:sub>
                              <m:r>
                                <a:rPr lang="es-PE" b="0" i="1" smtClean="0">
                                  <a:latin typeface="Cambria Math" panose="02040503050406030204" pitchFamily="18" charset="0"/>
                                </a:rPr>
                                <m:t>𝐵𝐷</m:t>
                              </m:r>
                            </m:sub>
                          </m:sSub>
                        </m:num>
                        <m:den>
                          <m:sSub>
                            <m:sSubPr>
                              <m:ctrlPr>
                                <a:rPr lang="es-PE" b="0" i="1" smtClean="0">
                                  <a:latin typeface="Cambria Math" panose="02040503050406030204" pitchFamily="18" charset="0"/>
                                </a:rPr>
                              </m:ctrlPr>
                            </m:sSubPr>
                            <m:e>
                              <m:r>
                                <a:rPr lang="es-PE" b="0" i="1" smtClean="0">
                                  <a:latin typeface="Cambria Math" panose="02040503050406030204" pitchFamily="18" charset="0"/>
                                </a:rPr>
                                <m:t>𝐿</m:t>
                              </m:r>
                            </m:e>
                            <m:sub>
                              <m:r>
                                <a:rPr lang="es-PE" b="0" i="1" smtClean="0">
                                  <a:latin typeface="Cambria Math" panose="02040503050406030204" pitchFamily="18" charset="0"/>
                                </a:rPr>
                                <m:t>𝐵𝐷</m:t>
                              </m:r>
                            </m:sub>
                          </m:sSub>
                        </m:den>
                      </m:f>
                      <m:r>
                        <a:rPr lang="es-PE" b="0" i="1" smtClean="0">
                          <a:latin typeface="Cambria Math" panose="02040503050406030204" pitchFamily="18" charset="0"/>
                        </a:rPr>
                        <m:t>=</m:t>
                      </m:r>
                      <m:f>
                        <m:fPr>
                          <m:ctrlPr>
                            <a:rPr lang="es-PE" i="1">
                              <a:latin typeface="Cambria Math" panose="02040503050406030204" pitchFamily="18" charset="0"/>
                            </a:rPr>
                          </m:ctrlPr>
                        </m:fPr>
                        <m:num>
                          <m:r>
                            <a:rPr lang="es-PE" b="0" i="1" smtClean="0">
                              <a:latin typeface="Cambria Math" panose="02040503050406030204" pitchFamily="18" charset="0"/>
                            </a:rPr>
                            <m:t>312500</m:t>
                          </m:r>
                        </m:num>
                        <m:den>
                          <m:r>
                            <a:rPr lang="es-PE" b="0" i="1" smtClean="0">
                              <a:latin typeface="Cambria Math" panose="02040503050406030204" pitchFamily="18" charset="0"/>
                            </a:rPr>
                            <m:t>380</m:t>
                          </m:r>
                        </m:den>
                      </m:f>
                      <m:r>
                        <a:rPr lang="es-PE" b="0" i="1" smtClean="0">
                          <a:latin typeface="Cambria Math" panose="02040503050406030204" pitchFamily="18" charset="0"/>
                        </a:rPr>
                        <m:t>=822.37 </m:t>
                      </m:r>
                      <m:sSup>
                        <m:sSupPr>
                          <m:ctrlPr>
                            <a:rPr lang="es-PE" b="0" i="1" smtClean="0">
                              <a:latin typeface="Cambria Math" panose="02040503050406030204" pitchFamily="18" charset="0"/>
                            </a:rPr>
                          </m:ctrlPr>
                        </m:sSupPr>
                        <m:e>
                          <m:r>
                            <a:rPr lang="es-PE" b="0" i="1" smtClean="0">
                              <a:latin typeface="Cambria Math" panose="02040503050406030204" pitchFamily="18" charset="0"/>
                            </a:rPr>
                            <m:t>𝑐𝑚</m:t>
                          </m:r>
                        </m:e>
                        <m:sup>
                          <m:r>
                            <a:rPr lang="es-PE" b="0" i="1" smtClean="0">
                              <a:latin typeface="Cambria Math" panose="02040503050406030204" pitchFamily="18" charset="0"/>
                            </a:rPr>
                            <m:t>3</m:t>
                          </m:r>
                        </m:sup>
                      </m:sSup>
                    </m:oMath>
                  </m:oMathPara>
                </a14:m>
                <a:endParaRPr lang="es-PE" dirty="0"/>
              </a:p>
            </p:txBody>
          </p:sp>
        </mc:Choice>
        <mc:Fallback xmlns="">
          <p:sp>
            <p:nvSpPr>
              <p:cNvPr id="72" name="CuadroTexto 71">
                <a:extLst>
                  <a:ext uri="{FF2B5EF4-FFF2-40B4-BE49-F238E27FC236}">
                    <a16:creationId xmlns:a16="http://schemas.microsoft.com/office/drawing/2014/main" id="{871A160A-E817-4E46-D679-8A9EEE8F819F}"/>
                  </a:ext>
                </a:extLst>
              </p:cNvPr>
              <p:cNvSpPr txBox="1">
                <a:spLocks noRot="1" noChangeAspect="1" noMove="1" noResize="1" noEditPoints="1" noAdjustHandles="1" noChangeArrowheads="1" noChangeShapeType="1" noTextEdit="1"/>
              </p:cNvSpPr>
              <p:nvPr/>
            </p:nvSpPr>
            <p:spPr>
              <a:xfrm>
                <a:off x="6168008" y="3203199"/>
                <a:ext cx="3749360" cy="571310"/>
              </a:xfrm>
              <a:prstGeom prst="rect">
                <a:avLst/>
              </a:prstGeom>
              <a:blipFill>
                <a:blip r:embed="rId3"/>
                <a:stretch>
                  <a:fillRect/>
                </a:stretch>
              </a:blipFill>
            </p:spPr>
            <p:txBody>
              <a:bodyPr/>
              <a:lstStyle/>
              <a:p>
                <a:r>
                  <a:rPr lang="es-PE">
                    <a:noFill/>
                  </a:rPr>
                  <a:t> </a:t>
                </a:r>
              </a:p>
            </p:txBody>
          </p:sp>
        </mc:Fallback>
      </mc:AlternateContent>
      <p:sp>
        <p:nvSpPr>
          <p:cNvPr id="73" name="CuadroTexto 72">
            <a:extLst>
              <a:ext uri="{FF2B5EF4-FFF2-40B4-BE49-F238E27FC236}">
                <a16:creationId xmlns:a16="http://schemas.microsoft.com/office/drawing/2014/main" id="{459D21C9-221E-7671-8C15-740CD57B38A9}"/>
              </a:ext>
            </a:extLst>
          </p:cNvPr>
          <p:cNvSpPr txBox="1"/>
          <p:nvPr/>
        </p:nvSpPr>
        <p:spPr>
          <a:xfrm>
            <a:off x="6168008" y="4508500"/>
            <a:ext cx="4466800" cy="400110"/>
          </a:xfrm>
          <a:prstGeom prst="rect">
            <a:avLst/>
          </a:prstGeom>
          <a:noFill/>
        </p:spPr>
        <p:txBody>
          <a:bodyPr wrap="none" rtlCol="0">
            <a:spAutoFit/>
          </a:bodyPr>
          <a:lstStyle/>
          <a:p>
            <a:r>
              <a:rPr lang="es-PE" sz="2000" dirty="0"/>
              <a:t>Calculando la inercia de la  columna CD:</a:t>
            </a:r>
          </a:p>
        </p:txBody>
      </p:sp>
      <mc:AlternateContent xmlns:mc="http://schemas.openxmlformats.org/markup-compatibility/2006" xmlns:a14="http://schemas.microsoft.com/office/drawing/2010/main">
        <mc:Choice Requires="a14">
          <p:sp>
            <p:nvSpPr>
              <p:cNvPr id="74" name="CuadroTexto 73">
                <a:extLst>
                  <a:ext uri="{FF2B5EF4-FFF2-40B4-BE49-F238E27FC236}">
                    <a16:creationId xmlns:a16="http://schemas.microsoft.com/office/drawing/2014/main" id="{A40E5339-5CA4-3FCE-28D0-8011A74719DD}"/>
                  </a:ext>
                </a:extLst>
              </p:cNvPr>
              <p:cNvSpPr txBox="1"/>
              <p:nvPr/>
            </p:nvSpPr>
            <p:spPr>
              <a:xfrm>
                <a:off x="6174831" y="4889214"/>
                <a:ext cx="4222566" cy="55399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PE" i="1" smtClean="0">
                              <a:latin typeface="Cambria Math" panose="02040503050406030204" pitchFamily="18" charset="0"/>
                            </a:rPr>
                          </m:ctrlPr>
                        </m:sSubPr>
                        <m:e>
                          <m:r>
                            <a:rPr lang="es-PE" b="0" i="1" smtClean="0">
                              <a:latin typeface="Cambria Math" panose="02040503050406030204" pitchFamily="18" charset="0"/>
                            </a:rPr>
                            <m:t>𝐼</m:t>
                          </m:r>
                        </m:e>
                        <m:sub>
                          <m:r>
                            <a:rPr lang="es-PE" b="0" i="1" smtClean="0">
                              <a:latin typeface="Cambria Math" panose="02040503050406030204" pitchFamily="18" charset="0"/>
                            </a:rPr>
                            <m:t>𝐶𝐷</m:t>
                          </m:r>
                        </m:sub>
                      </m:sSub>
                      <m:r>
                        <a:rPr lang="es-PE" b="0" i="1" smtClean="0">
                          <a:latin typeface="Cambria Math" panose="02040503050406030204" pitchFamily="18" charset="0"/>
                        </a:rPr>
                        <m:t>= </m:t>
                      </m:r>
                      <m:f>
                        <m:fPr>
                          <m:ctrlPr>
                            <a:rPr lang="es-PE" b="0" i="1" smtClean="0">
                              <a:latin typeface="Cambria Math" panose="02040503050406030204" pitchFamily="18" charset="0"/>
                            </a:rPr>
                          </m:ctrlPr>
                        </m:fPr>
                        <m:num>
                          <m:r>
                            <a:rPr lang="es-PE" b="0" i="1" smtClean="0">
                              <a:latin typeface="Cambria Math" panose="02040503050406030204" pitchFamily="18" charset="0"/>
                            </a:rPr>
                            <m:t>𝑏</m:t>
                          </m:r>
                          <m:sSup>
                            <m:sSupPr>
                              <m:ctrlPr>
                                <a:rPr lang="es-PE" b="0" i="1" smtClean="0">
                                  <a:latin typeface="Cambria Math" panose="02040503050406030204" pitchFamily="18" charset="0"/>
                                </a:rPr>
                              </m:ctrlPr>
                            </m:sSupPr>
                            <m:e>
                              <m:r>
                                <a:rPr lang="es-PE" b="0" i="1" smtClean="0">
                                  <a:latin typeface="Cambria Math" panose="02040503050406030204" pitchFamily="18" charset="0"/>
                                </a:rPr>
                                <m:t>h</m:t>
                              </m:r>
                            </m:e>
                            <m:sup>
                              <m:r>
                                <a:rPr lang="es-PE" b="0" i="1" smtClean="0">
                                  <a:latin typeface="Cambria Math" panose="02040503050406030204" pitchFamily="18" charset="0"/>
                                </a:rPr>
                                <m:t>3</m:t>
                              </m:r>
                            </m:sup>
                          </m:sSup>
                        </m:num>
                        <m:den>
                          <m:r>
                            <a:rPr lang="es-PE" b="0" i="1" smtClean="0">
                              <a:latin typeface="Cambria Math" panose="02040503050406030204" pitchFamily="18" charset="0"/>
                            </a:rPr>
                            <m:t>12</m:t>
                          </m:r>
                        </m:den>
                      </m:f>
                      <m:r>
                        <a:rPr lang="es-PE" b="0" i="1" smtClean="0">
                          <a:latin typeface="Cambria Math" panose="02040503050406030204" pitchFamily="18" charset="0"/>
                        </a:rPr>
                        <m:t>=</m:t>
                      </m:r>
                      <m:f>
                        <m:fPr>
                          <m:ctrlPr>
                            <a:rPr lang="es-PE" i="1">
                              <a:latin typeface="Cambria Math" panose="02040503050406030204" pitchFamily="18" charset="0"/>
                            </a:rPr>
                          </m:ctrlPr>
                        </m:fPr>
                        <m:num>
                          <m:r>
                            <a:rPr lang="es-PE" b="0" i="1" smtClean="0">
                              <a:latin typeface="Cambria Math" panose="02040503050406030204" pitchFamily="18" charset="0"/>
                            </a:rPr>
                            <m:t>(30)</m:t>
                          </m:r>
                          <m:sSup>
                            <m:sSupPr>
                              <m:ctrlPr>
                                <a:rPr lang="es-PE" i="1">
                                  <a:latin typeface="Cambria Math" panose="02040503050406030204" pitchFamily="18" charset="0"/>
                                </a:rPr>
                              </m:ctrlPr>
                            </m:sSupPr>
                            <m:e>
                              <m:r>
                                <a:rPr lang="es-PE" b="0" i="1" smtClean="0">
                                  <a:latin typeface="Cambria Math" panose="02040503050406030204" pitchFamily="18" charset="0"/>
                                </a:rPr>
                                <m:t>(35)</m:t>
                              </m:r>
                            </m:e>
                            <m:sup>
                              <m:r>
                                <a:rPr lang="es-PE" i="1">
                                  <a:latin typeface="Cambria Math" panose="02040503050406030204" pitchFamily="18" charset="0"/>
                                </a:rPr>
                                <m:t>3</m:t>
                              </m:r>
                            </m:sup>
                          </m:sSup>
                        </m:num>
                        <m:den>
                          <m:r>
                            <a:rPr lang="es-PE" i="1">
                              <a:latin typeface="Cambria Math" panose="02040503050406030204" pitchFamily="18" charset="0"/>
                            </a:rPr>
                            <m:t>12</m:t>
                          </m:r>
                        </m:den>
                      </m:f>
                      <m:r>
                        <a:rPr lang="es-PE" b="0" i="1" smtClean="0">
                          <a:latin typeface="Cambria Math" panose="02040503050406030204" pitchFamily="18" charset="0"/>
                        </a:rPr>
                        <m:t>=107187.50 </m:t>
                      </m:r>
                      <m:sSup>
                        <m:sSupPr>
                          <m:ctrlPr>
                            <a:rPr lang="es-PE" b="0" i="1" smtClean="0">
                              <a:latin typeface="Cambria Math" panose="02040503050406030204" pitchFamily="18" charset="0"/>
                            </a:rPr>
                          </m:ctrlPr>
                        </m:sSupPr>
                        <m:e>
                          <m:r>
                            <a:rPr lang="es-PE" b="0" i="1" smtClean="0">
                              <a:latin typeface="Cambria Math" panose="02040503050406030204" pitchFamily="18" charset="0"/>
                            </a:rPr>
                            <m:t>𝑐𝑚</m:t>
                          </m:r>
                        </m:e>
                        <m:sup>
                          <m:r>
                            <a:rPr lang="es-PE" b="0" i="1" smtClean="0">
                              <a:latin typeface="Cambria Math" panose="02040503050406030204" pitchFamily="18" charset="0"/>
                            </a:rPr>
                            <m:t>4</m:t>
                          </m:r>
                        </m:sup>
                      </m:sSup>
                    </m:oMath>
                  </m:oMathPara>
                </a14:m>
                <a:endParaRPr lang="es-PE" dirty="0"/>
              </a:p>
            </p:txBody>
          </p:sp>
        </mc:Choice>
        <mc:Fallback xmlns="">
          <p:sp>
            <p:nvSpPr>
              <p:cNvPr id="74" name="CuadroTexto 73">
                <a:extLst>
                  <a:ext uri="{FF2B5EF4-FFF2-40B4-BE49-F238E27FC236}">
                    <a16:creationId xmlns:a16="http://schemas.microsoft.com/office/drawing/2014/main" id="{A40E5339-5CA4-3FCE-28D0-8011A74719DD}"/>
                  </a:ext>
                </a:extLst>
              </p:cNvPr>
              <p:cNvSpPr txBox="1">
                <a:spLocks noRot="1" noChangeAspect="1" noMove="1" noResize="1" noEditPoints="1" noAdjustHandles="1" noChangeArrowheads="1" noChangeShapeType="1" noTextEdit="1"/>
              </p:cNvSpPr>
              <p:nvPr/>
            </p:nvSpPr>
            <p:spPr>
              <a:xfrm>
                <a:off x="6174831" y="4889214"/>
                <a:ext cx="4222566" cy="553998"/>
              </a:xfrm>
              <a:prstGeom prst="rect">
                <a:avLst/>
              </a:prstGeom>
              <a:blipFill>
                <a:blip r:embed="rId4"/>
                <a:stretch>
                  <a:fillRect/>
                </a:stretch>
              </a:blipFill>
            </p:spPr>
            <p:txBody>
              <a:bodyPr/>
              <a:lstStyle/>
              <a:p>
                <a:r>
                  <a:rPr lang="es-PE">
                    <a:noFill/>
                  </a:rPr>
                  <a:t> </a:t>
                </a:r>
              </a:p>
            </p:txBody>
          </p:sp>
        </mc:Fallback>
      </mc:AlternateContent>
      <p:sp>
        <p:nvSpPr>
          <p:cNvPr id="75" name="CuadroTexto 74">
            <a:extLst>
              <a:ext uri="{FF2B5EF4-FFF2-40B4-BE49-F238E27FC236}">
                <a16:creationId xmlns:a16="http://schemas.microsoft.com/office/drawing/2014/main" id="{E09D9C79-DB8D-9184-22FB-2A4FD0C75583}"/>
              </a:ext>
            </a:extLst>
          </p:cNvPr>
          <p:cNvSpPr txBox="1"/>
          <p:nvPr/>
        </p:nvSpPr>
        <p:spPr>
          <a:xfrm>
            <a:off x="6096000" y="5487882"/>
            <a:ext cx="5096523" cy="400110"/>
          </a:xfrm>
          <a:prstGeom prst="rect">
            <a:avLst/>
          </a:prstGeom>
          <a:noFill/>
        </p:spPr>
        <p:txBody>
          <a:bodyPr wrap="none" rtlCol="0">
            <a:spAutoFit/>
          </a:bodyPr>
          <a:lstStyle/>
          <a:p>
            <a:r>
              <a:rPr lang="es-PE" sz="2000" dirty="0"/>
              <a:t>Calculando la rigidez relativa de la columna CD:</a:t>
            </a:r>
          </a:p>
        </p:txBody>
      </p:sp>
      <mc:AlternateContent xmlns:mc="http://schemas.openxmlformats.org/markup-compatibility/2006" xmlns:a14="http://schemas.microsoft.com/office/drawing/2010/main">
        <mc:Choice Requires="a14">
          <p:sp>
            <p:nvSpPr>
              <p:cNvPr id="76" name="CuadroTexto 75">
                <a:extLst>
                  <a:ext uri="{FF2B5EF4-FFF2-40B4-BE49-F238E27FC236}">
                    <a16:creationId xmlns:a16="http://schemas.microsoft.com/office/drawing/2014/main" id="{CACB6D05-CDFB-92F7-8929-AD8292E7BC48}"/>
                  </a:ext>
                </a:extLst>
              </p:cNvPr>
              <p:cNvSpPr txBox="1"/>
              <p:nvPr/>
            </p:nvSpPr>
            <p:spPr>
              <a:xfrm>
                <a:off x="6113546" y="5932662"/>
                <a:ext cx="3958007" cy="57131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PE" i="1" smtClean="0">
                              <a:latin typeface="Cambria Math" panose="02040503050406030204" pitchFamily="18" charset="0"/>
                            </a:rPr>
                          </m:ctrlPr>
                        </m:sSubPr>
                        <m:e>
                          <m:r>
                            <a:rPr lang="es-PE" b="0" i="1" smtClean="0">
                              <a:latin typeface="Cambria Math" panose="02040503050406030204" pitchFamily="18" charset="0"/>
                            </a:rPr>
                            <m:t>𝐾</m:t>
                          </m:r>
                        </m:e>
                        <m:sub>
                          <m:r>
                            <a:rPr lang="es-PE" b="0" i="1" smtClean="0">
                              <a:latin typeface="Cambria Math" panose="02040503050406030204" pitchFamily="18" charset="0"/>
                            </a:rPr>
                            <m:t>𝐶𝐷</m:t>
                          </m:r>
                        </m:sub>
                      </m:sSub>
                      <m:r>
                        <a:rPr lang="es-PE" b="0" i="1" smtClean="0">
                          <a:latin typeface="Cambria Math" panose="02040503050406030204" pitchFamily="18" charset="0"/>
                        </a:rPr>
                        <m:t>= </m:t>
                      </m:r>
                      <m:f>
                        <m:fPr>
                          <m:ctrlPr>
                            <a:rPr lang="es-PE" b="0" i="1" smtClean="0">
                              <a:latin typeface="Cambria Math" panose="02040503050406030204" pitchFamily="18" charset="0"/>
                            </a:rPr>
                          </m:ctrlPr>
                        </m:fPr>
                        <m:num>
                          <m:sSub>
                            <m:sSubPr>
                              <m:ctrlPr>
                                <a:rPr lang="es-PE" b="0" i="1" smtClean="0">
                                  <a:latin typeface="Cambria Math" panose="02040503050406030204" pitchFamily="18" charset="0"/>
                                </a:rPr>
                              </m:ctrlPr>
                            </m:sSubPr>
                            <m:e>
                              <m:r>
                                <a:rPr lang="es-PE" b="0" i="1" smtClean="0">
                                  <a:latin typeface="Cambria Math" panose="02040503050406030204" pitchFamily="18" charset="0"/>
                                </a:rPr>
                                <m:t>𝐼</m:t>
                              </m:r>
                            </m:e>
                            <m:sub>
                              <m:r>
                                <a:rPr lang="es-PE" b="0" i="1" smtClean="0">
                                  <a:latin typeface="Cambria Math" panose="02040503050406030204" pitchFamily="18" charset="0"/>
                                </a:rPr>
                                <m:t>𝐴𝐵</m:t>
                              </m:r>
                            </m:sub>
                          </m:sSub>
                        </m:num>
                        <m:den>
                          <m:sSub>
                            <m:sSubPr>
                              <m:ctrlPr>
                                <a:rPr lang="es-PE" b="0" i="1" smtClean="0">
                                  <a:latin typeface="Cambria Math" panose="02040503050406030204" pitchFamily="18" charset="0"/>
                                </a:rPr>
                              </m:ctrlPr>
                            </m:sSubPr>
                            <m:e>
                              <m:r>
                                <a:rPr lang="es-PE" b="0" i="1" smtClean="0">
                                  <a:latin typeface="Cambria Math" panose="02040503050406030204" pitchFamily="18" charset="0"/>
                                </a:rPr>
                                <m:t>𝐿</m:t>
                              </m:r>
                            </m:e>
                            <m:sub>
                              <m:r>
                                <a:rPr lang="es-PE" b="0" i="1" smtClean="0">
                                  <a:latin typeface="Cambria Math" panose="02040503050406030204" pitchFamily="18" charset="0"/>
                                </a:rPr>
                                <m:t>𝐴𝐵</m:t>
                              </m:r>
                            </m:sub>
                          </m:sSub>
                        </m:den>
                      </m:f>
                      <m:r>
                        <a:rPr lang="es-PE" b="0" i="1" smtClean="0">
                          <a:latin typeface="Cambria Math" panose="02040503050406030204" pitchFamily="18" charset="0"/>
                        </a:rPr>
                        <m:t>=</m:t>
                      </m:r>
                      <m:f>
                        <m:fPr>
                          <m:ctrlPr>
                            <a:rPr lang="es-PE" i="1">
                              <a:latin typeface="Cambria Math" panose="02040503050406030204" pitchFamily="18" charset="0"/>
                            </a:rPr>
                          </m:ctrlPr>
                        </m:fPr>
                        <m:num>
                          <m:r>
                            <a:rPr lang="es-PE" b="0" i="1" smtClean="0">
                              <a:latin typeface="Cambria Math" panose="02040503050406030204" pitchFamily="18" charset="0"/>
                            </a:rPr>
                            <m:t>107187.50</m:t>
                          </m:r>
                        </m:num>
                        <m:den>
                          <m:r>
                            <a:rPr lang="es-PE" b="0" i="1" smtClean="0">
                              <a:latin typeface="Cambria Math" panose="02040503050406030204" pitchFamily="18" charset="0"/>
                            </a:rPr>
                            <m:t>280</m:t>
                          </m:r>
                        </m:den>
                      </m:f>
                      <m:r>
                        <a:rPr lang="es-PE" b="0" i="1" smtClean="0">
                          <a:latin typeface="Cambria Math" panose="02040503050406030204" pitchFamily="18" charset="0"/>
                        </a:rPr>
                        <m:t>=382.81 </m:t>
                      </m:r>
                      <m:sSup>
                        <m:sSupPr>
                          <m:ctrlPr>
                            <a:rPr lang="es-PE" b="0" i="1" smtClean="0">
                              <a:latin typeface="Cambria Math" panose="02040503050406030204" pitchFamily="18" charset="0"/>
                            </a:rPr>
                          </m:ctrlPr>
                        </m:sSupPr>
                        <m:e>
                          <m:r>
                            <a:rPr lang="es-PE" b="0" i="1" smtClean="0">
                              <a:latin typeface="Cambria Math" panose="02040503050406030204" pitchFamily="18" charset="0"/>
                            </a:rPr>
                            <m:t>𝑐𝑚</m:t>
                          </m:r>
                        </m:e>
                        <m:sup>
                          <m:r>
                            <a:rPr lang="es-PE" b="0" i="1" smtClean="0">
                              <a:latin typeface="Cambria Math" panose="02040503050406030204" pitchFamily="18" charset="0"/>
                            </a:rPr>
                            <m:t>3</m:t>
                          </m:r>
                        </m:sup>
                      </m:sSup>
                    </m:oMath>
                  </m:oMathPara>
                </a14:m>
                <a:endParaRPr lang="es-PE" dirty="0"/>
              </a:p>
            </p:txBody>
          </p:sp>
        </mc:Choice>
        <mc:Fallback xmlns="">
          <p:sp>
            <p:nvSpPr>
              <p:cNvPr id="76" name="CuadroTexto 75">
                <a:extLst>
                  <a:ext uri="{FF2B5EF4-FFF2-40B4-BE49-F238E27FC236}">
                    <a16:creationId xmlns:a16="http://schemas.microsoft.com/office/drawing/2014/main" id="{CACB6D05-CDFB-92F7-8929-AD8292E7BC48}"/>
                  </a:ext>
                </a:extLst>
              </p:cNvPr>
              <p:cNvSpPr txBox="1">
                <a:spLocks noRot="1" noChangeAspect="1" noMove="1" noResize="1" noEditPoints="1" noAdjustHandles="1" noChangeArrowheads="1" noChangeShapeType="1" noTextEdit="1"/>
              </p:cNvSpPr>
              <p:nvPr/>
            </p:nvSpPr>
            <p:spPr>
              <a:xfrm>
                <a:off x="6113546" y="5932662"/>
                <a:ext cx="3958007" cy="571310"/>
              </a:xfrm>
              <a:prstGeom prst="rect">
                <a:avLst/>
              </a:prstGeom>
              <a:blipFill>
                <a:blip r:embed="rId5"/>
                <a:stretch>
                  <a:fillRect/>
                </a:stretch>
              </a:blipFill>
            </p:spPr>
            <p:txBody>
              <a:bodyPr/>
              <a:lstStyle/>
              <a:p>
                <a:r>
                  <a:rPr lang="es-PE">
                    <a:noFill/>
                  </a:rPr>
                  <a:t> </a:t>
                </a:r>
              </a:p>
            </p:txBody>
          </p:sp>
        </mc:Fallback>
      </mc:AlternateContent>
      <p:grpSp>
        <p:nvGrpSpPr>
          <p:cNvPr id="4" name="Grupo 3">
            <a:extLst>
              <a:ext uri="{FF2B5EF4-FFF2-40B4-BE49-F238E27FC236}">
                <a16:creationId xmlns:a16="http://schemas.microsoft.com/office/drawing/2014/main" id="{D99137F5-5E29-8322-8E21-C277CB1DB864}"/>
              </a:ext>
            </a:extLst>
          </p:cNvPr>
          <p:cNvGrpSpPr/>
          <p:nvPr/>
        </p:nvGrpSpPr>
        <p:grpSpPr>
          <a:xfrm>
            <a:off x="615607" y="2325410"/>
            <a:ext cx="4759668" cy="2304635"/>
            <a:chOff x="948234" y="2708275"/>
            <a:chExt cx="4320224" cy="1950352"/>
          </a:xfrm>
        </p:grpSpPr>
        <p:sp>
          <p:nvSpPr>
            <p:cNvPr id="9" name="Rectángulo 8">
              <a:extLst>
                <a:ext uri="{FF2B5EF4-FFF2-40B4-BE49-F238E27FC236}">
                  <a16:creationId xmlns:a16="http://schemas.microsoft.com/office/drawing/2014/main" id="{D0EC4223-4D16-DCEB-768C-195496C2FB05}"/>
                </a:ext>
              </a:extLst>
            </p:cNvPr>
            <p:cNvSpPr/>
            <p:nvPr/>
          </p:nvSpPr>
          <p:spPr>
            <a:xfrm>
              <a:off x="948234" y="2708275"/>
              <a:ext cx="4320224" cy="216250"/>
            </a:xfrm>
            <a:prstGeom prst="rect">
              <a:avLst/>
            </a:prstGeom>
            <a:pattFill prst="lgConfetti">
              <a:fgClr>
                <a:schemeClr val="tx1">
                  <a:lumMod val="65000"/>
                  <a:lumOff val="35000"/>
                </a:schemeClr>
              </a:fgClr>
              <a:bgClr>
                <a:schemeClr val="bg1"/>
              </a:bgClr>
            </a:patt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0" name="Rectángulo 9">
              <a:extLst>
                <a:ext uri="{FF2B5EF4-FFF2-40B4-BE49-F238E27FC236}">
                  <a16:creationId xmlns:a16="http://schemas.microsoft.com/office/drawing/2014/main" id="{1796E2CD-AEF4-46C9-CC34-398B987F20B3}"/>
                </a:ext>
              </a:extLst>
            </p:cNvPr>
            <p:cNvSpPr/>
            <p:nvPr/>
          </p:nvSpPr>
          <p:spPr>
            <a:xfrm>
              <a:off x="2785313" y="4508500"/>
              <a:ext cx="499090" cy="150127"/>
            </a:xfrm>
            <a:prstGeom prst="rect">
              <a:avLst/>
            </a:prstGeom>
            <a:pattFill prst="wdUpDiag">
              <a:fgClr>
                <a:schemeClr val="accent2">
                  <a:lumMod val="75000"/>
                </a:schemeClr>
              </a:fgClr>
              <a:bgClr>
                <a:schemeClr val="bg1"/>
              </a:bgClr>
            </a:patt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dirty="0"/>
            </a:p>
          </p:txBody>
        </p:sp>
        <p:sp>
          <p:nvSpPr>
            <p:cNvPr id="11" name="Rectángulo 10">
              <a:extLst>
                <a:ext uri="{FF2B5EF4-FFF2-40B4-BE49-F238E27FC236}">
                  <a16:creationId xmlns:a16="http://schemas.microsoft.com/office/drawing/2014/main" id="{A99AEEC9-0A79-0715-41E8-BCC20B3225ED}"/>
                </a:ext>
              </a:extLst>
            </p:cNvPr>
            <p:cNvSpPr/>
            <p:nvPr/>
          </p:nvSpPr>
          <p:spPr>
            <a:xfrm>
              <a:off x="2930801" y="2708275"/>
              <a:ext cx="144000" cy="1800000"/>
            </a:xfrm>
            <a:prstGeom prst="rect">
              <a:avLst/>
            </a:prstGeom>
            <a:pattFill prst="lgConfetti">
              <a:fgClr>
                <a:schemeClr val="tx1">
                  <a:lumMod val="65000"/>
                  <a:lumOff val="35000"/>
                </a:schemeClr>
              </a:fgClr>
              <a:bgClr>
                <a:schemeClr val="bg1"/>
              </a:bgClr>
            </a:patt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dirty="0"/>
            </a:p>
          </p:txBody>
        </p:sp>
      </p:grpSp>
      <p:cxnSp>
        <p:nvCxnSpPr>
          <p:cNvPr id="12" name="Conector recto 11">
            <a:extLst>
              <a:ext uri="{FF2B5EF4-FFF2-40B4-BE49-F238E27FC236}">
                <a16:creationId xmlns:a16="http://schemas.microsoft.com/office/drawing/2014/main" id="{BE36AC5D-5F5A-6B27-9FFD-62D7BD71C877}"/>
              </a:ext>
            </a:extLst>
          </p:cNvPr>
          <p:cNvCxnSpPr/>
          <p:nvPr/>
        </p:nvCxnSpPr>
        <p:spPr>
          <a:xfrm>
            <a:off x="253808" y="2325731"/>
            <a:ext cx="0" cy="223195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Conector recto 15">
            <a:extLst>
              <a:ext uri="{FF2B5EF4-FFF2-40B4-BE49-F238E27FC236}">
                <a16:creationId xmlns:a16="http://schemas.microsoft.com/office/drawing/2014/main" id="{34D4F7EB-F01E-B316-5489-BC8D400CAEEA}"/>
              </a:ext>
            </a:extLst>
          </p:cNvPr>
          <p:cNvCxnSpPr/>
          <p:nvPr/>
        </p:nvCxnSpPr>
        <p:spPr>
          <a:xfrm>
            <a:off x="109470" y="2469747"/>
            <a:ext cx="360362"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Conector recto 21">
            <a:extLst>
              <a:ext uri="{FF2B5EF4-FFF2-40B4-BE49-F238E27FC236}">
                <a16:creationId xmlns:a16="http://schemas.microsoft.com/office/drawing/2014/main" id="{4A58201D-2E39-1617-5040-ED7F0EE681A5}"/>
              </a:ext>
            </a:extLst>
          </p:cNvPr>
          <p:cNvCxnSpPr/>
          <p:nvPr/>
        </p:nvCxnSpPr>
        <p:spPr>
          <a:xfrm>
            <a:off x="108784" y="4451799"/>
            <a:ext cx="360362"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5" name="CuadroTexto 24">
                <a:extLst>
                  <a:ext uri="{FF2B5EF4-FFF2-40B4-BE49-F238E27FC236}">
                    <a16:creationId xmlns:a16="http://schemas.microsoft.com/office/drawing/2014/main" id="{3371204F-E625-541F-274C-05C73EC90FEC}"/>
                  </a:ext>
                </a:extLst>
              </p:cNvPr>
              <p:cNvSpPr txBox="1"/>
              <p:nvPr/>
            </p:nvSpPr>
            <p:spPr>
              <a:xfrm>
                <a:off x="335316" y="3332698"/>
                <a:ext cx="604846"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PE" sz="1600" b="1" i="1" smtClean="0">
                          <a:latin typeface="Cambria Math" panose="02040503050406030204" pitchFamily="18" charset="0"/>
                        </a:rPr>
                        <m:t>𝟐</m:t>
                      </m:r>
                      <m:r>
                        <a:rPr lang="es-PE" sz="1600" b="1" i="1" smtClean="0">
                          <a:latin typeface="Cambria Math" panose="02040503050406030204" pitchFamily="18" charset="0"/>
                        </a:rPr>
                        <m:t>.</m:t>
                      </m:r>
                      <m:r>
                        <a:rPr lang="es-PE" sz="1600" b="1" i="1" smtClean="0">
                          <a:latin typeface="Cambria Math" panose="02040503050406030204" pitchFamily="18" charset="0"/>
                        </a:rPr>
                        <m:t>𝟖</m:t>
                      </m:r>
                      <m:r>
                        <a:rPr lang="es-PE" sz="1600" b="1" i="1" smtClean="0">
                          <a:latin typeface="Cambria Math" panose="02040503050406030204" pitchFamily="18" charset="0"/>
                        </a:rPr>
                        <m:t> </m:t>
                      </m:r>
                      <m:r>
                        <a:rPr lang="es-PE" sz="1600" b="1" i="1" smtClean="0">
                          <a:latin typeface="Cambria Math" panose="02040503050406030204" pitchFamily="18" charset="0"/>
                        </a:rPr>
                        <m:t>𝒎</m:t>
                      </m:r>
                    </m:oMath>
                  </m:oMathPara>
                </a14:m>
                <a:endParaRPr lang="es-PE" sz="1600" b="1" i="1" dirty="0"/>
              </a:p>
            </p:txBody>
          </p:sp>
        </mc:Choice>
        <mc:Fallback xmlns="">
          <p:sp>
            <p:nvSpPr>
              <p:cNvPr id="25" name="CuadroTexto 24">
                <a:extLst>
                  <a:ext uri="{FF2B5EF4-FFF2-40B4-BE49-F238E27FC236}">
                    <a16:creationId xmlns:a16="http://schemas.microsoft.com/office/drawing/2014/main" id="{3371204F-E625-541F-274C-05C73EC90FEC}"/>
                  </a:ext>
                </a:extLst>
              </p:cNvPr>
              <p:cNvSpPr txBox="1">
                <a:spLocks noRot="1" noChangeAspect="1" noMove="1" noResize="1" noEditPoints="1" noAdjustHandles="1" noChangeArrowheads="1" noChangeShapeType="1" noTextEdit="1"/>
              </p:cNvSpPr>
              <p:nvPr/>
            </p:nvSpPr>
            <p:spPr>
              <a:xfrm>
                <a:off x="335316" y="3332698"/>
                <a:ext cx="604846" cy="246221"/>
              </a:xfrm>
              <a:prstGeom prst="rect">
                <a:avLst/>
              </a:prstGeom>
              <a:blipFill>
                <a:blip r:embed="rId6"/>
                <a:stretch>
                  <a:fillRect l="-7071" r="-5051" b="-5000"/>
                </a:stretch>
              </a:blipFill>
            </p:spPr>
            <p:txBody>
              <a:bodyPr/>
              <a:lstStyle/>
              <a:p>
                <a:r>
                  <a:rPr lang="es-PE">
                    <a:noFill/>
                  </a:rPr>
                  <a:t> </a:t>
                </a:r>
              </a:p>
            </p:txBody>
          </p:sp>
        </mc:Fallback>
      </mc:AlternateContent>
      <p:cxnSp>
        <p:nvCxnSpPr>
          <p:cNvPr id="28" name="Conector recto 27">
            <a:extLst>
              <a:ext uri="{FF2B5EF4-FFF2-40B4-BE49-F238E27FC236}">
                <a16:creationId xmlns:a16="http://schemas.microsoft.com/office/drawing/2014/main" id="{2F719769-7462-1D98-D213-A13421DF78C5}"/>
              </a:ext>
            </a:extLst>
          </p:cNvPr>
          <p:cNvCxnSpPr>
            <a:cxnSpLocks/>
          </p:cNvCxnSpPr>
          <p:nvPr/>
        </p:nvCxnSpPr>
        <p:spPr>
          <a:xfrm>
            <a:off x="419982" y="4846011"/>
            <a:ext cx="5155255"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Conector recto 29">
            <a:extLst>
              <a:ext uri="{FF2B5EF4-FFF2-40B4-BE49-F238E27FC236}">
                <a16:creationId xmlns:a16="http://schemas.microsoft.com/office/drawing/2014/main" id="{0ACF85CB-BE7E-5F8F-05BF-0F691BCEBFB7}"/>
              </a:ext>
            </a:extLst>
          </p:cNvPr>
          <p:cNvCxnSpPr/>
          <p:nvPr/>
        </p:nvCxnSpPr>
        <p:spPr>
          <a:xfrm>
            <a:off x="694930" y="4711454"/>
            <a:ext cx="0" cy="28803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Conector recto 38">
            <a:extLst>
              <a:ext uri="{FF2B5EF4-FFF2-40B4-BE49-F238E27FC236}">
                <a16:creationId xmlns:a16="http://schemas.microsoft.com/office/drawing/2014/main" id="{6CDF4E4E-F889-2018-7233-E0FAC4EF671A}"/>
              </a:ext>
            </a:extLst>
          </p:cNvPr>
          <p:cNvCxnSpPr/>
          <p:nvPr/>
        </p:nvCxnSpPr>
        <p:spPr>
          <a:xfrm>
            <a:off x="2879159" y="4711454"/>
            <a:ext cx="0" cy="28803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Conector recto 39">
            <a:extLst>
              <a:ext uri="{FF2B5EF4-FFF2-40B4-BE49-F238E27FC236}">
                <a16:creationId xmlns:a16="http://schemas.microsoft.com/office/drawing/2014/main" id="{D25731EC-23FC-B0F0-3612-E4141221A798}"/>
              </a:ext>
            </a:extLst>
          </p:cNvPr>
          <p:cNvCxnSpPr/>
          <p:nvPr/>
        </p:nvCxnSpPr>
        <p:spPr>
          <a:xfrm>
            <a:off x="5295261" y="4701995"/>
            <a:ext cx="0" cy="28803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41" name="Grupo 40">
            <a:extLst>
              <a:ext uri="{FF2B5EF4-FFF2-40B4-BE49-F238E27FC236}">
                <a16:creationId xmlns:a16="http://schemas.microsoft.com/office/drawing/2014/main" id="{C921E823-597A-B479-813C-C9CEC52765EB}"/>
              </a:ext>
            </a:extLst>
          </p:cNvPr>
          <p:cNvGrpSpPr/>
          <p:nvPr/>
        </p:nvGrpSpPr>
        <p:grpSpPr>
          <a:xfrm>
            <a:off x="1954093" y="5136840"/>
            <a:ext cx="1253448" cy="1101128"/>
            <a:chOff x="424663" y="4976843"/>
            <a:chExt cx="1253448" cy="1101128"/>
          </a:xfrm>
        </p:grpSpPr>
        <p:sp>
          <p:nvSpPr>
            <p:cNvPr id="42" name="Rectángulo 41">
              <a:extLst>
                <a:ext uri="{FF2B5EF4-FFF2-40B4-BE49-F238E27FC236}">
                  <a16:creationId xmlns:a16="http://schemas.microsoft.com/office/drawing/2014/main" id="{E756A0ED-9ABF-DCE6-01DE-ECE6C331B877}"/>
                </a:ext>
              </a:extLst>
            </p:cNvPr>
            <p:cNvSpPr>
              <a:spLocks noChangeAspect="1"/>
            </p:cNvSpPr>
            <p:nvPr/>
          </p:nvSpPr>
          <p:spPr>
            <a:xfrm>
              <a:off x="1149729" y="5048875"/>
              <a:ext cx="504000" cy="432000"/>
            </a:xfrm>
            <a:prstGeom prst="rect">
              <a:avLst/>
            </a:prstGeom>
            <a:pattFill prst="wdUpDiag">
              <a:fgClr>
                <a:schemeClr val="tx1">
                  <a:lumMod val="65000"/>
                  <a:lumOff val="35000"/>
                </a:schemeClr>
              </a:fgClr>
              <a:bgClr>
                <a:schemeClr val="bg1"/>
              </a:bgClr>
            </a:patt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cxnSp>
          <p:nvCxnSpPr>
            <p:cNvPr id="43" name="Conector recto 42">
              <a:extLst>
                <a:ext uri="{FF2B5EF4-FFF2-40B4-BE49-F238E27FC236}">
                  <a16:creationId xmlns:a16="http://schemas.microsoft.com/office/drawing/2014/main" id="{1A11875D-606D-3CA7-8F9C-9F73EB8A9D97}"/>
                </a:ext>
              </a:extLst>
            </p:cNvPr>
            <p:cNvCxnSpPr/>
            <p:nvPr/>
          </p:nvCxnSpPr>
          <p:spPr>
            <a:xfrm>
              <a:off x="1149729" y="5640390"/>
              <a:ext cx="0" cy="18000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Conector recto 43">
              <a:extLst>
                <a:ext uri="{FF2B5EF4-FFF2-40B4-BE49-F238E27FC236}">
                  <a16:creationId xmlns:a16="http://schemas.microsoft.com/office/drawing/2014/main" id="{8597F026-1340-8858-5DA7-DF3469691089}"/>
                </a:ext>
              </a:extLst>
            </p:cNvPr>
            <p:cNvCxnSpPr>
              <a:cxnSpLocks/>
            </p:cNvCxnSpPr>
            <p:nvPr/>
          </p:nvCxnSpPr>
          <p:spPr>
            <a:xfrm>
              <a:off x="1042821" y="5733256"/>
              <a:ext cx="63529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5" name="CuadroTexto 44">
                  <a:extLst>
                    <a:ext uri="{FF2B5EF4-FFF2-40B4-BE49-F238E27FC236}">
                      <a16:creationId xmlns:a16="http://schemas.microsoft.com/office/drawing/2014/main" id="{2FA875F4-80AB-AD69-A406-C64AFD4DD652}"/>
                    </a:ext>
                  </a:extLst>
                </p:cNvPr>
                <p:cNvSpPr txBox="1"/>
                <p:nvPr/>
              </p:nvSpPr>
              <p:spPr>
                <a:xfrm>
                  <a:off x="1110400" y="5893305"/>
                  <a:ext cx="471283" cy="18466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PE" sz="1200" b="1" i="1" smtClean="0">
                            <a:latin typeface="Cambria Math" panose="02040503050406030204" pitchFamily="18" charset="0"/>
                          </a:rPr>
                          <m:t>𝟑𝟓</m:t>
                        </m:r>
                        <m:r>
                          <a:rPr lang="es-PE" sz="1200" b="1" i="1" smtClean="0">
                            <a:latin typeface="Cambria Math" panose="02040503050406030204" pitchFamily="18" charset="0"/>
                          </a:rPr>
                          <m:t> </m:t>
                        </m:r>
                        <m:r>
                          <a:rPr lang="es-PE" sz="1200" b="1" i="1" smtClean="0">
                            <a:latin typeface="Cambria Math" panose="02040503050406030204" pitchFamily="18" charset="0"/>
                          </a:rPr>
                          <m:t>𝒄𝒎</m:t>
                        </m:r>
                      </m:oMath>
                    </m:oMathPara>
                  </a14:m>
                  <a:endParaRPr lang="es-PE" sz="1200" b="1" i="1" dirty="0"/>
                </a:p>
              </p:txBody>
            </p:sp>
          </mc:Choice>
          <mc:Fallback xmlns="">
            <p:sp>
              <p:nvSpPr>
                <p:cNvPr id="45" name="CuadroTexto 44">
                  <a:extLst>
                    <a:ext uri="{FF2B5EF4-FFF2-40B4-BE49-F238E27FC236}">
                      <a16:creationId xmlns:a16="http://schemas.microsoft.com/office/drawing/2014/main" id="{2FA875F4-80AB-AD69-A406-C64AFD4DD652}"/>
                    </a:ext>
                  </a:extLst>
                </p:cNvPr>
                <p:cNvSpPr txBox="1">
                  <a:spLocks noRot="1" noChangeAspect="1" noMove="1" noResize="1" noEditPoints="1" noAdjustHandles="1" noChangeArrowheads="1" noChangeShapeType="1" noTextEdit="1"/>
                </p:cNvSpPr>
                <p:nvPr/>
              </p:nvSpPr>
              <p:spPr>
                <a:xfrm>
                  <a:off x="1110400" y="5893305"/>
                  <a:ext cx="471283" cy="184666"/>
                </a:xfrm>
                <a:prstGeom prst="rect">
                  <a:avLst/>
                </a:prstGeom>
                <a:blipFill>
                  <a:blip r:embed="rId7"/>
                  <a:stretch>
                    <a:fillRect l="-7792" r="-6494" b="-6667"/>
                  </a:stretch>
                </a:blipFill>
              </p:spPr>
              <p:txBody>
                <a:bodyPr/>
                <a:lstStyle/>
                <a:p>
                  <a:r>
                    <a:rPr lang="es-PE">
                      <a:noFill/>
                    </a:rPr>
                    <a:t> </a:t>
                  </a:r>
                </a:p>
              </p:txBody>
            </p:sp>
          </mc:Fallback>
        </mc:AlternateContent>
        <p:cxnSp>
          <p:nvCxnSpPr>
            <p:cNvPr id="46" name="Conector recto 45">
              <a:extLst>
                <a:ext uri="{FF2B5EF4-FFF2-40B4-BE49-F238E27FC236}">
                  <a16:creationId xmlns:a16="http://schemas.microsoft.com/office/drawing/2014/main" id="{99E09178-93BC-DD94-7BC6-EB9B217ABD13}"/>
                </a:ext>
              </a:extLst>
            </p:cNvPr>
            <p:cNvCxnSpPr>
              <a:cxnSpLocks/>
            </p:cNvCxnSpPr>
            <p:nvPr/>
          </p:nvCxnSpPr>
          <p:spPr>
            <a:xfrm>
              <a:off x="918571" y="4976843"/>
              <a:ext cx="0" cy="61274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 name="Conector recto 46">
              <a:extLst>
                <a:ext uri="{FF2B5EF4-FFF2-40B4-BE49-F238E27FC236}">
                  <a16:creationId xmlns:a16="http://schemas.microsoft.com/office/drawing/2014/main" id="{A96142E6-B9BD-510B-6DFB-81A51F16546D}"/>
                </a:ext>
              </a:extLst>
            </p:cNvPr>
            <p:cNvCxnSpPr/>
            <p:nvPr/>
          </p:nvCxnSpPr>
          <p:spPr>
            <a:xfrm>
              <a:off x="801276" y="5042849"/>
              <a:ext cx="216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8" name="Conector recto 47">
              <a:extLst>
                <a:ext uri="{FF2B5EF4-FFF2-40B4-BE49-F238E27FC236}">
                  <a16:creationId xmlns:a16="http://schemas.microsoft.com/office/drawing/2014/main" id="{4E4E7C76-AFDD-BE67-8429-8D15E530E646}"/>
                </a:ext>
              </a:extLst>
            </p:cNvPr>
            <p:cNvCxnSpPr/>
            <p:nvPr/>
          </p:nvCxnSpPr>
          <p:spPr>
            <a:xfrm>
              <a:off x="814039" y="5462158"/>
              <a:ext cx="216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Conector recto 48">
              <a:extLst>
                <a:ext uri="{FF2B5EF4-FFF2-40B4-BE49-F238E27FC236}">
                  <a16:creationId xmlns:a16="http://schemas.microsoft.com/office/drawing/2014/main" id="{209DBE35-2BA7-CD5E-5509-F5B60DD29F9D}"/>
                </a:ext>
              </a:extLst>
            </p:cNvPr>
            <p:cNvCxnSpPr/>
            <p:nvPr/>
          </p:nvCxnSpPr>
          <p:spPr>
            <a:xfrm>
              <a:off x="1644166" y="5650665"/>
              <a:ext cx="0" cy="18000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0" name="CuadroTexto 49">
                  <a:extLst>
                    <a:ext uri="{FF2B5EF4-FFF2-40B4-BE49-F238E27FC236}">
                      <a16:creationId xmlns:a16="http://schemas.microsoft.com/office/drawing/2014/main" id="{9DED6EA8-01E0-6DCD-B014-36E94A7A9D0E}"/>
                    </a:ext>
                  </a:extLst>
                </p:cNvPr>
                <p:cNvSpPr txBox="1"/>
                <p:nvPr/>
              </p:nvSpPr>
              <p:spPr>
                <a:xfrm>
                  <a:off x="424663" y="5148731"/>
                  <a:ext cx="471283" cy="18466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PE" sz="1200" b="1" i="1" smtClean="0">
                            <a:latin typeface="Cambria Math" panose="02040503050406030204" pitchFamily="18" charset="0"/>
                          </a:rPr>
                          <m:t>𝟑𝟎</m:t>
                        </m:r>
                        <m:r>
                          <a:rPr lang="es-PE" sz="1200" b="1" i="1" smtClean="0">
                            <a:latin typeface="Cambria Math" panose="02040503050406030204" pitchFamily="18" charset="0"/>
                          </a:rPr>
                          <m:t> </m:t>
                        </m:r>
                        <m:r>
                          <a:rPr lang="es-PE" sz="1200" b="1" i="1" smtClean="0">
                            <a:latin typeface="Cambria Math" panose="02040503050406030204" pitchFamily="18" charset="0"/>
                          </a:rPr>
                          <m:t>𝒄𝒎</m:t>
                        </m:r>
                      </m:oMath>
                    </m:oMathPara>
                  </a14:m>
                  <a:endParaRPr lang="es-PE" sz="1200" b="1" i="1" dirty="0"/>
                </a:p>
              </p:txBody>
            </p:sp>
          </mc:Choice>
          <mc:Fallback xmlns="">
            <p:sp>
              <p:nvSpPr>
                <p:cNvPr id="50" name="CuadroTexto 49">
                  <a:extLst>
                    <a:ext uri="{FF2B5EF4-FFF2-40B4-BE49-F238E27FC236}">
                      <a16:creationId xmlns:a16="http://schemas.microsoft.com/office/drawing/2014/main" id="{9DED6EA8-01E0-6DCD-B014-36E94A7A9D0E}"/>
                    </a:ext>
                  </a:extLst>
                </p:cNvPr>
                <p:cNvSpPr txBox="1">
                  <a:spLocks noRot="1" noChangeAspect="1" noMove="1" noResize="1" noEditPoints="1" noAdjustHandles="1" noChangeArrowheads="1" noChangeShapeType="1" noTextEdit="1"/>
                </p:cNvSpPr>
                <p:nvPr/>
              </p:nvSpPr>
              <p:spPr>
                <a:xfrm>
                  <a:off x="424663" y="5148731"/>
                  <a:ext cx="471283" cy="184666"/>
                </a:xfrm>
                <a:prstGeom prst="rect">
                  <a:avLst/>
                </a:prstGeom>
                <a:blipFill>
                  <a:blip r:embed="rId8"/>
                  <a:stretch>
                    <a:fillRect l="-7792" r="-5195" b="-6667"/>
                  </a:stretch>
                </a:blipFill>
              </p:spPr>
              <p:txBody>
                <a:bodyPr/>
                <a:lstStyle/>
                <a:p>
                  <a:r>
                    <a:rPr lang="es-PE">
                      <a:noFill/>
                    </a:rPr>
                    <a:t> </a:t>
                  </a:r>
                </a:p>
              </p:txBody>
            </p:sp>
          </mc:Fallback>
        </mc:AlternateContent>
      </p:grpSp>
      <p:grpSp>
        <p:nvGrpSpPr>
          <p:cNvPr id="51" name="Grupo 50">
            <a:extLst>
              <a:ext uri="{FF2B5EF4-FFF2-40B4-BE49-F238E27FC236}">
                <a16:creationId xmlns:a16="http://schemas.microsoft.com/office/drawing/2014/main" id="{6E405995-B398-1A5B-7A2D-7D4362FF7409}"/>
              </a:ext>
            </a:extLst>
          </p:cNvPr>
          <p:cNvGrpSpPr/>
          <p:nvPr/>
        </p:nvGrpSpPr>
        <p:grpSpPr>
          <a:xfrm>
            <a:off x="4313696" y="2646001"/>
            <a:ext cx="1155667" cy="1137101"/>
            <a:chOff x="426016" y="4940870"/>
            <a:chExt cx="1155667" cy="1137101"/>
          </a:xfrm>
        </p:grpSpPr>
        <p:sp>
          <p:nvSpPr>
            <p:cNvPr id="52" name="Rectángulo 51">
              <a:extLst>
                <a:ext uri="{FF2B5EF4-FFF2-40B4-BE49-F238E27FC236}">
                  <a16:creationId xmlns:a16="http://schemas.microsoft.com/office/drawing/2014/main" id="{6E2CE7B3-EE23-7CEE-B9CF-F16B6C534E45}"/>
                </a:ext>
              </a:extLst>
            </p:cNvPr>
            <p:cNvSpPr>
              <a:spLocks noChangeAspect="1"/>
            </p:cNvSpPr>
            <p:nvPr/>
          </p:nvSpPr>
          <p:spPr>
            <a:xfrm>
              <a:off x="1149729" y="5048875"/>
              <a:ext cx="324000" cy="540000"/>
            </a:xfrm>
            <a:prstGeom prst="rect">
              <a:avLst/>
            </a:prstGeom>
            <a:pattFill prst="wdUpDiag">
              <a:fgClr>
                <a:schemeClr val="tx1">
                  <a:lumMod val="65000"/>
                  <a:lumOff val="35000"/>
                </a:schemeClr>
              </a:fgClr>
              <a:bgClr>
                <a:schemeClr val="bg1"/>
              </a:bgClr>
            </a:patt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dirty="0"/>
            </a:p>
          </p:txBody>
        </p:sp>
        <p:cxnSp>
          <p:nvCxnSpPr>
            <p:cNvPr id="53" name="Conector recto 52">
              <a:extLst>
                <a:ext uri="{FF2B5EF4-FFF2-40B4-BE49-F238E27FC236}">
                  <a16:creationId xmlns:a16="http://schemas.microsoft.com/office/drawing/2014/main" id="{E16DC208-7731-F570-8689-09C25D2ED344}"/>
                </a:ext>
              </a:extLst>
            </p:cNvPr>
            <p:cNvCxnSpPr/>
            <p:nvPr/>
          </p:nvCxnSpPr>
          <p:spPr>
            <a:xfrm>
              <a:off x="1149729" y="5640390"/>
              <a:ext cx="0" cy="18000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 name="Conector recto 53">
              <a:extLst>
                <a:ext uri="{FF2B5EF4-FFF2-40B4-BE49-F238E27FC236}">
                  <a16:creationId xmlns:a16="http://schemas.microsoft.com/office/drawing/2014/main" id="{5E1FAB24-E291-5F41-1636-72BC6F1A30A6}"/>
                </a:ext>
              </a:extLst>
            </p:cNvPr>
            <p:cNvCxnSpPr>
              <a:cxnSpLocks/>
            </p:cNvCxnSpPr>
            <p:nvPr/>
          </p:nvCxnSpPr>
          <p:spPr>
            <a:xfrm>
              <a:off x="1068222" y="5733256"/>
              <a:ext cx="468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5" name="CuadroTexto 54">
                  <a:extLst>
                    <a:ext uri="{FF2B5EF4-FFF2-40B4-BE49-F238E27FC236}">
                      <a16:creationId xmlns:a16="http://schemas.microsoft.com/office/drawing/2014/main" id="{4A19B253-5C72-D0ED-221F-1EEA3556B012}"/>
                    </a:ext>
                  </a:extLst>
                </p:cNvPr>
                <p:cNvSpPr txBox="1"/>
                <p:nvPr/>
              </p:nvSpPr>
              <p:spPr>
                <a:xfrm>
                  <a:off x="1110400" y="5893305"/>
                  <a:ext cx="471283" cy="18466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PE" sz="1200" b="1" i="1" smtClean="0">
                            <a:latin typeface="Cambria Math" panose="02040503050406030204" pitchFamily="18" charset="0"/>
                          </a:rPr>
                          <m:t>𝟑𝟎</m:t>
                        </m:r>
                        <m:r>
                          <a:rPr lang="es-PE" sz="1200" b="1" i="1" smtClean="0">
                            <a:latin typeface="Cambria Math" panose="02040503050406030204" pitchFamily="18" charset="0"/>
                          </a:rPr>
                          <m:t> </m:t>
                        </m:r>
                        <m:r>
                          <a:rPr lang="es-PE" sz="1200" b="1" i="1" smtClean="0">
                            <a:latin typeface="Cambria Math" panose="02040503050406030204" pitchFamily="18" charset="0"/>
                          </a:rPr>
                          <m:t>𝒄𝒎</m:t>
                        </m:r>
                      </m:oMath>
                    </m:oMathPara>
                  </a14:m>
                  <a:endParaRPr lang="es-PE" sz="1200" b="1" i="1" dirty="0"/>
                </a:p>
              </p:txBody>
            </p:sp>
          </mc:Choice>
          <mc:Fallback xmlns="">
            <p:sp>
              <p:nvSpPr>
                <p:cNvPr id="55" name="CuadroTexto 54">
                  <a:extLst>
                    <a:ext uri="{FF2B5EF4-FFF2-40B4-BE49-F238E27FC236}">
                      <a16:creationId xmlns:a16="http://schemas.microsoft.com/office/drawing/2014/main" id="{4A19B253-5C72-D0ED-221F-1EEA3556B012}"/>
                    </a:ext>
                  </a:extLst>
                </p:cNvPr>
                <p:cNvSpPr txBox="1">
                  <a:spLocks noRot="1" noChangeAspect="1" noMove="1" noResize="1" noEditPoints="1" noAdjustHandles="1" noChangeArrowheads="1" noChangeShapeType="1" noTextEdit="1"/>
                </p:cNvSpPr>
                <p:nvPr/>
              </p:nvSpPr>
              <p:spPr>
                <a:xfrm>
                  <a:off x="1110400" y="5893305"/>
                  <a:ext cx="471283" cy="184666"/>
                </a:xfrm>
                <a:prstGeom prst="rect">
                  <a:avLst/>
                </a:prstGeom>
                <a:blipFill>
                  <a:blip r:embed="rId8"/>
                  <a:stretch>
                    <a:fillRect l="-7792" r="-5195" b="-3226"/>
                  </a:stretch>
                </a:blipFill>
              </p:spPr>
              <p:txBody>
                <a:bodyPr/>
                <a:lstStyle/>
                <a:p>
                  <a:r>
                    <a:rPr lang="es-PE">
                      <a:noFill/>
                    </a:rPr>
                    <a:t> </a:t>
                  </a:r>
                </a:p>
              </p:txBody>
            </p:sp>
          </mc:Fallback>
        </mc:AlternateContent>
        <p:cxnSp>
          <p:nvCxnSpPr>
            <p:cNvPr id="56" name="Conector recto 55">
              <a:extLst>
                <a:ext uri="{FF2B5EF4-FFF2-40B4-BE49-F238E27FC236}">
                  <a16:creationId xmlns:a16="http://schemas.microsoft.com/office/drawing/2014/main" id="{BC89E188-E0DF-79B6-6223-1EE06395D228}"/>
                </a:ext>
              </a:extLst>
            </p:cNvPr>
            <p:cNvCxnSpPr>
              <a:cxnSpLocks/>
            </p:cNvCxnSpPr>
            <p:nvPr/>
          </p:nvCxnSpPr>
          <p:spPr>
            <a:xfrm>
              <a:off x="918571" y="4940870"/>
              <a:ext cx="0" cy="72000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 name="Conector recto 56">
              <a:extLst>
                <a:ext uri="{FF2B5EF4-FFF2-40B4-BE49-F238E27FC236}">
                  <a16:creationId xmlns:a16="http://schemas.microsoft.com/office/drawing/2014/main" id="{5C061F2E-AD3C-6291-4B7C-C8388F5B66F4}"/>
                </a:ext>
              </a:extLst>
            </p:cNvPr>
            <p:cNvCxnSpPr/>
            <p:nvPr/>
          </p:nvCxnSpPr>
          <p:spPr>
            <a:xfrm>
              <a:off x="801276" y="5042849"/>
              <a:ext cx="216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 name="Conector recto 57">
              <a:extLst>
                <a:ext uri="{FF2B5EF4-FFF2-40B4-BE49-F238E27FC236}">
                  <a16:creationId xmlns:a16="http://schemas.microsoft.com/office/drawing/2014/main" id="{05DEF1E9-3BC4-A789-403E-A99E1616D2E6}"/>
                </a:ext>
              </a:extLst>
            </p:cNvPr>
            <p:cNvCxnSpPr/>
            <p:nvPr/>
          </p:nvCxnSpPr>
          <p:spPr>
            <a:xfrm>
              <a:off x="814039" y="5572229"/>
              <a:ext cx="216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9" name="Conector recto 68">
              <a:extLst>
                <a:ext uri="{FF2B5EF4-FFF2-40B4-BE49-F238E27FC236}">
                  <a16:creationId xmlns:a16="http://schemas.microsoft.com/office/drawing/2014/main" id="{AA169580-4215-AA25-A5A2-180FE19AA145}"/>
                </a:ext>
              </a:extLst>
            </p:cNvPr>
            <p:cNvCxnSpPr/>
            <p:nvPr/>
          </p:nvCxnSpPr>
          <p:spPr>
            <a:xfrm>
              <a:off x="1500229" y="5650665"/>
              <a:ext cx="0" cy="18000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7" name="CuadroTexto 76">
                  <a:extLst>
                    <a:ext uri="{FF2B5EF4-FFF2-40B4-BE49-F238E27FC236}">
                      <a16:creationId xmlns:a16="http://schemas.microsoft.com/office/drawing/2014/main" id="{640C0886-2F40-F54D-BA62-E307E1C1BCD6}"/>
                    </a:ext>
                  </a:extLst>
                </p:cNvPr>
                <p:cNvSpPr txBox="1"/>
                <p:nvPr/>
              </p:nvSpPr>
              <p:spPr>
                <a:xfrm>
                  <a:off x="426016" y="5231081"/>
                  <a:ext cx="471283" cy="18466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PE" sz="1200" b="1" i="1" smtClean="0">
                            <a:latin typeface="Cambria Math" panose="02040503050406030204" pitchFamily="18" charset="0"/>
                          </a:rPr>
                          <m:t>𝟓𝟎</m:t>
                        </m:r>
                        <m:r>
                          <a:rPr lang="es-PE" sz="1200" b="1" i="1" smtClean="0">
                            <a:latin typeface="Cambria Math" panose="02040503050406030204" pitchFamily="18" charset="0"/>
                          </a:rPr>
                          <m:t> </m:t>
                        </m:r>
                        <m:r>
                          <a:rPr lang="es-PE" sz="1200" b="1" i="1" smtClean="0">
                            <a:latin typeface="Cambria Math" panose="02040503050406030204" pitchFamily="18" charset="0"/>
                          </a:rPr>
                          <m:t>𝒄𝒎</m:t>
                        </m:r>
                      </m:oMath>
                    </m:oMathPara>
                  </a14:m>
                  <a:endParaRPr lang="es-PE" sz="1200" b="1" i="1" dirty="0"/>
                </a:p>
              </p:txBody>
            </p:sp>
          </mc:Choice>
          <mc:Fallback xmlns="">
            <p:sp>
              <p:nvSpPr>
                <p:cNvPr id="77" name="CuadroTexto 76">
                  <a:extLst>
                    <a:ext uri="{FF2B5EF4-FFF2-40B4-BE49-F238E27FC236}">
                      <a16:creationId xmlns:a16="http://schemas.microsoft.com/office/drawing/2014/main" id="{640C0886-2F40-F54D-BA62-E307E1C1BCD6}"/>
                    </a:ext>
                  </a:extLst>
                </p:cNvPr>
                <p:cNvSpPr txBox="1">
                  <a:spLocks noRot="1" noChangeAspect="1" noMove="1" noResize="1" noEditPoints="1" noAdjustHandles="1" noChangeArrowheads="1" noChangeShapeType="1" noTextEdit="1"/>
                </p:cNvSpPr>
                <p:nvPr/>
              </p:nvSpPr>
              <p:spPr>
                <a:xfrm>
                  <a:off x="426016" y="5231081"/>
                  <a:ext cx="471283" cy="184666"/>
                </a:xfrm>
                <a:prstGeom prst="rect">
                  <a:avLst/>
                </a:prstGeom>
                <a:blipFill>
                  <a:blip r:embed="rId9"/>
                  <a:stretch>
                    <a:fillRect l="-9091" r="-5195" b="-6667"/>
                  </a:stretch>
                </a:blipFill>
              </p:spPr>
              <p:txBody>
                <a:bodyPr/>
                <a:lstStyle/>
                <a:p>
                  <a:r>
                    <a:rPr lang="es-PE">
                      <a:noFill/>
                    </a:rPr>
                    <a:t> </a:t>
                  </a:r>
                </a:p>
              </p:txBody>
            </p:sp>
          </mc:Fallback>
        </mc:AlternateContent>
      </p:grpSp>
      <mc:AlternateContent xmlns:mc="http://schemas.openxmlformats.org/markup-compatibility/2006" xmlns:a14="http://schemas.microsoft.com/office/drawing/2010/main">
        <mc:Choice Requires="a14">
          <p:sp>
            <p:nvSpPr>
              <p:cNvPr id="78" name="CuadroTexto 77">
                <a:extLst>
                  <a:ext uri="{FF2B5EF4-FFF2-40B4-BE49-F238E27FC236}">
                    <a16:creationId xmlns:a16="http://schemas.microsoft.com/office/drawing/2014/main" id="{901CCE5D-829E-8EDF-47C1-DB17699B5BC0}"/>
                  </a:ext>
                </a:extLst>
              </p:cNvPr>
              <p:cNvSpPr txBox="1"/>
              <p:nvPr/>
            </p:nvSpPr>
            <p:spPr>
              <a:xfrm>
                <a:off x="1452446" y="4569426"/>
                <a:ext cx="728276"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PE" sz="1600" b="1" i="1" smtClean="0">
                          <a:latin typeface="Cambria Math" panose="02040503050406030204" pitchFamily="18" charset="0"/>
                        </a:rPr>
                        <m:t>𝟑</m:t>
                      </m:r>
                      <m:r>
                        <a:rPr lang="es-PE" sz="1600" b="1" i="1" smtClean="0">
                          <a:latin typeface="Cambria Math" panose="02040503050406030204" pitchFamily="18" charset="0"/>
                        </a:rPr>
                        <m:t>.</m:t>
                      </m:r>
                      <m:r>
                        <a:rPr lang="es-PE" sz="1600" b="1" i="1" smtClean="0">
                          <a:latin typeface="Cambria Math" panose="02040503050406030204" pitchFamily="18" charset="0"/>
                        </a:rPr>
                        <m:t>𝟖𝟎</m:t>
                      </m:r>
                      <m:r>
                        <a:rPr lang="es-PE" sz="1600" b="1" i="1" smtClean="0">
                          <a:latin typeface="Cambria Math" panose="02040503050406030204" pitchFamily="18" charset="0"/>
                        </a:rPr>
                        <m:t> </m:t>
                      </m:r>
                      <m:r>
                        <a:rPr lang="es-PE" sz="1600" b="1" i="1" smtClean="0">
                          <a:latin typeface="Cambria Math" panose="02040503050406030204" pitchFamily="18" charset="0"/>
                        </a:rPr>
                        <m:t>𝒎</m:t>
                      </m:r>
                    </m:oMath>
                  </m:oMathPara>
                </a14:m>
                <a:endParaRPr lang="es-PE" sz="1600" b="1" i="1" dirty="0"/>
              </a:p>
            </p:txBody>
          </p:sp>
        </mc:Choice>
        <mc:Fallback xmlns="">
          <p:sp>
            <p:nvSpPr>
              <p:cNvPr id="78" name="CuadroTexto 77">
                <a:extLst>
                  <a:ext uri="{FF2B5EF4-FFF2-40B4-BE49-F238E27FC236}">
                    <a16:creationId xmlns:a16="http://schemas.microsoft.com/office/drawing/2014/main" id="{901CCE5D-829E-8EDF-47C1-DB17699B5BC0}"/>
                  </a:ext>
                </a:extLst>
              </p:cNvPr>
              <p:cNvSpPr txBox="1">
                <a:spLocks noRot="1" noChangeAspect="1" noMove="1" noResize="1" noEditPoints="1" noAdjustHandles="1" noChangeArrowheads="1" noChangeShapeType="1" noTextEdit="1"/>
              </p:cNvSpPr>
              <p:nvPr/>
            </p:nvSpPr>
            <p:spPr>
              <a:xfrm>
                <a:off x="1452446" y="4569426"/>
                <a:ext cx="728276" cy="246221"/>
              </a:xfrm>
              <a:prstGeom prst="rect">
                <a:avLst/>
              </a:prstGeom>
              <a:blipFill>
                <a:blip r:embed="rId10"/>
                <a:stretch>
                  <a:fillRect l="-5833" r="-3333" b="-5000"/>
                </a:stretch>
              </a:blipFill>
            </p:spPr>
            <p:txBody>
              <a:bodyPr/>
              <a:lstStyle/>
              <a:p>
                <a:r>
                  <a:rPr lang="es-PE">
                    <a:noFill/>
                  </a:rPr>
                  <a:t> </a:t>
                </a:r>
              </a:p>
            </p:txBody>
          </p:sp>
        </mc:Fallback>
      </mc:AlternateContent>
      <mc:AlternateContent xmlns:mc="http://schemas.openxmlformats.org/markup-compatibility/2006" xmlns:a14="http://schemas.microsoft.com/office/drawing/2010/main">
        <mc:Choice Requires="a14">
          <p:sp>
            <p:nvSpPr>
              <p:cNvPr id="79" name="CuadroTexto 78">
                <a:extLst>
                  <a:ext uri="{FF2B5EF4-FFF2-40B4-BE49-F238E27FC236}">
                    <a16:creationId xmlns:a16="http://schemas.microsoft.com/office/drawing/2014/main" id="{D85FE1CC-8282-118A-65B7-44C21434223A}"/>
                  </a:ext>
                </a:extLst>
              </p:cNvPr>
              <p:cNvSpPr txBox="1"/>
              <p:nvPr/>
            </p:nvSpPr>
            <p:spPr>
              <a:xfrm>
                <a:off x="3708850" y="4522437"/>
                <a:ext cx="604846"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PE" sz="1600" b="1" i="1" smtClean="0">
                          <a:latin typeface="Cambria Math" panose="02040503050406030204" pitchFamily="18" charset="0"/>
                        </a:rPr>
                        <m:t>𝟒</m:t>
                      </m:r>
                      <m:r>
                        <a:rPr lang="es-PE" sz="1600" b="1" i="1" smtClean="0">
                          <a:latin typeface="Cambria Math" panose="02040503050406030204" pitchFamily="18" charset="0"/>
                        </a:rPr>
                        <m:t>.</m:t>
                      </m:r>
                      <m:r>
                        <a:rPr lang="es-PE" sz="1600" b="1" i="1" smtClean="0">
                          <a:latin typeface="Cambria Math" panose="02040503050406030204" pitchFamily="18" charset="0"/>
                        </a:rPr>
                        <m:t>𝟐</m:t>
                      </m:r>
                      <m:r>
                        <a:rPr lang="es-PE" sz="1600" b="1" i="1" smtClean="0">
                          <a:latin typeface="Cambria Math" panose="02040503050406030204" pitchFamily="18" charset="0"/>
                        </a:rPr>
                        <m:t> </m:t>
                      </m:r>
                      <m:r>
                        <a:rPr lang="es-PE" sz="1600" b="1" i="1" smtClean="0">
                          <a:latin typeface="Cambria Math" panose="02040503050406030204" pitchFamily="18" charset="0"/>
                        </a:rPr>
                        <m:t>𝒎</m:t>
                      </m:r>
                    </m:oMath>
                  </m:oMathPara>
                </a14:m>
                <a:endParaRPr lang="es-PE" sz="1600" b="1" i="1" dirty="0"/>
              </a:p>
            </p:txBody>
          </p:sp>
        </mc:Choice>
        <mc:Fallback xmlns="">
          <p:sp>
            <p:nvSpPr>
              <p:cNvPr id="79" name="CuadroTexto 78">
                <a:extLst>
                  <a:ext uri="{FF2B5EF4-FFF2-40B4-BE49-F238E27FC236}">
                    <a16:creationId xmlns:a16="http://schemas.microsoft.com/office/drawing/2014/main" id="{D85FE1CC-8282-118A-65B7-44C21434223A}"/>
                  </a:ext>
                </a:extLst>
              </p:cNvPr>
              <p:cNvSpPr txBox="1">
                <a:spLocks noRot="1" noChangeAspect="1" noMove="1" noResize="1" noEditPoints="1" noAdjustHandles="1" noChangeArrowheads="1" noChangeShapeType="1" noTextEdit="1"/>
              </p:cNvSpPr>
              <p:nvPr/>
            </p:nvSpPr>
            <p:spPr>
              <a:xfrm>
                <a:off x="3708850" y="4522437"/>
                <a:ext cx="604846" cy="246221"/>
              </a:xfrm>
              <a:prstGeom prst="rect">
                <a:avLst/>
              </a:prstGeom>
              <a:blipFill>
                <a:blip r:embed="rId11"/>
                <a:stretch>
                  <a:fillRect l="-7000" r="-4000" b="-5000"/>
                </a:stretch>
              </a:blipFill>
            </p:spPr>
            <p:txBody>
              <a:bodyPr/>
              <a:lstStyle/>
              <a:p>
                <a:r>
                  <a:rPr lang="es-PE">
                    <a:noFill/>
                  </a:rPr>
                  <a:t> </a:t>
                </a:r>
              </a:p>
            </p:txBody>
          </p:sp>
        </mc:Fallback>
      </mc:AlternateContent>
      <p:sp>
        <p:nvSpPr>
          <p:cNvPr id="80" name="Elipse 79">
            <a:extLst>
              <a:ext uri="{FF2B5EF4-FFF2-40B4-BE49-F238E27FC236}">
                <a16:creationId xmlns:a16="http://schemas.microsoft.com/office/drawing/2014/main" id="{B3E328BC-F14F-D3B3-1E45-98105D8273D5}"/>
              </a:ext>
            </a:extLst>
          </p:cNvPr>
          <p:cNvSpPr>
            <a:spLocks noChangeAspect="1"/>
          </p:cNvSpPr>
          <p:nvPr/>
        </p:nvSpPr>
        <p:spPr>
          <a:xfrm>
            <a:off x="553151" y="2045936"/>
            <a:ext cx="252000" cy="252000"/>
          </a:xfrm>
          <a:prstGeom prst="ellipse">
            <a:avLst/>
          </a:prstGeom>
          <a:solidFill>
            <a:schemeClr val="bg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PE" dirty="0">
                <a:solidFill>
                  <a:schemeClr val="tx1"/>
                </a:solidFill>
              </a:rPr>
              <a:t>B</a:t>
            </a:r>
          </a:p>
        </p:txBody>
      </p:sp>
      <p:sp>
        <p:nvSpPr>
          <p:cNvPr id="81" name="Elipse 80">
            <a:extLst>
              <a:ext uri="{FF2B5EF4-FFF2-40B4-BE49-F238E27FC236}">
                <a16:creationId xmlns:a16="http://schemas.microsoft.com/office/drawing/2014/main" id="{4F9F406D-40E0-FF69-408D-622CFFCB64D9}"/>
              </a:ext>
            </a:extLst>
          </p:cNvPr>
          <p:cNvSpPr>
            <a:spLocks noChangeAspect="1"/>
          </p:cNvSpPr>
          <p:nvPr/>
        </p:nvSpPr>
        <p:spPr>
          <a:xfrm>
            <a:off x="3097600" y="4194727"/>
            <a:ext cx="252000" cy="252000"/>
          </a:xfrm>
          <a:prstGeom prst="ellipse">
            <a:avLst/>
          </a:prstGeom>
          <a:solidFill>
            <a:schemeClr val="bg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PE" dirty="0">
                <a:solidFill>
                  <a:schemeClr val="tx1"/>
                </a:solidFill>
              </a:rPr>
              <a:t>C</a:t>
            </a:r>
          </a:p>
        </p:txBody>
      </p:sp>
      <p:sp>
        <p:nvSpPr>
          <p:cNvPr id="82" name="Elipse 81">
            <a:extLst>
              <a:ext uri="{FF2B5EF4-FFF2-40B4-BE49-F238E27FC236}">
                <a16:creationId xmlns:a16="http://schemas.microsoft.com/office/drawing/2014/main" id="{3F1924B3-387F-4A86-64D1-071726FE24ED}"/>
              </a:ext>
            </a:extLst>
          </p:cNvPr>
          <p:cNvSpPr>
            <a:spLocks noChangeAspect="1"/>
          </p:cNvSpPr>
          <p:nvPr/>
        </p:nvSpPr>
        <p:spPr>
          <a:xfrm>
            <a:off x="2784417" y="2047373"/>
            <a:ext cx="252000" cy="252000"/>
          </a:xfrm>
          <a:prstGeom prst="ellipse">
            <a:avLst/>
          </a:prstGeom>
          <a:solidFill>
            <a:schemeClr val="bg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PE" dirty="0">
                <a:solidFill>
                  <a:schemeClr val="tx1"/>
                </a:solidFill>
              </a:rPr>
              <a:t>D</a:t>
            </a:r>
          </a:p>
        </p:txBody>
      </p:sp>
      <p:sp>
        <p:nvSpPr>
          <p:cNvPr id="83" name="Elipse 82">
            <a:extLst>
              <a:ext uri="{FF2B5EF4-FFF2-40B4-BE49-F238E27FC236}">
                <a16:creationId xmlns:a16="http://schemas.microsoft.com/office/drawing/2014/main" id="{F28891CE-4658-7860-D4A0-6D056E31FB30}"/>
              </a:ext>
            </a:extLst>
          </p:cNvPr>
          <p:cNvSpPr>
            <a:spLocks noChangeAspect="1"/>
          </p:cNvSpPr>
          <p:nvPr/>
        </p:nvSpPr>
        <p:spPr>
          <a:xfrm>
            <a:off x="5141683" y="2029543"/>
            <a:ext cx="252000" cy="252000"/>
          </a:xfrm>
          <a:prstGeom prst="ellipse">
            <a:avLst/>
          </a:prstGeom>
          <a:solidFill>
            <a:schemeClr val="bg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PE" dirty="0">
                <a:solidFill>
                  <a:schemeClr val="tx1"/>
                </a:solidFill>
              </a:rPr>
              <a:t>F</a:t>
            </a:r>
          </a:p>
        </p:txBody>
      </p:sp>
      <mc:AlternateContent xmlns:mc="http://schemas.openxmlformats.org/markup-compatibility/2006" xmlns:a14="http://schemas.microsoft.com/office/drawing/2010/main">
        <mc:Choice Requires="a14">
          <p:sp>
            <p:nvSpPr>
              <p:cNvPr id="84" name="CuadroTexto 83">
                <a:extLst>
                  <a:ext uri="{FF2B5EF4-FFF2-40B4-BE49-F238E27FC236}">
                    <a16:creationId xmlns:a16="http://schemas.microsoft.com/office/drawing/2014/main" id="{16C5A6B9-448E-9C08-8940-4802A1122890}"/>
                  </a:ext>
                </a:extLst>
              </p:cNvPr>
              <p:cNvSpPr txBox="1"/>
              <p:nvPr/>
            </p:nvSpPr>
            <p:spPr>
              <a:xfrm>
                <a:off x="6174831" y="3805367"/>
                <a:ext cx="3785011" cy="57131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PE" i="1" smtClean="0">
                              <a:latin typeface="Cambria Math" panose="02040503050406030204" pitchFamily="18" charset="0"/>
                            </a:rPr>
                          </m:ctrlPr>
                        </m:sSubPr>
                        <m:e>
                          <m:r>
                            <a:rPr lang="es-PE" b="0" i="1" smtClean="0">
                              <a:latin typeface="Cambria Math" panose="02040503050406030204" pitchFamily="18" charset="0"/>
                            </a:rPr>
                            <m:t>𝐾</m:t>
                          </m:r>
                        </m:e>
                        <m:sub>
                          <m:r>
                            <a:rPr lang="es-PE" b="0" i="1" smtClean="0">
                              <a:latin typeface="Cambria Math" panose="02040503050406030204" pitchFamily="18" charset="0"/>
                            </a:rPr>
                            <m:t>𝐷𝐹</m:t>
                          </m:r>
                        </m:sub>
                      </m:sSub>
                      <m:r>
                        <a:rPr lang="es-PE" b="0" i="1" smtClean="0">
                          <a:latin typeface="Cambria Math" panose="02040503050406030204" pitchFamily="18" charset="0"/>
                        </a:rPr>
                        <m:t>= </m:t>
                      </m:r>
                      <m:f>
                        <m:fPr>
                          <m:ctrlPr>
                            <a:rPr lang="es-PE" b="0" i="1" smtClean="0">
                              <a:latin typeface="Cambria Math" panose="02040503050406030204" pitchFamily="18" charset="0"/>
                            </a:rPr>
                          </m:ctrlPr>
                        </m:fPr>
                        <m:num>
                          <m:sSub>
                            <m:sSubPr>
                              <m:ctrlPr>
                                <a:rPr lang="es-PE" b="0" i="1" smtClean="0">
                                  <a:latin typeface="Cambria Math" panose="02040503050406030204" pitchFamily="18" charset="0"/>
                                </a:rPr>
                              </m:ctrlPr>
                            </m:sSubPr>
                            <m:e>
                              <m:r>
                                <a:rPr lang="es-PE" b="0" i="1" smtClean="0">
                                  <a:latin typeface="Cambria Math" panose="02040503050406030204" pitchFamily="18" charset="0"/>
                                </a:rPr>
                                <m:t>𝐼</m:t>
                              </m:r>
                            </m:e>
                            <m:sub>
                              <m:r>
                                <a:rPr lang="es-PE" b="0" i="1" smtClean="0">
                                  <a:latin typeface="Cambria Math" panose="02040503050406030204" pitchFamily="18" charset="0"/>
                                </a:rPr>
                                <m:t>𝐵𝐷</m:t>
                              </m:r>
                            </m:sub>
                          </m:sSub>
                        </m:num>
                        <m:den>
                          <m:sSub>
                            <m:sSubPr>
                              <m:ctrlPr>
                                <a:rPr lang="es-PE" b="0" i="1" smtClean="0">
                                  <a:latin typeface="Cambria Math" panose="02040503050406030204" pitchFamily="18" charset="0"/>
                                </a:rPr>
                              </m:ctrlPr>
                            </m:sSubPr>
                            <m:e>
                              <m:r>
                                <a:rPr lang="es-PE" b="0" i="1" smtClean="0">
                                  <a:latin typeface="Cambria Math" panose="02040503050406030204" pitchFamily="18" charset="0"/>
                                </a:rPr>
                                <m:t>𝐿</m:t>
                              </m:r>
                            </m:e>
                            <m:sub>
                              <m:r>
                                <a:rPr lang="es-PE" b="0" i="1" smtClean="0">
                                  <a:latin typeface="Cambria Math" panose="02040503050406030204" pitchFamily="18" charset="0"/>
                                </a:rPr>
                                <m:t>𝐵𝐷</m:t>
                              </m:r>
                            </m:sub>
                          </m:sSub>
                        </m:den>
                      </m:f>
                      <m:r>
                        <a:rPr lang="es-PE" b="0" i="1" smtClean="0">
                          <a:latin typeface="Cambria Math" panose="02040503050406030204" pitchFamily="18" charset="0"/>
                        </a:rPr>
                        <m:t>=</m:t>
                      </m:r>
                      <m:f>
                        <m:fPr>
                          <m:ctrlPr>
                            <a:rPr lang="es-PE" i="1">
                              <a:latin typeface="Cambria Math" panose="02040503050406030204" pitchFamily="18" charset="0"/>
                            </a:rPr>
                          </m:ctrlPr>
                        </m:fPr>
                        <m:num>
                          <m:r>
                            <a:rPr lang="es-PE" b="0" i="1" smtClean="0">
                              <a:latin typeface="Cambria Math" panose="02040503050406030204" pitchFamily="18" charset="0"/>
                            </a:rPr>
                            <m:t>312500</m:t>
                          </m:r>
                        </m:num>
                        <m:den>
                          <m:r>
                            <a:rPr lang="es-PE" b="0" i="1" smtClean="0">
                              <a:latin typeface="Cambria Math" panose="02040503050406030204" pitchFamily="18" charset="0"/>
                            </a:rPr>
                            <m:t>420</m:t>
                          </m:r>
                        </m:den>
                      </m:f>
                      <m:r>
                        <a:rPr lang="es-PE" b="0" i="1" smtClean="0">
                          <a:latin typeface="Cambria Math" panose="02040503050406030204" pitchFamily="18" charset="0"/>
                        </a:rPr>
                        <m:t>=744.05 </m:t>
                      </m:r>
                      <m:sSup>
                        <m:sSupPr>
                          <m:ctrlPr>
                            <a:rPr lang="es-PE" b="0" i="1" smtClean="0">
                              <a:latin typeface="Cambria Math" panose="02040503050406030204" pitchFamily="18" charset="0"/>
                            </a:rPr>
                          </m:ctrlPr>
                        </m:sSupPr>
                        <m:e>
                          <m:r>
                            <a:rPr lang="es-PE" b="0" i="1" smtClean="0">
                              <a:latin typeface="Cambria Math" panose="02040503050406030204" pitchFamily="18" charset="0"/>
                            </a:rPr>
                            <m:t>𝑐𝑚</m:t>
                          </m:r>
                        </m:e>
                        <m:sup>
                          <m:r>
                            <a:rPr lang="es-PE" b="0" i="1" smtClean="0">
                              <a:latin typeface="Cambria Math" panose="02040503050406030204" pitchFamily="18" charset="0"/>
                            </a:rPr>
                            <m:t>3</m:t>
                          </m:r>
                        </m:sup>
                      </m:sSup>
                    </m:oMath>
                  </m:oMathPara>
                </a14:m>
                <a:endParaRPr lang="es-PE" dirty="0"/>
              </a:p>
            </p:txBody>
          </p:sp>
        </mc:Choice>
        <mc:Fallback xmlns="">
          <p:sp>
            <p:nvSpPr>
              <p:cNvPr id="84" name="CuadroTexto 83">
                <a:extLst>
                  <a:ext uri="{FF2B5EF4-FFF2-40B4-BE49-F238E27FC236}">
                    <a16:creationId xmlns:a16="http://schemas.microsoft.com/office/drawing/2014/main" id="{16C5A6B9-448E-9C08-8940-4802A1122890}"/>
                  </a:ext>
                </a:extLst>
              </p:cNvPr>
              <p:cNvSpPr txBox="1">
                <a:spLocks noRot="1" noChangeAspect="1" noMove="1" noResize="1" noEditPoints="1" noAdjustHandles="1" noChangeArrowheads="1" noChangeShapeType="1" noTextEdit="1"/>
              </p:cNvSpPr>
              <p:nvPr/>
            </p:nvSpPr>
            <p:spPr>
              <a:xfrm>
                <a:off x="6174831" y="3805367"/>
                <a:ext cx="3785011" cy="571310"/>
              </a:xfrm>
              <a:prstGeom prst="rect">
                <a:avLst/>
              </a:prstGeom>
              <a:blipFill>
                <a:blip r:embed="rId12"/>
                <a:stretch>
                  <a:fillRect/>
                </a:stretch>
              </a:blipFill>
            </p:spPr>
            <p:txBody>
              <a:bodyPr/>
              <a:lstStyle/>
              <a:p>
                <a:r>
                  <a:rPr lang="es-PE">
                    <a:noFill/>
                  </a:rPr>
                  <a:t> </a:t>
                </a:r>
              </a:p>
            </p:txBody>
          </p:sp>
        </mc:Fallback>
      </mc:AlternateContent>
    </p:spTree>
    <p:extLst>
      <p:ext uri="{BB962C8B-B14F-4D97-AF65-F5344CB8AC3E}">
        <p14:creationId xmlns:p14="http://schemas.microsoft.com/office/powerpoint/2010/main" val="15769815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8BD4B30-9B7A-4FF3-9506-6E2F889CBD85}"/>
              </a:ext>
            </a:extLst>
          </p:cNvPr>
          <p:cNvSpPr>
            <a:spLocks noGrp="1"/>
          </p:cNvSpPr>
          <p:nvPr>
            <p:ph type="title"/>
          </p:nvPr>
        </p:nvSpPr>
        <p:spPr/>
        <p:txBody>
          <a:bodyPr>
            <a:noAutofit/>
          </a:bodyPr>
          <a:lstStyle/>
          <a:p>
            <a:r>
              <a:rPr lang="es-PE" sz="3300" dirty="0"/>
              <a:t>2° Determinando la rigidez de las columnas, esta pertenece al Caso (a), de las relaciones planteadas por el Método de Muto </a:t>
            </a:r>
          </a:p>
        </p:txBody>
      </p:sp>
      <p:sp>
        <p:nvSpPr>
          <p:cNvPr id="73" name="CuadroTexto 72">
            <a:extLst>
              <a:ext uri="{FF2B5EF4-FFF2-40B4-BE49-F238E27FC236}">
                <a16:creationId xmlns:a16="http://schemas.microsoft.com/office/drawing/2014/main" id="{459D21C9-221E-7671-8C15-740CD57B38A9}"/>
              </a:ext>
            </a:extLst>
          </p:cNvPr>
          <p:cNvSpPr txBox="1"/>
          <p:nvPr/>
        </p:nvSpPr>
        <p:spPr>
          <a:xfrm>
            <a:off x="7194066" y="2064314"/>
            <a:ext cx="4254883" cy="400110"/>
          </a:xfrm>
          <a:prstGeom prst="rect">
            <a:avLst/>
          </a:prstGeom>
          <a:noFill/>
        </p:spPr>
        <p:txBody>
          <a:bodyPr wrap="none" rtlCol="0">
            <a:spAutoFit/>
          </a:bodyPr>
          <a:lstStyle/>
          <a:p>
            <a:r>
              <a:rPr lang="es-PE" sz="2000" dirty="0"/>
              <a:t>Calculando la rigidez de la columna AB:</a:t>
            </a:r>
          </a:p>
        </p:txBody>
      </p:sp>
      <mc:AlternateContent xmlns:mc="http://schemas.openxmlformats.org/markup-compatibility/2006" xmlns:a14="http://schemas.microsoft.com/office/drawing/2010/main">
        <mc:Choice Requires="a14">
          <p:sp>
            <p:nvSpPr>
              <p:cNvPr id="74" name="CuadroTexto 73">
                <a:extLst>
                  <a:ext uri="{FF2B5EF4-FFF2-40B4-BE49-F238E27FC236}">
                    <a16:creationId xmlns:a16="http://schemas.microsoft.com/office/drawing/2014/main" id="{A40E5339-5CA4-3FCE-28D0-8011A74719DD}"/>
                  </a:ext>
                </a:extLst>
              </p:cNvPr>
              <p:cNvSpPr txBox="1"/>
              <p:nvPr/>
            </p:nvSpPr>
            <p:spPr>
              <a:xfrm>
                <a:off x="7181111" y="2645494"/>
                <a:ext cx="4856779" cy="57131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PE" i="1" smtClean="0">
                              <a:latin typeface="Cambria Math" panose="02040503050406030204" pitchFamily="18" charset="0"/>
                            </a:rPr>
                          </m:ctrlPr>
                        </m:sSubPr>
                        <m:e>
                          <m:acc>
                            <m:accPr>
                              <m:chr m:val="̅"/>
                              <m:ctrlPr>
                                <a:rPr lang="es-PE" i="1" smtClean="0">
                                  <a:latin typeface="Cambria Math" panose="02040503050406030204" pitchFamily="18" charset="0"/>
                                </a:rPr>
                              </m:ctrlPr>
                            </m:accPr>
                            <m:e>
                              <m:r>
                                <a:rPr lang="es-PE" b="0" i="1" smtClean="0">
                                  <a:latin typeface="Cambria Math" panose="02040503050406030204" pitchFamily="18" charset="0"/>
                                </a:rPr>
                                <m:t>𝐾</m:t>
                              </m:r>
                            </m:e>
                          </m:acc>
                        </m:e>
                        <m:sub>
                          <m:r>
                            <a:rPr lang="es-PE" b="0" i="1" smtClean="0">
                              <a:latin typeface="Cambria Math" panose="02040503050406030204" pitchFamily="18" charset="0"/>
                            </a:rPr>
                            <m:t>𝐶𝐷</m:t>
                          </m:r>
                        </m:sub>
                      </m:sSub>
                      <m:r>
                        <a:rPr lang="es-PE" b="0" i="1" smtClean="0">
                          <a:latin typeface="Cambria Math" panose="02040503050406030204" pitchFamily="18" charset="0"/>
                        </a:rPr>
                        <m:t>= </m:t>
                      </m:r>
                      <m:f>
                        <m:fPr>
                          <m:ctrlPr>
                            <a:rPr lang="es-PE" b="0" i="1" smtClean="0">
                              <a:latin typeface="Cambria Math" panose="02040503050406030204" pitchFamily="18" charset="0"/>
                            </a:rPr>
                          </m:ctrlPr>
                        </m:fPr>
                        <m:num>
                          <m:sSub>
                            <m:sSubPr>
                              <m:ctrlPr>
                                <a:rPr lang="es-PE" b="0" i="1" smtClean="0">
                                  <a:latin typeface="Cambria Math" panose="02040503050406030204" pitchFamily="18" charset="0"/>
                                </a:rPr>
                              </m:ctrlPr>
                            </m:sSubPr>
                            <m:e>
                              <m:r>
                                <a:rPr lang="es-PE" b="0" i="1" smtClean="0">
                                  <a:latin typeface="Cambria Math" panose="02040503050406030204" pitchFamily="18" charset="0"/>
                                </a:rPr>
                                <m:t>𝐾</m:t>
                              </m:r>
                            </m:e>
                            <m:sub>
                              <m:r>
                                <a:rPr lang="es-PE" b="0" i="1" smtClean="0">
                                  <a:latin typeface="Cambria Math" panose="02040503050406030204" pitchFamily="18" charset="0"/>
                                </a:rPr>
                                <m:t>𝐵𝐷</m:t>
                              </m:r>
                            </m:sub>
                          </m:sSub>
                          <m:r>
                            <a:rPr lang="es-PE" b="0" i="1" smtClean="0">
                              <a:latin typeface="Cambria Math" panose="02040503050406030204" pitchFamily="18" charset="0"/>
                            </a:rPr>
                            <m:t>+</m:t>
                          </m:r>
                          <m:sSub>
                            <m:sSubPr>
                              <m:ctrlPr>
                                <a:rPr lang="es-PE" i="1">
                                  <a:latin typeface="Cambria Math" panose="02040503050406030204" pitchFamily="18" charset="0"/>
                                </a:rPr>
                              </m:ctrlPr>
                            </m:sSubPr>
                            <m:e>
                              <m:r>
                                <a:rPr lang="es-PE" i="1">
                                  <a:latin typeface="Cambria Math" panose="02040503050406030204" pitchFamily="18" charset="0"/>
                                </a:rPr>
                                <m:t>𝐾</m:t>
                              </m:r>
                            </m:e>
                            <m:sub>
                              <m:r>
                                <a:rPr lang="es-PE" i="1">
                                  <a:latin typeface="Cambria Math" panose="02040503050406030204" pitchFamily="18" charset="0"/>
                                </a:rPr>
                                <m:t>𝐷</m:t>
                              </m:r>
                              <m:r>
                                <a:rPr lang="es-PE" b="0" i="1" smtClean="0">
                                  <a:latin typeface="Cambria Math" panose="02040503050406030204" pitchFamily="18" charset="0"/>
                                </a:rPr>
                                <m:t>𝐹</m:t>
                              </m:r>
                            </m:sub>
                          </m:sSub>
                        </m:num>
                        <m:den>
                          <m:sSub>
                            <m:sSubPr>
                              <m:ctrlPr>
                                <a:rPr lang="es-PE" b="0" i="1" smtClean="0">
                                  <a:latin typeface="Cambria Math" panose="02040503050406030204" pitchFamily="18" charset="0"/>
                                </a:rPr>
                              </m:ctrlPr>
                            </m:sSubPr>
                            <m:e>
                              <m:r>
                                <a:rPr lang="es-PE" b="0" i="1" smtClean="0">
                                  <a:latin typeface="Cambria Math" panose="02040503050406030204" pitchFamily="18" charset="0"/>
                                </a:rPr>
                                <m:t>𝐾</m:t>
                              </m:r>
                            </m:e>
                            <m:sub>
                              <m:r>
                                <a:rPr lang="es-PE" b="0" i="1" smtClean="0">
                                  <a:latin typeface="Cambria Math" panose="02040503050406030204" pitchFamily="18" charset="0"/>
                                </a:rPr>
                                <m:t>𝐴𝐵</m:t>
                              </m:r>
                            </m:sub>
                          </m:sSub>
                        </m:den>
                      </m:f>
                      <m:r>
                        <a:rPr lang="es-PE" b="0" i="1" smtClean="0">
                          <a:latin typeface="Cambria Math" panose="02040503050406030204" pitchFamily="18" charset="0"/>
                        </a:rPr>
                        <m:t>=</m:t>
                      </m:r>
                      <m:f>
                        <m:fPr>
                          <m:ctrlPr>
                            <a:rPr lang="es-PE" i="1">
                              <a:latin typeface="Cambria Math" panose="02040503050406030204" pitchFamily="18" charset="0"/>
                            </a:rPr>
                          </m:ctrlPr>
                        </m:fPr>
                        <m:num>
                          <m:r>
                            <a:rPr lang="es-PE" i="1">
                              <a:latin typeface="Cambria Math" panose="02040503050406030204" pitchFamily="18" charset="0"/>
                            </a:rPr>
                            <m:t>822.37+744.05</m:t>
                          </m:r>
                        </m:num>
                        <m:den>
                          <m:r>
                            <a:rPr lang="es-PE" i="1">
                              <a:latin typeface="Cambria Math" panose="02040503050406030204" pitchFamily="18" charset="0"/>
                            </a:rPr>
                            <m:t>382.81</m:t>
                          </m:r>
                        </m:den>
                      </m:f>
                      <m:r>
                        <a:rPr lang="es-PE" b="0" i="1" smtClean="0">
                          <a:latin typeface="Cambria Math" panose="02040503050406030204" pitchFamily="18" charset="0"/>
                        </a:rPr>
                        <m:t>=4.0919  </m:t>
                      </m:r>
                    </m:oMath>
                  </m:oMathPara>
                </a14:m>
                <a:endParaRPr lang="es-PE" dirty="0"/>
              </a:p>
            </p:txBody>
          </p:sp>
        </mc:Choice>
        <mc:Fallback xmlns="">
          <p:sp>
            <p:nvSpPr>
              <p:cNvPr id="74" name="CuadroTexto 73">
                <a:extLst>
                  <a:ext uri="{FF2B5EF4-FFF2-40B4-BE49-F238E27FC236}">
                    <a16:creationId xmlns:a16="http://schemas.microsoft.com/office/drawing/2014/main" id="{A40E5339-5CA4-3FCE-28D0-8011A74719DD}"/>
                  </a:ext>
                </a:extLst>
              </p:cNvPr>
              <p:cNvSpPr txBox="1">
                <a:spLocks noRot="1" noChangeAspect="1" noMove="1" noResize="1" noEditPoints="1" noAdjustHandles="1" noChangeArrowheads="1" noChangeShapeType="1" noTextEdit="1"/>
              </p:cNvSpPr>
              <p:nvPr/>
            </p:nvSpPr>
            <p:spPr>
              <a:xfrm>
                <a:off x="7181111" y="2645494"/>
                <a:ext cx="4856779" cy="571310"/>
              </a:xfrm>
              <a:prstGeom prst="rect">
                <a:avLst/>
              </a:prstGeom>
              <a:blipFill>
                <a:blip r:embed="rId2"/>
                <a:stretch>
                  <a:fillRect/>
                </a:stretch>
              </a:blipFill>
            </p:spPr>
            <p:txBody>
              <a:bodyPr/>
              <a:lstStyle/>
              <a:p>
                <a:r>
                  <a:rPr lang="es-PE">
                    <a:noFill/>
                  </a:rPr>
                  <a:t> </a:t>
                </a:r>
              </a:p>
            </p:txBody>
          </p:sp>
        </mc:Fallback>
      </mc:AlternateContent>
      <p:sp>
        <p:nvSpPr>
          <p:cNvPr id="75" name="CuadroTexto 74">
            <a:extLst>
              <a:ext uri="{FF2B5EF4-FFF2-40B4-BE49-F238E27FC236}">
                <a16:creationId xmlns:a16="http://schemas.microsoft.com/office/drawing/2014/main" id="{E09D9C79-DB8D-9184-22FB-2A4FD0C75583}"/>
              </a:ext>
            </a:extLst>
          </p:cNvPr>
          <p:cNvSpPr txBox="1"/>
          <p:nvPr/>
        </p:nvSpPr>
        <p:spPr>
          <a:xfrm>
            <a:off x="5500285" y="4653136"/>
            <a:ext cx="4980274" cy="400110"/>
          </a:xfrm>
          <a:prstGeom prst="rect">
            <a:avLst/>
          </a:prstGeom>
          <a:noFill/>
        </p:spPr>
        <p:txBody>
          <a:bodyPr wrap="none" rtlCol="0">
            <a:spAutoFit/>
          </a:bodyPr>
          <a:lstStyle/>
          <a:p>
            <a:r>
              <a:rPr lang="es-PE" sz="2000" dirty="0"/>
              <a:t>Calculando la rigidez lateral de la columna BD:</a:t>
            </a:r>
          </a:p>
        </p:txBody>
      </p:sp>
      <mc:AlternateContent xmlns:mc="http://schemas.openxmlformats.org/markup-compatibility/2006" xmlns:a14="http://schemas.microsoft.com/office/drawing/2010/main">
        <mc:Choice Requires="a14">
          <p:sp>
            <p:nvSpPr>
              <p:cNvPr id="76" name="CuadroTexto 75">
                <a:extLst>
                  <a:ext uri="{FF2B5EF4-FFF2-40B4-BE49-F238E27FC236}">
                    <a16:creationId xmlns:a16="http://schemas.microsoft.com/office/drawing/2014/main" id="{CACB6D05-CDFB-92F7-8929-AD8292E7BC48}"/>
                  </a:ext>
                </a:extLst>
              </p:cNvPr>
              <p:cNvSpPr txBox="1"/>
              <p:nvPr/>
            </p:nvSpPr>
            <p:spPr>
              <a:xfrm>
                <a:off x="5199409" y="5229225"/>
                <a:ext cx="6997300" cy="57676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s-PE" b="0" i="1" smtClean="0">
                              <a:latin typeface="Cambria Math" panose="02040503050406030204" pitchFamily="18" charset="0"/>
                            </a:rPr>
                          </m:ctrlPr>
                        </m:sSubSupPr>
                        <m:e>
                          <m:r>
                            <a:rPr lang="es-PE" b="0" i="1" smtClean="0">
                              <a:latin typeface="Cambria Math" panose="02040503050406030204" pitchFamily="18" charset="0"/>
                            </a:rPr>
                            <m:t>𝐾</m:t>
                          </m:r>
                        </m:e>
                        <m:sub>
                          <m:r>
                            <a:rPr lang="es-PE" b="0" i="1" smtClean="0">
                              <a:latin typeface="Cambria Math" panose="02040503050406030204" pitchFamily="18" charset="0"/>
                            </a:rPr>
                            <m:t>𝐶𝐷</m:t>
                          </m:r>
                        </m:sub>
                        <m:sup>
                          <m:r>
                            <a:rPr lang="es-PE" b="0" i="1" smtClean="0">
                              <a:latin typeface="Cambria Math" panose="02040503050406030204" pitchFamily="18" charset="0"/>
                            </a:rPr>
                            <m:t>0</m:t>
                          </m:r>
                        </m:sup>
                      </m:sSubSup>
                      <m:r>
                        <a:rPr lang="es-PE" b="0" i="1" smtClean="0">
                          <a:latin typeface="Cambria Math" panose="02040503050406030204" pitchFamily="18" charset="0"/>
                        </a:rPr>
                        <m:t> = </m:t>
                      </m:r>
                      <m:f>
                        <m:fPr>
                          <m:ctrlPr>
                            <a:rPr lang="es-PE" b="0" i="1" smtClean="0">
                              <a:latin typeface="Cambria Math" panose="02040503050406030204" pitchFamily="18" charset="0"/>
                            </a:rPr>
                          </m:ctrlPr>
                        </m:fPr>
                        <m:num>
                          <m:r>
                            <a:rPr lang="es-PE" b="0" i="1" smtClean="0">
                              <a:latin typeface="Cambria Math" panose="02040503050406030204" pitchFamily="18" charset="0"/>
                            </a:rPr>
                            <m:t>12 </m:t>
                          </m:r>
                          <m:r>
                            <a:rPr lang="es-PE" b="0" i="1" smtClean="0">
                              <a:latin typeface="Cambria Math" panose="02040503050406030204" pitchFamily="18" charset="0"/>
                            </a:rPr>
                            <m:t>𝐸</m:t>
                          </m:r>
                          <m:r>
                            <a:rPr lang="es-PE" b="0" i="1" smtClean="0">
                              <a:latin typeface="Cambria Math" panose="02040503050406030204" pitchFamily="18" charset="0"/>
                            </a:rPr>
                            <m:t> </m:t>
                          </m:r>
                          <m:r>
                            <a:rPr lang="es-PE" b="0" i="1" smtClean="0">
                              <a:latin typeface="Cambria Math" panose="02040503050406030204" pitchFamily="18" charset="0"/>
                            </a:rPr>
                            <m:t>𝐼</m:t>
                          </m:r>
                        </m:num>
                        <m:den>
                          <m:sSup>
                            <m:sSupPr>
                              <m:ctrlPr>
                                <a:rPr lang="es-PE" b="0" i="1" smtClean="0">
                                  <a:latin typeface="Cambria Math" panose="02040503050406030204" pitchFamily="18" charset="0"/>
                                </a:rPr>
                              </m:ctrlPr>
                            </m:sSupPr>
                            <m:e>
                              <m:r>
                                <a:rPr lang="es-PE" b="0" i="1" smtClean="0">
                                  <a:latin typeface="Cambria Math" panose="02040503050406030204" pitchFamily="18" charset="0"/>
                                </a:rPr>
                                <m:t>h</m:t>
                              </m:r>
                            </m:e>
                            <m:sup>
                              <m:r>
                                <a:rPr lang="es-PE" b="0" i="1" smtClean="0">
                                  <a:latin typeface="Cambria Math" panose="02040503050406030204" pitchFamily="18" charset="0"/>
                                </a:rPr>
                                <m:t>3</m:t>
                              </m:r>
                            </m:sup>
                          </m:sSup>
                        </m:den>
                      </m:f>
                      <m:r>
                        <a:rPr lang="es-PE" b="0" i="1" smtClean="0">
                          <a:latin typeface="Cambria Math" panose="02040503050406030204" pitchFamily="18" charset="0"/>
                        </a:rPr>
                        <m:t>=</m:t>
                      </m:r>
                      <m:f>
                        <m:fPr>
                          <m:ctrlPr>
                            <a:rPr lang="es-PE" i="1">
                              <a:latin typeface="Cambria Math" panose="02040503050406030204" pitchFamily="18" charset="0"/>
                            </a:rPr>
                          </m:ctrlPr>
                        </m:fPr>
                        <m:num>
                          <m:r>
                            <a:rPr lang="es-PE" i="1">
                              <a:latin typeface="Cambria Math" panose="02040503050406030204" pitchFamily="18" charset="0"/>
                            </a:rPr>
                            <m:t>(12)(218 819.79)(107187.50)</m:t>
                          </m:r>
                        </m:num>
                        <m:den>
                          <m:sSup>
                            <m:sSupPr>
                              <m:ctrlPr>
                                <a:rPr lang="es-PE" b="0" i="1" smtClean="0">
                                  <a:latin typeface="Cambria Math" panose="02040503050406030204" pitchFamily="18" charset="0"/>
                                </a:rPr>
                              </m:ctrlPr>
                            </m:sSupPr>
                            <m:e>
                              <m:r>
                                <a:rPr lang="es-PE" b="0" i="1" smtClean="0">
                                  <a:latin typeface="Cambria Math" panose="02040503050406030204" pitchFamily="18" charset="0"/>
                                </a:rPr>
                                <m:t>(280)</m:t>
                              </m:r>
                            </m:e>
                            <m:sup>
                              <m:r>
                                <a:rPr lang="es-PE" b="0" i="1" smtClean="0">
                                  <a:latin typeface="Cambria Math" panose="02040503050406030204" pitchFamily="18" charset="0"/>
                                </a:rPr>
                                <m:t>3</m:t>
                              </m:r>
                            </m:sup>
                          </m:sSup>
                        </m:den>
                      </m:f>
                      <m:r>
                        <a:rPr lang="es-PE" b="0" i="1" smtClean="0">
                          <a:latin typeface="Cambria Math" panose="02040503050406030204" pitchFamily="18" charset="0"/>
                        </a:rPr>
                        <m:t>=12821.47 </m:t>
                      </m:r>
                      <m:f>
                        <m:fPr>
                          <m:type m:val="skw"/>
                          <m:ctrlPr>
                            <a:rPr lang="es-PE" b="0" i="1" smtClean="0">
                              <a:latin typeface="Cambria Math" panose="02040503050406030204" pitchFamily="18" charset="0"/>
                            </a:rPr>
                          </m:ctrlPr>
                        </m:fPr>
                        <m:num>
                          <m:r>
                            <a:rPr lang="es-PE" b="0" i="1" smtClean="0">
                              <a:latin typeface="Cambria Math" panose="02040503050406030204" pitchFamily="18" charset="0"/>
                            </a:rPr>
                            <m:t>𝐾𝑔𝑓</m:t>
                          </m:r>
                        </m:num>
                        <m:den>
                          <m:r>
                            <a:rPr lang="es-PE" b="0" i="1" smtClean="0">
                              <a:latin typeface="Cambria Math" panose="02040503050406030204" pitchFamily="18" charset="0"/>
                            </a:rPr>
                            <m:t>𝑐𝑚</m:t>
                          </m:r>
                        </m:den>
                      </m:f>
                      <m:r>
                        <a:rPr lang="es-PE" b="0" i="1" smtClean="0">
                          <a:latin typeface="Cambria Math" panose="02040503050406030204" pitchFamily="18" charset="0"/>
                        </a:rPr>
                        <m:t> </m:t>
                      </m:r>
                    </m:oMath>
                  </m:oMathPara>
                </a14:m>
                <a:endParaRPr lang="es-PE" dirty="0"/>
              </a:p>
            </p:txBody>
          </p:sp>
        </mc:Choice>
        <mc:Fallback xmlns="">
          <p:sp>
            <p:nvSpPr>
              <p:cNvPr id="76" name="CuadroTexto 75">
                <a:extLst>
                  <a:ext uri="{FF2B5EF4-FFF2-40B4-BE49-F238E27FC236}">
                    <a16:creationId xmlns:a16="http://schemas.microsoft.com/office/drawing/2014/main" id="{CACB6D05-CDFB-92F7-8929-AD8292E7BC48}"/>
                  </a:ext>
                </a:extLst>
              </p:cNvPr>
              <p:cNvSpPr txBox="1">
                <a:spLocks noRot="1" noChangeAspect="1" noMove="1" noResize="1" noEditPoints="1" noAdjustHandles="1" noChangeArrowheads="1" noChangeShapeType="1" noTextEdit="1"/>
              </p:cNvSpPr>
              <p:nvPr/>
            </p:nvSpPr>
            <p:spPr>
              <a:xfrm>
                <a:off x="5199409" y="5229225"/>
                <a:ext cx="6997300" cy="576761"/>
              </a:xfrm>
              <a:prstGeom prst="rect">
                <a:avLst/>
              </a:prstGeom>
              <a:blipFill>
                <a:blip r:embed="rId3"/>
                <a:stretch>
                  <a:fillRect/>
                </a:stretch>
              </a:blipFill>
            </p:spPr>
            <p:txBody>
              <a:bodyPr/>
              <a:lstStyle/>
              <a:p>
                <a:r>
                  <a:rPr lang="es-PE">
                    <a:noFill/>
                  </a:rPr>
                  <a:t> </a:t>
                </a:r>
              </a:p>
            </p:txBody>
          </p:sp>
        </mc:Fallback>
      </mc:AlternateContent>
      <p:pic>
        <p:nvPicPr>
          <p:cNvPr id="4" name="Imagen 3">
            <a:extLst>
              <a:ext uri="{FF2B5EF4-FFF2-40B4-BE49-F238E27FC236}">
                <a16:creationId xmlns:a16="http://schemas.microsoft.com/office/drawing/2014/main" id="{D2C90CCC-5210-6D88-9DB3-B27D7E1F0CDD}"/>
              </a:ext>
            </a:extLst>
          </p:cNvPr>
          <p:cNvPicPr>
            <a:picLocks noChangeAspect="1"/>
          </p:cNvPicPr>
          <p:nvPr/>
        </p:nvPicPr>
        <p:blipFill>
          <a:blip r:embed="rId4"/>
          <a:stretch>
            <a:fillRect/>
          </a:stretch>
        </p:blipFill>
        <p:spPr>
          <a:xfrm>
            <a:off x="5732223" y="2109003"/>
            <a:ext cx="1055013" cy="2564709"/>
          </a:xfrm>
          <a:prstGeom prst="rect">
            <a:avLst/>
          </a:prstGeom>
        </p:spPr>
      </p:pic>
      <mc:AlternateContent xmlns:mc="http://schemas.openxmlformats.org/markup-compatibility/2006" xmlns:a14="http://schemas.microsoft.com/office/drawing/2010/main">
        <mc:Choice Requires="a14">
          <p:sp>
            <p:nvSpPr>
              <p:cNvPr id="9" name="CuadroTexto 8">
                <a:extLst>
                  <a:ext uri="{FF2B5EF4-FFF2-40B4-BE49-F238E27FC236}">
                    <a16:creationId xmlns:a16="http://schemas.microsoft.com/office/drawing/2014/main" id="{B83690EF-AB3C-DBD5-E19E-226067BB35DF}"/>
                  </a:ext>
                </a:extLst>
              </p:cNvPr>
              <p:cNvSpPr txBox="1"/>
              <p:nvPr/>
            </p:nvSpPr>
            <p:spPr>
              <a:xfrm>
                <a:off x="7181111" y="3506497"/>
                <a:ext cx="4163832" cy="60959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PE" b="0" i="1" smtClean="0">
                          <a:latin typeface="Cambria Math" panose="02040503050406030204" pitchFamily="18" charset="0"/>
                        </a:rPr>
                        <m:t>𝑎</m:t>
                      </m:r>
                      <m:r>
                        <a:rPr lang="es-PE" b="0" i="1" smtClean="0">
                          <a:latin typeface="Cambria Math" panose="02040503050406030204" pitchFamily="18" charset="0"/>
                        </a:rPr>
                        <m:t>= </m:t>
                      </m:r>
                      <m:f>
                        <m:fPr>
                          <m:ctrlPr>
                            <a:rPr lang="es-PE" b="0" i="1" smtClean="0">
                              <a:latin typeface="Cambria Math" panose="02040503050406030204" pitchFamily="18" charset="0"/>
                            </a:rPr>
                          </m:ctrlPr>
                        </m:fPr>
                        <m:num>
                          <m:r>
                            <a:rPr lang="es-PE" b="0" i="1" smtClean="0">
                              <a:latin typeface="Cambria Math" panose="02040503050406030204" pitchFamily="18" charset="0"/>
                            </a:rPr>
                            <m:t>0.5+</m:t>
                          </m:r>
                          <m:sSub>
                            <m:sSubPr>
                              <m:ctrlPr>
                                <a:rPr lang="es-PE" i="1" smtClean="0">
                                  <a:latin typeface="Cambria Math" panose="02040503050406030204" pitchFamily="18" charset="0"/>
                                </a:rPr>
                              </m:ctrlPr>
                            </m:sSubPr>
                            <m:e>
                              <m:acc>
                                <m:accPr>
                                  <m:chr m:val="̅"/>
                                  <m:ctrlPr>
                                    <a:rPr lang="es-PE" i="1">
                                      <a:latin typeface="Cambria Math" panose="02040503050406030204" pitchFamily="18" charset="0"/>
                                    </a:rPr>
                                  </m:ctrlPr>
                                </m:accPr>
                                <m:e>
                                  <m:r>
                                    <a:rPr lang="es-PE" i="1">
                                      <a:latin typeface="Cambria Math" panose="02040503050406030204" pitchFamily="18" charset="0"/>
                                    </a:rPr>
                                    <m:t>𝐾</m:t>
                                  </m:r>
                                </m:e>
                              </m:acc>
                            </m:e>
                            <m:sub>
                              <m:r>
                                <a:rPr lang="es-PE" b="0" i="1" smtClean="0">
                                  <a:latin typeface="Cambria Math" panose="02040503050406030204" pitchFamily="18" charset="0"/>
                                </a:rPr>
                                <m:t>𝐶𝐷</m:t>
                              </m:r>
                            </m:sub>
                          </m:sSub>
                        </m:num>
                        <m:den>
                          <m:r>
                            <a:rPr lang="es-PE" b="0" i="1" smtClean="0">
                              <a:latin typeface="Cambria Math" panose="02040503050406030204" pitchFamily="18" charset="0"/>
                            </a:rPr>
                            <m:t>2+</m:t>
                          </m:r>
                          <m:sSub>
                            <m:sSubPr>
                              <m:ctrlPr>
                                <a:rPr lang="es-PE" i="1" smtClean="0">
                                  <a:latin typeface="Cambria Math" panose="02040503050406030204" pitchFamily="18" charset="0"/>
                                </a:rPr>
                              </m:ctrlPr>
                            </m:sSubPr>
                            <m:e>
                              <m:acc>
                                <m:accPr>
                                  <m:chr m:val="̅"/>
                                  <m:ctrlPr>
                                    <a:rPr lang="es-PE" i="1">
                                      <a:latin typeface="Cambria Math" panose="02040503050406030204" pitchFamily="18" charset="0"/>
                                    </a:rPr>
                                  </m:ctrlPr>
                                </m:accPr>
                                <m:e>
                                  <m:r>
                                    <a:rPr lang="es-PE" i="1">
                                      <a:latin typeface="Cambria Math" panose="02040503050406030204" pitchFamily="18" charset="0"/>
                                    </a:rPr>
                                    <m:t>𝐾</m:t>
                                  </m:r>
                                </m:e>
                              </m:acc>
                            </m:e>
                            <m:sub>
                              <m:r>
                                <a:rPr lang="es-PE" b="0" i="1" smtClean="0">
                                  <a:latin typeface="Cambria Math" panose="02040503050406030204" pitchFamily="18" charset="0"/>
                                </a:rPr>
                                <m:t>𝐶𝐷</m:t>
                              </m:r>
                            </m:sub>
                          </m:sSub>
                        </m:den>
                      </m:f>
                      <m:r>
                        <a:rPr lang="es-PE" b="0" i="1" smtClean="0">
                          <a:latin typeface="Cambria Math" panose="02040503050406030204" pitchFamily="18" charset="0"/>
                        </a:rPr>
                        <m:t>=</m:t>
                      </m:r>
                      <m:f>
                        <m:fPr>
                          <m:ctrlPr>
                            <a:rPr lang="es-PE" i="1">
                              <a:latin typeface="Cambria Math" panose="02040503050406030204" pitchFamily="18" charset="0"/>
                            </a:rPr>
                          </m:ctrlPr>
                        </m:fPr>
                        <m:num>
                          <m:r>
                            <a:rPr lang="es-PE" b="0" i="1" smtClean="0">
                              <a:latin typeface="Cambria Math" panose="02040503050406030204" pitchFamily="18" charset="0"/>
                            </a:rPr>
                            <m:t>0.5+</m:t>
                          </m:r>
                          <m:r>
                            <a:rPr lang="es-PE" i="1">
                              <a:latin typeface="Cambria Math" panose="02040503050406030204" pitchFamily="18" charset="0"/>
                            </a:rPr>
                            <m:t>4.0919</m:t>
                          </m:r>
                        </m:num>
                        <m:den>
                          <m:r>
                            <a:rPr lang="es-PE" i="1">
                              <a:latin typeface="Cambria Math" panose="02040503050406030204" pitchFamily="18" charset="0"/>
                            </a:rPr>
                            <m:t>2+4.0919</m:t>
                          </m:r>
                        </m:den>
                      </m:f>
                      <m:r>
                        <a:rPr lang="es-PE" b="0" i="1" smtClean="0">
                          <a:latin typeface="Cambria Math" panose="02040503050406030204" pitchFamily="18" charset="0"/>
                        </a:rPr>
                        <m:t>=0.7538  </m:t>
                      </m:r>
                    </m:oMath>
                  </m:oMathPara>
                </a14:m>
                <a:endParaRPr lang="es-PE" dirty="0"/>
              </a:p>
            </p:txBody>
          </p:sp>
        </mc:Choice>
        <mc:Fallback xmlns="">
          <p:sp>
            <p:nvSpPr>
              <p:cNvPr id="9" name="CuadroTexto 8">
                <a:extLst>
                  <a:ext uri="{FF2B5EF4-FFF2-40B4-BE49-F238E27FC236}">
                    <a16:creationId xmlns:a16="http://schemas.microsoft.com/office/drawing/2014/main" id="{B83690EF-AB3C-DBD5-E19E-226067BB35DF}"/>
                  </a:ext>
                </a:extLst>
              </p:cNvPr>
              <p:cNvSpPr txBox="1">
                <a:spLocks noRot="1" noChangeAspect="1" noMove="1" noResize="1" noEditPoints="1" noAdjustHandles="1" noChangeArrowheads="1" noChangeShapeType="1" noTextEdit="1"/>
              </p:cNvSpPr>
              <p:nvPr/>
            </p:nvSpPr>
            <p:spPr>
              <a:xfrm>
                <a:off x="7181111" y="3506497"/>
                <a:ext cx="4163832" cy="609590"/>
              </a:xfrm>
              <a:prstGeom prst="rect">
                <a:avLst/>
              </a:prstGeom>
              <a:blipFill>
                <a:blip r:embed="rId5"/>
                <a:stretch>
                  <a:fillRect/>
                </a:stretch>
              </a:blipFill>
            </p:spPr>
            <p:txBody>
              <a:bodyPr/>
              <a:lstStyle/>
              <a:p>
                <a:r>
                  <a:rPr lang="es-PE">
                    <a:noFill/>
                  </a:rPr>
                  <a:t> </a:t>
                </a:r>
              </a:p>
            </p:txBody>
          </p:sp>
        </mc:Fallback>
      </mc:AlternateContent>
      <mc:AlternateContent xmlns:mc="http://schemas.openxmlformats.org/markup-compatibility/2006" xmlns:a14="http://schemas.microsoft.com/office/drawing/2010/main">
        <mc:Choice Requires="a14">
          <p:sp>
            <p:nvSpPr>
              <p:cNvPr id="10" name="CuadroTexto 9">
                <a:extLst>
                  <a:ext uri="{FF2B5EF4-FFF2-40B4-BE49-F238E27FC236}">
                    <a16:creationId xmlns:a16="http://schemas.microsoft.com/office/drawing/2014/main" id="{21E2F073-3213-455A-E65C-DF4F63AB7B05}"/>
                  </a:ext>
                </a:extLst>
              </p:cNvPr>
              <p:cNvSpPr txBox="1"/>
              <p:nvPr/>
            </p:nvSpPr>
            <p:spPr>
              <a:xfrm>
                <a:off x="5216838" y="5858882"/>
                <a:ext cx="5780557" cy="37260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s-PE" b="0" i="1" smtClean="0">
                              <a:latin typeface="Cambria Math" panose="02040503050406030204" pitchFamily="18" charset="0"/>
                            </a:rPr>
                          </m:ctrlPr>
                        </m:sSubSupPr>
                        <m:e>
                          <m:r>
                            <a:rPr lang="es-PE" b="0" i="1" smtClean="0">
                              <a:latin typeface="Cambria Math" panose="02040503050406030204" pitchFamily="18" charset="0"/>
                            </a:rPr>
                            <m:t>𝐾</m:t>
                          </m:r>
                        </m:e>
                        <m:sub>
                          <m:r>
                            <a:rPr lang="es-PE" b="0" i="1" smtClean="0">
                              <a:latin typeface="Cambria Math" panose="02040503050406030204" pitchFamily="18" charset="0"/>
                            </a:rPr>
                            <m:t>𝐴𝐵</m:t>
                          </m:r>
                        </m:sub>
                        <m:sup>
                          <m:r>
                            <a:rPr lang="es-PE" b="0" i="1" smtClean="0">
                              <a:latin typeface="Cambria Math" panose="02040503050406030204" pitchFamily="18" charset="0"/>
                            </a:rPr>
                            <m:t>𝑃𝐸</m:t>
                          </m:r>
                        </m:sup>
                      </m:sSubSup>
                      <m:r>
                        <a:rPr lang="es-PE" b="0" i="1" smtClean="0">
                          <a:latin typeface="Cambria Math" panose="02040503050406030204" pitchFamily="18" charset="0"/>
                        </a:rPr>
                        <m:t> =</m:t>
                      </m:r>
                      <m:r>
                        <a:rPr lang="es-PE" b="0" i="1" smtClean="0">
                          <a:latin typeface="Cambria Math" panose="02040503050406030204" pitchFamily="18" charset="0"/>
                        </a:rPr>
                        <m:t>𝑎</m:t>
                      </m:r>
                      <m:r>
                        <a:rPr lang="es-PE" b="0" i="1" smtClean="0">
                          <a:latin typeface="Cambria Math" panose="02040503050406030204" pitchFamily="18" charset="0"/>
                        </a:rPr>
                        <m:t> </m:t>
                      </m:r>
                      <m:sSubSup>
                        <m:sSubSupPr>
                          <m:ctrlPr>
                            <a:rPr lang="es-PE" b="0" i="1" smtClean="0">
                              <a:latin typeface="Cambria Math" panose="02040503050406030204" pitchFamily="18" charset="0"/>
                            </a:rPr>
                          </m:ctrlPr>
                        </m:sSubSupPr>
                        <m:e>
                          <m:r>
                            <a:rPr lang="es-PE" b="0" i="1" smtClean="0">
                              <a:latin typeface="Cambria Math" panose="02040503050406030204" pitchFamily="18" charset="0"/>
                            </a:rPr>
                            <m:t>𝐾</m:t>
                          </m:r>
                        </m:e>
                        <m:sub>
                          <m:r>
                            <a:rPr lang="es-PE" b="0" i="1" smtClean="0">
                              <a:latin typeface="Cambria Math" panose="02040503050406030204" pitchFamily="18" charset="0"/>
                            </a:rPr>
                            <m:t>𝐴𝐵</m:t>
                          </m:r>
                        </m:sub>
                        <m:sup>
                          <m:r>
                            <a:rPr lang="es-PE" b="0" i="1" smtClean="0">
                              <a:latin typeface="Cambria Math" panose="02040503050406030204" pitchFamily="18" charset="0"/>
                            </a:rPr>
                            <m:t>0</m:t>
                          </m:r>
                        </m:sup>
                      </m:sSubSup>
                      <m:r>
                        <a:rPr lang="es-PE" b="0" i="1" smtClean="0">
                          <a:latin typeface="Cambria Math" panose="02040503050406030204" pitchFamily="18" charset="0"/>
                        </a:rPr>
                        <m:t>=</m:t>
                      </m:r>
                      <m:r>
                        <a:rPr lang="es-PE" i="1" smtClean="0">
                          <a:latin typeface="Cambria Math" panose="02040503050406030204" pitchFamily="18" charset="0"/>
                        </a:rPr>
                        <m:t>(</m:t>
                      </m:r>
                      <m:r>
                        <a:rPr lang="es-PE" i="1">
                          <a:latin typeface="Cambria Math" panose="02040503050406030204" pitchFamily="18" charset="0"/>
                        </a:rPr>
                        <m:t>0.7538)(12821.47)</m:t>
                      </m:r>
                      <m:r>
                        <a:rPr lang="es-PE" b="0" i="1" smtClean="0">
                          <a:latin typeface="Cambria Math" panose="02040503050406030204" pitchFamily="18" charset="0"/>
                        </a:rPr>
                        <m:t>=9664.44 </m:t>
                      </m:r>
                      <m:f>
                        <m:fPr>
                          <m:type m:val="skw"/>
                          <m:ctrlPr>
                            <a:rPr lang="es-PE" b="0" i="1" smtClean="0">
                              <a:latin typeface="Cambria Math" panose="02040503050406030204" pitchFamily="18" charset="0"/>
                            </a:rPr>
                          </m:ctrlPr>
                        </m:fPr>
                        <m:num>
                          <m:r>
                            <a:rPr lang="es-PE" b="0" i="1" smtClean="0">
                              <a:latin typeface="Cambria Math" panose="02040503050406030204" pitchFamily="18" charset="0"/>
                            </a:rPr>
                            <m:t>𝐾𝑔𝑓</m:t>
                          </m:r>
                        </m:num>
                        <m:den>
                          <m:r>
                            <a:rPr lang="es-PE" b="0" i="1" smtClean="0">
                              <a:latin typeface="Cambria Math" panose="02040503050406030204" pitchFamily="18" charset="0"/>
                            </a:rPr>
                            <m:t>𝑐𝑚</m:t>
                          </m:r>
                        </m:den>
                      </m:f>
                      <m:r>
                        <a:rPr lang="es-PE" b="0" i="1" smtClean="0">
                          <a:latin typeface="Cambria Math" panose="02040503050406030204" pitchFamily="18" charset="0"/>
                        </a:rPr>
                        <m:t> </m:t>
                      </m:r>
                    </m:oMath>
                  </m:oMathPara>
                </a14:m>
                <a:endParaRPr lang="es-PE" dirty="0"/>
              </a:p>
            </p:txBody>
          </p:sp>
        </mc:Choice>
        <mc:Fallback xmlns="">
          <p:sp>
            <p:nvSpPr>
              <p:cNvPr id="10" name="CuadroTexto 9">
                <a:extLst>
                  <a:ext uri="{FF2B5EF4-FFF2-40B4-BE49-F238E27FC236}">
                    <a16:creationId xmlns:a16="http://schemas.microsoft.com/office/drawing/2014/main" id="{21E2F073-3213-455A-E65C-DF4F63AB7B05}"/>
                  </a:ext>
                </a:extLst>
              </p:cNvPr>
              <p:cNvSpPr txBox="1">
                <a:spLocks noRot="1" noChangeAspect="1" noMove="1" noResize="1" noEditPoints="1" noAdjustHandles="1" noChangeArrowheads="1" noChangeShapeType="1" noTextEdit="1"/>
              </p:cNvSpPr>
              <p:nvPr/>
            </p:nvSpPr>
            <p:spPr>
              <a:xfrm>
                <a:off x="5216838" y="5858882"/>
                <a:ext cx="5780557" cy="372603"/>
              </a:xfrm>
              <a:prstGeom prst="rect">
                <a:avLst/>
              </a:prstGeom>
              <a:blipFill>
                <a:blip r:embed="rId6"/>
                <a:stretch>
                  <a:fillRect/>
                </a:stretch>
              </a:blipFill>
            </p:spPr>
            <p:txBody>
              <a:bodyPr/>
              <a:lstStyle/>
              <a:p>
                <a:r>
                  <a:rPr lang="es-PE">
                    <a:noFill/>
                  </a:rPr>
                  <a:t> </a:t>
                </a:r>
              </a:p>
            </p:txBody>
          </p:sp>
        </mc:Fallback>
      </mc:AlternateContent>
      <p:grpSp>
        <p:nvGrpSpPr>
          <p:cNvPr id="11" name="Grupo 10">
            <a:extLst>
              <a:ext uri="{FF2B5EF4-FFF2-40B4-BE49-F238E27FC236}">
                <a16:creationId xmlns:a16="http://schemas.microsoft.com/office/drawing/2014/main" id="{1BF20C9D-893F-9839-306F-2B9BC6F75DDA}"/>
              </a:ext>
            </a:extLst>
          </p:cNvPr>
          <p:cNvGrpSpPr/>
          <p:nvPr/>
        </p:nvGrpSpPr>
        <p:grpSpPr>
          <a:xfrm>
            <a:off x="615607" y="2325410"/>
            <a:ext cx="4759668" cy="2304635"/>
            <a:chOff x="948234" y="2708275"/>
            <a:chExt cx="4320224" cy="1950352"/>
          </a:xfrm>
        </p:grpSpPr>
        <p:sp>
          <p:nvSpPr>
            <p:cNvPr id="12" name="Rectángulo 11">
              <a:extLst>
                <a:ext uri="{FF2B5EF4-FFF2-40B4-BE49-F238E27FC236}">
                  <a16:creationId xmlns:a16="http://schemas.microsoft.com/office/drawing/2014/main" id="{092F59C4-E893-3B38-9295-DCBE9B07761D}"/>
                </a:ext>
              </a:extLst>
            </p:cNvPr>
            <p:cNvSpPr/>
            <p:nvPr/>
          </p:nvSpPr>
          <p:spPr>
            <a:xfrm>
              <a:off x="948234" y="2708275"/>
              <a:ext cx="4320224" cy="216250"/>
            </a:xfrm>
            <a:prstGeom prst="rect">
              <a:avLst/>
            </a:prstGeom>
            <a:pattFill prst="lgConfetti">
              <a:fgClr>
                <a:schemeClr val="tx1">
                  <a:lumMod val="65000"/>
                  <a:lumOff val="35000"/>
                </a:schemeClr>
              </a:fgClr>
              <a:bgClr>
                <a:schemeClr val="bg1"/>
              </a:bgClr>
            </a:patt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6" name="Rectángulo 15">
              <a:extLst>
                <a:ext uri="{FF2B5EF4-FFF2-40B4-BE49-F238E27FC236}">
                  <a16:creationId xmlns:a16="http://schemas.microsoft.com/office/drawing/2014/main" id="{194DD21E-4C4D-1502-1C84-61D6889D46D5}"/>
                </a:ext>
              </a:extLst>
            </p:cNvPr>
            <p:cNvSpPr/>
            <p:nvPr/>
          </p:nvSpPr>
          <p:spPr>
            <a:xfrm>
              <a:off x="2785313" y="4508500"/>
              <a:ext cx="499090" cy="150127"/>
            </a:xfrm>
            <a:prstGeom prst="rect">
              <a:avLst/>
            </a:prstGeom>
            <a:pattFill prst="wdUpDiag">
              <a:fgClr>
                <a:schemeClr val="accent2">
                  <a:lumMod val="75000"/>
                </a:schemeClr>
              </a:fgClr>
              <a:bgClr>
                <a:schemeClr val="bg1"/>
              </a:bgClr>
            </a:patt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dirty="0"/>
            </a:p>
          </p:txBody>
        </p:sp>
        <p:sp>
          <p:nvSpPr>
            <p:cNvPr id="22" name="Rectángulo 21">
              <a:extLst>
                <a:ext uri="{FF2B5EF4-FFF2-40B4-BE49-F238E27FC236}">
                  <a16:creationId xmlns:a16="http://schemas.microsoft.com/office/drawing/2014/main" id="{96501451-90AE-21B0-7020-C31C0C0B175E}"/>
                </a:ext>
              </a:extLst>
            </p:cNvPr>
            <p:cNvSpPr/>
            <p:nvPr/>
          </p:nvSpPr>
          <p:spPr>
            <a:xfrm>
              <a:off x="2930801" y="2708275"/>
              <a:ext cx="144000" cy="1800000"/>
            </a:xfrm>
            <a:prstGeom prst="rect">
              <a:avLst/>
            </a:prstGeom>
            <a:pattFill prst="lgConfetti">
              <a:fgClr>
                <a:schemeClr val="tx1">
                  <a:lumMod val="65000"/>
                  <a:lumOff val="35000"/>
                </a:schemeClr>
              </a:fgClr>
              <a:bgClr>
                <a:schemeClr val="bg1"/>
              </a:bgClr>
            </a:patt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dirty="0"/>
            </a:p>
          </p:txBody>
        </p:sp>
      </p:grpSp>
      <p:cxnSp>
        <p:nvCxnSpPr>
          <p:cNvPr id="25" name="Conector recto 24">
            <a:extLst>
              <a:ext uri="{FF2B5EF4-FFF2-40B4-BE49-F238E27FC236}">
                <a16:creationId xmlns:a16="http://schemas.microsoft.com/office/drawing/2014/main" id="{8A64BDFE-A083-AD97-A410-41D8B3AEDE79}"/>
              </a:ext>
            </a:extLst>
          </p:cNvPr>
          <p:cNvCxnSpPr/>
          <p:nvPr/>
        </p:nvCxnSpPr>
        <p:spPr>
          <a:xfrm>
            <a:off x="253808" y="2325731"/>
            <a:ext cx="0" cy="223195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Conector recto 27">
            <a:extLst>
              <a:ext uri="{FF2B5EF4-FFF2-40B4-BE49-F238E27FC236}">
                <a16:creationId xmlns:a16="http://schemas.microsoft.com/office/drawing/2014/main" id="{4B76CBAA-CB5A-0FD5-D582-F1EA997F07AA}"/>
              </a:ext>
            </a:extLst>
          </p:cNvPr>
          <p:cNvCxnSpPr/>
          <p:nvPr/>
        </p:nvCxnSpPr>
        <p:spPr>
          <a:xfrm>
            <a:off x="109470" y="2469747"/>
            <a:ext cx="360362"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Conector recto 29">
            <a:extLst>
              <a:ext uri="{FF2B5EF4-FFF2-40B4-BE49-F238E27FC236}">
                <a16:creationId xmlns:a16="http://schemas.microsoft.com/office/drawing/2014/main" id="{90734DF9-4202-FF3C-A793-17062F1FE880}"/>
              </a:ext>
            </a:extLst>
          </p:cNvPr>
          <p:cNvCxnSpPr/>
          <p:nvPr/>
        </p:nvCxnSpPr>
        <p:spPr>
          <a:xfrm>
            <a:off x="108784" y="4451799"/>
            <a:ext cx="360362"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3" name="CuadroTexto 32">
                <a:extLst>
                  <a:ext uri="{FF2B5EF4-FFF2-40B4-BE49-F238E27FC236}">
                    <a16:creationId xmlns:a16="http://schemas.microsoft.com/office/drawing/2014/main" id="{619AD6BF-6511-A6C1-D5C6-1953D8682BA2}"/>
                  </a:ext>
                </a:extLst>
              </p:cNvPr>
              <p:cNvSpPr txBox="1"/>
              <p:nvPr/>
            </p:nvSpPr>
            <p:spPr>
              <a:xfrm>
                <a:off x="335316" y="3332698"/>
                <a:ext cx="604846"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PE" sz="1600" b="1" i="1" smtClean="0">
                          <a:latin typeface="Cambria Math" panose="02040503050406030204" pitchFamily="18" charset="0"/>
                        </a:rPr>
                        <m:t>𝟐</m:t>
                      </m:r>
                      <m:r>
                        <a:rPr lang="es-PE" sz="1600" b="1" i="1" smtClean="0">
                          <a:latin typeface="Cambria Math" panose="02040503050406030204" pitchFamily="18" charset="0"/>
                        </a:rPr>
                        <m:t>.</m:t>
                      </m:r>
                      <m:r>
                        <a:rPr lang="es-PE" sz="1600" b="1" i="1" smtClean="0">
                          <a:latin typeface="Cambria Math" panose="02040503050406030204" pitchFamily="18" charset="0"/>
                        </a:rPr>
                        <m:t>𝟖</m:t>
                      </m:r>
                      <m:r>
                        <a:rPr lang="es-PE" sz="1600" b="1" i="1" smtClean="0">
                          <a:latin typeface="Cambria Math" panose="02040503050406030204" pitchFamily="18" charset="0"/>
                        </a:rPr>
                        <m:t> </m:t>
                      </m:r>
                      <m:r>
                        <a:rPr lang="es-PE" sz="1600" b="1" i="1" smtClean="0">
                          <a:latin typeface="Cambria Math" panose="02040503050406030204" pitchFamily="18" charset="0"/>
                        </a:rPr>
                        <m:t>𝒎</m:t>
                      </m:r>
                    </m:oMath>
                  </m:oMathPara>
                </a14:m>
                <a:endParaRPr lang="es-PE" sz="1600" b="1" i="1" dirty="0"/>
              </a:p>
            </p:txBody>
          </p:sp>
        </mc:Choice>
        <mc:Fallback xmlns="">
          <p:sp>
            <p:nvSpPr>
              <p:cNvPr id="33" name="CuadroTexto 32">
                <a:extLst>
                  <a:ext uri="{FF2B5EF4-FFF2-40B4-BE49-F238E27FC236}">
                    <a16:creationId xmlns:a16="http://schemas.microsoft.com/office/drawing/2014/main" id="{619AD6BF-6511-A6C1-D5C6-1953D8682BA2}"/>
                  </a:ext>
                </a:extLst>
              </p:cNvPr>
              <p:cNvSpPr txBox="1">
                <a:spLocks noRot="1" noChangeAspect="1" noMove="1" noResize="1" noEditPoints="1" noAdjustHandles="1" noChangeArrowheads="1" noChangeShapeType="1" noTextEdit="1"/>
              </p:cNvSpPr>
              <p:nvPr/>
            </p:nvSpPr>
            <p:spPr>
              <a:xfrm>
                <a:off x="335316" y="3332698"/>
                <a:ext cx="604846" cy="246221"/>
              </a:xfrm>
              <a:prstGeom prst="rect">
                <a:avLst/>
              </a:prstGeom>
              <a:blipFill>
                <a:blip r:embed="rId7"/>
                <a:stretch>
                  <a:fillRect l="-7071" r="-5051" b="-5000"/>
                </a:stretch>
              </a:blipFill>
            </p:spPr>
            <p:txBody>
              <a:bodyPr/>
              <a:lstStyle/>
              <a:p>
                <a:r>
                  <a:rPr lang="es-PE">
                    <a:noFill/>
                  </a:rPr>
                  <a:t> </a:t>
                </a:r>
              </a:p>
            </p:txBody>
          </p:sp>
        </mc:Fallback>
      </mc:AlternateContent>
      <p:cxnSp>
        <p:nvCxnSpPr>
          <p:cNvPr id="39" name="Conector recto 38">
            <a:extLst>
              <a:ext uri="{FF2B5EF4-FFF2-40B4-BE49-F238E27FC236}">
                <a16:creationId xmlns:a16="http://schemas.microsoft.com/office/drawing/2014/main" id="{6DE87422-8F45-6AB8-DDEC-64A26DB72E42}"/>
              </a:ext>
            </a:extLst>
          </p:cNvPr>
          <p:cNvCxnSpPr>
            <a:cxnSpLocks/>
          </p:cNvCxnSpPr>
          <p:nvPr/>
        </p:nvCxnSpPr>
        <p:spPr>
          <a:xfrm>
            <a:off x="419982" y="4846011"/>
            <a:ext cx="5155255"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Conector recto 39">
            <a:extLst>
              <a:ext uri="{FF2B5EF4-FFF2-40B4-BE49-F238E27FC236}">
                <a16:creationId xmlns:a16="http://schemas.microsoft.com/office/drawing/2014/main" id="{E0CACA0B-19AF-997A-CDDF-B4FB7219821E}"/>
              </a:ext>
            </a:extLst>
          </p:cNvPr>
          <p:cNvCxnSpPr/>
          <p:nvPr/>
        </p:nvCxnSpPr>
        <p:spPr>
          <a:xfrm>
            <a:off x="694930" y="4711454"/>
            <a:ext cx="0" cy="28803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Conector recto 40">
            <a:extLst>
              <a:ext uri="{FF2B5EF4-FFF2-40B4-BE49-F238E27FC236}">
                <a16:creationId xmlns:a16="http://schemas.microsoft.com/office/drawing/2014/main" id="{77F5775C-DBF4-DC53-4410-BC45370F555B}"/>
              </a:ext>
            </a:extLst>
          </p:cNvPr>
          <p:cNvCxnSpPr/>
          <p:nvPr/>
        </p:nvCxnSpPr>
        <p:spPr>
          <a:xfrm>
            <a:off x="2879159" y="4711454"/>
            <a:ext cx="0" cy="28803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Conector recto 41">
            <a:extLst>
              <a:ext uri="{FF2B5EF4-FFF2-40B4-BE49-F238E27FC236}">
                <a16:creationId xmlns:a16="http://schemas.microsoft.com/office/drawing/2014/main" id="{32154C09-DEA8-3074-DBB4-81334FE1D026}"/>
              </a:ext>
            </a:extLst>
          </p:cNvPr>
          <p:cNvCxnSpPr/>
          <p:nvPr/>
        </p:nvCxnSpPr>
        <p:spPr>
          <a:xfrm>
            <a:off x="5295261" y="4701995"/>
            <a:ext cx="0" cy="28803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43" name="Grupo 42">
            <a:extLst>
              <a:ext uri="{FF2B5EF4-FFF2-40B4-BE49-F238E27FC236}">
                <a16:creationId xmlns:a16="http://schemas.microsoft.com/office/drawing/2014/main" id="{A68B2DC2-4165-7F94-0D27-580D4212D8C0}"/>
              </a:ext>
            </a:extLst>
          </p:cNvPr>
          <p:cNvGrpSpPr/>
          <p:nvPr/>
        </p:nvGrpSpPr>
        <p:grpSpPr>
          <a:xfrm>
            <a:off x="1954093" y="5136840"/>
            <a:ext cx="1253448" cy="1101128"/>
            <a:chOff x="424663" y="4976843"/>
            <a:chExt cx="1253448" cy="1101128"/>
          </a:xfrm>
        </p:grpSpPr>
        <p:sp>
          <p:nvSpPr>
            <p:cNvPr id="44" name="Rectángulo 43">
              <a:extLst>
                <a:ext uri="{FF2B5EF4-FFF2-40B4-BE49-F238E27FC236}">
                  <a16:creationId xmlns:a16="http://schemas.microsoft.com/office/drawing/2014/main" id="{AAF0E7DB-6E64-D487-FA30-B37EB5542C67}"/>
                </a:ext>
              </a:extLst>
            </p:cNvPr>
            <p:cNvSpPr>
              <a:spLocks noChangeAspect="1"/>
            </p:cNvSpPr>
            <p:nvPr/>
          </p:nvSpPr>
          <p:spPr>
            <a:xfrm>
              <a:off x="1149729" y="5048875"/>
              <a:ext cx="504000" cy="432000"/>
            </a:xfrm>
            <a:prstGeom prst="rect">
              <a:avLst/>
            </a:prstGeom>
            <a:pattFill prst="wdUpDiag">
              <a:fgClr>
                <a:schemeClr val="tx1">
                  <a:lumMod val="65000"/>
                  <a:lumOff val="35000"/>
                </a:schemeClr>
              </a:fgClr>
              <a:bgClr>
                <a:schemeClr val="bg1"/>
              </a:bgClr>
            </a:patt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cxnSp>
          <p:nvCxnSpPr>
            <p:cNvPr id="45" name="Conector recto 44">
              <a:extLst>
                <a:ext uri="{FF2B5EF4-FFF2-40B4-BE49-F238E27FC236}">
                  <a16:creationId xmlns:a16="http://schemas.microsoft.com/office/drawing/2014/main" id="{798F8FBE-7377-A3E5-507E-0A08BC39CD12}"/>
                </a:ext>
              </a:extLst>
            </p:cNvPr>
            <p:cNvCxnSpPr/>
            <p:nvPr/>
          </p:nvCxnSpPr>
          <p:spPr>
            <a:xfrm>
              <a:off x="1149729" y="5640390"/>
              <a:ext cx="0" cy="18000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Conector recto 45">
              <a:extLst>
                <a:ext uri="{FF2B5EF4-FFF2-40B4-BE49-F238E27FC236}">
                  <a16:creationId xmlns:a16="http://schemas.microsoft.com/office/drawing/2014/main" id="{FEE0CC31-C76E-BBFF-96D1-34ED883B2D4B}"/>
                </a:ext>
              </a:extLst>
            </p:cNvPr>
            <p:cNvCxnSpPr>
              <a:cxnSpLocks/>
            </p:cNvCxnSpPr>
            <p:nvPr/>
          </p:nvCxnSpPr>
          <p:spPr>
            <a:xfrm>
              <a:off x="1042821" y="5733256"/>
              <a:ext cx="63529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7" name="CuadroTexto 46">
                  <a:extLst>
                    <a:ext uri="{FF2B5EF4-FFF2-40B4-BE49-F238E27FC236}">
                      <a16:creationId xmlns:a16="http://schemas.microsoft.com/office/drawing/2014/main" id="{939DB2E7-85ED-30E0-0C17-B17CDE6AF0A5}"/>
                    </a:ext>
                  </a:extLst>
                </p:cNvPr>
                <p:cNvSpPr txBox="1"/>
                <p:nvPr/>
              </p:nvSpPr>
              <p:spPr>
                <a:xfrm>
                  <a:off x="1110400" y="5893305"/>
                  <a:ext cx="471283" cy="18466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PE" sz="1200" b="1" i="1" smtClean="0">
                            <a:latin typeface="Cambria Math" panose="02040503050406030204" pitchFamily="18" charset="0"/>
                          </a:rPr>
                          <m:t>𝟑𝟓</m:t>
                        </m:r>
                        <m:r>
                          <a:rPr lang="es-PE" sz="1200" b="1" i="1" smtClean="0">
                            <a:latin typeface="Cambria Math" panose="02040503050406030204" pitchFamily="18" charset="0"/>
                          </a:rPr>
                          <m:t> </m:t>
                        </m:r>
                        <m:r>
                          <a:rPr lang="es-PE" sz="1200" b="1" i="1" smtClean="0">
                            <a:latin typeface="Cambria Math" panose="02040503050406030204" pitchFamily="18" charset="0"/>
                          </a:rPr>
                          <m:t>𝒄𝒎</m:t>
                        </m:r>
                      </m:oMath>
                    </m:oMathPara>
                  </a14:m>
                  <a:endParaRPr lang="es-PE" sz="1200" b="1" i="1" dirty="0"/>
                </a:p>
              </p:txBody>
            </p:sp>
          </mc:Choice>
          <mc:Fallback xmlns="">
            <p:sp>
              <p:nvSpPr>
                <p:cNvPr id="47" name="CuadroTexto 46">
                  <a:extLst>
                    <a:ext uri="{FF2B5EF4-FFF2-40B4-BE49-F238E27FC236}">
                      <a16:creationId xmlns:a16="http://schemas.microsoft.com/office/drawing/2014/main" id="{939DB2E7-85ED-30E0-0C17-B17CDE6AF0A5}"/>
                    </a:ext>
                  </a:extLst>
                </p:cNvPr>
                <p:cNvSpPr txBox="1">
                  <a:spLocks noRot="1" noChangeAspect="1" noMove="1" noResize="1" noEditPoints="1" noAdjustHandles="1" noChangeArrowheads="1" noChangeShapeType="1" noTextEdit="1"/>
                </p:cNvSpPr>
                <p:nvPr/>
              </p:nvSpPr>
              <p:spPr>
                <a:xfrm>
                  <a:off x="1110400" y="5893305"/>
                  <a:ext cx="471283" cy="184666"/>
                </a:xfrm>
                <a:prstGeom prst="rect">
                  <a:avLst/>
                </a:prstGeom>
                <a:blipFill>
                  <a:blip r:embed="rId8"/>
                  <a:stretch>
                    <a:fillRect l="-7792" r="-6494" b="-6667"/>
                  </a:stretch>
                </a:blipFill>
              </p:spPr>
              <p:txBody>
                <a:bodyPr/>
                <a:lstStyle/>
                <a:p>
                  <a:r>
                    <a:rPr lang="es-PE">
                      <a:noFill/>
                    </a:rPr>
                    <a:t> </a:t>
                  </a:r>
                </a:p>
              </p:txBody>
            </p:sp>
          </mc:Fallback>
        </mc:AlternateContent>
        <p:cxnSp>
          <p:nvCxnSpPr>
            <p:cNvPr id="48" name="Conector recto 47">
              <a:extLst>
                <a:ext uri="{FF2B5EF4-FFF2-40B4-BE49-F238E27FC236}">
                  <a16:creationId xmlns:a16="http://schemas.microsoft.com/office/drawing/2014/main" id="{B8298126-2124-C36E-DB2A-CA83995346A6}"/>
                </a:ext>
              </a:extLst>
            </p:cNvPr>
            <p:cNvCxnSpPr>
              <a:cxnSpLocks/>
            </p:cNvCxnSpPr>
            <p:nvPr/>
          </p:nvCxnSpPr>
          <p:spPr>
            <a:xfrm>
              <a:off x="918571" y="4976843"/>
              <a:ext cx="0" cy="61274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Conector recto 48">
              <a:extLst>
                <a:ext uri="{FF2B5EF4-FFF2-40B4-BE49-F238E27FC236}">
                  <a16:creationId xmlns:a16="http://schemas.microsoft.com/office/drawing/2014/main" id="{B543AA18-6DE4-AB3E-FE5A-D13F5FF3BF05}"/>
                </a:ext>
              </a:extLst>
            </p:cNvPr>
            <p:cNvCxnSpPr/>
            <p:nvPr/>
          </p:nvCxnSpPr>
          <p:spPr>
            <a:xfrm>
              <a:off x="801276" y="5042849"/>
              <a:ext cx="216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 name="Conector recto 49">
              <a:extLst>
                <a:ext uri="{FF2B5EF4-FFF2-40B4-BE49-F238E27FC236}">
                  <a16:creationId xmlns:a16="http://schemas.microsoft.com/office/drawing/2014/main" id="{7C10F155-29FE-85E1-10DA-05C23D9C2227}"/>
                </a:ext>
              </a:extLst>
            </p:cNvPr>
            <p:cNvCxnSpPr/>
            <p:nvPr/>
          </p:nvCxnSpPr>
          <p:spPr>
            <a:xfrm>
              <a:off x="814039" y="5462158"/>
              <a:ext cx="216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 name="Conector recto 50">
              <a:extLst>
                <a:ext uri="{FF2B5EF4-FFF2-40B4-BE49-F238E27FC236}">
                  <a16:creationId xmlns:a16="http://schemas.microsoft.com/office/drawing/2014/main" id="{3DAFDBA9-2DF3-BBD8-BAF5-D3861BDC8793}"/>
                </a:ext>
              </a:extLst>
            </p:cNvPr>
            <p:cNvCxnSpPr/>
            <p:nvPr/>
          </p:nvCxnSpPr>
          <p:spPr>
            <a:xfrm>
              <a:off x="1644166" y="5650665"/>
              <a:ext cx="0" cy="18000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2" name="CuadroTexto 51">
                  <a:extLst>
                    <a:ext uri="{FF2B5EF4-FFF2-40B4-BE49-F238E27FC236}">
                      <a16:creationId xmlns:a16="http://schemas.microsoft.com/office/drawing/2014/main" id="{BDDA97D8-8557-6FB2-1B41-205184C9F9D1}"/>
                    </a:ext>
                  </a:extLst>
                </p:cNvPr>
                <p:cNvSpPr txBox="1"/>
                <p:nvPr/>
              </p:nvSpPr>
              <p:spPr>
                <a:xfrm>
                  <a:off x="424663" y="5148731"/>
                  <a:ext cx="471283" cy="18466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PE" sz="1200" b="1" i="1" smtClean="0">
                            <a:latin typeface="Cambria Math" panose="02040503050406030204" pitchFamily="18" charset="0"/>
                          </a:rPr>
                          <m:t>𝟑𝟎</m:t>
                        </m:r>
                        <m:r>
                          <a:rPr lang="es-PE" sz="1200" b="1" i="1" smtClean="0">
                            <a:latin typeface="Cambria Math" panose="02040503050406030204" pitchFamily="18" charset="0"/>
                          </a:rPr>
                          <m:t> </m:t>
                        </m:r>
                        <m:r>
                          <a:rPr lang="es-PE" sz="1200" b="1" i="1" smtClean="0">
                            <a:latin typeface="Cambria Math" panose="02040503050406030204" pitchFamily="18" charset="0"/>
                          </a:rPr>
                          <m:t>𝒄𝒎</m:t>
                        </m:r>
                      </m:oMath>
                    </m:oMathPara>
                  </a14:m>
                  <a:endParaRPr lang="es-PE" sz="1200" b="1" i="1" dirty="0"/>
                </a:p>
              </p:txBody>
            </p:sp>
          </mc:Choice>
          <mc:Fallback xmlns="">
            <p:sp>
              <p:nvSpPr>
                <p:cNvPr id="52" name="CuadroTexto 51">
                  <a:extLst>
                    <a:ext uri="{FF2B5EF4-FFF2-40B4-BE49-F238E27FC236}">
                      <a16:creationId xmlns:a16="http://schemas.microsoft.com/office/drawing/2014/main" id="{BDDA97D8-8557-6FB2-1B41-205184C9F9D1}"/>
                    </a:ext>
                  </a:extLst>
                </p:cNvPr>
                <p:cNvSpPr txBox="1">
                  <a:spLocks noRot="1" noChangeAspect="1" noMove="1" noResize="1" noEditPoints="1" noAdjustHandles="1" noChangeArrowheads="1" noChangeShapeType="1" noTextEdit="1"/>
                </p:cNvSpPr>
                <p:nvPr/>
              </p:nvSpPr>
              <p:spPr>
                <a:xfrm>
                  <a:off x="424663" y="5148731"/>
                  <a:ext cx="471283" cy="184666"/>
                </a:xfrm>
                <a:prstGeom prst="rect">
                  <a:avLst/>
                </a:prstGeom>
                <a:blipFill>
                  <a:blip r:embed="rId9"/>
                  <a:stretch>
                    <a:fillRect l="-7792" r="-5195" b="-6667"/>
                  </a:stretch>
                </a:blipFill>
              </p:spPr>
              <p:txBody>
                <a:bodyPr/>
                <a:lstStyle/>
                <a:p>
                  <a:r>
                    <a:rPr lang="es-PE">
                      <a:noFill/>
                    </a:rPr>
                    <a:t> </a:t>
                  </a:r>
                </a:p>
              </p:txBody>
            </p:sp>
          </mc:Fallback>
        </mc:AlternateContent>
      </p:grpSp>
      <p:grpSp>
        <p:nvGrpSpPr>
          <p:cNvPr id="53" name="Grupo 52">
            <a:extLst>
              <a:ext uri="{FF2B5EF4-FFF2-40B4-BE49-F238E27FC236}">
                <a16:creationId xmlns:a16="http://schemas.microsoft.com/office/drawing/2014/main" id="{3833611D-E7CA-45C4-5F4C-6388D4E73A6D}"/>
              </a:ext>
            </a:extLst>
          </p:cNvPr>
          <p:cNvGrpSpPr/>
          <p:nvPr/>
        </p:nvGrpSpPr>
        <p:grpSpPr>
          <a:xfrm>
            <a:off x="4313696" y="2646001"/>
            <a:ext cx="1155667" cy="1137101"/>
            <a:chOff x="426016" y="4940870"/>
            <a:chExt cx="1155667" cy="1137101"/>
          </a:xfrm>
        </p:grpSpPr>
        <p:sp>
          <p:nvSpPr>
            <p:cNvPr id="54" name="Rectángulo 53">
              <a:extLst>
                <a:ext uri="{FF2B5EF4-FFF2-40B4-BE49-F238E27FC236}">
                  <a16:creationId xmlns:a16="http://schemas.microsoft.com/office/drawing/2014/main" id="{D7BA94E2-441D-35B4-F736-692D56D3C8A8}"/>
                </a:ext>
              </a:extLst>
            </p:cNvPr>
            <p:cNvSpPr>
              <a:spLocks noChangeAspect="1"/>
            </p:cNvSpPr>
            <p:nvPr/>
          </p:nvSpPr>
          <p:spPr>
            <a:xfrm>
              <a:off x="1149729" y="5048875"/>
              <a:ext cx="324000" cy="540000"/>
            </a:xfrm>
            <a:prstGeom prst="rect">
              <a:avLst/>
            </a:prstGeom>
            <a:pattFill prst="wdUpDiag">
              <a:fgClr>
                <a:schemeClr val="tx1">
                  <a:lumMod val="65000"/>
                  <a:lumOff val="35000"/>
                </a:schemeClr>
              </a:fgClr>
              <a:bgClr>
                <a:schemeClr val="bg1"/>
              </a:bgClr>
            </a:patt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dirty="0"/>
            </a:p>
          </p:txBody>
        </p:sp>
        <p:cxnSp>
          <p:nvCxnSpPr>
            <p:cNvPr id="55" name="Conector recto 54">
              <a:extLst>
                <a:ext uri="{FF2B5EF4-FFF2-40B4-BE49-F238E27FC236}">
                  <a16:creationId xmlns:a16="http://schemas.microsoft.com/office/drawing/2014/main" id="{147D1194-E389-D468-8535-EB29C3C8D50A}"/>
                </a:ext>
              </a:extLst>
            </p:cNvPr>
            <p:cNvCxnSpPr/>
            <p:nvPr/>
          </p:nvCxnSpPr>
          <p:spPr>
            <a:xfrm>
              <a:off x="1149729" y="5640390"/>
              <a:ext cx="0" cy="18000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 name="Conector recto 55">
              <a:extLst>
                <a:ext uri="{FF2B5EF4-FFF2-40B4-BE49-F238E27FC236}">
                  <a16:creationId xmlns:a16="http://schemas.microsoft.com/office/drawing/2014/main" id="{43A7AD87-96C5-8251-3447-3DE4FD82C6CB}"/>
                </a:ext>
              </a:extLst>
            </p:cNvPr>
            <p:cNvCxnSpPr>
              <a:cxnSpLocks/>
            </p:cNvCxnSpPr>
            <p:nvPr/>
          </p:nvCxnSpPr>
          <p:spPr>
            <a:xfrm>
              <a:off x="1068222" y="5733256"/>
              <a:ext cx="468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7" name="CuadroTexto 56">
                  <a:extLst>
                    <a:ext uri="{FF2B5EF4-FFF2-40B4-BE49-F238E27FC236}">
                      <a16:creationId xmlns:a16="http://schemas.microsoft.com/office/drawing/2014/main" id="{96E69F70-FFB0-4578-32F7-9927E30278D6}"/>
                    </a:ext>
                  </a:extLst>
                </p:cNvPr>
                <p:cNvSpPr txBox="1"/>
                <p:nvPr/>
              </p:nvSpPr>
              <p:spPr>
                <a:xfrm>
                  <a:off x="1110400" y="5893305"/>
                  <a:ext cx="471283" cy="18466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PE" sz="1200" b="1" i="1" smtClean="0">
                            <a:latin typeface="Cambria Math" panose="02040503050406030204" pitchFamily="18" charset="0"/>
                          </a:rPr>
                          <m:t>𝟑𝟎</m:t>
                        </m:r>
                        <m:r>
                          <a:rPr lang="es-PE" sz="1200" b="1" i="1" smtClean="0">
                            <a:latin typeface="Cambria Math" panose="02040503050406030204" pitchFamily="18" charset="0"/>
                          </a:rPr>
                          <m:t> </m:t>
                        </m:r>
                        <m:r>
                          <a:rPr lang="es-PE" sz="1200" b="1" i="1" smtClean="0">
                            <a:latin typeface="Cambria Math" panose="02040503050406030204" pitchFamily="18" charset="0"/>
                          </a:rPr>
                          <m:t>𝒄𝒎</m:t>
                        </m:r>
                      </m:oMath>
                    </m:oMathPara>
                  </a14:m>
                  <a:endParaRPr lang="es-PE" sz="1200" b="1" i="1" dirty="0"/>
                </a:p>
              </p:txBody>
            </p:sp>
          </mc:Choice>
          <mc:Fallback xmlns="">
            <p:sp>
              <p:nvSpPr>
                <p:cNvPr id="57" name="CuadroTexto 56">
                  <a:extLst>
                    <a:ext uri="{FF2B5EF4-FFF2-40B4-BE49-F238E27FC236}">
                      <a16:creationId xmlns:a16="http://schemas.microsoft.com/office/drawing/2014/main" id="{96E69F70-FFB0-4578-32F7-9927E30278D6}"/>
                    </a:ext>
                  </a:extLst>
                </p:cNvPr>
                <p:cNvSpPr txBox="1">
                  <a:spLocks noRot="1" noChangeAspect="1" noMove="1" noResize="1" noEditPoints="1" noAdjustHandles="1" noChangeArrowheads="1" noChangeShapeType="1" noTextEdit="1"/>
                </p:cNvSpPr>
                <p:nvPr/>
              </p:nvSpPr>
              <p:spPr>
                <a:xfrm>
                  <a:off x="1110400" y="5893305"/>
                  <a:ext cx="471283" cy="184666"/>
                </a:xfrm>
                <a:prstGeom prst="rect">
                  <a:avLst/>
                </a:prstGeom>
                <a:blipFill>
                  <a:blip r:embed="rId9"/>
                  <a:stretch>
                    <a:fillRect l="-7792" r="-5195" b="-3226"/>
                  </a:stretch>
                </a:blipFill>
              </p:spPr>
              <p:txBody>
                <a:bodyPr/>
                <a:lstStyle/>
                <a:p>
                  <a:r>
                    <a:rPr lang="es-PE">
                      <a:noFill/>
                    </a:rPr>
                    <a:t> </a:t>
                  </a:r>
                </a:p>
              </p:txBody>
            </p:sp>
          </mc:Fallback>
        </mc:AlternateContent>
        <p:cxnSp>
          <p:nvCxnSpPr>
            <p:cNvPr id="58" name="Conector recto 57">
              <a:extLst>
                <a:ext uri="{FF2B5EF4-FFF2-40B4-BE49-F238E27FC236}">
                  <a16:creationId xmlns:a16="http://schemas.microsoft.com/office/drawing/2014/main" id="{142BD1A9-99E2-7DAD-8700-3C2486E2C712}"/>
                </a:ext>
              </a:extLst>
            </p:cNvPr>
            <p:cNvCxnSpPr>
              <a:cxnSpLocks/>
            </p:cNvCxnSpPr>
            <p:nvPr/>
          </p:nvCxnSpPr>
          <p:spPr>
            <a:xfrm>
              <a:off x="918571" y="4940870"/>
              <a:ext cx="0" cy="72000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9" name="Conector recto 68">
              <a:extLst>
                <a:ext uri="{FF2B5EF4-FFF2-40B4-BE49-F238E27FC236}">
                  <a16:creationId xmlns:a16="http://schemas.microsoft.com/office/drawing/2014/main" id="{AB80B965-A623-8069-B2E8-6FC363E1998C}"/>
                </a:ext>
              </a:extLst>
            </p:cNvPr>
            <p:cNvCxnSpPr/>
            <p:nvPr/>
          </p:nvCxnSpPr>
          <p:spPr>
            <a:xfrm>
              <a:off x="801276" y="5042849"/>
              <a:ext cx="216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0" name="Conector recto 69">
              <a:extLst>
                <a:ext uri="{FF2B5EF4-FFF2-40B4-BE49-F238E27FC236}">
                  <a16:creationId xmlns:a16="http://schemas.microsoft.com/office/drawing/2014/main" id="{9B3CB521-70C5-8D27-7E4E-01C0C1075E66}"/>
                </a:ext>
              </a:extLst>
            </p:cNvPr>
            <p:cNvCxnSpPr/>
            <p:nvPr/>
          </p:nvCxnSpPr>
          <p:spPr>
            <a:xfrm>
              <a:off x="814039" y="5572229"/>
              <a:ext cx="216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1" name="Conector recto 70">
              <a:extLst>
                <a:ext uri="{FF2B5EF4-FFF2-40B4-BE49-F238E27FC236}">
                  <a16:creationId xmlns:a16="http://schemas.microsoft.com/office/drawing/2014/main" id="{3E099306-02E5-CCD5-DFED-C12F9DA5A14D}"/>
                </a:ext>
              </a:extLst>
            </p:cNvPr>
            <p:cNvCxnSpPr/>
            <p:nvPr/>
          </p:nvCxnSpPr>
          <p:spPr>
            <a:xfrm>
              <a:off x="1500229" y="5650665"/>
              <a:ext cx="0" cy="18000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2" name="CuadroTexto 71">
                  <a:extLst>
                    <a:ext uri="{FF2B5EF4-FFF2-40B4-BE49-F238E27FC236}">
                      <a16:creationId xmlns:a16="http://schemas.microsoft.com/office/drawing/2014/main" id="{47C30B04-7CDB-30EC-11F5-631D4307687F}"/>
                    </a:ext>
                  </a:extLst>
                </p:cNvPr>
                <p:cNvSpPr txBox="1"/>
                <p:nvPr/>
              </p:nvSpPr>
              <p:spPr>
                <a:xfrm>
                  <a:off x="426016" y="5231081"/>
                  <a:ext cx="471283" cy="18466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PE" sz="1200" b="1" i="1" smtClean="0">
                            <a:latin typeface="Cambria Math" panose="02040503050406030204" pitchFamily="18" charset="0"/>
                          </a:rPr>
                          <m:t>𝟓𝟎</m:t>
                        </m:r>
                        <m:r>
                          <a:rPr lang="es-PE" sz="1200" b="1" i="1" smtClean="0">
                            <a:latin typeface="Cambria Math" panose="02040503050406030204" pitchFamily="18" charset="0"/>
                          </a:rPr>
                          <m:t> </m:t>
                        </m:r>
                        <m:r>
                          <a:rPr lang="es-PE" sz="1200" b="1" i="1" smtClean="0">
                            <a:latin typeface="Cambria Math" panose="02040503050406030204" pitchFamily="18" charset="0"/>
                          </a:rPr>
                          <m:t>𝒄𝒎</m:t>
                        </m:r>
                      </m:oMath>
                    </m:oMathPara>
                  </a14:m>
                  <a:endParaRPr lang="es-PE" sz="1200" b="1" i="1" dirty="0"/>
                </a:p>
              </p:txBody>
            </p:sp>
          </mc:Choice>
          <mc:Fallback xmlns="">
            <p:sp>
              <p:nvSpPr>
                <p:cNvPr id="72" name="CuadroTexto 71">
                  <a:extLst>
                    <a:ext uri="{FF2B5EF4-FFF2-40B4-BE49-F238E27FC236}">
                      <a16:creationId xmlns:a16="http://schemas.microsoft.com/office/drawing/2014/main" id="{47C30B04-7CDB-30EC-11F5-631D4307687F}"/>
                    </a:ext>
                  </a:extLst>
                </p:cNvPr>
                <p:cNvSpPr txBox="1">
                  <a:spLocks noRot="1" noChangeAspect="1" noMove="1" noResize="1" noEditPoints="1" noAdjustHandles="1" noChangeArrowheads="1" noChangeShapeType="1" noTextEdit="1"/>
                </p:cNvSpPr>
                <p:nvPr/>
              </p:nvSpPr>
              <p:spPr>
                <a:xfrm>
                  <a:off x="426016" y="5231081"/>
                  <a:ext cx="471283" cy="184666"/>
                </a:xfrm>
                <a:prstGeom prst="rect">
                  <a:avLst/>
                </a:prstGeom>
                <a:blipFill>
                  <a:blip r:embed="rId10"/>
                  <a:stretch>
                    <a:fillRect l="-9091" r="-5195" b="-6667"/>
                  </a:stretch>
                </a:blipFill>
              </p:spPr>
              <p:txBody>
                <a:bodyPr/>
                <a:lstStyle/>
                <a:p>
                  <a:r>
                    <a:rPr lang="es-PE">
                      <a:noFill/>
                    </a:rPr>
                    <a:t> </a:t>
                  </a:r>
                </a:p>
              </p:txBody>
            </p:sp>
          </mc:Fallback>
        </mc:AlternateContent>
      </p:grpSp>
      <mc:AlternateContent xmlns:mc="http://schemas.openxmlformats.org/markup-compatibility/2006" xmlns:a14="http://schemas.microsoft.com/office/drawing/2010/main">
        <mc:Choice Requires="a14">
          <p:sp>
            <p:nvSpPr>
              <p:cNvPr id="77" name="CuadroTexto 76">
                <a:extLst>
                  <a:ext uri="{FF2B5EF4-FFF2-40B4-BE49-F238E27FC236}">
                    <a16:creationId xmlns:a16="http://schemas.microsoft.com/office/drawing/2014/main" id="{3CDE4671-AEB2-D559-AB0B-B7FA60141A51}"/>
                  </a:ext>
                </a:extLst>
              </p:cNvPr>
              <p:cNvSpPr txBox="1"/>
              <p:nvPr/>
            </p:nvSpPr>
            <p:spPr>
              <a:xfrm>
                <a:off x="1452446" y="4569426"/>
                <a:ext cx="728276"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PE" sz="1600" b="1" i="1" smtClean="0">
                          <a:latin typeface="Cambria Math" panose="02040503050406030204" pitchFamily="18" charset="0"/>
                        </a:rPr>
                        <m:t>𝟑</m:t>
                      </m:r>
                      <m:r>
                        <a:rPr lang="es-PE" sz="1600" b="1" i="1" smtClean="0">
                          <a:latin typeface="Cambria Math" panose="02040503050406030204" pitchFamily="18" charset="0"/>
                        </a:rPr>
                        <m:t>.</m:t>
                      </m:r>
                      <m:r>
                        <a:rPr lang="es-PE" sz="1600" b="1" i="1" smtClean="0">
                          <a:latin typeface="Cambria Math" panose="02040503050406030204" pitchFamily="18" charset="0"/>
                        </a:rPr>
                        <m:t>𝟖𝟎</m:t>
                      </m:r>
                      <m:r>
                        <a:rPr lang="es-PE" sz="1600" b="1" i="1" smtClean="0">
                          <a:latin typeface="Cambria Math" panose="02040503050406030204" pitchFamily="18" charset="0"/>
                        </a:rPr>
                        <m:t> </m:t>
                      </m:r>
                      <m:r>
                        <a:rPr lang="es-PE" sz="1600" b="1" i="1" smtClean="0">
                          <a:latin typeface="Cambria Math" panose="02040503050406030204" pitchFamily="18" charset="0"/>
                        </a:rPr>
                        <m:t>𝒎</m:t>
                      </m:r>
                    </m:oMath>
                  </m:oMathPara>
                </a14:m>
                <a:endParaRPr lang="es-PE" sz="1600" b="1" i="1" dirty="0"/>
              </a:p>
            </p:txBody>
          </p:sp>
        </mc:Choice>
        <mc:Fallback xmlns="">
          <p:sp>
            <p:nvSpPr>
              <p:cNvPr id="77" name="CuadroTexto 76">
                <a:extLst>
                  <a:ext uri="{FF2B5EF4-FFF2-40B4-BE49-F238E27FC236}">
                    <a16:creationId xmlns:a16="http://schemas.microsoft.com/office/drawing/2014/main" id="{3CDE4671-AEB2-D559-AB0B-B7FA60141A51}"/>
                  </a:ext>
                </a:extLst>
              </p:cNvPr>
              <p:cNvSpPr txBox="1">
                <a:spLocks noRot="1" noChangeAspect="1" noMove="1" noResize="1" noEditPoints="1" noAdjustHandles="1" noChangeArrowheads="1" noChangeShapeType="1" noTextEdit="1"/>
              </p:cNvSpPr>
              <p:nvPr/>
            </p:nvSpPr>
            <p:spPr>
              <a:xfrm>
                <a:off x="1452446" y="4569426"/>
                <a:ext cx="728276" cy="246221"/>
              </a:xfrm>
              <a:prstGeom prst="rect">
                <a:avLst/>
              </a:prstGeom>
              <a:blipFill>
                <a:blip r:embed="rId11"/>
                <a:stretch>
                  <a:fillRect l="-5833" r="-3333" b="-5000"/>
                </a:stretch>
              </a:blipFill>
            </p:spPr>
            <p:txBody>
              <a:bodyPr/>
              <a:lstStyle/>
              <a:p>
                <a:r>
                  <a:rPr lang="es-PE">
                    <a:noFill/>
                  </a:rPr>
                  <a:t> </a:t>
                </a:r>
              </a:p>
            </p:txBody>
          </p:sp>
        </mc:Fallback>
      </mc:AlternateContent>
      <mc:AlternateContent xmlns:mc="http://schemas.openxmlformats.org/markup-compatibility/2006" xmlns:a14="http://schemas.microsoft.com/office/drawing/2010/main">
        <mc:Choice Requires="a14">
          <p:sp>
            <p:nvSpPr>
              <p:cNvPr id="78" name="CuadroTexto 77">
                <a:extLst>
                  <a:ext uri="{FF2B5EF4-FFF2-40B4-BE49-F238E27FC236}">
                    <a16:creationId xmlns:a16="http://schemas.microsoft.com/office/drawing/2014/main" id="{3AA71ECC-B1D1-B16E-5627-04D6861CAAC4}"/>
                  </a:ext>
                </a:extLst>
              </p:cNvPr>
              <p:cNvSpPr txBox="1"/>
              <p:nvPr/>
            </p:nvSpPr>
            <p:spPr>
              <a:xfrm>
                <a:off x="3708850" y="4522437"/>
                <a:ext cx="604846"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PE" sz="1600" b="1" i="1" smtClean="0">
                          <a:latin typeface="Cambria Math" panose="02040503050406030204" pitchFamily="18" charset="0"/>
                        </a:rPr>
                        <m:t>𝟒</m:t>
                      </m:r>
                      <m:r>
                        <a:rPr lang="es-PE" sz="1600" b="1" i="1" smtClean="0">
                          <a:latin typeface="Cambria Math" panose="02040503050406030204" pitchFamily="18" charset="0"/>
                        </a:rPr>
                        <m:t>.</m:t>
                      </m:r>
                      <m:r>
                        <a:rPr lang="es-PE" sz="1600" b="1" i="1" smtClean="0">
                          <a:latin typeface="Cambria Math" panose="02040503050406030204" pitchFamily="18" charset="0"/>
                        </a:rPr>
                        <m:t>𝟐</m:t>
                      </m:r>
                      <m:r>
                        <a:rPr lang="es-PE" sz="1600" b="1" i="1" smtClean="0">
                          <a:latin typeface="Cambria Math" panose="02040503050406030204" pitchFamily="18" charset="0"/>
                        </a:rPr>
                        <m:t> </m:t>
                      </m:r>
                      <m:r>
                        <a:rPr lang="es-PE" sz="1600" b="1" i="1" smtClean="0">
                          <a:latin typeface="Cambria Math" panose="02040503050406030204" pitchFamily="18" charset="0"/>
                        </a:rPr>
                        <m:t>𝒎</m:t>
                      </m:r>
                    </m:oMath>
                  </m:oMathPara>
                </a14:m>
                <a:endParaRPr lang="es-PE" sz="1600" b="1" i="1" dirty="0"/>
              </a:p>
            </p:txBody>
          </p:sp>
        </mc:Choice>
        <mc:Fallback xmlns="">
          <p:sp>
            <p:nvSpPr>
              <p:cNvPr id="78" name="CuadroTexto 77">
                <a:extLst>
                  <a:ext uri="{FF2B5EF4-FFF2-40B4-BE49-F238E27FC236}">
                    <a16:creationId xmlns:a16="http://schemas.microsoft.com/office/drawing/2014/main" id="{3AA71ECC-B1D1-B16E-5627-04D6861CAAC4}"/>
                  </a:ext>
                </a:extLst>
              </p:cNvPr>
              <p:cNvSpPr txBox="1">
                <a:spLocks noRot="1" noChangeAspect="1" noMove="1" noResize="1" noEditPoints="1" noAdjustHandles="1" noChangeArrowheads="1" noChangeShapeType="1" noTextEdit="1"/>
              </p:cNvSpPr>
              <p:nvPr/>
            </p:nvSpPr>
            <p:spPr>
              <a:xfrm>
                <a:off x="3708850" y="4522437"/>
                <a:ext cx="604846" cy="246221"/>
              </a:xfrm>
              <a:prstGeom prst="rect">
                <a:avLst/>
              </a:prstGeom>
              <a:blipFill>
                <a:blip r:embed="rId12"/>
                <a:stretch>
                  <a:fillRect l="-7000" r="-4000" b="-5000"/>
                </a:stretch>
              </a:blipFill>
            </p:spPr>
            <p:txBody>
              <a:bodyPr/>
              <a:lstStyle/>
              <a:p>
                <a:r>
                  <a:rPr lang="es-PE">
                    <a:noFill/>
                  </a:rPr>
                  <a:t> </a:t>
                </a:r>
              </a:p>
            </p:txBody>
          </p:sp>
        </mc:Fallback>
      </mc:AlternateContent>
      <p:sp>
        <p:nvSpPr>
          <p:cNvPr id="79" name="Elipse 78">
            <a:extLst>
              <a:ext uri="{FF2B5EF4-FFF2-40B4-BE49-F238E27FC236}">
                <a16:creationId xmlns:a16="http://schemas.microsoft.com/office/drawing/2014/main" id="{1C083787-ABED-CF01-1273-59E622582B71}"/>
              </a:ext>
            </a:extLst>
          </p:cNvPr>
          <p:cNvSpPr>
            <a:spLocks noChangeAspect="1"/>
          </p:cNvSpPr>
          <p:nvPr/>
        </p:nvSpPr>
        <p:spPr>
          <a:xfrm>
            <a:off x="553151" y="2045936"/>
            <a:ext cx="252000" cy="252000"/>
          </a:xfrm>
          <a:prstGeom prst="ellipse">
            <a:avLst/>
          </a:prstGeom>
          <a:solidFill>
            <a:schemeClr val="bg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PE" dirty="0">
                <a:solidFill>
                  <a:schemeClr val="tx1"/>
                </a:solidFill>
              </a:rPr>
              <a:t>B</a:t>
            </a:r>
          </a:p>
        </p:txBody>
      </p:sp>
      <p:sp>
        <p:nvSpPr>
          <p:cNvPr id="80" name="Elipse 79">
            <a:extLst>
              <a:ext uri="{FF2B5EF4-FFF2-40B4-BE49-F238E27FC236}">
                <a16:creationId xmlns:a16="http://schemas.microsoft.com/office/drawing/2014/main" id="{F0B399E5-37FC-2967-C7B1-BAF05E3EAA98}"/>
              </a:ext>
            </a:extLst>
          </p:cNvPr>
          <p:cNvSpPr>
            <a:spLocks noChangeAspect="1"/>
          </p:cNvSpPr>
          <p:nvPr/>
        </p:nvSpPr>
        <p:spPr>
          <a:xfrm>
            <a:off x="3097600" y="4194727"/>
            <a:ext cx="252000" cy="252000"/>
          </a:xfrm>
          <a:prstGeom prst="ellipse">
            <a:avLst/>
          </a:prstGeom>
          <a:solidFill>
            <a:schemeClr val="bg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PE" dirty="0">
                <a:solidFill>
                  <a:schemeClr val="tx1"/>
                </a:solidFill>
              </a:rPr>
              <a:t>C</a:t>
            </a:r>
          </a:p>
        </p:txBody>
      </p:sp>
      <p:sp>
        <p:nvSpPr>
          <p:cNvPr id="81" name="Elipse 80">
            <a:extLst>
              <a:ext uri="{FF2B5EF4-FFF2-40B4-BE49-F238E27FC236}">
                <a16:creationId xmlns:a16="http://schemas.microsoft.com/office/drawing/2014/main" id="{33A78015-4380-6325-FCF9-62BFE3DF865B}"/>
              </a:ext>
            </a:extLst>
          </p:cNvPr>
          <p:cNvSpPr>
            <a:spLocks noChangeAspect="1"/>
          </p:cNvSpPr>
          <p:nvPr/>
        </p:nvSpPr>
        <p:spPr>
          <a:xfrm>
            <a:off x="2784417" y="2047373"/>
            <a:ext cx="252000" cy="252000"/>
          </a:xfrm>
          <a:prstGeom prst="ellipse">
            <a:avLst/>
          </a:prstGeom>
          <a:solidFill>
            <a:schemeClr val="bg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PE" dirty="0">
                <a:solidFill>
                  <a:schemeClr val="tx1"/>
                </a:solidFill>
              </a:rPr>
              <a:t>D</a:t>
            </a:r>
          </a:p>
        </p:txBody>
      </p:sp>
      <p:sp>
        <p:nvSpPr>
          <p:cNvPr id="82" name="Elipse 81">
            <a:extLst>
              <a:ext uri="{FF2B5EF4-FFF2-40B4-BE49-F238E27FC236}">
                <a16:creationId xmlns:a16="http://schemas.microsoft.com/office/drawing/2014/main" id="{A6943000-7675-7B8E-FB43-6BE27073FAC4}"/>
              </a:ext>
            </a:extLst>
          </p:cNvPr>
          <p:cNvSpPr>
            <a:spLocks noChangeAspect="1"/>
          </p:cNvSpPr>
          <p:nvPr/>
        </p:nvSpPr>
        <p:spPr>
          <a:xfrm>
            <a:off x="5141683" y="2029543"/>
            <a:ext cx="252000" cy="252000"/>
          </a:xfrm>
          <a:prstGeom prst="ellipse">
            <a:avLst/>
          </a:prstGeom>
          <a:solidFill>
            <a:schemeClr val="bg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PE" dirty="0">
                <a:solidFill>
                  <a:schemeClr val="tx1"/>
                </a:solidFill>
              </a:rPr>
              <a:t>F</a:t>
            </a:r>
          </a:p>
        </p:txBody>
      </p:sp>
    </p:spTree>
    <p:extLst>
      <p:ext uri="{BB962C8B-B14F-4D97-AF65-F5344CB8AC3E}">
        <p14:creationId xmlns:p14="http://schemas.microsoft.com/office/powerpoint/2010/main" val="22100621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8BD4B30-9B7A-4FF3-9506-6E2F889CBD85}"/>
              </a:ext>
            </a:extLst>
          </p:cNvPr>
          <p:cNvSpPr>
            <a:spLocks noGrp="1"/>
          </p:cNvSpPr>
          <p:nvPr>
            <p:ph type="title"/>
          </p:nvPr>
        </p:nvSpPr>
        <p:spPr/>
        <p:txBody>
          <a:bodyPr>
            <a:noAutofit/>
          </a:bodyPr>
          <a:lstStyle/>
          <a:p>
            <a:r>
              <a:rPr lang="es-PE" sz="3300" dirty="0"/>
              <a:t>2° Determinando la rigidez de las columnas, esta pertenece al Caso (a), de las relaciones planteadas por el Método de Muto </a:t>
            </a:r>
          </a:p>
        </p:txBody>
      </p:sp>
      <p:sp>
        <p:nvSpPr>
          <p:cNvPr id="33" name="CuadroTexto 32">
            <a:extLst>
              <a:ext uri="{FF2B5EF4-FFF2-40B4-BE49-F238E27FC236}">
                <a16:creationId xmlns:a16="http://schemas.microsoft.com/office/drawing/2014/main" id="{05EBFB56-23F0-1ACC-CF95-1AB2A5108CE1}"/>
              </a:ext>
            </a:extLst>
          </p:cNvPr>
          <p:cNvSpPr txBox="1"/>
          <p:nvPr/>
        </p:nvSpPr>
        <p:spPr>
          <a:xfrm>
            <a:off x="5159896" y="2223675"/>
            <a:ext cx="3787704" cy="400110"/>
          </a:xfrm>
          <a:prstGeom prst="rect">
            <a:avLst/>
          </a:prstGeom>
          <a:noFill/>
        </p:spPr>
        <p:txBody>
          <a:bodyPr wrap="none" rtlCol="0">
            <a:spAutoFit/>
          </a:bodyPr>
          <a:lstStyle/>
          <a:p>
            <a:r>
              <a:rPr lang="es-PE" sz="2000" dirty="0"/>
              <a:t>Calculando la inercia de la viga DF:</a:t>
            </a:r>
          </a:p>
        </p:txBody>
      </p:sp>
      <mc:AlternateContent xmlns:mc="http://schemas.openxmlformats.org/markup-compatibility/2006" xmlns:a14="http://schemas.microsoft.com/office/drawing/2010/main">
        <mc:Choice Requires="a14">
          <p:sp>
            <p:nvSpPr>
              <p:cNvPr id="70" name="CuadroTexto 69">
                <a:extLst>
                  <a:ext uri="{FF2B5EF4-FFF2-40B4-BE49-F238E27FC236}">
                    <a16:creationId xmlns:a16="http://schemas.microsoft.com/office/drawing/2014/main" id="{2DFAB904-356C-5FC5-014C-527F0D32B393}"/>
                  </a:ext>
                </a:extLst>
              </p:cNvPr>
              <p:cNvSpPr txBox="1"/>
              <p:nvPr/>
            </p:nvSpPr>
            <p:spPr>
              <a:xfrm>
                <a:off x="5225187" y="2623785"/>
                <a:ext cx="3930756" cy="55399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PE" i="1" smtClean="0">
                              <a:latin typeface="Cambria Math" panose="02040503050406030204" pitchFamily="18" charset="0"/>
                            </a:rPr>
                          </m:ctrlPr>
                        </m:sSubPr>
                        <m:e>
                          <m:r>
                            <a:rPr lang="es-PE" b="0" i="1" smtClean="0">
                              <a:latin typeface="Cambria Math" panose="02040503050406030204" pitchFamily="18" charset="0"/>
                            </a:rPr>
                            <m:t>𝐼</m:t>
                          </m:r>
                        </m:e>
                        <m:sub>
                          <m:r>
                            <a:rPr lang="es-PE" b="0" i="1" smtClean="0">
                              <a:latin typeface="Cambria Math" panose="02040503050406030204" pitchFamily="18" charset="0"/>
                            </a:rPr>
                            <m:t>𝐷𝐹</m:t>
                          </m:r>
                        </m:sub>
                      </m:sSub>
                      <m:r>
                        <a:rPr lang="es-PE" b="0" i="1" smtClean="0">
                          <a:latin typeface="Cambria Math" panose="02040503050406030204" pitchFamily="18" charset="0"/>
                        </a:rPr>
                        <m:t>= </m:t>
                      </m:r>
                      <m:f>
                        <m:fPr>
                          <m:ctrlPr>
                            <a:rPr lang="es-PE" b="0" i="1" smtClean="0">
                              <a:latin typeface="Cambria Math" panose="02040503050406030204" pitchFamily="18" charset="0"/>
                            </a:rPr>
                          </m:ctrlPr>
                        </m:fPr>
                        <m:num>
                          <m:r>
                            <a:rPr lang="es-PE" b="0" i="1" smtClean="0">
                              <a:latin typeface="Cambria Math" panose="02040503050406030204" pitchFamily="18" charset="0"/>
                            </a:rPr>
                            <m:t>𝑏</m:t>
                          </m:r>
                          <m:sSup>
                            <m:sSupPr>
                              <m:ctrlPr>
                                <a:rPr lang="es-PE" b="0" i="1" smtClean="0">
                                  <a:latin typeface="Cambria Math" panose="02040503050406030204" pitchFamily="18" charset="0"/>
                                </a:rPr>
                              </m:ctrlPr>
                            </m:sSupPr>
                            <m:e>
                              <m:r>
                                <a:rPr lang="es-PE" b="0" i="1" smtClean="0">
                                  <a:latin typeface="Cambria Math" panose="02040503050406030204" pitchFamily="18" charset="0"/>
                                </a:rPr>
                                <m:t>h</m:t>
                              </m:r>
                            </m:e>
                            <m:sup>
                              <m:r>
                                <a:rPr lang="es-PE" b="0" i="1" smtClean="0">
                                  <a:latin typeface="Cambria Math" panose="02040503050406030204" pitchFamily="18" charset="0"/>
                                </a:rPr>
                                <m:t>3</m:t>
                              </m:r>
                            </m:sup>
                          </m:sSup>
                        </m:num>
                        <m:den>
                          <m:r>
                            <a:rPr lang="es-PE" b="0" i="1" smtClean="0">
                              <a:latin typeface="Cambria Math" panose="02040503050406030204" pitchFamily="18" charset="0"/>
                            </a:rPr>
                            <m:t>12</m:t>
                          </m:r>
                        </m:den>
                      </m:f>
                      <m:r>
                        <a:rPr lang="es-PE" b="0" i="1" smtClean="0">
                          <a:latin typeface="Cambria Math" panose="02040503050406030204" pitchFamily="18" charset="0"/>
                        </a:rPr>
                        <m:t>=</m:t>
                      </m:r>
                      <m:f>
                        <m:fPr>
                          <m:ctrlPr>
                            <a:rPr lang="es-PE" i="1">
                              <a:latin typeface="Cambria Math" panose="02040503050406030204" pitchFamily="18" charset="0"/>
                            </a:rPr>
                          </m:ctrlPr>
                        </m:fPr>
                        <m:num>
                          <m:r>
                            <a:rPr lang="es-PE" b="0" i="1" smtClean="0">
                              <a:latin typeface="Cambria Math" panose="02040503050406030204" pitchFamily="18" charset="0"/>
                            </a:rPr>
                            <m:t>(30)</m:t>
                          </m:r>
                          <m:sSup>
                            <m:sSupPr>
                              <m:ctrlPr>
                                <a:rPr lang="es-PE" i="1">
                                  <a:latin typeface="Cambria Math" panose="02040503050406030204" pitchFamily="18" charset="0"/>
                                </a:rPr>
                              </m:ctrlPr>
                            </m:sSupPr>
                            <m:e>
                              <m:r>
                                <a:rPr lang="es-PE" b="0" i="1" smtClean="0">
                                  <a:latin typeface="Cambria Math" panose="02040503050406030204" pitchFamily="18" charset="0"/>
                                </a:rPr>
                                <m:t>(50)</m:t>
                              </m:r>
                            </m:e>
                            <m:sup>
                              <m:r>
                                <a:rPr lang="es-PE" i="1">
                                  <a:latin typeface="Cambria Math" panose="02040503050406030204" pitchFamily="18" charset="0"/>
                                </a:rPr>
                                <m:t>3</m:t>
                              </m:r>
                            </m:sup>
                          </m:sSup>
                        </m:num>
                        <m:den>
                          <m:r>
                            <a:rPr lang="es-PE" i="1">
                              <a:latin typeface="Cambria Math" panose="02040503050406030204" pitchFamily="18" charset="0"/>
                            </a:rPr>
                            <m:t>12</m:t>
                          </m:r>
                        </m:den>
                      </m:f>
                      <m:r>
                        <a:rPr lang="es-PE" b="0" i="1" smtClean="0">
                          <a:latin typeface="Cambria Math" panose="02040503050406030204" pitchFamily="18" charset="0"/>
                        </a:rPr>
                        <m:t>=312500 </m:t>
                      </m:r>
                      <m:sSup>
                        <m:sSupPr>
                          <m:ctrlPr>
                            <a:rPr lang="es-PE" b="0" i="1" smtClean="0">
                              <a:latin typeface="Cambria Math" panose="02040503050406030204" pitchFamily="18" charset="0"/>
                            </a:rPr>
                          </m:ctrlPr>
                        </m:sSupPr>
                        <m:e>
                          <m:r>
                            <a:rPr lang="es-PE" b="0" i="1" smtClean="0">
                              <a:latin typeface="Cambria Math" panose="02040503050406030204" pitchFamily="18" charset="0"/>
                            </a:rPr>
                            <m:t>𝑐𝑚</m:t>
                          </m:r>
                        </m:e>
                        <m:sup>
                          <m:r>
                            <a:rPr lang="es-PE" b="0" i="1" smtClean="0">
                              <a:latin typeface="Cambria Math" panose="02040503050406030204" pitchFamily="18" charset="0"/>
                            </a:rPr>
                            <m:t>4</m:t>
                          </m:r>
                        </m:sup>
                      </m:sSup>
                    </m:oMath>
                  </m:oMathPara>
                </a14:m>
                <a:endParaRPr lang="es-PE" dirty="0"/>
              </a:p>
            </p:txBody>
          </p:sp>
        </mc:Choice>
        <mc:Fallback xmlns="">
          <p:sp>
            <p:nvSpPr>
              <p:cNvPr id="70" name="CuadroTexto 69">
                <a:extLst>
                  <a:ext uri="{FF2B5EF4-FFF2-40B4-BE49-F238E27FC236}">
                    <a16:creationId xmlns:a16="http://schemas.microsoft.com/office/drawing/2014/main" id="{2DFAB904-356C-5FC5-014C-527F0D32B393}"/>
                  </a:ext>
                </a:extLst>
              </p:cNvPr>
              <p:cNvSpPr txBox="1">
                <a:spLocks noRot="1" noChangeAspect="1" noMove="1" noResize="1" noEditPoints="1" noAdjustHandles="1" noChangeArrowheads="1" noChangeShapeType="1" noTextEdit="1"/>
              </p:cNvSpPr>
              <p:nvPr/>
            </p:nvSpPr>
            <p:spPr>
              <a:xfrm>
                <a:off x="5225187" y="2623785"/>
                <a:ext cx="3930756" cy="553998"/>
              </a:xfrm>
              <a:prstGeom prst="rect">
                <a:avLst/>
              </a:prstGeom>
              <a:blipFill>
                <a:blip r:embed="rId2"/>
                <a:stretch>
                  <a:fillRect/>
                </a:stretch>
              </a:blipFill>
            </p:spPr>
            <p:txBody>
              <a:bodyPr/>
              <a:lstStyle/>
              <a:p>
                <a:r>
                  <a:rPr lang="es-PE">
                    <a:noFill/>
                  </a:rPr>
                  <a:t> </a:t>
                </a:r>
              </a:p>
            </p:txBody>
          </p:sp>
        </mc:Fallback>
      </mc:AlternateContent>
      <p:sp>
        <p:nvSpPr>
          <p:cNvPr id="71" name="CuadroTexto 70">
            <a:extLst>
              <a:ext uri="{FF2B5EF4-FFF2-40B4-BE49-F238E27FC236}">
                <a16:creationId xmlns:a16="http://schemas.microsoft.com/office/drawing/2014/main" id="{B48896D0-D6F6-AFE3-6A90-2907EE48A53E}"/>
              </a:ext>
            </a:extLst>
          </p:cNvPr>
          <p:cNvSpPr txBox="1"/>
          <p:nvPr/>
        </p:nvSpPr>
        <p:spPr>
          <a:xfrm>
            <a:off x="5159896" y="3213198"/>
            <a:ext cx="4590552" cy="400110"/>
          </a:xfrm>
          <a:prstGeom prst="rect">
            <a:avLst/>
          </a:prstGeom>
          <a:noFill/>
        </p:spPr>
        <p:txBody>
          <a:bodyPr wrap="none" rtlCol="0">
            <a:spAutoFit/>
          </a:bodyPr>
          <a:lstStyle/>
          <a:p>
            <a:r>
              <a:rPr lang="es-PE" sz="2000" dirty="0"/>
              <a:t>Calculando la rigidez relativa de la viga DF:</a:t>
            </a:r>
          </a:p>
        </p:txBody>
      </p:sp>
      <mc:AlternateContent xmlns:mc="http://schemas.openxmlformats.org/markup-compatibility/2006" xmlns:a14="http://schemas.microsoft.com/office/drawing/2010/main">
        <mc:Choice Requires="a14">
          <p:sp>
            <p:nvSpPr>
              <p:cNvPr id="72" name="CuadroTexto 71">
                <a:extLst>
                  <a:ext uri="{FF2B5EF4-FFF2-40B4-BE49-F238E27FC236}">
                    <a16:creationId xmlns:a16="http://schemas.microsoft.com/office/drawing/2014/main" id="{871A160A-E817-4E46-D679-8A9EEE8F819F}"/>
                  </a:ext>
                </a:extLst>
              </p:cNvPr>
              <p:cNvSpPr txBox="1"/>
              <p:nvPr/>
            </p:nvSpPr>
            <p:spPr>
              <a:xfrm>
                <a:off x="5159896" y="3582050"/>
                <a:ext cx="3678956" cy="57131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PE" i="1" smtClean="0">
                              <a:latin typeface="Cambria Math" panose="02040503050406030204" pitchFamily="18" charset="0"/>
                            </a:rPr>
                          </m:ctrlPr>
                        </m:sSubPr>
                        <m:e>
                          <m:r>
                            <a:rPr lang="es-PE" b="0" i="1" smtClean="0">
                              <a:latin typeface="Cambria Math" panose="02040503050406030204" pitchFamily="18" charset="0"/>
                            </a:rPr>
                            <m:t>𝐾</m:t>
                          </m:r>
                        </m:e>
                        <m:sub>
                          <m:r>
                            <a:rPr lang="es-PE" b="0" i="1" smtClean="0">
                              <a:latin typeface="Cambria Math" panose="02040503050406030204" pitchFamily="18" charset="0"/>
                            </a:rPr>
                            <m:t>𝐷𝐹</m:t>
                          </m:r>
                        </m:sub>
                      </m:sSub>
                      <m:r>
                        <a:rPr lang="es-PE" b="0" i="1" smtClean="0">
                          <a:latin typeface="Cambria Math" panose="02040503050406030204" pitchFamily="18" charset="0"/>
                        </a:rPr>
                        <m:t>= </m:t>
                      </m:r>
                      <m:f>
                        <m:fPr>
                          <m:ctrlPr>
                            <a:rPr lang="es-PE" b="0" i="1" smtClean="0">
                              <a:latin typeface="Cambria Math" panose="02040503050406030204" pitchFamily="18" charset="0"/>
                            </a:rPr>
                          </m:ctrlPr>
                        </m:fPr>
                        <m:num>
                          <m:sSub>
                            <m:sSubPr>
                              <m:ctrlPr>
                                <a:rPr lang="es-PE" b="0" i="1" smtClean="0">
                                  <a:latin typeface="Cambria Math" panose="02040503050406030204" pitchFamily="18" charset="0"/>
                                </a:rPr>
                              </m:ctrlPr>
                            </m:sSubPr>
                            <m:e>
                              <m:r>
                                <a:rPr lang="es-PE" b="0" i="1" smtClean="0">
                                  <a:latin typeface="Cambria Math" panose="02040503050406030204" pitchFamily="18" charset="0"/>
                                </a:rPr>
                                <m:t>𝐼</m:t>
                              </m:r>
                            </m:e>
                            <m:sub>
                              <m:r>
                                <a:rPr lang="es-PE" b="0" i="1" smtClean="0">
                                  <a:latin typeface="Cambria Math" panose="02040503050406030204" pitchFamily="18" charset="0"/>
                                </a:rPr>
                                <m:t>𝐷𝐹</m:t>
                              </m:r>
                            </m:sub>
                          </m:sSub>
                        </m:num>
                        <m:den>
                          <m:sSub>
                            <m:sSubPr>
                              <m:ctrlPr>
                                <a:rPr lang="es-PE" b="0" i="1" smtClean="0">
                                  <a:latin typeface="Cambria Math" panose="02040503050406030204" pitchFamily="18" charset="0"/>
                                </a:rPr>
                              </m:ctrlPr>
                            </m:sSubPr>
                            <m:e>
                              <m:r>
                                <a:rPr lang="es-PE" b="0" i="1" smtClean="0">
                                  <a:latin typeface="Cambria Math" panose="02040503050406030204" pitchFamily="18" charset="0"/>
                                </a:rPr>
                                <m:t>𝐿</m:t>
                              </m:r>
                            </m:e>
                            <m:sub>
                              <m:r>
                                <a:rPr lang="es-PE" b="0" i="1" smtClean="0">
                                  <a:latin typeface="Cambria Math" panose="02040503050406030204" pitchFamily="18" charset="0"/>
                                </a:rPr>
                                <m:t>𝐷𝐹</m:t>
                              </m:r>
                            </m:sub>
                          </m:sSub>
                        </m:den>
                      </m:f>
                      <m:r>
                        <a:rPr lang="es-PE" b="0" i="1" smtClean="0">
                          <a:latin typeface="Cambria Math" panose="02040503050406030204" pitchFamily="18" charset="0"/>
                        </a:rPr>
                        <m:t>=</m:t>
                      </m:r>
                      <m:f>
                        <m:fPr>
                          <m:ctrlPr>
                            <a:rPr lang="es-PE" i="1">
                              <a:latin typeface="Cambria Math" panose="02040503050406030204" pitchFamily="18" charset="0"/>
                            </a:rPr>
                          </m:ctrlPr>
                        </m:fPr>
                        <m:num>
                          <m:r>
                            <a:rPr lang="es-PE" b="0" i="1" smtClean="0">
                              <a:latin typeface="Cambria Math" panose="02040503050406030204" pitchFamily="18" charset="0"/>
                            </a:rPr>
                            <m:t>312500</m:t>
                          </m:r>
                        </m:num>
                        <m:den>
                          <m:r>
                            <a:rPr lang="es-PE" b="0" i="1" smtClean="0">
                              <a:latin typeface="Cambria Math" panose="02040503050406030204" pitchFamily="18" charset="0"/>
                            </a:rPr>
                            <m:t>420</m:t>
                          </m:r>
                        </m:den>
                      </m:f>
                      <m:r>
                        <a:rPr lang="es-PE" b="0" i="1" smtClean="0">
                          <a:latin typeface="Cambria Math" panose="02040503050406030204" pitchFamily="18" charset="0"/>
                        </a:rPr>
                        <m:t>=744.05 </m:t>
                      </m:r>
                      <m:sSup>
                        <m:sSupPr>
                          <m:ctrlPr>
                            <a:rPr lang="es-PE" b="0" i="1" smtClean="0">
                              <a:latin typeface="Cambria Math" panose="02040503050406030204" pitchFamily="18" charset="0"/>
                            </a:rPr>
                          </m:ctrlPr>
                        </m:sSupPr>
                        <m:e>
                          <m:r>
                            <a:rPr lang="es-PE" b="0" i="1" smtClean="0">
                              <a:latin typeface="Cambria Math" panose="02040503050406030204" pitchFamily="18" charset="0"/>
                            </a:rPr>
                            <m:t>𝑐𝑚</m:t>
                          </m:r>
                        </m:e>
                        <m:sup>
                          <m:r>
                            <a:rPr lang="es-PE" b="0" i="1" smtClean="0">
                              <a:latin typeface="Cambria Math" panose="02040503050406030204" pitchFamily="18" charset="0"/>
                            </a:rPr>
                            <m:t>3</m:t>
                          </m:r>
                        </m:sup>
                      </m:sSup>
                    </m:oMath>
                  </m:oMathPara>
                </a14:m>
                <a:endParaRPr lang="es-PE" dirty="0"/>
              </a:p>
            </p:txBody>
          </p:sp>
        </mc:Choice>
        <mc:Fallback xmlns="">
          <p:sp>
            <p:nvSpPr>
              <p:cNvPr id="72" name="CuadroTexto 71">
                <a:extLst>
                  <a:ext uri="{FF2B5EF4-FFF2-40B4-BE49-F238E27FC236}">
                    <a16:creationId xmlns:a16="http://schemas.microsoft.com/office/drawing/2014/main" id="{871A160A-E817-4E46-D679-8A9EEE8F819F}"/>
                  </a:ext>
                </a:extLst>
              </p:cNvPr>
              <p:cNvSpPr txBox="1">
                <a:spLocks noRot="1" noChangeAspect="1" noMove="1" noResize="1" noEditPoints="1" noAdjustHandles="1" noChangeArrowheads="1" noChangeShapeType="1" noTextEdit="1"/>
              </p:cNvSpPr>
              <p:nvPr/>
            </p:nvSpPr>
            <p:spPr>
              <a:xfrm>
                <a:off x="5159896" y="3582050"/>
                <a:ext cx="3678956" cy="571310"/>
              </a:xfrm>
              <a:prstGeom prst="rect">
                <a:avLst/>
              </a:prstGeom>
              <a:blipFill>
                <a:blip r:embed="rId3"/>
                <a:stretch>
                  <a:fillRect/>
                </a:stretch>
              </a:blipFill>
            </p:spPr>
            <p:txBody>
              <a:bodyPr/>
              <a:lstStyle/>
              <a:p>
                <a:r>
                  <a:rPr lang="es-PE">
                    <a:noFill/>
                  </a:rPr>
                  <a:t> </a:t>
                </a:r>
              </a:p>
            </p:txBody>
          </p:sp>
        </mc:Fallback>
      </mc:AlternateContent>
      <p:sp>
        <p:nvSpPr>
          <p:cNvPr id="73" name="CuadroTexto 72">
            <a:extLst>
              <a:ext uri="{FF2B5EF4-FFF2-40B4-BE49-F238E27FC236}">
                <a16:creationId xmlns:a16="http://schemas.microsoft.com/office/drawing/2014/main" id="{459D21C9-221E-7671-8C15-740CD57B38A9}"/>
              </a:ext>
            </a:extLst>
          </p:cNvPr>
          <p:cNvSpPr txBox="1"/>
          <p:nvPr/>
        </p:nvSpPr>
        <p:spPr>
          <a:xfrm>
            <a:off x="5159896" y="4304165"/>
            <a:ext cx="4417107" cy="400110"/>
          </a:xfrm>
          <a:prstGeom prst="rect">
            <a:avLst/>
          </a:prstGeom>
          <a:noFill/>
        </p:spPr>
        <p:txBody>
          <a:bodyPr wrap="none" rtlCol="0">
            <a:spAutoFit/>
          </a:bodyPr>
          <a:lstStyle/>
          <a:p>
            <a:r>
              <a:rPr lang="es-PE" sz="2000" dirty="0"/>
              <a:t>Calculando la inercia de la  columna FE:</a:t>
            </a:r>
          </a:p>
        </p:txBody>
      </p:sp>
      <mc:AlternateContent xmlns:mc="http://schemas.openxmlformats.org/markup-compatibility/2006" xmlns:a14="http://schemas.microsoft.com/office/drawing/2010/main">
        <mc:Choice Requires="a14">
          <p:sp>
            <p:nvSpPr>
              <p:cNvPr id="74" name="CuadroTexto 73">
                <a:extLst>
                  <a:ext uri="{FF2B5EF4-FFF2-40B4-BE49-F238E27FC236}">
                    <a16:creationId xmlns:a16="http://schemas.microsoft.com/office/drawing/2014/main" id="{A40E5339-5CA4-3FCE-28D0-8011A74719DD}"/>
                  </a:ext>
                </a:extLst>
              </p:cNvPr>
              <p:cNvSpPr txBox="1"/>
              <p:nvPr/>
            </p:nvSpPr>
            <p:spPr>
              <a:xfrm>
                <a:off x="5225187" y="4704275"/>
                <a:ext cx="4095032" cy="55399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PE" i="1" smtClean="0">
                              <a:latin typeface="Cambria Math" panose="02040503050406030204" pitchFamily="18" charset="0"/>
                            </a:rPr>
                          </m:ctrlPr>
                        </m:sSubPr>
                        <m:e>
                          <m:r>
                            <a:rPr lang="es-PE" b="0" i="1" smtClean="0">
                              <a:latin typeface="Cambria Math" panose="02040503050406030204" pitchFamily="18" charset="0"/>
                            </a:rPr>
                            <m:t>𝐼</m:t>
                          </m:r>
                        </m:e>
                        <m:sub>
                          <m:r>
                            <a:rPr lang="es-PE" b="0" i="1" smtClean="0">
                              <a:latin typeface="Cambria Math" panose="02040503050406030204" pitchFamily="18" charset="0"/>
                            </a:rPr>
                            <m:t>𝐹𝐸</m:t>
                          </m:r>
                        </m:sub>
                      </m:sSub>
                      <m:r>
                        <a:rPr lang="es-PE" b="0" i="1" smtClean="0">
                          <a:latin typeface="Cambria Math" panose="02040503050406030204" pitchFamily="18" charset="0"/>
                        </a:rPr>
                        <m:t>= </m:t>
                      </m:r>
                      <m:f>
                        <m:fPr>
                          <m:ctrlPr>
                            <a:rPr lang="es-PE" b="0" i="1" smtClean="0">
                              <a:latin typeface="Cambria Math" panose="02040503050406030204" pitchFamily="18" charset="0"/>
                            </a:rPr>
                          </m:ctrlPr>
                        </m:fPr>
                        <m:num>
                          <m:r>
                            <a:rPr lang="es-PE" b="0" i="1" smtClean="0">
                              <a:latin typeface="Cambria Math" panose="02040503050406030204" pitchFamily="18" charset="0"/>
                            </a:rPr>
                            <m:t>𝑏</m:t>
                          </m:r>
                          <m:sSup>
                            <m:sSupPr>
                              <m:ctrlPr>
                                <a:rPr lang="es-PE" b="0" i="1" smtClean="0">
                                  <a:latin typeface="Cambria Math" panose="02040503050406030204" pitchFamily="18" charset="0"/>
                                </a:rPr>
                              </m:ctrlPr>
                            </m:sSupPr>
                            <m:e>
                              <m:r>
                                <a:rPr lang="es-PE" b="0" i="1" smtClean="0">
                                  <a:latin typeface="Cambria Math" panose="02040503050406030204" pitchFamily="18" charset="0"/>
                                </a:rPr>
                                <m:t>h</m:t>
                              </m:r>
                            </m:e>
                            <m:sup>
                              <m:r>
                                <a:rPr lang="es-PE" b="0" i="1" smtClean="0">
                                  <a:latin typeface="Cambria Math" panose="02040503050406030204" pitchFamily="18" charset="0"/>
                                </a:rPr>
                                <m:t>3</m:t>
                              </m:r>
                            </m:sup>
                          </m:sSup>
                        </m:num>
                        <m:den>
                          <m:r>
                            <a:rPr lang="es-PE" b="0" i="1" smtClean="0">
                              <a:latin typeface="Cambria Math" panose="02040503050406030204" pitchFamily="18" charset="0"/>
                            </a:rPr>
                            <m:t>12</m:t>
                          </m:r>
                        </m:den>
                      </m:f>
                      <m:r>
                        <a:rPr lang="es-PE" b="0" i="1" smtClean="0">
                          <a:latin typeface="Cambria Math" panose="02040503050406030204" pitchFamily="18" charset="0"/>
                        </a:rPr>
                        <m:t>=</m:t>
                      </m:r>
                      <m:f>
                        <m:fPr>
                          <m:ctrlPr>
                            <a:rPr lang="es-PE" i="1">
                              <a:latin typeface="Cambria Math" panose="02040503050406030204" pitchFamily="18" charset="0"/>
                            </a:rPr>
                          </m:ctrlPr>
                        </m:fPr>
                        <m:num>
                          <m:r>
                            <a:rPr lang="es-PE" b="0" i="1" smtClean="0">
                              <a:latin typeface="Cambria Math" panose="02040503050406030204" pitchFamily="18" charset="0"/>
                            </a:rPr>
                            <m:t>(30)</m:t>
                          </m:r>
                          <m:sSup>
                            <m:sSupPr>
                              <m:ctrlPr>
                                <a:rPr lang="es-PE" i="1">
                                  <a:latin typeface="Cambria Math" panose="02040503050406030204" pitchFamily="18" charset="0"/>
                                </a:rPr>
                              </m:ctrlPr>
                            </m:sSupPr>
                            <m:e>
                              <m:r>
                                <a:rPr lang="es-PE" b="0" i="1" smtClean="0">
                                  <a:latin typeface="Cambria Math" panose="02040503050406030204" pitchFamily="18" charset="0"/>
                                </a:rPr>
                                <m:t>(45)</m:t>
                              </m:r>
                            </m:e>
                            <m:sup>
                              <m:r>
                                <a:rPr lang="es-PE" i="1">
                                  <a:latin typeface="Cambria Math" panose="02040503050406030204" pitchFamily="18" charset="0"/>
                                </a:rPr>
                                <m:t>3</m:t>
                              </m:r>
                            </m:sup>
                          </m:sSup>
                        </m:num>
                        <m:den>
                          <m:r>
                            <a:rPr lang="es-PE" i="1">
                              <a:latin typeface="Cambria Math" panose="02040503050406030204" pitchFamily="18" charset="0"/>
                            </a:rPr>
                            <m:t>12</m:t>
                          </m:r>
                        </m:den>
                      </m:f>
                      <m:r>
                        <a:rPr lang="es-PE" b="0" i="1" smtClean="0">
                          <a:latin typeface="Cambria Math" panose="02040503050406030204" pitchFamily="18" charset="0"/>
                        </a:rPr>
                        <m:t>=227812.5 </m:t>
                      </m:r>
                      <m:sSup>
                        <m:sSupPr>
                          <m:ctrlPr>
                            <a:rPr lang="es-PE" b="0" i="1" smtClean="0">
                              <a:latin typeface="Cambria Math" panose="02040503050406030204" pitchFamily="18" charset="0"/>
                            </a:rPr>
                          </m:ctrlPr>
                        </m:sSupPr>
                        <m:e>
                          <m:r>
                            <a:rPr lang="es-PE" b="0" i="1" smtClean="0">
                              <a:latin typeface="Cambria Math" panose="02040503050406030204" pitchFamily="18" charset="0"/>
                            </a:rPr>
                            <m:t>𝑐𝑚</m:t>
                          </m:r>
                        </m:e>
                        <m:sup>
                          <m:r>
                            <a:rPr lang="es-PE" b="0" i="1" smtClean="0">
                              <a:latin typeface="Cambria Math" panose="02040503050406030204" pitchFamily="18" charset="0"/>
                            </a:rPr>
                            <m:t>4</m:t>
                          </m:r>
                        </m:sup>
                      </m:sSup>
                    </m:oMath>
                  </m:oMathPara>
                </a14:m>
                <a:endParaRPr lang="es-PE" dirty="0"/>
              </a:p>
            </p:txBody>
          </p:sp>
        </mc:Choice>
        <mc:Fallback xmlns="">
          <p:sp>
            <p:nvSpPr>
              <p:cNvPr id="74" name="CuadroTexto 73">
                <a:extLst>
                  <a:ext uri="{FF2B5EF4-FFF2-40B4-BE49-F238E27FC236}">
                    <a16:creationId xmlns:a16="http://schemas.microsoft.com/office/drawing/2014/main" id="{A40E5339-5CA4-3FCE-28D0-8011A74719DD}"/>
                  </a:ext>
                </a:extLst>
              </p:cNvPr>
              <p:cNvSpPr txBox="1">
                <a:spLocks noRot="1" noChangeAspect="1" noMove="1" noResize="1" noEditPoints="1" noAdjustHandles="1" noChangeArrowheads="1" noChangeShapeType="1" noTextEdit="1"/>
              </p:cNvSpPr>
              <p:nvPr/>
            </p:nvSpPr>
            <p:spPr>
              <a:xfrm>
                <a:off x="5225187" y="4704275"/>
                <a:ext cx="4095032" cy="553998"/>
              </a:xfrm>
              <a:prstGeom prst="rect">
                <a:avLst/>
              </a:prstGeom>
              <a:blipFill>
                <a:blip r:embed="rId4"/>
                <a:stretch>
                  <a:fillRect/>
                </a:stretch>
              </a:blipFill>
            </p:spPr>
            <p:txBody>
              <a:bodyPr/>
              <a:lstStyle/>
              <a:p>
                <a:r>
                  <a:rPr lang="es-PE">
                    <a:noFill/>
                  </a:rPr>
                  <a:t> </a:t>
                </a:r>
              </a:p>
            </p:txBody>
          </p:sp>
        </mc:Fallback>
      </mc:AlternateContent>
      <p:sp>
        <p:nvSpPr>
          <p:cNvPr id="75" name="CuadroTexto 74">
            <a:extLst>
              <a:ext uri="{FF2B5EF4-FFF2-40B4-BE49-F238E27FC236}">
                <a16:creationId xmlns:a16="http://schemas.microsoft.com/office/drawing/2014/main" id="{E09D9C79-DB8D-9184-22FB-2A4FD0C75583}"/>
              </a:ext>
            </a:extLst>
          </p:cNvPr>
          <p:cNvSpPr txBox="1"/>
          <p:nvPr/>
        </p:nvSpPr>
        <p:spPr>
          <a:xfrm>
            <a:off x="5159896" y="5293688"/>
            <a:ext cx="5096523" cy="400110"/>
          </a:xfrm>
          <a:prstGeom prst="rect">
            <a:avLst/>
          </a:prstGeom>
          <a:noFill/>
        </p:spPr>
        <p:txBody>
          <a:bodyPr wrap="none" rtlCol="0">
            <a:spAutoFit/>
          </a:bodyPr>
          <a:lstStyle/>
          <a:p>
            <a:r>
              <a:rPr lang="es-PE" sz="2000" dirty="0"/>
              <a:t>Calculando la rigidez relativa de la columna BD:</a:t>
            </a:r>
          </a:p>
        </p:txBody>
      </p:sp>
      <mc:AlternateContent xmlns:mc="http://schemas.openxmlformats.org/markup-compatibility/2006" xmlns:a14="http://schemas.microsoft.com/office/drawing/2010/main">
        <mc:Choice Requires="a14">
          <p:sp>
            <p:nvSpPr>
              <p:cNvPr id="76" name="CuadroTexto 75">
                <a:extLst>
                  <a:ext uri="{FF2B5EF4-FFF2-40B4-BE49-F238E27FC236}">
                    <a16:creationId xmlns:a16="http://schemas.microsoft.com/office/drawing/2014/main" id="{CACB6D05-CDFB-92F7-8929-AD8292E7BC48}"/>
                  </a:ext>
                </a:extLst>
              </p:cNvPr>
              <p:cNvSpPr txBox="1"/>
              <p:nvPr/>
            </p:nvSpPr>
            <p:spPr>
              <a:xfrm>
                <a:off x="5159896" y="5662540"/>
                <a:ext cx="3831177" cy="57131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PE" i="1" smtClean="0">
                              <a:latin typeface="Cambria Math" panose="02040503050406030204" pitchFamily="18" charset="0"/>
                            </a:rPr>
                          </m:ctrlPr>
                        </m:sSubPr>
                        <m:e>
                          <m:r>
                            <a:rPr lang="es-PE" b="0" i="1" smtClean="0">
                              <a:latin typeface="Cambria Math" panose="02040503050406030204" pitchFamily="18" charset="0"/>
                            </a:rPr>
                            <m:t>𝐾</m:t>
                          </m:r>
                        </m:e>
                        <m:sub>
                          <m:r>
                            <a:rPr lang="es-PE" b="0" i="1" smtClean="0">
                              <a:latin typeface="Cambria Math" panose="02040503050406030204" pitchFamily="18" charset="0"/>
                            </a:rPr>
                            <m:t>𝐹𝐸</m:t>
                          </m:r>
                        </m:sub>
                      </m:sSub>
                      <m:r>
                        <a:rPr lang="es-PE" b="0" i="1" smtClean="0">
                          <a:latin typeface="Cambria Math" panose="02040503050406030204" pitchFamily="18" charset="0"/>
                        </a:rPr>
                        <m:t>= </m:t>
                      </m:r>
                      <m:f>
                        <m:fPr>
                          <m:ctrlPr>
                            <a:rPr lang="es-PE" b="0" i="1" smtClean="0">
                              <a:latin typeface="Cambria Math" panose="02040503050406030204" pitchFamily="18" charset="0"/>
                            </a:rPr>
                          </m:ctrlPr>
                        </m:fPr>
                        <m:num>
                          <m:sSub>
                            <m:sSubPr>
                              <m:ctrlPr>
                                <a:rPr lang="es-PE" b="0" i="1" smtClean="0">
                                  <a:latin typeface="Cambria Math" panose="02040503050406030204" pitchFamily="18" charset="0"/>
                                </a:rPr>
                              </m:ctrlPr>
                            </m:sSubPr>
                            <m:e>
                              <m:r>
                                <a:rPr lang="es-PE" b="0" i="1" smtClean="0">
                                  <a:latin typeface="Cambria Math" panose="02040503050406030204" pitchFamily="18" charset="0"/>
                                </a:rPr>
                                <m:t>𝐼</m:t>
                              </m:r>
                            </m:e>
                            <m:sub>
                              <m:r>
                                <a:rPr lang="es-PE" b="0" i="1" smtClean="0">
                                  <a:latin typeface="Cambria Math" panose="02040503050406030204" pitchFamily="18" charset="0"/>
                                </a:rPr>
                                <m:t>𝐹𝐸</m:t>
                              </m:r>
                            </m:sub>
                          </m:sSub>
                        </m:num>
                        <m:den>
                          <m:sSub>
                            <m:sSubPr>
                              <m:ctrlPr>
                                <a:rPr lang="es-PE" b="0" i="1" smtClean="0">
                                  <a:latin typeface="Cambria Math" panose="02040503050406030204" pitchFamily="18" charset="0"/>
                                </a:rPr>
                              </m:ctrlPr>
                            </m:sSubPr>
                            <m:e>
                              <m:r>
                                <a:rPr lang="es-PE" b="0" i="1" smtClean="0">
                                  <a:latin typeface="Cambria Math" panose="02040503050406030204" pitchFamily="18" charset="0"/>
                                </a:rPr>
                                <m:t>𝐿</m:t>
                              </m:r>
                            </m:e>
                            <m:sub>
                              <m:r>
                                <a:rPr lang="es-PE" b="0" i="1" smtClean="0">
                                  <a:latin typeface="Cambria Math" panose="02040503050406030204" pitchFamily="18" charset="0"/>
                                </a:rPr>
                                <m:t>𝐹𝐸</m:t>
                              </m:r>
                            </m:sub>
                          </m:sSub>
                        </m:den>
                      </m:f>
                      <m:r>
                        <a:rPr lang="es-PE" b="0" i="1" smtClean="0">
                          <a:latin typeface="Cambria Math" panose="02040503050406030204" pitchFamily="18" charset="0"/>
                        </a:rPr>
                        <m:t>=</m:t>
                      </m:r>
                      <m:f>
                        <m:fPr>
                          <m:ctrlPr>
                            <a:rPr lang="es-PE" i="1">
                              <a:latin typeface="Cambria Math" panose="02040503050406030204" pitchFamily="18" charset="0"/>
                            </a:rPr>
                          </m:ctrlPr>
                        </m:fPr>
                        <m:num>
                          <m:r>
                            <a:rPr lang="es-PE" b="0" i="1" smtClean="0">
                              <a:latin typeface="Cambria Math" panose="02040503050406030204" pitchFamily="18" charset="0"/>
                            </a:rPr>
                            <m:t>227812.5</m:t>
                          </m:r>
                        </m:num>
                        <m:den>
                          <m:r>
                            <a:rPr lang="es-PE" b="0" i="1" smtClean="0">
                              <a:latin typeface="Cambria Math" panose="02040503050406030204" pitchFamily="18" charset="0"/>
                            </a:rPr>
                            <m:t>280</m:t>
                          </m:r>
                        </m:den>
                      </m:f>
                      <m:r>
                        <a:rPr lang="es-PE" b="0" i="1" smtClean="0">
                          <a:latin typeface="Cambria Math" panose="02040503050406030204" pitchFamily="18" charset="0"/>
                        </a:rPr>
                        <m:t>=813.62 </m:t>
                      </m:r>
                      <m:sSup>
                        <m:sSupPr>
                          <m:ctrlPr>
                            <a:rPr lang="es-PE" b="0" i="1" smtClean="0">
                              <a:latin typeface="Cambria Math" panose="02040503050406030204" pitchFamily="18" charset="0"/>
                            </a:rPr>
                          </m:ctrlPr>
                        </m:sSupPr>
                        <m:e>
                          <m:r>
                            <a:rPr lang="es-PE" b="0" i="1" smtClean="0">
                              <a:latin typeface="Cambria Math" panose="02040503050406030204" pitchFamily="18" charset="0"/>
                            </a:rPr>
                            <m:t>𝑐𝑚</m:t>
                          </m:r>
                        </m:e>
                        <m:sup>
                          <m:r>
                            <a:rPr lang="es-PE" b="0" i="1" smtClean="0">
                              <a:latin typeface="Cambria Math" panose="02040503050406030204" pitchFamily="18" charset="0"/>
                            </a:rPr>
                            <m:t>3</m:t>
                          </m:r>
                        </m:sup>
                      </m:sSup>
                    </m:oMath>
                  </m:oMathPara>
                </a14:m>
                <a:endParaRPr lang="es-PE" dirty="0"/>
              </a:p>
            </p:txBody>
          </p:sp>
        </mc:Choice>
        <mc:Fallback xmlns="">
          <p:sp>
            <p:nvSpPr>
              <p:cNvPr id="76" name="CuadroTexto 75">
                <a:extLst>
                  <a:ext uri="{FF2B5EF4-FFF2-40B4-BE49-F238E27FC236}">
                    <a16:creationId xmlns:a16="http://schemas.microsoft.com/office/drawing/2014/main" id="{CACB6D05-CDFB-92F7-8929-AD8292E7BC48}"/>
                  </a:ext>
                </a:extLst>
              </p:cNvPr>
              <p:cNvSpPr txBox="1">
                <a:spLocks noRot="1" noChangeAspect="1" noMove="1" noResize="1" noEditPoints="1" noAdjustHandles="1" noChangeArrowheads="1" noChangeShapeType="1" noTextEdit="1"/>
              </p:cNvSpPr>
              <p:nvPr/>
            </p:nvSpPr>
            <p:spPr>
              <a:xfrm>
                <a:off x="5159896" y="5662540"/>
                <a:ext cx="3831177" cy="571310"/>
              </a:xfrm>
              <a:prstGeom prst="rect">
                <a:avLst/>
              </a:prstGeom>
              <a:blipFill>
                <a:blip r:embed="rId5"/>
                <a:stretch>
                  <a:fillRect/>
                </a:stretch>
              </a:blipFill>
            </p:spPr>
            <p:txBody>
              <a:bodyPr/>
              <a:lstStyle/>
              <a:p>
                <a:r>
                  <a:rPr lang="es-PE">
                    <a:noFill/>
                  </a:rPr>
                  <a:t> </a:t>
                </a:r>
              </a:p>
            </p:txBody>
          </p:sp>
        </mc:Fallback>
      </mc:AlternateContent>
      <p:grpSp>
        <p:nvGrpSpPr>
          <p:cNvPr id="4" name="Grupo 3">
            <a:extLst>
              <a:ext uri="{FF2B5EF4-FFF2-40B4-BE49-F238E27FC236}">
                <a16:creationId xmlns:a16="http://schemas.microsoft.com/office/drawing/2014/main" id="{BB93E979-961C-D302-0233-08A47B9F4CE0}"/>
              </a:ext>
            </a:extLst>
          </p:cNvPr>
          <p:cNvGrpSpPr/>
          <p:nvPr/>
        </p:nvGrpSpPr>
        <p:grpSpPr>
          <a:xfrm>
            <a:off x="1000305" y="2349500"/>
            <a:ext cx="2725399" cy="2304634"/>
            <a:chOff x="3002800" y="2708275"/>
            <a:chExt cx="2473772" cy="1950352"/>
          </a:xfrm>
        </p:grpSpPr>
        <p:sp>
          <p:nvSpPr>
            <p:cNvPr id="9" name="Rectángulo 8">
              <a:extLst>
                <a:ext uri="{FF2B5EF4-FFF2-40B4-BE49-F238E27FC236}">
                  <a16:creationId xmlns:a16="http://schemas.microsoft.com/office/drawing/2014/main" id="{EF275D34-E68C-0D5E-84D3-041678438269}"/>
                </a:ext>
              </a:extLst>
            </p:cNvPr>
            <p:cNvSpPr/>
            <p:nvPr/>
          </p:nvSpPr>
          <p:spPr>
            <a:xfrm>
              <a:off x="3002800" y="2708275"/>
              <a:ext cx="2265658" cy="152329"/>
            </a:xfrm>
            <a:prstGeom prst="rect">
              <a:avLst/>
            </a:prstGeom>
            <a:pattFill prst="lgConfetti">
              <a:fgClr>
                <a:schemeClr val="tx1">
                  <a:lumMod val="65000"/>
                  <a:lumOff val="35000"/>
                </a:schemeClr>
              </a:fgClr>
              <a:bgClr>
                <a:schemeClr val="bg1"/>
              </a:bgClr>
            </a:patt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0" name="Rectángulo 9">
              <a:extLst>
                <a:ext uri="{FF2B5EF4-FFF2-40B4-BE49-F238E27FC236}">
                  <a16:creationId xmlns:a16="http://schemas.microsoft.com/office/drawing/2014/main" id="{5CD38194-BB90-6553-4D88-3E62F1BEE827}"/>
                </a:ext>
              </a:extLst>
            </p:cNvPr>
            <p:cNvSpPr/>
            <p:nvPr/>
          </p:nvSpPr>
          <p:spPr>
            <a:xfrm>
              <a:off x="4977482" y="4508500"/>
              <a:ext cx="499090" cy="150127"/>
            </a:xfrm>
            <a:prstGeom prst="rect">
              <a:avLst/>
            </a:prstGeom>
            <a:pattFill prst="wdUpDiag">
              <a:fgClr>
                <a:schemeClr val="accent2">
                  <a:lumMod val="75000"/>
                </a:schemeClr>
              </a:fgClr>
              <a:bgClr>
                <a:schemeClr val="bg1"/>
              </a:bgClr>
            </a:patt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dirty="0"/>
            </a:p>
          </p:txBody>
        </p:sp>
        <p:sp>
          <p:nvSpPr>
            <p:cNvPr id="11" name="Rectángulo 10">
              <a:extLst>
                <a:ext uri="{FF2B5EF4-FFF2-40B4-BE49-F238E27FC236}">
                  <a16:creationId xmlns:a16="http://schemas.microsoft.com/office/drawing/2014/main" id="{23904ED6-1F6E-9595-5EA7-3841C1961A13}"/>
                </a:ext>
              </a:extLst>
            </p:cNvPr>
            <p:cNvSpPr/>
            <p:nvPr/>
          </p:nvSpPr>
          <p:spPr>
            <a:xfrm>
              <a:off x="5122970" y="2708275"/>
              <a:ext cx="144000" cy="1800000"/>
            </a:xfrm>
            <a:prstGeom prst="rect">
              <a:avLst/>
            </a:prstGeom>
            <a:pattFill prst="lgConfetti">
              <a:fgClr>
                <a:schemeClr val="tx1">
                  <a:lumMod val="65000"/>
                  <a:lumOff val="35000"/>
                </a:schemeClr>
              </a:fgClr>
              <a:bgClr>
                <a:schemeClr val="bg1"/>
              </a:bgClr>
            </a:patt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dirty="0"/>
            </a:p>
          </p:txBody>
        </p:sp>
      </p:grpSp>
      <p:cxnSp>
        <p:nvCxnSpPr>
          <p:cNvPr id="12" name="Conector recto 11">
            <a:extLst>
              <a:ext uri="{FF2B5EF4-FFF2-40B4-BE49-F238E27FC236}">
                <a16:creationId xmlns:a16="http://schemas.microsoft.com/office/drawing/2014/main" id="{9595E797-6EE7-AB52-3E7E-0131A90911A1}"/>
              </a:ext>
            </a:extLst>
          </p:cNvPr>
          <p:cNvCxnSpPr/>
          <p:nvPr/>
        </p:nvCxnSpPr>
        <p:spPr>
          <a:xfrm>
            <a:off x="737322" y="2319396"/>
            <a:ext cx="0" cy="223195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Conector recto 15">
            <a:extLst>
              <a:ext uri="{FF2B5EF4-FFF2-40B4-BE49-F238E27FC236}">
                <a16:creationId xmlns:a16="http://schemas.microsoft.com/office/drawing/2014/main" id="{54683BE3-6A0F-FD96-7AEA-BCEC79FA4EBA}"/>
              </a:ext>
            </a:extLst>
          </p:cNvPr>
          <p:cNvCxnSpPr/>
          <p:nvPr/>
        </p:nvCxnSpPr>
        <p:spPr>
          <a:xfrm>
            <a:off x="592984" y="2463412"/>
            <a:ext cx="360362"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Conector recto 21">
            <a:extLst>
              <a:ext uri="{FF2B5EF4-FFF2-40B4-BE49-F238E27FC236}">
                <a16:creationId xmlns:a16="http://schemas.microsoft.com/office/drawing/2014/main" id="{F481333C-38EC-7D52-1703-B7DBECB4D8B9}"/>
              </a:ext>
            </a:extLst>
          </p:cNvPr>
          <p:cNvCxnSpPr/>
          <p:nvPr/>
        </p:nvCxnSpPr>
        <p:spPr>
          <a:xfrm>
            <a:off x="592298" y="4445464"/>
            <a:ext cx="360362"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5" name="CuadroTexto 24">
                <a:extLst>
                  <a:ext uri="{FF2B5EF4-FFF2-40B4-BE49-F238E27FC236}">
                    <a16:creationId xmlns:a16="http://schemas.microsoft.com/office/drawing/2014/main" id="{8EBA59D9-3F87-D029-393C-C87BE3ABD270}"/>
                  </a:ext>
                </a:extLst>
              </p:cNvPr>
              <p:cNvSpPr txBox="1"/>
              <p:nvPr/>
            </p:nvSpPr>
            <p:spPr>
              <a:xfrm>
                <a:off x="159232" y="3208217"/>
                <a:ext cx="604846"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PE" sz="1600" b="1" i="1" smtClean="0">
                          <a:latin typeface="Cambria Math" panose="02040503050406030204" pitchFamily="18" charset="0"/>
                        </a:rPr>
                        <m:t>𝟐</m:t>
                      </m:r>
                      <m:r>
                        <a:rPr lang="es-PE" sz="1600" b="1" i="1" smtClean="0">
                          <a:latin typeface="Cambria Math" panose="02040503050406030204" pitchFamily="18" charset="0"/>
                        </a:rPr>
                        <m:t>.</m:t>
                      </m:r>
                      <m:r>
                        <a:rPr lang="es-PE" sz="1600" b="1" i="1" smtClean="0">
                          <a:latin typeface="Cambria Math" panose="02040503050406030204" pitchFamily="18" charset="0"/>
                        </a:rPr>
                        <m:t>𝟖</m:t>
                      </m:r>
                      <m:r>
                        <a:rPr lang="es-PE" sz="1600" b="1" i="1" smtClean="0">
                          <a:latin typeface="Cambria Math" panose="02040503050406030204" pitchFamily="18" charset="0"/>
                        </a:rPr>
                        <m:t> </m:t>
                      </m:r>
                      <m:r>
                        <a:rPr lang="es-PE" sz="1600" b="1" i="1" smtClean="0">
                          <a:latin typeface="Cambria Math" panose="02040503050406030204" pitchFamily="18" charset="0"/>
                        </a:rPr>
                        <m:t>𝒎</m:t>
                      </m:r>
                    </m:oMath>
                  </m:oMathPara>
                </a14:m>
                <a:endParaRPr lang="es-PE" sz="1600" b="1" i="1" dirty="0"/>
              </a:p>
            </p:txBody>
          </p:sp>
        </mc:Choice>
        <mc:Fallback xmlns="">
          <p:sp>
            <p:nvSpPr>
              <p:cNvPr id="25" name="CuadroTexto 24">
                <a:extLst>
                  <a:ext uri="{FF2B5EF4-FFF2-40B4-BE49-F238E27FC236}">
                    <a16:creationId xmlns:a16="http://schemas.microsoft.com/office/drawing/2014/main" id="{8EBA59D9-3F87-D029-393C-C87BE3ABD270}"/>
                  </a:ext>
                </a:extLst>
              </p:cNvPr>
              <p:cNvSpPr txBox="1">
                <a:spLocks noRot="1" noChangeAspect="1" noMove="1" noResize="1" noEditPoints="1" noAdjustHandles="1" noChangeArrowheads="1" noChangeShapeType="1" noTextEdit="1"/>
              </p:cNvSpPr>
              <p:nvPr/>
            </p:nvSpPr>
            <p:spPr>
              <a:xfrm>
                <a:off x="159232" y="3208217"/>
                <a:ext cx="604846" cy="246221"/>
              </a:xfrm>
              <a:prstGeom prst="rect">
                <a:avLst/>
              </a:prstGeom>
              <a:blipFill>
                <a:blip r:embed="rId6"/>
                <a:stretch>
                  <a:fillRect l="-7071" r="-5051" b="-4878"/>
                </a:stretch>
              </a:blipFill>
            </p:spPr>
            <p:txBody>
              <a:bodyPr/>
              <a:lstStyle/>
              <a:p>
                <a:r>
                  <a:rPr lang="es-PE">
                    <a:noFill/>
                  </a:rPr>
                  <a:t> </a:t>
                </a:r>
              </a:p>
            </p:txBody>
          </p:sp>
        </mc:Fallback>
      </mc:AlternateContent>
      <p:cxnSp>
        <p:nvCxnSpPr>
          <p:cNvPr id="28" name="Conector recto 27">
            <a:extLst>
              <a:ext uri="{FF2B5EF4-FFF2-40B4-BE49-F238E27FC236}">
                <a16:creationId xmlns:a16="http://schemas.microsoft.com/office/drawing/2014/main" id="{229B9001-48EF-B502-2E09-174A675F2BE2}"/>
              </a:ext>
            </a:extLst>
          </p:cNvPr>
          <p:cNvCxnSpPr>
            <a:cxnSpLocks/>
          </p:cNvCxnSpPr>
          <p:nvPr/>
        </p:nvCxnSpPr>
        <p:spPr>
          <a:xfrm>
            <a:off x="737322" y="4870103"/>
            <a:ext cx="2959061"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Conector recto 29">
            <a:extLst>
              <a:ext uri="{FF2B5EF4-FFF2-40B4-BE49-F238E27FC236}">
                <a16:creationId xmlns:a16="http://schemas.microsoft.com/office/drawing/2014/main" id="{CFC3C13E-82D9-7E73-85FE-367C3FAB896B}"/>
              </a:ext>
            </a:extLst>
          </p:cNvPr>
          <p:cNvCxnSpPr/>
          <p:nvPr/>
        </p:nvCxnSpPr>
        <p:spPr>
          <a:xfrm>
            <a:off x="1000305" y="4735546"/>
            <a:ext cx="0" cy="28803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Conector recto 38">
            <a:extLst>
              <a:ext uri="{FF2B5EF4-FFF2-40B4-BE49-F238E27FC236}">
                <a16:creationId xmlns:a16="http://schemas.microsoft.com/office/drawing/2014/main" id="{C9D7B492-6B53-5A78-7D35-2D36925F6DFB}"/>
              </a:ext>
            </a:extLst>
          </p:cNvPr>
          <p:cNvCxnSpPr/>
          <p:nvPr/>
        </p:nvCxnSpPr>
        <p:spPr>
          <a:xfrm>
            <a:off x="3416407" y="4726087"/>
            <a:ext cx="0" cy="28803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40" name="Grupo 39">
            <a:extLst>
              <a:ext uri="{FF2B5EF4-FFF2-40B4-BE49-F238E27FC236}">
                <a16:creationId xmlns:a16="http://schemas.microsoft.com/office/drawing/2014/main" id="{2824D81E-AD2E-A062-978A-F24A03183D3A}"/>
              </a:ext>
            </a:extLst>
          </p:cNvPr>
          <p:cNvGrpSpPr/>
          <p:nvPr/>
        </p:nvGrpSpPr>
        <p:grpSpPr>
          <a:xfrm>
            <a:off x="2395317" y="5181519"/>
            <a:ext cx="1301066" cy="1101128"/>
            <a:chOff x="424663" y="4976843"/>
            <a:chExt cx="1301066" cy="1101128"/>
          </a:xfrm>
        </p:grpSpPr>
        <p:sp>
          <p:nvSpPr>
            <p:cNvPr id="41" name="Rectángulo 40">
              <a:extLst>
                <a:ext uri="{FF2B5EF4-FFF2-40B4-BE49-F238E27FC236}">
                  <a16:creationId xmlns:a16="http://schemas.microsoft.com/office/drawing/2014/main" id="{E0FD6416-413F-B706-4E65-BC6C8424F7BA}"/>
                </a:ext>
              </a:extLst>
            </p:cNvPr>
            <p:cNvSpPr>
              <a:spLocks noChangeAspect="1"/>
            </p:cNvSpPr>
            <p:nvPr/>
          </p:nvSpPr>
          <p:spPr>
            <a:xfrm>
              <a:off x="1149729" y="5048875"/>
              <a:ext cx="576000" cy="432000"/>
            </a:xfrm>
            <a:prstGeom prst="rect">
              <a:avLst/>
            </a:prstGeom>
            <a:pattFill prst="wdUpDiag">
              <a:fgClr>
                <a:schemeClr val="tx1">
                  <a:lumMod val="65000"/>
                  <a:lumOff val="35000"/>
                </a:schemeClr>
              </a:fgClr>
              <a:bgClr>
                <a:schemeClr val="bg1"/>
              </a:bgClr>
            </a:patt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cxnSp>
          <p:nvCxnSpPr>
            <p:cNvPr id="42" name="Conector recto 41">
              <a:extLst>
                <a:ext uri="{FF2B5EF4-FFF2-40B4-BE49-F238E27FC236}">
                  <a16:creationId xmlns:a16="http://schemas.microsoft.com/office/drawing/2014/main" id="{2FEF33D8-18D3-3CE3-939D-ECBE73256209}"/>
                </a:ext>
              </a:extLst>
            </p:cNvPr>
            <p:cNvCxnSpPr/>
            <p:nvPr/>
          </p:nvCxnSpPr>
          <p:spPr>
            <a:xfrm>
              <a:off x="1149729" y="5640390"/>
              <a:ext cx="0" cy="18000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Conector recto 42">
              <a:extLst>
                <a:ext uri="{FF2B5EF4-FFF2-40B4-BE49-F238E27FC236}">
                  <a16:creationId xmlns:a16="http://schemas.microsoft.com/office/drawing/2014/main" id="{FEA1C6D1-5362-F6E6-5A53-C11B2FA29805}"/>
                </a:ext>
              </a:extLst>
            </p:cNvPr>
            <p:cNvCxnSpPr>
              <a:cxnSpLocks/>
            </p:cNvCxnSpPr>
            <p:nvPr/>
          </p:nvCxnSpPr>
          <p:spPr>
            <a:xfrm>
              <a:off x="1042821" y="5733256"/>
              <a:ext cx="63529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4" name="CuadroTexto 43">
                  <a:extLst>
                    <a:ext uri="{FF2B5EF4-FFF2-40B4-BE49-F238E27FC236}">
                      <a16:creationId xmlns:a16="http://schemas.microsoft.com/office/drawing/2014/main" id="{39969A98-D4BE-6849-2A4B-14AC17AB0A1F}"/>
                    </a:ext>
                  </a:extLst>
                </p:cNvPr>
                <p:cNvSpPr txBox="1"/>
                <p:nvPr/>
              </p:nvSpPr>
              <p:spPr>
                <a:xfrm>
                  <a:off x="1110400" y="5893305"/>
                  <a:ext cx="471283" cy="18466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PE" sz="1200" b="1" i="1" smtClean="0">
                            <a:latin typeface="Cambria Math" panose="02040503050406030204" pitchFamily="18" charset="0"/>
                          </a:rPr>
                          <m:t>𝟒𝟓</m:t>
                        </m:r>
                        <m:r>
                          <a:rPr lang="es-PE" sz="1200" b="1" i="1" smtClean="0">
                            <a:latin typeface="Cambria Math" panose="02040503050406030204" pitchFamily="18" charset="0"/>
                          </a:rPr>
                          <m:t> </m:t>
                        </m:r>
                        <m:r>
                          <a:rPr lang="es-PE" sz="1200" b="1" i="1" smtClean="0">
                            <a:latin typeface="Cambria Math" panose="02040503050406030204" pitchFamily="18" charset="0"/>
                          </a:rPr>
                          <m:t>𝒄𝒎</m:t>
                        </m:r>
                      </m:oMath>
                    </m:oMathPara>
                  </a14:m>
                  <a:endParaRPr lang="es-PE" sz="1200" b="1" i="1" dirty="0"/>
                </a:p>
              </p:txBody>
            </p:sp>
          </mc:Choice>
          <mc:Fallback xmlns="">
            <p:sp>
              <p:nvSpPr>
                <p:cNvPr id="44" name="CuadroTexto 43">
                  <a:extLst>
                    <a:ext uri="{FF2B5EF4-FFF2-40B4-BE49-F238E27FC236}">
                      <a16:creationId xmlns:a16="http://schemas.microsoft.com/office/drawing/2014/main" id="{39969A98-D4BE-6849-2A4B-14AC17AB0A1F}"/>
                    </a:ext>
                  </a:extLst>
                </p:cNvPr>
                <p:cNvSpPr txBox="1">
                  <a:spLocks noRot="1" noChangeAspect="1" noMove="1" noResize="1" noEditPoints="1" noAdjustHandles="1" noChangeArrowheads="1" noChangeShapeType="1" noTextEdit="1"/>
                </p:cNvSpPr>
                <p:nvPr/>
              </p:nvSpPr>
              <p:spPr>
                <a:xfrm>
                  <a:off x="1110400" y="5893305"/>
                  <a:ext cx="471283" cy="184666"/>
                </a:xfrm>
                <a:prstGeom prst="rect">
                  <a:avLst/>
                </a:prstGeom>
                <a:blipFill>
                  <a:blip r:embed="rId7"/>
                  <a:stretch>
                    <a:fillRect l="-7692" r="-5128" b="-6452"/>
                  </a:stretch>
                </a:blipFill>
              </p:spPr>
              <p:txBody>
                <a:bodyPr/>
                <a:lstStyle/>
                <a:p>
                  <a:r>
                    <a:rPr lang="es-PE">
                      <a:noFill/>
                    </a:rPr>
                    <a:t> </a:t>
                  </a:r>
                </a:p>
              </p:txBody>
            </p:sp>
          </mc:Fallback>
        </mc:AlternateContent>
        <p:cxnSp>
          <p:nvCxnSpPr>
            <p:cNvPr id="45" name="Conector recto 44">
              <a:extLst>
                <a:ext uri="{FF2B5EF4-FFF2-40B4-BE49-F238E27FC236}">
                  <a16:creationId xmlns:a16="http://schemas.microsoft.com/office/drawing/2014/main" id="{FEDEF87C-58BF-CF91-082B-E41FCC050184}"/>
                </a:ext>
              </a:extLst>
            </p:cNvPr>
            <p:cNvCxnSpPr>
              <a:cxnSpLocks/>
            </p:cNvCxnSpPr>
            <p:nvPr/>
          </p:nvCxnSpPr>
          <p:spPr>
            <a:xfrm>
              <a:off x="918571" y="4976843"/>
              <a:ext cx="0" cy="61274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Conector recto 45">
              <a:extLst>
                <a:ext uri="{FF2B5EF4-FFF2-40B4-BE49-F238E27FC236}">
                  <a16:creationId xmlns:a16="http://schemas.microsoft.com/office/drawing/2014/main" id="{0C166777-702B-B2C7-4BF3-80D648AD2CC1}"/>
                </a:ext>
              </a:extLst>
            </p:cNvPr>
            <p:cNvCxnSpPr/>
            <p:nvPr/>
          </p:nvCxnSpPr>
          <p:spPr>
            <a:xfrm>
              <a:off x="801276" y="5042849"/>
              <a:ext cx="216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 name="Conector recto 46">
              <a:extLst>
                <a:ext uri="{FF2B5EF4-FFF2-40B4-BE49-F238E27FC236}">
                  <a16:creationId xmlns:a16="http://schemas.microsoft.com/office/drawing/2014/main" id="{0A33D039-C4D0-B9C8-0CFF-C68CB9132A52}"/>
                </a:ext>
              </a:extLst>
            </p:cNvPr>
            <p:cNvCxnSpPr/>
            <p:nvPr/>
          </p:nvCxnSpPr>
          <p:spPr>
            <a:xfrm>
              <a:off x="814039" y="5462158"/>
              <a:ext cx="216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8" name="Conector recto 47">
              <a:extLst>
                <a:ext uri="{FF2B5EF4-FFF2-40B4-BE49-F238E27FC236}">
                  <a16:creationId xmlns:a16="http://schemas.microsoft.com/office/drawing/2014/main" id="{FD30C232-A9B6-2365-BD27-97F21FCF6A80}"/>
                </a:ext>
              </a:extLst>
            </p:cNvPr>
            <p:cNvCxnSpPr/>
            <p:nvPr/>
          </p:nvCxnSpPr>
          <p:spPr>
            <a:xfrm>
              <a:off x="1644166" y="5650665"/>
              <a:ext cx="0" cy="18000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9" name="CuadroTexto 48">
                  <a:extLst>
                    <a:ext uri="{FF2B5EF4-FFF2-40B4-BE49-F238E27FC236}">
                      <a16:creationId xmlns:a16="http://schemas.microsoft.com/office/drawing/2014/main" id="{F0762386-E07C-7057-205E-193472728388}"/>
                    </a:ext>
                  </a:extLst>
                </p:cNvPr>
                <p:cNvSpPr txBox="1"/>
                <p:nvPr/>
              </p:nvSpPr>
              <p:spPr>
                <a:xfrm>
                  <a:off x="424663" y="5148731"/>
                  <a:ext cx="471283" cy="18466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PE" sz="1200" b="1" i="1" smtClean="0">
                            <a:latin typeface="Cambria Math" panose="02040503050406030204" pitchFamily="18" charset="0"/>
                          </a:rPr>
                          <m:t>𝟑𝟎</m:t>
                        </m:r>
                        <m:r>
                          <a:rPr lang="es-PE" sz="1200" b="1" i="1" smtClean="0">
                            <a:latin typeface="Cambria Math" panose="02040503050406030204" pitchFamily="18" charset="0"/>
                          </a:rPr>
                          <m:t> </m:t>
                        </m:r>
                        <m:r>
                          <a:rPr lang="es-PE" sz="1200" b="1" i="1" smtClean="0">
                            <a:latin typeface="Cambria Math" panose="02040503050406030204" pitchFamily="18" charset="0"/>
                          </a:rPr>
                          <m:t>𝒄𝒎</m:t>
                        </m:r>
                      </m:oMath>
                    </m:oMathPara>
                  </a14:m>
                  <a:endParaRPr lang="es-PE" sz="1200" b="1" i="1" dirty="0"/>
                </a:p>
              </p:txBody>
            </p:sp>
          </mc:Choice>
          <mc:Fallback xmlns="">
            <p:sp>
              <p:nvSpPr>
                <p:cNvPr id="49" name="CuadroTexto 48">
                  <a:extLst>
                    <a:ext uri="{FF2B5EF4-FFF2-40B4-BE49-F238E27FC236}">
                      <a16:creationId xmlns:a16="http://schemas.microsoft.com/office/drawing/2014/main" id="{F0762386-E07C-7057-205E-193472728388}"/>
                    </a:ext>
                  </a:extLst>
                </p:cNvPr>
                <p:cNvSpPr txBox="1">
                  <a:spLocks noRot="1" noChangeAspect="1" noMove="1" noResize="1" noEditPoints="1" noAdjustHandles="1" noChangeArrowheads="1" noChangeShapeType="1" noTextEdit="1"/>
                </p:cNvSpPr>
                <p:nvPr/>
              </p:nvSpPr>
              <p:spPr>
                <a:xfrm>
                  <a:off x="424663" y="5148731"/>
                  <a:ext cx="471283" cy="184666"/>
                </a:xfrm>
                <a:prstGeom prst="rect">
                  <a:avLst/>
                </a:prstGeom>
                <a:blipFill>
                  <a:blip r:embed="rId8"/>
                  <a:stretch>
                    <a:fillRect l="-7792" r="-5195" b="-6667"/>
                  </a:stretch>
                </a:blipFill>
              </p:spPr>
              <p:txBody>
                <a:bodyPr/>
                <a:lstStyle/>
                <a:p>
                  <a:r>
                    <a:rPr lang="es-PE">
                      <a:noFill/>
                    </a:rPr>
                    <a:t> </a:t>
                  </a:r>
                </a:p>
              </p:txBody>
            </p:sp>
          </mc:Fallback>
        </mc:AlternateContent>
      </p:grpSp>
      <p:grpSp>
        <p:nvGrpSpPr>
          <p:cNvPr id="50" name="Grupo 49">
            <a:extLst>
              <a:ext uri="{FF2B5EF4-FFF2-40B4-BE49-F238E27FC236}">
                <a16:creationId xmlns:a16="http://schemas.microsoft.com/office/drawing/2014/main" id="{047DE1DA-7C05-205E-BC5E-C3C31C839B85}"/>
              </a:ext>
            </a:extLst>
          </p:cNvPr>
          <p:cNvGrpSpPr/>
          <p:nvPr/>
        </p:nvGrpSpPr>
        <p:grpSpPr>
          <a:xfrm>
            <a:off x="3717887" y="2328697"/>
            <a:ext cx="1155667" cy="1137101"/>
            <a:chOff x="426016" y="4940870"/>
            <a:chExt cx="1155667" cy="1137101"/>
          </a:xfrm>
        </p:grpSpPr>
        <p:sp>
          <p:nvSpPr>
            <p:cNvPr id="51" name="Rectángulo 50">
              <a:extLst>
                <a:ext uri="{FF2B5EF4-FFF2-40B4-BE49-F238E27FC236}">
                  <a16:creationId xmlns:a16="http://schemas.microsoft.com/office/drawing/2014/main" id="{9B5C0063-D1A6-57B5-4D0C-927F61E561D5}"/>
                </a:ext>
              </a:extLst>
            </p:cNvPr>
            <p:cNvSpPr>
              <a:spLocks noChangeAspect="1"/>
            </p:cNvSpPr>
            <p:nvPr/>
          </p:nvSpPr>
          <p:spPr>
            <a:xfrm>
              <a:off x="1149729" y="5048875"/>
              <a:ext cx="324000" cy="540000"/>
            </a:xfrm>
            <a:prstGeom prst="rect">
              <a:avLst/>
            </a:prstGeom>
            <a:pattFill prst="wdUpDiag">
              <a:fgClr>
                <a:schemeClr val="tx1">
                  <a:lumMod val="65000"/>
                  <a:lumOff val="35000"/>
                </a:schemeClr>
              </a:fgClr>
              <a:bgClr>
                <a:schemeClr val="bg1"/>
              </a:bgClr>
            </a:patt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dirty="0"/>
            </a:p>
          </p:txBody>
        </p:sp>
        <p:cxnSp>
          <p:nvCxnSpPr>
            <p:cNvPr id="52" name="Conector recto 51">
              <a:extLst>
                <a:ext uri="{FF2B5EF4-FFF2-40B4-BE49-F238E27FC236}">
                  <a16:creationId xmlns:a16="http://schemas.microsoft.com/office/drawing/2014/main" id="{CE5EF29C-44B3-15BD-5FA4-E9E84E1B5AE6}"/>
                </a:ext>
              </a:extLst>
            </p:cNvPr>
            <p:cNvCxnSpPr/>
            <p:nvPr/>
          </p:nvCxnSpPr>
          <p:spPr>
            <a:xfrm>
              <a:off x="1149729" y="5640390"/>
              <a:ext cx="0" cy="18000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 name="Conector recto 52">
              <a:extLst>
                <a:ext uri="{FF2B5EF4-FFF2-40B4-BE49-F238E27FC236}">
                  <a16:creationId xmlns:a16="http://schemas.microsoft.com/office/drawing/2014/main" id="{183C4D78-4F55-D4D5-3529-220B8B27FE88}"/>
                </a:ext>
              </a:extLst>
            </p:cNvPr>
            <p:cNvCxnSpPr>
              <a:cxnSpLocks/>
            </p:cNvCxnSpPr>
            <p:nvPr/>
          </p:nvCxnSpPr>
          <p:spPr>
            <a:xfrm>
              <a:off x="1068222" y="5733256"/>
              <a:ext cx="468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4" name="CuadroTexto 53">
                  <a:extLst>
                    <a:ext uri="{FF2B5EF4-FFF2-40B4-BE49-F238E27FC236}">
                      <a16:creationId xmlns:a16="http://schemas.microsoft.com/office/drawing/2014/main" id="{7BF6058C-61DC-CC49-CB10-5D4056924136}"/>
                    </a:ext>
                  </a:extLst>
                </p:cNvPr>
                <p:cNvSpPr txBox="1"/>
                <p:nvPr/>
              </p:nvSpPr>
              <p:spPr>
                <a:xfrm>
                  <a:off x="1110400" y="5893305"/>
                  <a:ext cx="471283" cy="18466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PE" sz="1200" b="1" i="1" smtClean="0">
                            <a:latin typeface="Cambria Math" panose="02040503050406030204" pitchFamily="18" charset="0"/>
                          </a:rPr>
                          <m:t>𝟑𝟎</m:t>
                        </m:r>
                        <m:r>
                          <a:rPr lang="es-PE" sz="1200" b="1" i="1" smtClean="0">
                            <a:latin typeface="Cambria Math" panose="02040503050406030204" pitchFamily="18" charset="0"/>
                          </a:rPr>
                          <m:t> </m:t>
                        </m:r>
                        <m:r>
                          <a:rPr lang="es-PE" sz="1200" b="1" i="1" smtClean="0">
                            <a:latin typeface="Cambria Math" panose="02040503050406030204" pitchFamily="18" charset="0"/>
                          </a:rPr>
                          <m:t>𝒄𝒎</m:t>
                        </m:r>
                      </m:oMath>
                    </m:oMathPara>
                  </a14:m>
                  <a:endParaRPr lang="es-PE" sz="1200" b="1" i="1" dirty="0"/>
                </a:p>
              </p:txBody>
            </p:sp>
          </mc:Choice>
          <mc:Fallback xmlns="">
            <p:sp>
              <p:nvSpPr>
                <p:cNvPr id="54" name="CuadroTexto 53">
                  <a:extLst>
                    <a:ext uri="{FF2B5EF4-FFF2-40B4-BE49-F238E27FC236}">
                      <a16:creationId xmlns:a16="http://schemas.microsoft.com/office/drawing/2014/main" id="{7BF6058C-61DC-CC49-CB10-5D4056924136}"/>
                    </a:ext>
                  </a:extLst>
                </p:cNvPr>
                <p:cNvSpPr txBox="1">
                  <a:spLocks noRot="1" noChangeAspect="1" noMove="1" noResize="1" noEditPoints="1" noAdjustHandles="1" noChangeArrowheads="1" noChangeShapeType="1" noTextEdit="1"/>
                </p:cNvSpPr>
                <p:nvPr/>
              </p:nvSpPr>
              <p:spPr>
                <a:xfrm>
                  <a:off x="1110400" y="5893305"/>
                  <a:ext cx="471283" cy="184666"/>
                </a:xfrm>
                <a:prstGeom prst="rect">
                  <a:avLst/>
                </a:prstGeom>
                <a:blipFill>
                  <a:blip r:embed="rId9"/>
                  <a:stretch>
                    <a:fillRect l="-7792" r="-6494" b="-3226"/>
                  </a:stretch>
                </a:blipFill>
              </p:spPr>
              <p:txBody>
                <a:bodyPr/>
                <a:lstStyle/>
                <a:p>
                  <a:r>
                    <a:rPr lang="es-PE">
                      <a:noFill/>
                    </a:rPr>
                    <a:t> </a:t>
                  </a:r>
                </a:p>
              </p:txBody>
            </p:sp>
          </mc:Fallback>
        </mc:AlternateContent>
        <p:cxnSp>
          <p:nvCxnSpPr>
            <p:cNvPr id="55" name="Conector recto 54">
              <a:extLst>
                <a:ext uri="{FF2B5EF4-FFF2-40B4-BE49-F238E27FC236}">
                  <a16:creationId xmlns:a16="http://schemas.microsoft.com/office/drawing/2014/main" id="{81F876DF-23C0-ACFF-B1A0-17F70C24E075}"/>
                </a:ext>
              </a:extLst>
            </p:cNvPr>
            <p:cNvCxnSpPr>
              <a:cxnSpLocks/>
            </p:cNvCxnSpPr>
            <p:nvPr/>
          </p:nvCxnSpPr>
          <p:spPr>
            <a:xfrm>
              <a:off x="918571" y="4940870"/>
              <a:ext cx="0" cy="72000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 name="Conector recto 55">
              <a:extLst>
                <a:ext uri="{FF2B5EF4-FFF2-40B4-BE49-F238E27FC236}">
                  <a16:creationId xmlns:a16="http://schemas.microsoft.com/office/drawing/2014/main" id="{A5E3AA31-C665-5BFD-4F2C-DDE9E50AB14C}"/>
                </a:ext>
              </a:extLst>
            </p:cNvPr>
            <p:cNvCxnSpPr/>
            <p:nvPr/>
          </p:nvCxnSpPr>
          <p:spPr>
            <a:xfrm>
              <a:off x="801276" y="5042849"/>
              <a:ext cx="216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 name="Conector recto 56">
              <a:extLst>
                <a:ext uri="{FF2B5EF4-FFF2-40B4-BE49-F238E27FC236}">
                  <a16:creationId xmlns:a16="http://schemas.microsoft.com/office/drawing/2014/main" id="{3BBE17F5-5E0A-837F-5032-9CA1B20C916A}"/>
                </a:ext>
              </a:extLst>
            </p:cNvPr>
            <p:cNvCxnSpPr/>
            <p:nvPr/>
          </p:nvCxnSpPr>
          <p:spPr>
            <a:xfrm>
              <a:off x="814039" y="5572229"/>
              <a:ext cx="216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 name="Conector recto 57">
              <a:extLst>
                <a:ext uri="{FF2B5EF4-FFF2-40B4-BE49-F238E27FC236}">
                  <a16:creationId xmlns:a16="http://schemas.microsoft.com/office/drawing/2014/main" id="{6826D495-E055-22B9-E763-AFCF4B25A6EC}"/>
                </a:ext>
              </a:extLst>
            </p:cNvPr>
            <p:cNvCxnSpPr/>
            <p:nvPr/>
          </p:nvCxnSpPr>
          <p:spPr>
            <a:xfrm>
              <a:off x="1500229" y="5650665"/>
              <a:ext cx="0" cy="18000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9" name="CuadroTexto 68">
                  <a:extLst>
                    <a:ext uri="{FF2B5EF4-FFF2-40B4-BE49-F238E27FC236}">
                      <a16:creationId xmlns:a16="http://schemas.microsoft.com/office/drawing/2014/main" id="{DA92D73F-5017-35FA-E507-D18B7FDD7512}"/>
                    </a:ext>
                  </a:extLst>
                </p:cNvPr>
                <p:cNvSpPr txBox="1"/>
                <p:nvPr/>
              </p:nvSpPr>
              <p:spPr>
                <a:xfrm>
                  <a:off x="426016" y="5231081"/>
                  <a:ext cx="471283" cy="18466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PE" sz="1200" b="1" i="1" smtClean="0">
                            <a:latin typeface="Cambria Math" panose="02040503050406030204" pitchFamily="18" charset="0"/>
                          </a:rPr>
                          <m:t>𝟓𝟎</m:t>
                        </m:r>
                        <m:r>
                          <a:rPr lang="es-PE" sz="1200" b="1" i="1" smtClean="0">
                            <a:latin typeface="Cambria Math" panose="02040503050406030204" pitchFamily="18" charset="0"/>
                          </a:rPr>
                          <m:t> </m:t>
                        </m:r>
                        <m:r>
                          <a:rPr lang="es-PE" sz="1200" b="1" i="1" smtClean="0">
                            <a:latin typeface="Cambria Math" panose="02040503050406030204" pitchFamily="18" charset="0"/>
                          </a:rPr>
                          <m:t>𝒄𝒎</m:t>
                        </m:r>
                      </m:oMath>
                    </m:oMathPara>
                  </a14:m>
                  <a:endParaRPr lang="es-PE" sz="1200" b="1" i="1" dirty="0"/>
                </a:p>
              </p:txBody>
            </p:sp>
          </mc:Choice>
          <mc:Fallback xmlns="">
            <p:sp>
              <p:nvSpPr>
                <p:cNvPr id="69" name="CuadroTexto 68">
                  <a:extLst>
                    <a:ext uri="{FF2B5EF4-FFF2-40B4-BE49-F238E27FC236}">
                      <a16:creationId xmlns:a16="http://schemas.microsoft.com/office/drawing/2014/main" id="{DA92D73F-5017-35FA-E507-D18B7FDD7512}"/>
                    </a:ext>
                  </a:extLst>
                </p:cNvPr>
                <p:cNvSpPr txBox="1">
                  <a:spLocks noRot="1" noChangeAspect="1" noMove="1" noResize="1" noEditPoints="1" noAdjustHandles="1" noChangeArrowheads="1" noChangeShapeType="1" noTextEdit="1"/>
                </p:cNvSpPr>
                <p:nvPr/>
              </p:nvSpPr>
              <p:spPr>
                <a:xfrm>
                  <a:off x="426016" y="5231081"/>
                  <a:ext cx="471283" cy="184666"/>
                </a:xfrm>
                <a:prstGeom prst="rect">
                  <a:avLst/>
                </a:prstGeom>
                <a:blipFill>
                  <a:blip r:embed="rId10"/>
                  <a:stretch>
                    <a:fillRect l="-9091" r="-5195" b="-6667"/>
                  </a:stretch>
                </a:blipFill>
              </p:spPr>
              <p:txBody>
                <a:bodyPr/>
                <a:lstStyle/>
                <a:p>
                  <a:r>
                    <a:rPr lang="es-PE">
                      <a:noFill/>
                    </a:rPr>
                    <a:t> </a:t>
                  </a:r>
                </a:p>
              </p:txBody>
            </p:sp>
          </mc:Fallback>
        </mc:AlternateContent>
      </p:grpSp>
      <p:sp>
        <p:nvSpPr>
          <p:cNvPr id="77" name="Elipse 76">
            <a:extLst>
              <a:ext uri="{FF2B5EF4-FFF2-40B4-BE49-F238E27FC236}">
                <a16:creationId xmlns:a16="http://schemas.microsoft.com/office/drawing/2014/main" id="{9E03095D-1190-2AB0-312B-6B56BF803F15}"/>
              </a:ext>
            </a:extLst>
          </p:cNvPr>
          <p:cNvSpPr>
            <a:spLocks noChangeAspect="1"/>
          </p:cNvSpPr>
          <p:nvPr/>
        </p:nvSpPr>
        <p:spPr>
          <a:xfrm>
            <a:off x="891571" y="2068811"/>
            <a:ext cx="252000" cy="252000"/>
          </a:xfrm>
          <a:prstGeom prst="ellipse">
            <a:avLst/>
          </a:prstGeom>
          <a:solidFill>
            <a:schemeClr val="bg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PE" dirty="0">
                <a:solidFill>
                  <a:schemeClr val="tx1"/>
                </a:solidFill>
              </a:rPr>
              <a:t>D</a:t>
            </a:r>
          </a:p>
        </p:txBody>
      </p:sp>
      <p:sp>
        <p:nvSpPr>
          <p:cNvPr id="78" name="Elipse 77">
            <a:extLst>
              <a:ext uri="{FF2B5EF4-FFF2-40B4-BE49-F238E27FC236}">
                <a16:creationId xmlns:a16="http://schemas.microsoft.com/office/drawing/2014/main" id="{1610AD3E-28B2-DE8A-61FB-FB43E40B3126}"/>
              </a:ext>
            </a:extLst>
          </p:cNvPr>
          <p:cNvSpPr>
            <a:spLocks noChangeAspect="1"/>
          </p:cNvSpPr>
          <p:nvPr/>
        </p:nvSpPr>
        <p:spPr>
          <a:xfrm>
            <a:off x="3590841" y="4206721"/>
            <a:ext cx="252000" cy="252000"/>
          </a:xfrm>
          <a:prstGeom prst="ellipse">
            <a:avLst/>
          </a:prstGeom>
          <a:solidFill>
            <a:schemeClr val="bg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PE" dirty="0">
                <a:solidFill>
                  <a:schemeClr val="tx1"/>
                </a:solidFill>
              </a:rPr>
              <a:t>E</a:t>
            </a:r>
          </a:p>
        </p:txBody>
      </p:sp>
      <p:sp>
        <p:nvSpPr>
          <p:cNvPr id="79" name="Elipse 78">
            <a:extLst>
              <a:ext uri="{FF2B5EF4-FFF2-40B4-BE49-F238E27FC236}">
                <a16:creationId xmlns:a16="http://schemas.microsoft.com/office/drawing/2014/main" id="{237FB73C-956B-D88E-9949-B1A8AF55293A}"/>
              </a:ext>
            </a:extLst>
          </p:cNvPr>
          <p:cNvSpPr>
            <a:spLocks noChangeAspect="1"/>
          </p:cNvSpPr>
          <p:nvPr/>
        </p:nvSpPr>
        <p:spPr>
          <a:xfrm>
            <a:off x="3536190" y="2130048"/>
            <a:ext cx="252000" cy="252000"/>
          </a:xfrm>
          <a:prstGeom prst="ellipse">
            <a:avLst/>
          </a:prstGeom>
          <a:solidFill>
            <a:schemeClr val="bg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PE" dirty="0">
                <a:solidFill>
                  <a:schemeClr val="tx1"/>
                </a:solidFill>
              </a:rPr>
              <a:t>F</a:t>
            </a:r>
          </a:p>
        </p:txBody>
      </p:sp>
      <mc:AlternateContent xmlns:mc="http://schemas.openxmlformats.org/markup-compatibility/2006" xmlns:a14="http://schemas.microsoft.com/office/drawing/2010/main">
        <mc:Choice Requires="a14">
          <p:sp>
            <p:nvSpPr>
              <p:cNvPr id="80" name="CuadroTexto 79">
                <a:extLst>
                  <a:ext uri="{FF2B5EF4-FFF2-40B4-BE49-F238E27FC236}">
                    <a16:creationId xmlns:a16="http://schemas.microsoft.com/office/drawing/2014/main" id="{6C85B50D-3BEA-5E4A-0E0C-C2B9FF43F349}"/>
                  </a:ext>
                </a:extLst>
              </p:cNvPr>
              <p:cNvSpPr txBox="1"/>
              <p:nvPr/>
            </p:nvSpPr>
            <p:spPr>
              <a:xfrm>
                <a:off x="1787885" y="4549172"/>
                <a:ext cx="604846"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PE" sz="1600" b="1" i="1" smtClean="0">
                          <a:latin typeface="Cambria Math" panose="02040503050406030204" pitchFamily="18" charset="0"/>
                        </a:rPr>
                        <m:t>𝟒</m:t>
                      </m:r>
                      <m:r>
                        <a:rPr lang="es-PE" sz="1600" b="1" i="1" smtClean="0">
                          <a:latin typeface="Cambria Math" panose="02040503050406030204" pitchFamily="18" charset="0"/>
                        </a:rPr>
                        <m:t>.</m:t>
                      </m:r>
                      <m:r>
                        <a:rPr lang="es-PE" sz="1600" b="1" i="1" smtClean="0">
                          <a:latin typeface="Cambria Math" panose="02040503050406030204" pitchFamily="18" charset="0"/>
                        </a:rPr>
                        <m:t>𝟐</m:t>
                      </m:r>
                      <m:r>
                        <a:rPr lang="es-PE" sz="1600" b="1" i="1" smtClean="0">
                          <a:latin typeface="Cambria Math" panose="02040503050406030204" pitchFamily="18" charset="0"/>
                        </a:rPr>
                        <m:t> </m:t>
                      </m:r>
                      <m:r>
                        <a:rPr lang="es-PE" sz="1600" b="1" i="1" smtClean="0">
                          <a:latin typeface="Cambria Math" panose="02040503050406030204" pitchFamily="18" charset="0"/>
                        </a:rPr>
                        <m:t>𝒎</m:t>
                      </m:r>
                    </m:oMath>
                  </m:oMathPara>
                </a14:m>
                <a:endParaRPr lang="es-PE" sz="1600" b="1" i="1" dirty="0"/>
              </a:p>
            </p:txBody>
          </p:sp>
        </mc:Choice>
        <mc:Fallback xmlns="">
          <p:sp>
            <p:nvSpPr>
              <p:cNvPr id="80" name="CuadroTexto 79">
                <a:extLst>
                  <a:ext uri="{FF2B5EF4-FFF2-40B4-BE49-F238E27FC236}">
                    <a16:creationId xmlns:a16="http://schemas.microsoft.com/office/drawing/2014/main" id="{6C85B50D-3BEA-5E4A-0E0C-C2B9FF43F349}"/>
                  </a:ext>
                </a:extLst>
              </p:cNvPr>
              <p:cNvSpPr txBox="1">
                <a:spLocks noRot="1" noChangeAspect="1" noMove="1" noResize="1" noEditPoints="1" noAdjustHandles="1" noChangeArrowheads="1" noChangeShapeType="1" noTextEdit="1"/>
              </p:cNvSpPr>
              <p:nvPr/>
            </p:nvSpPr>
            <p:spPr>
              <a:xfrm>
                <a:off x="1787885" y="4549172"/>
                <a:ext cx="604846" cy="246221"/>
              </a:xfrm>
              <a:prstGeom prst="rect">
                <a:avLst/>
              </a:prstGeom>
              <a:blipFill>
                <a:blip r:embed="rId11"/>
                <a:stretch>
                  <a:fillRect l="-7000" r="-4000" b="-4878"/>
                </a:stretch>
              </a:blipFill>
            </p:spPr>
            <p:txBody>
              <a:bodyPr/>
              <a:lstStyle/>
              <a:p>
                <a:r>
                  <a:rPr lang="es-PE">
                    <a:noFill/>
                  </a:rPr>
                  <a:t> </a:t>
                </a:r>
              </a:p>
            </p:txBody>
          </p:sp>
        </mc:Fallback>
      </mc:AlternateContent>
    </p:spTree>
    <p:extLst>
      <p:ext uri="{BB962C8B-B14F-4D97-AF65-F5344CB8AC3E}">
        <p14:creationId xmlns:p14="http://schemas.microsoft.com/office/powerpoint/2010/main" val="15533726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8BD4B30-9B7A-4FF3-9506-6E2F889CBD85}"/>
              </a:ext>
            </a:extLst>
          </p:cNvPr>
          <p:cNvSpPr>
            <a:spLocks noGrp="1"/>
          </p:cNvSpPr>
          <p:nvPr>
            <p:ph type="title"/>
          </p:nvPr>
        </p:nvSpPr>
        <p:spPr/>
        <p:txBody>
          <a:bodyPr>
            <a:noAutofit/>
          </a:bodyPr>
          <a:lstStyle/>
          <a:p>
            <a:r>
              <a:rPr lang="es-PE" sz="3300" dirty="0"/>
              <a:t>2° Determinando la rigidez de las columnas, esta pertenece al Caso (a), de las relaciones planteadas por el Método de Muto </a:t>
            </a:r>
          </a:p>
        </p:txBody>
      </p:sp>
      <p:sp>
        <p:nvSpPr>
          <p:cNvPr id="73" name="CuadroTexto 72">
            <a:extLst>
              <a:ext uri="{FF2B5EF4-FFF2-40B4-BE49-F238E27FC236}">
                <a16:creationId xmlns:a16="http://schemas.microsoft.com/office/drawing/2014/main" id="{459D21C9-221E-7671-8C15-740CD57B38A9}"/>
              </a:ext>
            </a:extLst>
          </p:cNvPr>
          <p:cNvSpPr txBox="1"/>
          <p:nvPr/>
        </p:nvSpPr>
        <p:spPr>
          <a:xfrm>
            <a:off x="6853677" y="2064314"/>
            <a:ext cx="4242059" cy="400110"/>
          </a:xfrm>
          <a:prstGeom prst="rect">
            <a:avLst/>
          </a:prstGeom>
          <a:noFill/>
        </p:spPr>
        <p:txBody>
          <a:bodyPr wrap="none" rtlCol="0">
            <a:spAutoFit/>
          </a:bodyPr>
          <a:lstStyle/>
          <a:p>
            <a:r>
              <a:rPr lang="es-PE" sz="2000" dirty="0"/>
              <a:t>Calculando la rigidez de la columna DF:</a:t>
            </a:r>
          </a:p>
        </p:txBody>
      </p:sp>
      <mc:AlternateContent xmlns:mc="http://schemas.openxmlformats.org/markup-compatibility/2006" xmlns:a14="http://schemas.microsoft.com/office/drawing/2010/main">
        <mc:Choice Requires="a14">
          <p:sp>
            <p:nvSpPr>
              <p:cNvPr id="74" name="CuadroTexto 73">
                <a:extLst>
                  <a:ext uri="{FF2B5EF4-FFF2-40B4-BE49-F238E27FC236}">
                    <a16:creationId xmlns:a16="http://schemas.microsoft.com/office/drawing/2014/main" id="{A40E5339-5CA4-3FCE-28D0-8011A74719DD}"/>
                  </a:ext>
                </a:extLst>
              </p:cNvPr>
              <p:cNvSpPr txBox="1"/>
              <p:nvPr/>
            </p:nvSpPr>
            <p:spPr>
              <a:xfrm>
                <a:off x="6888088" y="2645494"/>
                <a:ext cx="3207738" cy="57131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PE" i="1" smtClean="0">
                              <a:latin typeface="Cambria Math" panose="02040503050406030204" pitchFamily="18" charset="0"/>
                            </a:rPr>
                          </m:ctrlPr>
                        </m:sSubPr>
                        <m:e>
                          <m:acc>
                            <m:accPr>
                              <m:chr m:val="̅"/>
                              <m:ctrlPr>
                                <a:rPr lang="es-PE" i="1" smtClean="0">
                                  <a:latin typeface="Cambria Math" panose="02040503050406030204" pitchFamily="18" charset="0"/>
                                </a:rPr>
                              </m:ctrlPr>
                            </m:accPr>
                            <m:e>
                              <m:r>
                                <a:rPr lang="es-PE" b="0" i="1" smtClean="0">
                                  <a:latin typeface="Cambria Math" panose="02040503050406030204" pitchFamily="18" charset="0"/>
                                </a:rPr>
                                <m:t>𝐾</m:t>
                              </m:r>
                            </m:e>
                          </m:acc>
                        </m:e>
                        <m:sub>
                          <m:r>
                            <a:rPr lang="es-PE" b="0" i="1" smtClean="0">
                              <a:latin typeface="Cambria Math" panose="02040503050406030204" pitchFamily="18" charset="0"/>
                            </a:rPr>
                            <m:t>𝐷𝐹</m:t>
                          </m:r>
                        </m:sub>
                      </m:sSub>
                      <m:r>
                        <a:rPr lang="es-PE" b="0" i="1" smtClean="0">
                          <a:latin typeface="Cambria Math" panose="02040503050406030204" pitchFamily="18" charset="0"/>
                        </a:rPr>
                        <m:t>= </m:t>
                      </m:r>
                      <m:f>
                        <m:fPr>
                          <m:ctrlPr>
                            <a:rPr lang="es-PE" b="0" i="1" smtClean="0">
                              <a:latin typeface="Cambria Math" panose="02040503050406030204" pitchFamily="18" charset="0"/>
                            </a:rPr>
                          </m:ctrlPr>
                        </m:fPr>
                        <m:num>
                          <m:sSub>
                            <m:sSubPr>
                              <m:ctrlPr>
                                <a:rPr lang="es-PE" b="0" i="1" smtClean="0">
                                  <a:latin typeface="Cambria Math" panose="02040503050406030204" pitchFamily="18" charset="0"/>
                                </a:rPr>
                              </m:ctrlPr>
                            </m:sSubPr>
                            <m:e>
                              <m:r>
                                <a:rPr lang="es-PE" b="0" i="1" smtClean="0">
                                  <a:latin typeface="Cambria Math" panose="02040503050406030204" pitchFamily="18" charset="0"/>
                                </a:rPr>
                                <m:t>𝐾</m:t>
                              </m:r>
                            </m:e>
                            <m:sub>
                              <m:r>
                                <a:rPr lang="es-PE" b="0" i="1" smtClean="0">
                                  <a:latin typeface="Cambria Math" panose="02040503050406030204" pitchFamily="18" charset="0"/>
                                </a:rPr>
                                <m:t>𝐷𝐹</m:t>
                              </m:r>
                            </m:sub>
                          </m:sSub>
                        </m:num>
                        <m:den>
                          <m:sSub>
                            <m:sSubPr>
                              <m:ctrlPr>
                                <a:rPr lang="es-PE" b="0" i="1" smtClean="0">
                                  <a:latin typeface="Cambria Math" panose="02040503050406030204" pitchFamily="18" charset="0"/>
                                </a:rPr>
                              </m:ctrlPr>
                            </m:sSubPr>
                            <m:e>
                              <m:r>
                                <a:rPr lang="es-PE" b="0" i="1" smtClean="0">
                                  <a:latin typeface="Cambria Math" panose="02040503050406030204" pitchFamily="18" charset="0"/>
                                </a:rPr>
                                <m:t>𝐾</m:t>
                              </m:r>
                            </m:e>
                            <m:sub>
                              <m:r>
                                <a:rPr lang="es-PE" b="0" i="1" smtClean="0">
                                  <a:latin typeface="Cambria Math" panose="02040503050406030204" pitchFamily="18" charset="0"/>
                                </a:rPr>
                                <m:t>𝐹𝐸</m:t>
                              </m:r>
                            </m:sub>
                          </m:sSub>
                        </m:den>
                      </m:f>
                      <m:r>
                        <a:rPr lang="es-PE" b="0" i="1" smtClean="0">
                          <a:latin typeface="Cambria Math" panose="02040503050406030204" pitchFamily="18" charset="0"/>
                        </a:rPr>
                        <m:t>=</m:t>
                      </m:r>
                      <m:f>
                        <m:fPr>
                          <m:ctrlPr>
                            <a:rPr lang="es-PE" i="1">
                              <a:latin typeface="Cambria Math" panose="02040503050406030204" pitchFamily="18" charset="0"/>
                            </a:rPr>
                          </m:ctrlPr>
                        </m:fPr>
                        <m:num>
                          <m:r>
                            <a:rPr lang="es-PE" i="1">
                              <a:latin typeface="Cambria Math" panose="02040503050406030204" pitchFamily="18" charset="0"/>
                            </a:rPr>
                            <m:t>744.05</m:t>
                          </m:r>
                        </m:num>
                        <m:den>
                          <m:r>
                            <a:rPr lang="es-PE" i="1">
                              <a:latin typeface="Cambria Math" panose="02040503050406030204" pitchFamily="18" charset="0"/>
                            </a:rPr>
                            <m:t>813.62</m:t>
                          </m:r>
                        </m:den>
                      </m:f>
                      <m:r>
                        <a:rPr lang="es-PE" b="0" i="1" smtClean="0">
                          <a:latin typeface="Cambria Math" panose="02040503050406030204" pitchFamily="18" charset="0"/>
                        </a:rPr>
                        <m:t>=0.9145 </m:t>
                      </m:r>
                    </m:oMath>
                  </m:oMathPara>
                </a14:m>
                <a:endParaRPr lang="es-PE" dirty="0"/>
              </a:p>
            </p:txBody>
          </p:sp>
        </mc:Choice>
        <mc:Fallback xmlns="">
          <p:sp>
            <p:nvSpPr>
              <p:cNvPr id="74" name="CuadroTexto 73">
                <a:extLst>
                  <a:ext uri="{FF2B5EF4-FFF2-40B4-BE49-F238E27FC236}">
                    <a16:creationId xmlns:a16="http://schemas.microsoft.com/office/drawing/2014/main" id="{A40E5339-5CA4-3FCE-28D0-8011A74719DD}"/>
                  </a:ext>
                </a:extLst>
              </p:cNvPr>
              <p:cNvSpPr txBox="1">
                <a:spLocks noRot="1" noChangeAspect="1" noMove="1" noResize="1" noEditPoints="1" noAdjustHandles="1" noChangeArrowheads="1" noChangeShapeType="1" noTextEdit="1"/>
              </p:cNvSpPr>
              <p:nvPr/>
            </p:nvSpPr>
            <p:spPr>
              <a:xfrm>
                <a:off x="6888088" y="2645494"/>
                <a:ext cx="3207738" cy="571310"/>
              </a:xfrm>
              <a:prstGeom prst="rect">
                <a:avLst/>
              </a:prstGeom>
              <a:blipFill>
                <a:blip r:embed="rId2"/>
                <a:stretch>
                  <a:fillRect/>
                </a:stretch>
              </a:blipFill>
            </p:spPr>
            <p:txBody>
              <a:bodyPr/>
              <a:lstStyle/>
              <a:p>
                <a:r>
                  <a:rPr lang="es-PE">
                    <a:noFill/>
                  </a:rPr>
                  <a:t> </a:t>
                </a:r>
              </a:p>
            </p:txBody>
          </p:sp>
        </mc:Fallback>
      </mc:AlternateContent>
      <p:sp>
        <p:nvSpPr>
          <p:cNvPr id="75" name="CuadroTexto 74">
            <a:extLst>
              <a:ext uri="{FF2B5EF4-FFF2-40B4-BE49-F238E27FC236}">
                <a16:creationId xmlns:a16="http://schemas.microsoft.com/office/drawing/2014/main" id="{E09D9C79-DB8D-9184-22FB-2A4FD0C75583}"/>
              </a:ext>
            </a:extLst>
          </p:cNvPr>
          <p:cNvSpPr txBox="1"/>
          <p:nvPr/>
        </p:nvSpPr>
        <p:spPr>
          <a:xfrm>
            <a:off x="5159896" y="4653136"/>
            <a:ext cx="4980274" cy="400110"/>
          </a:xfrm>
          <a:prstGeom prst="rect">
            <a:avLst/>
          </a:prstGeom>
          <a:noFill/>
        </p:spPr>
        <p:txBody>
          <a:bodyPr wrap="none" rtlCol="0">
            <a:spAutoFit/>
          </a:bodyPr>
          <a:lstStyle/>
          <a:p>
            <a:r>
              <a:rPr lang="es-PE" sz="2000" dirty="0"/>
              <a:t>Calculando la rigidez lateral de la columna BD:</a:t>
            </a:r>
          </a:p>
        </p:txBody>
      </p:sp>
      <mc:AlternateContent xmlns:mc="http://schemas.openxmlformats.org/markup-compatibility/2006" xmlns:a14="http://schemas.microsoft.com/office/drawing/2010/main">
        <mc:Choice Requires="a14">
          <p:sp>
            <p:nvSpPr>
              <p:cNvPr id="76" name="CuadroTexto 75">
                <a:extLst>
                  <a:ext uri="{FF2B5EF4-FFF2-40B4-BE49-F238E27FC236}">
                    <a16:creationId xmlns:a16="http://schemas.microsoft.com/office/drawing/2014/main" id="{CACB6D05-CDFB-92F7-8929-AD8292E7BC48}"/>
                  </a:ext>
                </a:extLst>
              </p:cNvPr>
              <p:cNvSpPr txBox="1"/>
              <p:nvPr/>
            </p:nvSpPr>
            <p:spPr>
              <a:xfrm>
                <a:off x="5231904" y="5229200"/>
                <a:ext cx="6861174" cy="57676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s-PE" b="0" i="1" smtClean="0">
                              <a:latin typeface="Cambria Math" panose="02040503050406030204" pitchFamily="18" charset="0"/>
                            </a:rPr>
                          </m:ctrlPr>
                        </m:sSubSupPr>
                        <m:e>
                          <m:r>
                            <a:rPr lang="es-PE" b="0" i="1" smtClean="0">
                              <a:latin typeface="Cambria Math" panose="02040503050406030204" pitchFamily="18" charset="0"/>
                            </a:rPr>
                            <m:t>𝐾</m:t>
                          </m:r>
                        </m:e>
                        <m:sub>
                          <m:r>
                            <a:rPr lang="es-PE" b="0" i="1" smtClean="0">
                              <a:latin typeface="Cambria Math" panose="02040503050406030204" pitchFamily="18" charset="0"/>
                            </a:rPr>
                            <m:t>𝐴𝐵</m:t>
                          </m:r>
                        </m:sub>
                        <m:sup>
                          <m:r>
                            <a:rPr lang="es-PE" b="0" i="1" smtClean="0">
                              <a:latin typeface="Cambria Math" panose="02040503050406030204" pitchFamily="18" charset="0"/>
                            </a:rPr>
                            <m:t>0</m:t>
                          </m:r>
                        </m:sup>
                      </m:sSubSup>
                      <m:r>
                        <a:rPr lang="es-PE" b="0" i="1" smtClean="0">
                          <a:latin typeface="Cambria Math" panose="02040503050406030204" pitchFamily="18" charset="0"/>
                        </a:rPr>
                        <m:t> = </m:t>
                      </m:r>
                      <m:f>
                        <m:fPr>
                          <m:ctrlPr>
                            <a:rPr lang="es-PE" b="0" i="1" smtClean="0">
                              <a:latin typeface="Cambria Math" panose="02040503050406030204" pitchFamily="18" charset="0"/>
                            </a:rPr>
                          </m:ctrlPr>
                        </m:fPr>
                        <m:num>
                          <m:r>
                            <a:rPr lang="es-PE" b="0" i="1" smtClean="0">
                              <a:latin typeface="Cambria Math" panose="02040503050406030204" pitchFamily="18" charset="0"/>
                            </a:rPr>
                            <m:t>12 </m:t>
                          </m:r>
                          <m:r>
                            <a:rPr lang="es-PE" b="0" i="1" smtClean="0">
                              <a:latin typeface="Cambria Math" panose="02040503050406030204" pitchFamily="18" charset="0"/>
                            </a:rPr>
                            <m:t>𝐸</m:t>
                          </m:r>
                          <m:r>
                            <a:rPr lang="es-PE" b="0" i="1" smtClean="0">
                              <a:latin typeface="Cambria Math" panose="02040503050406030204" pitchFamily="18" charset="0"/>
                            </a:rPr>
                            <m:t> </m:t>
                          </m:r>
                          <m:r>
                            <a:rPr lang="es-PE" b="0" i="1" smtClean="0">
                              <a:latin typeface="Cambria Math" panose="02040503050406030204" pitchFamily="18" charset="0"/>
                            </a:rPr>
                            <m:t>𝐼</m:t>
                          </m:r>
                        </m:num>
                        <m:den>
                          <m:sSup>
                            <m:sSupPr>
                              <m:ctrlPr>
                                <a:rPr lang="es-PE" b="0" i="1" smtClean="0">
                                  <a:latin typeface="Cambria Math" panose="02040503050406030204" pitchFamily="18" charset="0"/>
                                </a:rPr>
                              </m:ctrlPr>
                            </m:sSupPr>
                            <m:e>
                              <m:r>
                                <a:rPr lang="es-PE" b="0" i="1" smtClean="0">
                                  <a:latin typeface="Cambria Math" panose="02040503050406030204" pitchFamily="18" charset="0"/>
                                </a:rPr>
                                <m:t>h</m:t>
                              </m:r>
                            </m:e>
                            <m:sup>
                              <m:r>
                                <a:rPr lang="es-PE" b="0" i="1" smtClean="0">
                                  <a:latin typeface="Cambria Math" panose="02040503050406030204" pitchFamily="18" charset="0"/>
                                </a:rPr>
                                <m:t>3</m:t>
                              </m:r>
                            </m:sup>
                          </m:sSup>
                        </m:den>
                      </m:f>
                      <m:r>
                        <a:rPr lang="es-PE" b="0" i="1" smtClean="0">
                          <a:latin typeface="Cambria Math" panose="02040503050406030204" pitchFamily="18" charset="0"/>
                        </a:rPr>
                        <m:t>=</m:t>
                      </m:r>
                      <m:f>
                        <m:fPr>
                          <m:ctrlPr>
                            <a:rPr lang="es-PE" i="1">
                              <a:latin typeface="Cambria Math" panose="02040503050406030204" pitchFamily="18" charset="0"/>
                            </a:rPr>
                          </m:ctrlPr>
                        </m:fPr>
                        <m:num>
                          <m:r>
                            <a:rPr lang="es-PE" i="1">
                              <a:latin typeface="Cambria Math" panose="02040503050406030204" pitchFamily="18" charset="0"/>
                            </a:rPr>
                            <m:t>(12)(218 819.79)(227812.5)</m:t>
                          </m:r>
                        </m:num>
                        <m:den>
                          <m:sSup>
                            <m:sSupPr>
                              <m:ctrlPr>
                                <a:rPr lang="es-PE" b="0" i="1" smtClean="0">
                                  <a:latin typeface="Cambria Math" panose="02040503050406030204" pitchFamily="18" charset="0"/>
                                </a:rPr>
                              </m:ctrlPr>
                            </m:sSupPr>
                            <m:e>
                              <m:r>
                                <a:rPr lang="es-PE" b="0" i="1" smtClean="0">
                                  <a:latin typeface="Cambria Math" panose="02040503050406030204" pitchFamily="18" charset="0"/>
                                </a:rPr>
                                <m:t>(280)</m:t>
                              </m:r>
                            </m:e>
                            <m:sup>
                              <m:r>
                                <a:rPr lang="es-PE" b="0" i="1" smtClean="0">
                                  <a:latin typeface="Cambria Math" panose="02040503050406030204" pitchFamily="18" charset="0"/>
                                </a:rPr>
                                <m:t>3</m:t>
                              </m:r>
                            </m:sup>
                          </m:sSup>
                        </m:den>
                      </m:f>
                      <m:r>
                        <a:rPr lang="es-PE" b="0" i="1" smtClean="0">
                          <a:latin typeface="Cambria Math" panose="02040503050406030204" pitchFamily="18" charset="0"/>
                        </a:rPr>
                        <m:t>=27 250.30</m:t>
                      </m:r>
                      <m:f>
                        <m:fPr>
                          <m:type m:val="skw"/>
                          <m:ctrlPr>
                            <a:rPr lang="es-PE" b="0" i="1" smtClean="0">
                              <a:latin typeface="Cambria Math" panose="02040503050406030204" pitchFamily="18" charset="0"/>
                            </a:rPr>
                          </m:ctrlPr>
                        </m:fPr>
                        <m:num>
                          <m:r>
                            <a:rPr lang="es-PE" b="0" i="1" smtClean="0">
                              <a:latin typeface="Cambria Math" panose="02040503050406030204" pitchFamily="18" charset="0"/>
                            </a:rPr>
                            <m:t>𝐾𝑔𝑓</m:t>
                          </m:r>
                        </m:num>
                        <m:den>
                          <m:r>
                            <a:rPr lang="es-PE" b="0" i="1" smtClean="0">
                              <a:latin typeface="Cambria Math" panose="02040503050406030204" pitchFamily="18" charset="0"/>
                            </a:rPr>
                            <m:t>𝑐𝑚</m:t>
                          </m:r>
                        </m:den>
                      </m:f>
                      <m:r>
                        <a:rPr lang="es-PE" b="0" i="1" smtClean="0">
                          <a:latin typeface="Cambria Math" panose="02040503050406030204" pitchFamily="18" charset="0"/>
                        </a:rPr>
                        <m:t> </m:t>
                      </m:r>
                    </m:oMath>
                  </m:oMathPara>
                </a14:m>
                <a:endParaRPr lang="es-PE" dirty="0"/>
              </a:p>
            </p:txBody>
          </p:sp>
        </mc:Choice>
        <mc:Fallback xmlns="">
          <p:sp>
            <p:nvSpPr>
              <p:cNvPr id="76" name="CuadroTexto 75">
                <a:extLst>
                  <a:ext uri="{FF2B5EF4-FFF2-40B4-BE49-F238E27FC236}">
                    <a16:creationId xmlns:a16="http://schemas.microsoft.com/office/drawing/2014/main" id="{CACB6D05-CDFB-92F7-8929-AD8292E7BC48}"/>
                  </a:ext>
                </a:extLst>
              </p:cNvPr>
              <p:cNvSpPr txBox="1">
                <a:spLocks noRot="1" noChangeAspect="1" noMove="1" noResize="1" noEditPoints="1" noAdjustHandles="1" noChangeArrowheads="1" noChangeShapeType="1" noTextEdit="1"/>
              </p:cNvSpPr>
              <p:nvPr/>
            </p:nvSpPr>
            <p:spPr>
              <a:xfrm>
                <a:off x="5231904" y="5229200"/>
                <a:ext cx="6861174" cy="576761"/>
              </a:xfrm>
              <a:prstGeom prst="rect">
                <a:avLst/>
              </a:prstGeom>
              <a:blipFill>
                <a:blip r:embed="rId3"/>
                <a:stretch>
                  <a:fillRect/>
                </a:stretch>
              </a:blipFill>
            </p:spPr>
            <p:txBody>
              <a:bodyPr/>
              <a:lstStyle/>
              <a:p>
                <a:r>
                  <a:rPr lang="es-PE">
                    <a:noFill/>
                  </a:rPr>
                  <a:t> </a:t>
                </a:r>
              </a:p>
            </p:txBody>
          </p:sp>
        </mc:Fallback>
      </mc:AlternateContent>
      <p:pic>
        <p:nvPicPr>
          <p:cNvPr id="4" name="Imagen 3">
            <a:extLst>
              <a:ext uri="{FF2B5EF4-FFF2-40B4-BE49-F238E27FC236}">
                <a16:creationId xmlns:a16="http://schemas.microsoft.com/office/drawing/2014/main" id="{D2C90CCC-5210-6D88-9DB3-B27D7E1F0CDD}"/>
              </a:ext>
            </a:extLst>
          </p:cNvPr>
          <p:cNvPicPr>
            <a:picLocks noChangeAspect="1"/>
          </p:cNvPicPr>
          <p:nvPr/>
        </p:nvPicPr>
        <p:blipFill>
          <a:blip r:embed="rId4"/>
          <a:stretch>
            <a:fillRect/>
          </a:stretch>
        </p:blipFill>
        <p:spPr>
          <a:xfrm>
            <a:off x="5391834" y="2109003"/>
            <a:ext cx="1055013" cy="2564709"/>
          </a:xfrm>
          <a:prstGeom prst="rect">
            <a:avLst/>
          </a:prstGeom>
        </p:spPr>
      </p:pic>
      <mc:AlternateContent xmlns:mc="http://schemas.openxmlformats.org/markup-compatibility/2006" xmlns:a14="http://schemas.microsoft.com/office/drawing/2010/main">
        <mc:Choice Requires="a14">
          <p:sp>
            <p:nvSpPr>
              <p:cNvPr id="9" name="CuadroTexto 8">
                <a:extLst>
                  <a:ext uri="{FF2B5EF4-FFF2-40B4-BE49-F238E27FC236}">
                    <a16:creationId xmlns:a16="http://schemas.microsoft.com/office/drawing/2014/main" id="{B83690EF-AB3C-DBD5-E19E-226067BB35DF}"/>
                  </a:ext>
                </a:extLst>
              </p:cNvPr>
              <p:cNvSpPr txBox="1"/>
              <p:nvPr/>
            </p:nvSpPr>
            <p:spPr>
              <a:xfrm>
                <a:off x="6840722" y="3506497"/>
                <a:ext cx="4168705" cy="60779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PE" b="0" i="1" smtClean="0">
                          <a:latin typeface="Cambria Math" panose="02040503050406030204" pitchFamily="18" charset="0"/>
                        </a:rPr>
                        <m:t>𝑎</m:t>
                      </m:r>
                      <m:r>
                        <a:rPr lang="es-PE" b="0" i="1" smtClean="0">
                          <a:latin typeface="Cambria Math" panose="02040503050406030204" pitchFamily="18" charset="0"/>
                        </a:rPr>
                        <m:t>= </m:t>
                      </m:r>
                      <m:f>
                        <m:fPr>
                          <m:ctrlPr>
                            <a:rPr lang="es-PE" b="0" i="1" smtClean="0">
                              <a:latin typeface="Cambria Math" panose="02040503050406030204" pitchFamily="18" charset="0"/>
                            </a:rPr>
                          </m:ctrlPr>
                        </m:fPr>
                        <m:num>
                          <m:r>
                            <a:rPr lang="es-PE" b="0" i="1" smtClean="0">
                              <a:latin typeface="Cambria Math" panose="02040503050406030204" pitchFamily="18" charset="0"/>
                            </a:rPr>
                            <m:t>0.5+</m:t>
                          </m:r>
                          <m:sSub>
                            <m:sSubPr>
                              <m:ctrlPr>
                                <a:rPr lang="es-PE" i="1">
                                  <a:latin typeface="Cambria Math" panose="02040503050406030204" pitchFamily="18" charset="0"/>
                                </a:rPr>
                              </m:ctrlPr>
                            </m:sSubPr>
                            <m:e>
                              <m:acc>
                                <m:accPr>
                                  <m:chr m:val="̅"/>
                                  <m:ctrlPr>
                                    <a:rPr lang="es-PE" i="1">
                                      <a:latin typeface="Cambria Math" panose="02040503050406030204" pitchFamily="18" charset="0"/>
                                    </a:rPr>
                                  </m:ctrlPr>
                                </m:accPr>
                                <m:e>
                                  <m:r>
                                    <a:rPr lang="es-PE" i="1">
                                      <a:latin typeface="Cambria Math" panose="02040503050406030204" pitchFamily="18" charset="0"/>
                                    </a:rPr>
                                    <m:t>𝐾</m:t>
                                  </m:r>
                                </m:e>
                              </m:acc>
                            </m:e>
                            <m:sub>
                              <m:r>
                                <a:rPr lang="es-PE" b="0" i="1" smtClean="0">
                                  <a:latin typeface="Cambria Math" panose="02040503050406030204" pitchFamily="18" charset="0"/>
                                </a:rPr>
                                <m:t>𝐷𝐹</m:t>
                              </m:r>
                            </m:sub>
                          </m:sSub>
                        </m:num>
                        <m:den>
                          <m:r>
                            <a:rPr lang="es-PE" b="0" i="1" smtClean="0">
                              <a:latin typeface="Cambria Math" panose="02040503050406030204" pitchFamily="18" charset="0"/>
                            </a:rPr>
                            <m:t>2+</m:t>
                          </m:r>
                          <m:sSub>
                            <m:sSubPr>
                              <m:ctrlPr>
                                <a:rPr lang="es-PE" i="1">
                                  <a:latin typeface="Cambria Math" panose="02040503050406030204" pitchFamily="18" charset="0"/>
                                </a:rPr>
                              </m:ctrlPr>
                            </m:sSubPr>
                            <m:e>
                              <m:acc>
                                <m:accPr>
                                  <m:chr m:val="̅"/>
                                  <m:ctrlPr>
                                    <a:rPr lang="es-PE" i="1">
                                      <a:latin typeface="Cambria Math" panose="02040503050406030204" pitchFamily="18" charset="0"/>
                                    </a:rPr>
                                  </m:ctrlPr>
                                </m:accPr>
                                <m:e>
                                  <m:r>
                                    <a:rPr lang="es-PE" i="1">
                                      <a:latin typeface="Cambria Math" panose="02040503050406030204" pitchFamily="18" charset="0"/>
                                    </a:rPr>
                                    <m:t>𝐾</m:t>
                                  </m:r>
                                </m:e>
                              </m:acc>
                            </m:e>
                            <m:sub>
                              <m:r>
                                <a:rPr lang="es-PE" b="0" i="1" smtClean="0">
                                  <a:latin typeface="Cambria Math" panose="02040503050406030204" pitchFamily="18" charset="0"/>
                                </a:rPr>
                                <m:t>𝐷𝐹</m:t>
                              </m:r>
                            </m:sub>
                          </m:sSub>
                        </m:den>
                      </m:f>
                      <m:r>
                        <a:rPr lang="es-PE" b="0" i="1" smtClean="0">
                          <a:latin typeface="Cambria Math" panose="02040503050406030204" pitchFamily="18" charset="0"/>
                        </a:rPr>
                        <m:t>=</m:t>
                      </m:r>
                      <m:f>
                        <m:fPr>
                          <m:ctrlPr>
                            <a:rPr lang="es-PE" i="1">
                              <a:latin typeface="Cambria Math" panose="02040503050406030204" pitchFamily="18" charset="0"/>
                            </a:rPr>
                          </m:ctrlPr>
                        </m:fPr>
                        <m:num>
                          <m:r>
                            <a:rPr lang="es-PE" b="0" i="1" smtClean="0">
                              <a:latin typeface="Cambria Math" panose="02040503050406030204" pitchFamily="18" charset="0"/>
                            </a:rPr>
                            <m:t>0.5+</m:t>
                          </m:r>
                          <m:r>
                            <a:rPr lang="es-PE" i="1">
                              <a:latin typeface="Cambria Math" panose="02040503050406030204" pitchFamily="18" charset="0"/>
                            </a:rPr>
                            <m:t>0.9145</m:t>
                          </m:r>
                        </m:num>
                        <m:den>
                          <m:r>
                            <a:rPr lang="es-PE" i="1">
                              <a:latin typeface="Cambria Math" panose="02040503050406030204" pitchFamily="18" charset="0"/>
                            </a:rPr>
                            <m:t>2+0.9145</m:t>
                          </m:r>
                        </m:den>
                      </m:f>
                      <m:r>
                        <a:rPr lang="es-PE" b="0" i="1" smtClean="0">
                          <a:latin typeface="Cambria Math" panose="02040503050406030204" pitchFamily="18" charset="0"/>
                        </a:rPr>
                        <m:t>=0.4853  </m:t>
                      </m:r>
                    </m:oMath>
                  </m:oMathPara>
                </a14:m>
                <a:endParaRPr lang="es-PE" dirty="0"/>
              </a:p>
            </p:txBody>
          </p:sp>
        </mc:Choice>
        <mc:Fallback xmlns="">
          <p:sp>
            <p:nvSpPr>
              <p:cNvPr id="9" name="CuadroTexto 8">
                <a:extLst>
                  <a:ext uri="{FF2B5EF4-FFF2-40B4-BE49-F238E27FC236}">
                    <a16:creationId xmlns:a16="http://schemas.microsoft.com/office/drawing/2014/main" id="{B83690EF-AB3C-DBD5-E19E-226067BB35DF}"/>
                  </a:ext>
                </a:extLst>
              </p:cNvPr>
              <p:cNvSpPr txBox="1">
                <a:spLocks noRot="1" noChangeAspect="1" noMove="1" noResize="1" noEditPoints="1" noAdjustHandles="1" noChangeArrowheads="1" noChangeShapeType="1" noTextEdit="1"/>
              </p:cNvSpPr>
              <p:nvPr/>
            </p:nvSpPr>
            <p:spPr>
              <a:xfrm>
                <a:off x="6840722" y="3506497"/>
                <a:ext cx="4168705" cy="607795"/>
              </a:xfrm>
              <a:prstGeom prst="rect">
                <a:avLst/>
              </a:prstGeom>
              <a:blipFill>
                <a:blip r:embed="rId5"/>
                <a:stretch>
                  <a:fillRect/>
                </a:stretch>
              </a:blipFill>
            </p:spPr>
            <p:txBody>
              <a:bodyPr/>
              <a:lstStyle/>
              <a:p>
                <a:r>
                  <a:rPr lang="es-PE">
                    <a:noFill/>
                  </a:rPr>
                  <a:t> </a:t>
                </a:r>
              </a:p>
            </p:txBody>
          </p:sp>
        </mc:Fallback>
      </mc:AlternateContent>
      <mc:AlternateContent xmlns:mc="http://schemas.openxmlformats.org/markup-compatibility/2006" xmlns:a14="http://schemas.microsoft.com/office/drawing/2010/main">
        <mc:Choice Requires="a14">
          <p:sp>
            <p:nvSpPr>
              <p:cNvPr id="10" name="CuadroTexto 9">
                <a:extLst>
                  <a:ext uri="{FF2B5EF4-FFF2-40B4-BE49-F238E27FC236}">
                    <a16:creationId xmlns:a16="http://schemas.microsoft.com/office/drawing/2014/main" id="{21E2F073-3213-455A-E65C-DF4F63AB7B05}"/>
                  </a:ext>
                </a:extLst>
              </p:cNvPr>
              <p:cNvSpPr txBox="1"/>
              <p:nvPr/>
            </p:nvSpPr>
            <p:spPr>
              <a:xfrm>
                <a:off x="5186295" y="5839727"/>
                <a:ext cx="6009850" cy="37260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s-PE" b="0" i="1" smtClean="0">
                              <a:latin typeface="Cambria Math" panose="02040503050406030204" pitchFamily="18" charset="0"/>
                            </a:rPr>
                          </m:ctrlPr>
                        </m:sSubSupPr>
                        <m:e>
                          <m:r>
                            <a:rPr lang="es-PE" b="0" i="1" smtClean="0">
                              <a:latin typeface="Cambria Math" panose="02040503050406030204" pitchFamily="18" charset="0"/>
                            </a:rPr>
                            <m:t>𝐾</m:t>
                          </m:r>
                        </m:e>
                        <m:sub>
                          <m:r>
                            <a:rPr lang="es-PE" b="0" i="1" smtClean="0">
                              <a:latin typeface="Cambria Math" panose="02040503050406030204" pitchFamily="18" charset="0"/>
                            </a:rPr>
                            <m:t>𝐴𝐵</m:t>
                          </m:r>
                        </m:sub>
                        <m:sup>
                          <m:r>
                            <a:rPr lang="es-PE" b="0" i="1" smtClean="0">
                              <a:latin typeface="Cambria Math" panose="02040503050406030204" pitchFamily="18" charset="0"/>
                            </a:rPr>
                            <m:t>𝑃𝐸</m:t>
                          </m:r>
                        </m:sup>
                      </m:sSubSup>
                      <m:r>
                        <a:rPr lang="es-PE" b="0" i="1" smtClean="0">
                          <a:latin typeface="Cambria Math" panose="02040503050406030204" pitchFamily="18" charset="0"/>
                        </a:rPr>
                        <m:t> =</m:t>
                      </m:r>
                      <m:r>
                        <a:rPr lang="es-PE" b="0" i="1" smtClean="0">
                          <a:latin typeface="Cambria Math" panose="02040503050406030204" pitchFamily="18" charset="0"/>
                        </a:rPr>
                        <m:t>𝑎</m:t>
                      </m:r>
                      <m:r>
                        <a:rPr lang="es-PE" b="0" i="1" smtClean="0">
                          <a:latin typeface="Cambria Math" panose="02040503050406030204" pitchFamily="18" charset="0"/>
                        </a:rPr>
                        <m:t> </m:t>
                      </m:r>
                      <m:sSubSup>
                        <m:sSubSupPr>
                          <m:ctrlPr>
                            <a:rPr lang="es-PE" b="0" i="1" smtClean="0">
                              <a:latin typeface="Cambria Math" panose="02040503050406030204" pitchFamily="18" charset="0"/>
                            </a:rPr>
                          </m:ctrlPr>
                        </m:sSubSupPr>
                        <m:e>
                          <m:r>
                            <a:rPr lang="es-PE" b="0" i="1" smtClean="0">
                              <a:latin typeface="Cambria Math" panose="02040503050406030204" pitchFamily="18" charset="0"/>
                            </a:rPr>
                            <m:t>𝐾</m:t>
                          </m:r>
                        </m:e>
                        <m:sub>
                          <m:r>
                            <a:rPr lang="es-PE" b="0" i="1" smtClean="0">
                              <a:latin typeface="Cambria Math" panose="02040503050406030204" pitchFamily="18" charset="0"/>
                            </a:rPr>
                            <m:t>𝐴𝐵</m:t>
                          </m:r>
                        </m:sub>
                        <m:sup>
                          <m:r>
                            <a:rPr lang="es-PE" b="0" i="1" smtClean="0">
                              <a:latin typeface="Cambria Math" panose="02040503050406030204" pitchFamily="18" charset="0"/>
                            </a:rPr>
                            <m:t>0</m:t>
                          </m:r>
                        </m:sup>
                      </m:sSubSup>
                      <m:r>
                        <a:rPr lang="es-PE" b="0" i="1" smtClean="0">
                          <a:latin typeface="Cambria Math" panose="02040503050406030204" pitchFamily="18" charset="0"/>
                        </a:rPr>
                        <m:t>=</m:t>
                      </m:r>
                      <m:d>
                        <m:dPr>
                          <m:ctrlPr>
                            <a:rPr lang="es-PE" i="1" smtClean="0">
                              <a:latin typeface="Cambria Math" panose="02040503050406030204" pitchFamily="18" charset="0"/>
                            </a:rPr>
                          </m:ctrlPr>
                        </m:dPr>
                        <m:e>
                          <m:r>
                            <a:rPr lang="es-PE" i="1">
                              <a:latin typeface="Cambria Math" panose="02040503050406030204" pitchFamily="18" charset="0"/>
                            </a:rPr>
                            <m:t>0.7228</m:t>
                          </m:r>
                        </m:e>
                      </m:d>
                      <m:d>
                        <m:dPr>
                          <m:ctrlPr>
                            <a:rPr lang="es-PE" i="1">
                              <a:latin typeface="Cambria Math" panose="02040503050406030204" pitchFamily="18" charset="0"/>
                            </a:rPr>
                          </m:ctrlPr>
                        </m:dPr>
                        <m:e>
                          <m:r>
                            <a:rPr lang="es-PE" i="1">
                              <a:latin typeface="Cambria Math" panose="02040503050406030204" pitchFamily="18" charset="0"/>
                            </a:rPr>
                            <m:t>27 250.30</m:t>
                          </m:r>
                        </m:e>
                      </m:d>
                      <m:r>
                        <a:rPr lang="es-PE" b="0" i="1" smtClean="0">
                          <a:latin typeface="Cambria Math" panose="02040503050406030204" pitchFamily="18" charset="0"/>
                        </a:rPr>
                        <m:t>=13 225.42 </m:t>
                      </m:r>
                      <m:f>
                        <m:fPr>
                          <m:type m:val="skw"/>
                          <m:ctrlPr>
                            <a:rPr lang="es-PE" b="0" i="1" smtClean="0">
                              <a:latin typeface="Cambria Math" panose="02040503050406030204" pitchFamily="18" charset="0"/>
                            </a:rPr>
                          </m:ctrlPr>
                        </m:fPr>
                        <m:num>
                          <m:r>
                            <a:rPr lang="es-PE" b="0" i="1" smtClean="0">
                              <a:latin typeface="Cambria Math" panose="02040503050406030204" pitchFamily="18" charset="0"/>
                            </a:rPr>
                            <m:t>𝐾𝑔𝑓</m:t>
                          </m:r>
                        </m:num>
                        <m:den>
                          <m:r>
                            <a:rPr lang="es-PE" b="0" i="1" smtClean="0">
                              <a:latin typeface="Cambria Math" panose="02040503050406030204" pitchFamily="18" charset="0"/>
                            </a:rPr>
                            <m:t>𝑐𝑚</m:t>
                          </m:r>
                        </m:den>
                      </m:f>
                      <m:r>
                        <a:rPr lang="es-PE" b="0" i="1" smtClean="0">
                          <a:latin typeface="Cambria Math" panose="02040503050406030204" pitchFamily="18" charset="0"/>
                        </a:rPr>
                        <m:t> </m:t>
                      </m:r>
                    </m:oMath>
                  </m:oMathPara>
                </a14:m>
                <a:endParaRPr lang="es-PE" dirty="0"/>
              </a:p>
            </p:txBody>
          </p:sp>
        </mc:Choice>
        <mc:Fallback xmlns="">
          <p:sp>
            <p:nvSpPr>
              <p:cNvPr id="10" name="CuadroTexto 9">
                <a:extLst>
                  <a:ext uri="{FF2B5EF4-FFF2-40B4-BE49-F238E27FC236}">
                    <a16:creationId xmlns:a16="http://schemas.microsoft.com/office/drawing/2014/main" id="{21E2F073-3213-455A-E65C-DF4F63AB7B05}"/>
                  </a:ext>
                </a:extLst>
              </p:cNvPr>
              <p:cNvSpPr txBox="1">
                <a:spLocks noRot="1" noChangeAspect="1" noMove="1" noResize="1" noEditPoints="1" noAdjustHandles="1" noChangeArrowheads="1" noChangeShapeType="1" noTextEdit="1"/>
              </p:cNvSpPr>
              <p:nvPr/>
            </p:nvSpPr>
            <p:spPr>
              <a:xfrm>
                <a:off x="5186295" y="5839727"/>
                <a:ext cx="6009850" cy="372603"/>
              </a:xfrm>
              <a:prstGeom prst="rect">
                <a:avLst/>
              </a:prstGeom>
              <a:blipFill>
                <a:blip r:embed="rId6"/>
                <a:stretch>
                  <a:fillRect/>
                </a:stretch>
              </a:blipFill>
            </p:spPr>
            <p:txBody>
              <a:bodyPr/>
              <a:lstStyle/>
              <a:p>
                <a:r>
                  <a:rPr lang="es-PE">
                    <a:noFill/>
                  </a:rPr>
                  <a:t> </a:t>
                </a:r>
              </a:p>
            </p:txBody>
          </p:sp>
        </mc:Fallback>
      </mc:AlternateContent>
      <p:grpSp>
        <p:nvGrpSpPr>
          <p:cNvPr id="11" name="Grupo 10">
            <a:extLst>
              <a:ext uri="{FF2B5EF4-FFF2-40B4-BE49-F238E27FC236}">
                <a16:creationId xmlns:a16="http://schemas.microsoft.com/office/drawing/2014/main" id="{15B78C09-86F3-12A9-2BBC-2C0419AFAE11}"/>
              </a:ext>
            </a:extLst>
          </p:cNvPr>
          <p:cNvGrpSpPr/>
          <p:nvPr/>
        </p:nvGrpSpPr>
        <p:grpSpPr>
          <a:xfrm>
            <a:off x="1000305" y="2349500"/>
            <a:ext cx="2725399" cy="2304634"/>
            <a:chOff x="3002800" y="2708275"/>
            <a:chExt cx="2473772" cy="1950352"/>
          </a:xfrm>
        </p:grpSpPr>
        <p:sp>
          <p:nvSpPr>
            <p:cNvPr id="12" name="Rectángulo 11">
              <a:extLst>
                <a:ext uri="{FF2B5EF4-FFF2-40B4-BE49-F238E27FC236}">
                  <a16:creationId xmlns:a16="http://schemas.microsoft.com/office/drawing/2014/main" id="{0E51BAAC-3A68-9951-A7A7-CC6AB0C0C0EF}"/>
                </a:ext>
              </a:extLst>
            </p:cNvPr>
            <p:cNvSpPr/>
            <p:nvPr/>
          </p:nvSpPr>
          <p:spPr>
            <a:xfrm>
              <a:off x="3002800" y="2708275"/>
              <a:ext cx="2265658" cy="152329"/>
            </a:xfrm>
            <a:prstGeom prst="rect">
              <a:avLst/>
            </a:prstGeom>
            <a:pattFill prst="lgConfetti">
              <a:fgClr>
                <a:schemeClr val="tx1">
                  <a:lumMod val="65000"/>
                  <a:lumOff val="35000"/>
                </a:schemeClr>
              </a:fgClr>
              <a:bgClr>
                <a:schemeClr val="bg1"/>
              </a:bgClr>
            </a:patt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6" name="Rectángulo 15">
              <a:extLst>
                <a:ext uri="{FF2B5EF4-FFF2-40B4-BE49-F238E27FC236}">
                  <a16:creationId xmlns:a16="http://schemas.microsoft.com/office/drawing/2014/main" id="{7472AFFF-E059-EFF8-364E-4D4ED25513B6}"/>
                </a:ext>
              </a:extLst>
            </p:cNvPr>
            <p:cNvSpPr/>
            <p:nvPr/>
          </p:nvSpPr>
          <p:spPr>
            <a:xfrm>
              <a:off x="4977482" y="4508500"/>
              <a:ext cx="499090" cy="150127"/>
            </a:xfrm>
            <a:prstGeom prst="rect">
              <a:avLst/>
            </a:prstGeom>
            <a:pattFill prst="wdUpDiag">
              <a:fgClr>
                <a:schemeClr val="accent2">
                  <a:lumMod val="75000"/>
                </a:schemeClr>
              </a:fgClr>
              <a:bgClr>
                <a:schemeClr val="bg1"/>
              </a:bgClr>
            </a:patt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dirty="0"/>
            </a:p>
          </p:txBody>
        </p:sp>
        <p:sp>
          <p:nvSpPr>
            <p:cNvPr id="22" name="Rectángulo 21">
              <a:extLst>
                <a:ext uri="{FF2B5EF4-FFF2-40B4-BE49-F238E27FC236}">
                  <a16:creationId xmlns:a16="http://schemas.microsoft.com/office/drawing/2014/main" id="{972EBCFC-2057-71A4-001B-9D448C316514}"/>
                </a:ext>
              </a:extLst>
            </p:cNvPr>
            <p:cNvSpPr/>
            <p:nvPr/>
          </p:nvSpPr>
          <p:spPr>
            <a:xfrm>
              <a:off x="5122970" y="2708275"/>
              <a:ext cx="144000" cy="1800000"/>
            </a:xfrm>
            <a:prstGeom prst="rect">
              <a:avLst/>
            </a:prstGeom>
            <a:pattFill prst="lgConfetti">
              <a:fgClr>
                <a:schemeClr val="tx1">
                  <a:lumMod val="65000"/>
                  <a:lumOff val="35000"/>
                </a:schemeClr>
              </a:fgClr>
              <a:bgClr>
                <a:schemeClr val="bg1"/>
              </a:bgClr>
            </a:patt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dirty="0"/>
            </a:p>
          </p:txBody>
        </p:sp>
      </p:grpSp>
      <p:cxnSp>
        <p:nvCxnSpPr>
          <p:cNvPr id="25" name="Conector recto 24">
            <a:extLst>
              <a:ext uri="{FF2B5EF4-FFF2-40B4-BE49-F238E27FC236}">
                <a16:creationId xmlns:a16="http://schemas.microsoft.com/office/drawing/2014/main" id="{5D332B9E-EC69-9C27-1BDA-FC29BFEEF024}"/>
              </a:ext>
            </a:extLst>
          </p:cNvPr>
          <p:cNvCxnSpPr/>
          <p:nvPr/>
        </p:nvCxnSpPr>
        <p:spPr>
          <a:xfrm>
            <a:off x="737322" y="2319396"/>
            <a:ext cx="0" cy="223195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Conector recto 27">
            <a:extLst>
              <a:ext uri="{FF2B5EF4-FFF2-40B4-BE49-F238E27FC236}">
                <a16:creationId xmlns:a16="http://schemas.microsoft.com/office/drawing/2014/main" id="{945E2D05-52A0-6E70-B587-D14AFD7651FB}"/>
              </a:ext>
            </a:extLst>
          </p:cNvPr>
          <p:cNvCxnSpPr/>
          <p:nvPr/>
        </p:nvCxnSpPr>
        <p:spPr>
          <a:xfrm>
            <a:off x="592984" y="2463412"/>
            <a:ext cx="360362"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Conector recto 29">
            <a:extLst>
              <a:ext uri="{FF2B5EF4-FFF2-40B4-BE49-F238E27FC236}">
                <a16:creationId xmlns:a16="http://schemas.microsoft.com/office/drawing/2014/main" id="{CE862564-584D-00CA-B00E-F8E16FC2278C}"/>
              </a:ext>
            </a:extLst>
          </p:cNvPr>
          <p:cNvCxnSpPr/>
          <p:nvPr/>
        </p:nvCxnSpPr>
        <p:spPr>
          <a:xfrm>
            <a:off x="592298" y="4445464"/>
            <a:ext cx="360362"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3" name="CuadroTexto 32">
                <a:extLst>
                  <a:ext uri="{FF2B5EF4-FFF2-40B4-BE49-F238E27FC236}">
                    <a16:creationId xmlns:a16="http://schemas.microsoft.com/office/drawing/2014/main" id="{C5D90C50-992B-8085-3233-A82672DBD448}"/>
                  </a:ext>
                </a:extLst>
              </p:cNvPr>
              <p:cNvSpPr txBox="1"/>
              <p:nvPr/>
            </p:nvSpPr>
            <p:spPr>
              <a:xfrm>
                <a:off x="159232" y="3208217"/>
                <a:ext cx="604846"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PE" sz="1600" b="1" i="1" smtClean="0">
                          <a:latin typeface="Cambria Math" panose="02040503050406030204" pitchFamily="18" charset="0"/>
                        </a:rPr>
                        <m:t>𝟐</m:t>
                      </m:r>
                      <m:r>
                        <a:rPr lang="es-PE" sz="1600" b="1" i="1" smtClean="0">
                          <a:latin typeface="Cambria Math" panose="02040503050406030204" pitchFamily="18" charset="0"/>
                        </a:rPr>
                        <m:t>.</m:t>
                      </m:r>
                      <m:r>
                        <a:rPr lang="es-PE" sz="1600" b="1" i="1" smtClean="0">
                          <a:latin typeface="Cambria Math" panose="02040503050406030204" pitchFamily="18" charset="0"/>
                        </a:rPr>
                        <m:t>𝟖</m:t>
                      </m:r>
                      <m:r>
                        <a:rPr lang="es-PE" sz="1600" b="1" i="1" smtClean="0">
                          <a:latin typeface="Cambria Math" panose="02040503050406030204" pitchFamily="18" charset="0"/>
                        </a:rPr>
                        <m:t> </m:t>
                      </m:r>
                      <m:r>
                        <a:rPr lang="es-PE" sz="1600" b="1" i="1" smtClean="0">
                          <a:latin typeface="Cambria Math" panose="02040503050406030204" pitchFamily="18" charset="0"/>
                        </a:rPr>
                        <m:t>𝒎</m:t>
                      </m:r>
                    </m:oMath>
                  </m:oMathPara>
                </a14:m>
                <a:endParaRPr lang="es-PE" sz="1600" b="1" i="1" dirty="0"/>
              </a:p>
            </p:txBody>
          </p:sp>
        </mc:Choice>
        <mc:Fallback xmlns="">
          <p:sp>
            <p:nvSpPr>
              <p:cNvPr id="33" name="CuadroTexto 32">
                <a:extLst>
                  <a:ext uri="{FF2B5EF4-FFF2-40B4-BE49-F238E27FC236}">
                    <a16:creationId xmlns:a16="http://schemas.microsoft.com/office/drawing/2014/main" id="{C5D90C50-992B-8085-3233-A82672DBD448}"/>
                  </a:ext>
                </a:extLst>
              </p:cNvPr>
              <p:cNvSpPr txBox="1">
                <a:spLocks noRot="1" noChangeAspect="1" noMove="1" noResize="1" noEditPoints="1" noAdjustHandles="1" noChangeArrowheads="1" noChangeShapeType="1" noTextEdit="1"/>
              </p:cNvSpPr>
              <p:nvPr/>
            </p:nvSpPr>
            <p:spPr>
              <a:xfrm>
                <a:off x="159232" y="3208217"/>
                <a:ext cx="604846" cy="246221"/>
              </a:xfrm>
              <a:prstGeom prst="rect">
                <a:avLst/>
              </a:prstGeom>
              <a:blipFill>
                <a:blip r:embed="rId7"/>
                <a:stretch>
                  <a:fillRect l="-7071" r="-5051" b="-4878"/>
                </a:stretch>
              </a:blipFill>
            </p:spPr>
            <p:txBody>
              <a:bodyPr/>
              <a:lstStyle/>
              <a:p>
                <a:r>
                  <a:rPr lang="es-PE">
                    <a:noFill/>
                  </a:rPr>
                  <a:t> </a:t>
                </a:r>
              </a:p>
            </p:txBody>
          </p:sp>
        </mc:Fallback>
      </mc:AlternateContent>
      <p:cxnSp>
        <p:nvCxnSpPr>
          <p:cNvPr id="39" name="Conector recto 38">
            <a:extLst>
              <a:ext uri="{FF2B5EF4-FFF2-40B4-BE49-F238E27FC236}">
                <a16:creationId xmlns:a16="http://schemas.microsoft.com/office/drawing/2014/main" id="{4ABA11BA-3653-CA23-5032-1FEDB880726D}"/>
              </a:ext>
            </a:extLst>
          </p:cNvPr>
          <p:cNvCxnSpPr>
            <a:cxnSpLocks/>
          </p:cNvCxnSpPr>
          <p:nvPr/>
        </p:nvCxnSpPr>
        <p:spPr>
          <a:xfrm>
            <a:off x="737322" y="4870103"/>
            <a:ext cx="2959061"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Conector recto 39">
            <a:extLst>
              <a:ext uri="{FF2B5EF4-FFF2-40B4-BE49-F238E27FC236}">
                <a16:creationId xmlns:a16="http://schemas.microsoft.com/office/drawing/2014/main" id="{E53772FC-0332-18C3-363B-ACE9E93BDBC0}"/>
              </a:ext>
            </a:extLst>
          </p:cNvPr>
          <p:cNvCxnSpPr/>
          <p:nvPr/>
        </p:nvCxnSpPr>
        <p:spPr>
          <a:xfrm>
            <a:off x="1000305" y="4735546"/>
            <a:ext cx="0" cy="28803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Conector recto 40">
            <a:extLst>
              <a:ext uri="{FF2B5EF4-FFF2-40B4-BE49-F238E27FC236}">
                <a16:creationId xmlns:a16="http://schemas.microsoft.com/office/drawing/2014/main" id="{6241E6F8-30FE-0805-D78C-C29FDA2D13FA}"/>
              </a:ext>
            </a:extLst>
          </p:cNvPr>
          <p:cNvCxnSpPr/>
          <p:nvPr/>
        </p:nvCxnSpPr>
        <p:spPr>
          <a:xfrm>
            <a:off x="3416407" y="4726087"/>
            <a:ext cx="0" cy="28803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42" name="Grupo 41">
            <a:extLst>
              <a:ext uri="{FF2B5EF4-FFF2-40B4-BE49-F238E27FC236}">
                <a16:creationId xmlns:a16="http://schemas.microsoft.com/office/drawing/2014/main" id="{376AEA55-8D21-F337-BB02-0C91FF8B8453}"/>
              </a:ext>
            </a:extLst>
          </p:cNvPr>
          <p:cNvGrpSpPr/>
          <p:nvPr/>
        </p:nvGrpSpPr>
        <p:grpSpPr>
          <a:xfrm>
            <a:off x="2395317" y="5181519"/>
            <a:ext cx="1301066" cy="1101128"/>
            <a:chOff x="424663" y="4976843"/>
            <a:chExt cx="1301066" cy="1101128"/>
          </a:xfrm>
        </p:grpSpPr>
        <p:sp>
          <p:nvSpPr>
            <p:cNvPr id="43" name="Rectángulo 42">
              <a:extLst>
                <a:ext uri="{FF2B5EF4-FFF2-40B4-BE49-F238E27FC236}">
                  <a16:creationId xmlns:a16="http://schemas.microsoft.com/office/drawing/2014/main" id="{7AB1AADE-E0B7-8AFC-42CC-10E602BBCF3A}"/>
                </a:ext>
              </a:extLst>
            </p:cNvPr>
            <p:cNvSpPr>
              <a:spLocks noChangeAspect="1"/>
            </p:cNvSpPr>
            <p:nvPr/>
          </p:nvSpPr>
          <p:spPr>
            <a:xfrm>
              <a:off x="1149729" y="5048875"/>
              <a:ext cx="576000" cy="432000"/>
            </a:xfrm>
            <a:prstGeom prst="rect">
              <a:avLst/>
            </a:prstGeom>
            <a:pattFill prst="wdUpDiag">
              <a:fgClr>
                <a:schemeClr val="tx1">
                  <a:lumMod val="65000"/>
                  <a:lumOff val="35000"/>
                </a:schemeClr>
              </a:fgClr>
              <a:bgClr>
                <a:schemeClr val="bg1"/>
              </a:bgClr>
            </a:patt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cxnSp>
          <p:nvCxnSpPr>
            <p:cNvPr id="44" name="Conector recto 43">
              <a:extLst>
                <a:ext uri="{FF2B5EF4-FFF2-40B4-BE49-F238E27FC236}">
                  <a16:creationId xmlns:a16="http://schemas.microsoft.com/office/drawing/2014/main" id="{90B554C2-9B9C-206E-78C9-3897C5E201D9}"/>
                </a:ext>
              </a:extLst>
            </p:cNvPr>
            <p:cNvCxnSpPr/>
            <p:nvPr/>
          </p:nvCxnSpPr>
          <p:spPr>
            <a:xfrm>
              <a:off x="1149729" y="5640390"/>
              <a:ext cx="0" cy="18000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Conector recto 44">
              <a:extLst>
                <a:ext uri="{FF2B5EF4-FFF2-40B4-BE49-F238E27FC236}">
                  <a16:creationId xmlns:a16="http://schemas.microsoft.com/office/drawing/2014/main" id="{5DE8CF2A-6F0C-63AD-590B-131C2E21E8A6}"/>
                </a:ext>
              </a:extLst>
            </p:cNvPr>
            <p:cNvCxnSpPr>
              <a:cxnSpLocks/>
            </p:cNvCxnSpPr>
            <p:nvPr/>
          </p:nvCxnSpPr>
          <p:spPr>
            <a:xfrm>
              <a:off x="1042821" y="5733256"/>
              <a:ext cx="63529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6" name="CuadroTexto 45">
                  <a:extLst>
                    <a:ext uri="{FF2B5EF4-FFF2-40B4-BE49-F238E27FC236}">
                      <a16:creationId xmlns:a16="http://schemas.microsoft.com/office/drawing/2014/main" id="{DFCA52E8-ECF5-6ADD-D48D-A3096724C774}"/>
                    </a:ext>
                  </a:extLst>
                </p:cNvPr>
                <p:cNvSpPr txBox="1"/>
                <p:nvPr/>
              </p:nvSpPr>
              <p:spPr>
                <a:xfrm>
                  <a:off x="1110400" y="5893305"/>
                  <a:ext cx="471283" cy="18466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PE" sz="1200" b="1" i="1" smtClean="0">
                            <a:latin typeface="Cambria Math" panose="02040503050406030204" pitchFamily="18" charset="0"/>
                          </a:rPr>
                          <m:t>𝟒𝟓</m:t>
                        </m:r>
                        <m:r>
                          <a:rPr lang="es-PE" sz="1200" b="1" i="1" smtClean="0">
                            <a:latin typeface="Cambria Math" panose="02040503050406030204" pitchFamily="18" charset="0"/>
                          </a:rPr>
                          <m:t> </m:t>
                        </m:r>
                        <m:r>
                          <a:rPr lang="es-PE" sz="1200" b="1" i="1" smtClean="0">
                            <a:latin typeface="Cambria Math" panose="02040503050406030204" pitchFamily="18" charset="0"/>
                          </a:rPr>
                          <m:t>𝒄𝒎</m:t>
                        </m:r>
                      </m:oMath>
                    </m:oMathPara>
                  </a14:m>
                  <a:endParaRPr lang="es-PE" sz="1200" b="1" i="1" dirty="0"/>
                </a:p>
              </p:txBody>
            </p:sp>
          </mc:Choice>
          <mc:Fallback xmlns="">
            <p:sp>
              <p:nvSpPr>
                <p:cNvPr id="46" name="CuadroTexto 45">
                  <a:extLst>
                    <a:ext uri="{FF2B5EF4-FFF2-40B4-BE49-F238E27FC236}">
                      <a16:creationId xmlns:a16="http://schemas.microsoft.com/office/drawing/2014/main" id="{DFCA52E8-ECF5-6ADD-D48D-A3096724C774}"/>
                    </a:ext>
                  </a:extLst>
                </p:cNvPr>
                <p:cNvSpPr txBox="1">
                  <a:spLocks noRot="1" noChangeAspect="1" noMove="1" noResize="1" noEditPoints="1" noAdjustHandles="1" noChangeArrowheads="1" noChangeShapeType="1" noTextEdit="1"/>
                </p:cNvSpPr>
                <p:nvPr/>
              </p:nvSpPr>
              <p:spPr>
                <a:xfrm>
                  <a:off x="1110400" y="5893305"/>
                  <a:ext cx="471283" cy="184666"/>
                </a:xfrm>
                <a:prstGeom prst="rect">
                  <a:avLst/>
                </a:prstGeom>
                <a:blipFill>
                  <a:blip r:embed="rId8"/>
                  <a:stretch>
                    <a:fillRect l="-7692" r="-5128" b="-6452"/>
                  </a:stretch>
                </a:blipFill>
              </p:spPr>
              <p:txBody>
                <a:bodyPr/>
                <a:lstStyle/>
                <a:p>
                  <a:r>
                    <a:rPr lang="es-PE">
                      <a:noFill/>
                    </a:rPr>
                    <a:t> </a:t>
                  </a:r>
                </a:p>
              </p:txBody>
            </p:sp>
          </mc:Fallback>
        </mc:AlternateContent>
        <p:cxnSp>
          <p:nvCxnSpPr>
            <p:cNvPr id="47" name="Conector recto 46">
              <a:extLst>
                <a:ext uri="{FF2B5EF4-FFF2-40B4-BE49-F238E27FC236}">
                  <a16:creationId xmlns:a16="http://schemas.microsoft.com/office/drawing/2014/main" id="{888CA210-7138-A50A-D5C1-282C76F23709}"/>
                </a:ext>
              </a:extLst>
            </p:cNvPr>
            <p:cNvCxnSpPr>
              <a:cxnSpLocks/>
            </p:cNvCxnSpPr>
            <p:nvPr/>
          </p:nvCxnSpPr>
          <p:spPr>
            <a:xfrm>
              <a:off x="918571" y="4976843"/>
              <a:ext cx="0" cy="61274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8" name="Conector recto 47">
              <a:extLst>
                <a:ext uri="{FF2B5EF4-FFF2-40B4-BE49-F238E27FC236}">
                  <a16:creationId xmlns:a16="http://schemas.microsoft.com/office/drawing/2014/main" id="{25EFEF19-AC66-5AA4-3A9E-A717BF09E386}"/>
                </a:ext>
              </a:extLst>
            </p:cNvPr>
            <p:cNvCxnSpPr/>
            <p:nvPr/>
          </p:nvCxnSpPr>
          <p:spPr>
            <a:xfrm>
              <a:off x="801276" y="5042849"/>
              <a:ext cx="216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Conector recto 48">
              <a:extLst>
                <a:ext uri="{FF2B5EF4-FFF2-40B4-BE49-F238E27FC236}">
                  <a16:creationId xmlns:a16="http://schemas.microsoft.com/office/drawing/2014/main" id="{5A69435C-C4B6-66D8-EA0F-6CBBC9B986CF}"/>
                </a:ext>
              </a:extLst>
            </p:cNvPr>
            <p:cNvCxnSpPr/>
            <p:nvPr/>
          </p:nvCxnSpPr>
          <p:spPr>
            <a:xfrm>
              <a:off x="814039" y="5462158"/>
              <a:ext cx="216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 name="Conector recto 49">
              <a:extLst>
                <a:ext uri="{FF2B5EF4-FFF2-40B4-BE49-F238E27FC236}">
                  <a16:creationId xmlns:a16="http://schemas.microsoft.com/office/drawing/2014/main" id="{D51A7C73-2FDA-21CF-72D7-CE9365B2E390}"/>
                </a:ext>
              </a:extLst>
            </p:cNvPr>
            <p:cNvCxnSpPr/>
            <p:nvPr/>
          </p:nvCxnSpPr>
          <p:spPr>
            <a:xfrm>
              <a:off x="1644166" y="5650665"/>
              <a:ext cx="0" cy="18000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1" name="CuadroTexto 50">
                  <a:extLst>
                    <a:ext uri="{FF2B5EF4-FFF2-40B4-BE49-F238E27FC236}">
                      <a16:creationId xmlns:a16="http://schemas.microsoft.com/office/drawing/2014/main" id="{70F23E73-9F53-4052-5377-78E208FF8273}"/>
                    </a:ext>
                  </a:extLst>
                </p:cNvPr>
                <p:cNvSpPr txBox="1"/>
                <p:nvPr/>
              </p:nvSpPr>
              <p:spPr>
                <a:xfrm>
                  <a:off x="424663" y="5148731"/>
                  <a:ext cx="471283" cy="18466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PE" sz="1200" b="1" i="1" smtClean="0">
                            <a:latin typeface="Cambria Math" panose="02040503050406030204" pitchFamily="18" charset="0"/>
                          </a:rPr>
                          <m:t>𝟑𝟎</m:t>
                        </m:r>
                        <m:r>
                          <a:rPr lang="es-PE" sz="1200" b="1" i="1" smtClean="0">
                            <a:latin typeface="Cambria Math" panose="02040503050406030204" pitchFamily="18" charset="0"/>
                          </a:rPr>
                          <m:t> </m:t>
                        </m:r>
                        <m:r>
                          <a:rPr lang="es-PE" sz="1200" b="1" i="1" smtClean="0">
                            <a:latin typeface="Cambria Math" panose="02040503050406030204" pitchFamily="18" charset="0"/>
                          </a:rPr>
                          <m:t>𝒄𝒎</m:t>
                        </m:r>
                      </m:oMath>
                    </m:oMathPara>
                  </a14:m>
                  <a:endParaRPr lang="es-PE" sz="1200" b="1" i="1" dirty="0"/>
                </a:p>
              </p:txBody>
            </p:sp>
          </mc:Choice>
          <mc:Fallback xmlns="">
            <p:sp>
              <p:nvSpPr>
                <p:cNvPr id="51" name="CuadroTexto 50">
                  <a:extLst>
                    <a:ext uri="{FF2B5EF4-FFF2-40B4-BE49-F238E27FC236}">
                      <a16:creationId xmlns:a16="http://schemas.microsoft.com/office/drawing/2014/main" id="{70F23E73-9F53-4052-5377-78E208FF8273}"/>
                    </a:ext>
                  </a:extLst>
                </p:cNvPr>
                <p:cNvSpPr txBox="1">
                  <a:spLocks noRot="1" noChangeAspect="1" noMove="1" noResize="1" noEditPoints="1" noAdjustHandles="1" noChangeArrowheads="1" noChangeShapeType="1" noTextEdit="1"/>
                </p:cNvSpPr>
                <p:nvPr/>
              </p:nvSpPr>
              <p:spPr>
                <a:xfrm>
                  <a:off x="424663" y="5148731"/>
                  <a:ext cx="471283" cy="184666"/>
                </a:xfrm>
                <a:prstGeom prst="rect">
                  <a:avLst/>
                </a:prstGeom>
                <a:blipFill>
                  <a:blip r:embed="rId9"/>
                  <a:stretch>
                    <a:fillRect l="-7792" r="-5195" b="-6667"/>
                  </a:stretch>
                </a:blipFill>
              </p:spPr>
              <p:txBody>
                <a:bodyPr/>
                <a:lstStyle/>
                <a:p>
                  <a:r>
                    <a:rPr lang="es-PE">
                      <a:noFill/>
                    </a:rPr>
                    <a:t> </a:t>
                  </a:r>
                </a:p>
              </p:txBody>
            </p:sp>
          </mc:Fallback>
        </mc:AlternateContent>
      </p:grpSp>
      <p:grpSp>
        <p:nvGrpSpPr>
          <p:cNvPr id="52" name="Grupo 51">
            <a:extLst>
              <a:ext uri="{FF2B5EF4-FFF2-40B4-BE49-F238E27FC236}">
                <a16:creationId xmlns:a16="http://schemas.microsoft.com/office/drawing/2014/main" id="{4E3714B7-E153-B78E-ADAF-5EC5A09AE550}"/>
              </a:ext>
            </a:extLst>
          </p:cNvPr>
          <p:cNvGrpSpPr/>
          <p:nvPr/>
        </p:nvGrpSpPr>
        <p:grpSpPr>
          <a:xfrm>
            <a:off x="3717887" y="2328697"/>
            <a:ext cx="1155667" cy="1137101"/>
            <a:chOff x="426016" y="4940870"/>
            <a:chExt cx="1155667" cy="1137101"/>
          </a:xfrm>
        </p:grpSpPr>
        <p:sp>
          <p:nvSpPr>
            <p:cNvPr id="53" name="Rectángulo 52">
              <a:extLst>
                <a:ext uri="{FF2B5EF4-FFF2-40B4-BE49-F238E27FC236}">
                  <a16:creationId xmlns:a16="http://schemas.microsoft.com/office/drawing/2014/main" id="{0EB93E01-7E8D-CB32-9C86-E621ED12AA47}"/>
                </a:ext>
              </a:extLst>
            </p:cNvPr>
            <p:cNvSpPr>
              <a:spLocks noChangeAspect="1"/>
            </p:cNvSpPr>
            <p:nvPr/>
          </p:nvSpPr>
          <p:spPr>
            <a:xfrm>
              <a:off x="1149729" y="5048875"/>
              <a:ext cx="324000" cy="540000"/>
            </a:xfrm>
            <a:prstGeom prst="rect">
              <a:avLst/>
            </a:prstGeom>
            <a:pattFill prst="wdUpDiag">
              <a:fgClr>
                <a:schemeClr val="tx1">
                  <a:lumMod val="65000"/>
                  <a:lumOff val="35000"/>
                </a:schemeClr>
              </a:fgClr>
              <a:bgClr>
                <a:schemeClr val="bg1"/>
              </a:bgClr>
            </a:patt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dirty="0"/>
            </a:p>
          </p:txBody>
        </p:sp>
        <p:cxnSp>
          <p:nvCxnSpPr>
            <p:cNvPr id="54" name="Conector recto 53">
              <a:extLst>
                <a:ext uri="{FF2B5EF4-FFF2-40B4-BE49-F238E27FC236}">
                  <a16:creationId xmlns:a16="http://schemas.microsoft.com/office/drawing/2014/main" id="{08738342-8488-E629-8637-7266F4DA85C2}"/>
                </a:ext>
              </a:extLst>
            </p:cNvPr>
            <p:cNvCxnSpPr/>
            <p:nvPr/>
          </p:nvCxnSpPr>
          <p:spPr>
            <a:xfrm>
              <a:off x="1149729" y="5640390"/>
              <a:ext cx="0" cy="18000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 name="Conector recto 54">
              <a:extLst>
                <a:ext uri="{FF2B5EF4-FFF2-40B4-BE49-F238E27FC236}">
                  <a16:creationId xmlns:a16="http://schemas.microsoft.com/office/drawing/2014/main" id="{A281B5B1-FBC9-CF35-700E-030BCB92AB3A}"/>
                </a:ext>
              </a:extLst>
            </p:cNvPr>
            <p:cNvCxnSpPr>
              <a:cxnSpLocks/>
            </p:cNvCxnSpPr>
            <p:nvPr/>
          </p:nvCxnSpPr>
          <p:spPr>
            <a:xfrm>
              <a:off x="1068222" y="5733256"/>
              <a:ext cx="468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6" name="CuadroTexto 55">
                  <a:extLst>
                    <a:ext uri="{FF2B5EF4-FFF2-40B4-BE49-F238E27FC236}">
                      <a16:creationId xmlns:a16="http://schemas.microsoft.com/office/drawing/2014/main" id="{9FD5DCFF-F5F0-F262-62EE-9E8EF94B5A69}"/>
                    </a:ext>
                  </a:extLst>
                </p:cNvPr>
                <p:cNvSpPr txBox="1"/>
                <p:nvPr/>
              </p:nvSpPr>
              <p:spPr>
                <a:xfrm>
                  <a:off x="1110400" y="5893305"/>
                  <a:ext cx="471283" cy="18466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PE" sz="1200" b="1" i="1" smtClean="0">
                            <a:latin typeface="Cambria Math" panose="02040503050406030204" pitchFamily="18" charset="0"/>
                          </a:rPr>
                          <m:t>𝟑𝟎</m:t>
                        </m:r>
                        <m:r>
                          <a:rPr lang="es-PE" sz="1200" b="1" i="1" smtClean="0">
                            <a:latin typeface="Cambria Math" panose="02040503050406030204" pitchFamily="18" charset="0"/>
                          </a:rPr>
                          <m:t> </m:t>
                        </m:r>
                        <m:r>
                          <a:rPr lang="es-PE" sz="1200" b="1" i="1" smtClean="0">
                            <a:latin typeface="Cambria Math" panose="02040503050406030204" pitchFamily="18" charset="0"/>
                          </a:rPr>
                          <m:t>𝒄𝒎</m:t>
                        </m:r>
                      </m:oMath>
                    </m:oMathPara>
                  </a14:m>
                  <a:endParaRPr lang="es-PE" sz="1200" b="1" i="1" dirty="0"/>
                </a:p>
              </p:txBody>
            </p:sp>
          </mc:Choice>
          <mc:Fallback xmlns="">
            <p:sp>
              <p:nvSpPr>
                <p:cNvPr id="56" name="CuadroTexto 55">
                  <a:extLst>
                    <a:ext uri="{FF2B5EF4-FFF2-40B4-BE49-F238E27FC236}">
                      <a16:creationId xmlns:a16="http://schemas.microsoft.com/office/drawing/2014/main" id="{9FD5DCFF-F5F0-F262-62EE-9E8EF94B5A69}"/>
                    </a:ext>
                  </a:extLst>
                </p:cNvPr>
                <p:cNvSpPr txBox="1">
                  <a:spLocks noRot="1" noChangeAspect="1" noMove="1" noResize="1" noEditPoints="1" noAdjustHandles="1" noChangeArrowheads="1" noChangeShapeType="1" noTextEdit="1"/>
                </p:cNvSpPr>
                <p:nvPr/>
              </p:nvSpPr>
              <p:spPr>
                <a:xfrm>
                  <a:off x="1110400" y="5893305"/>
                  <a:ext cx="471283" cy="184666"/>
                </a:xfrm>
                <a:prstGeom prst="rect">
                  <a:avLst/>
                </a:prstGeom>
                <a:blipFill>
                  <a:blip r:embed="rId10"/>
                  <a:stretch>
                    <a:fillRect l="-7792" r="-6494" b="-3226"/>
                  </a:stretch>
                </a:blipFill>
              </p:spPr>
              <p:txBody>
                <a:bodyPr/>
                <a:lstStyle/>
                <a:p>
                  <a:r>
                    <a:rPr lang="es-PE">
                      <a:noFill/>
                    </a:rPr>
                    <a:t> </a:t>
                  </a:r>
                </a:p>
              </p:txBody>
            </p:sp>
          </mc:Fallback>
        </mc:AlternateContent>
        <p:cxnSp>
          <p:nvCxnSpPr>
            <p:cNvPr id="57" name="Conector recto 56">
              <a:extLst>
                <a:ext uri="{FF2B5EF4-FFF2-40B4-BE49-F238E27FC236}">
                  <a16:creationId xmlns:a16="http://schemas.microsoft.com/office/drawing/2014/main" id="{E156BD10-D89C-DA9F-6987-AC7FCDF37A76}"/>
                </a:ext>
              </a:extLst>
            </p:cNvPr>
            <p:cNvCxnSpPr>
              <a:cxnSpLocks/>
            </p:cNvCxnSpPr>
            <p:nvPr/>
          </p:nvCxnSpPr>
          <p:spPr>
            <a:xfrm>
              <a:off x="918571" y="4940870"/>
              <a:ext cx="0" cy="72000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 name="Conector recto 57">
              <a:extLst>
                <a:ext uri="{FF2B5EF4-FFF2-40B4-BE49-F238E27FC236}">
                  <a16:creationId xmlns:a16="http://schemas.microsoft.com/office/drawing/2014/main" id="{0130C46E-94B4-98E1-53D6-4DC7E1B64D1A}"/>
                </a:ext>
              </a:extLst>
            </p:cNvPr>
            <p:cNvCxnSpPr/>
            <p:nvPr/>
          </p:nvCxnSpPr>
          <p:spPr>
            <a:xfrm>
              <a:off x="801276" y="5042849"/>
              <a:ext cx="216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9" name="Conector recto 68">
              <a:extLst>
                <a:ext uri="{FF2B5EF4-FFF2-40B4-BE49-F238E27FC236}">
                  <a16:creationId xmlns:a16="http://schemas.microsoft.com/office/drawing/2014/main" id="{D3C34883-39F3-EE7C-9C4F-0E9BA3F04093}"/>
                </a:ext>
              </a:extLst>
            </p:cNvPr>
            <p:cNvCxnSpPr/>
            <p:nvPr/>
          </p:nvCxnSpPr>
          <p:spPr>
            <a:xfrm>
              <a:off x="814039" y="5572229"/>
              <a:ext cx="216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0" name="Conector recto 69">
              <a:extLst>
                <a:ext uri="{FF2B5EF4-FFF2-40B4-BE49-F238E27FC236}">
                  <a16:creationId xmlns:a16="http://schemas.microsoft.com/office/drawing/2014/main" id="{B2D0AAA8-2C56-885E-92D5-A004BFDDD07D}"/>
                </a:ext>
              </a:extLst>
            </p:cNvPr>
            <p:cNvCxnSpPr/>
            <p:nvPr/>
          </p:nvCxnSpPr>
          <p:spPr>
            <a:xfrm>
              <a:off x="1500229" y="5650665"/>
              <a:ext cx="0" cy="18000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1" name="CuadroTexto 70">
                  <a:extLst>
                    <a:ext uri="{FF2B5EF4-FFF2-40B4-BE49-F238E27FC236}">
                      <a16:creationId xmlns:a16="http://schemas.microsoft.com/office/drawing/2014/main" id="{06B63D31-B933-2DA0-11C3-21DF58072CAE}"/>
                    </a:ext>
                  </a:extLst>
                </p:cNvPr>
                <p:cNvSpPr txBox="1"/>
                <p:nvPr/>
              </p:nvSpPr>
              <p:spPr>
                <a:xfrm>
                  <a:off x="426016" y="5231081"/>
                  <a:ext cx="471283" cy="18466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PE" sz="1200" b="1" i="1" smtClean="0">
                            <a:latin typeface="Cambria Math" panose="02040503050406030204" pitchFamily="18" charset="0"/>
                          </a:rPr>
                          <m:t>𝟓𝟎</m:t>
                        </m:r>
                        <m:r>
                          <a:rPr lang="es-PE" sz="1200" b="1" i="1" smtClean="0">
                            <a:latin typeface="Cambria Math" panose="02040503050406030204" pitchFamily="18" charset="0"/>
                          </a:rPr>
                          <m:t> </m:t>
                        </m:r>
                        <m:r>
                          <a:rPr lang="es-PE" sz="1200" b="1" i="1" smtClean="0">
                            <a:latin typeface="Cambria Math" panose="02040503050406030204" pitchFamily="18" charset="0"/>
                          </a:rPr>
                          <m:t>𝒄𝒎</m:t>
                        </m:r>
                      </m:oMath>
                    </m:oMathPara>
                  </a14:m>
                  <a:endParaRPr lang="es-PE" sz="1200" b="1" i="1" dirty="0"/>
                </a:p>
              </p:txBody>
            </p:sp>
          </mc:Choice>
          <mc:Fallback xmlns="">
            <p:sp>
              <p:nvSpPr>
                <p:cNvPr id="71" name="CuadroTexto 70">
                  <a:extLst>
                    <a:ext uri="{FF2B5EF4-FFF2-40B4-BE49-F238E27FC236}">
                      <a16:creationId xmlns:a16="http://schemas.microsoft.com/office/drawing/2014/main" id="{06B63D31-B933-2DA0-11C3-21DF58072CAE}"/>
                    </a:ext>
                  </a:extLst>
                </p:cNvPr>
                <p:cNvSpPr txBox="1">
                  <a:spLocks noRot="1" noChangeAspect="1" noMove="1" noResize="1" noEditPoints="1" noAdjustHandles="1" noChangeArrowheads="1" noChangeShapeType="1" noTextEdit="1"/>
                </p:cNvSpPr>
                <p:nvPr/>
              </p:nvSpPr>
              <p:spPr>
                <a:xfrm>
                  <a:off x="426016" y="5231081"/>
                  <a:ext cx="471283" cy="184666"/>
                </a:xfrm>
                <a:prstGeom prst="rect">
                  <a:avLst/>
                </a:prstGeom>
                <a:blipFill>
                  <a:blip r:embed="rId11"/>
                  <a:stretch>
                    <a:fillRect l="-9091" r="-5195" b="-6667"/>
                  </a:stretch>
                </a:blipFill>
              </p:spPr>
              <p:txBody>
                <a:bodyPr/>
                <a:lstStyle/>
                <a:p>
                  <a:r>
                    <a:rPr lang="es-PE">
                      <a:noFill/>
                    </a:rPr>
                    <a:t> </a:t>
                  </a:r>
                </a:p>
              </p:txBody>
            </p:sp>
          </mc:Fallback>
        </mc:AlternateContent>
      </p:grpSp>
      <p:sp>
        <p:nvSpPr>
          <p:cNvPr id="72" name="Elipse 71">
            <a:extLst>
              <a:ext uri="{FF2B5EF4-FFF2-40B4-BE49-F238E27FC236}">
                <a16:creationId xmlns:a16="http://schemas.microsoft.com/office/drawing/2014/main" id="{4EC0B2DA-C881-C031-C18B-851E17B62F3A}"/>
              </a:ext>
            </a:extLst>
          </p:cNvPr>
          <p:cNvSpPr>
            <a:spLocks noChangeAspect="1"/>
          </p:cNvSpPr>
          <p:nvPr/>
        </p:nvSpPr>
        <p:spPr>
          <a:xfrm>
            <a:off x="891571" y="2068811"/>
            <a:ext cx="252000" cy="252000"/>
          </a:xfrm>
          <a:prstGeom prst="ellipse">
            <a:avLst/>
          </a:prstGeom>
          <a:solidFill>
            <a:schemeClr val="bg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PE" dirty="0">
                <a:solidFill>
                  <a:schemeClr val="tx1"/>
                </a:solidFill>
              </a:rPr>
              <a:t>D</a:t>
            </a:r>
          </a:p>
        </p:txBody>
      </p:sp>
      <p:sp>
        <p:nvSpPr>
          <p:cNvPr id="77" name="Elipse 76">
            <a:extLst>
              <a:ext uri="{FF2B5EF4-FFF2-40B4-BE49-F238E27FC236}">
                <a16:creationId xmlns:a16="http://schemas.microsoft.com/office/drawing/2014/main" id="{D67F3B8F-4440-A72E-8AB0-9FB49032CABB}"/>
              </a:ext>
            </a:extLst>
          </p:cNvPr>
          <p:cNvSpPr>
            <a:spLocks noChangeAspect="1"/>
          </p:cNvSpPr>
          <p:nvPr/>
        </p:nvSpPr>
        <p:spPr>
          <a:xfrm>
            <a:off x="3590841" y="4206721"/>
            <a:ext cx="252000" cy="252000"/>
          </a:xfrm>
          <a:prstGeom prst="ellipse">
            <a:avLst/>
          </a:prstGeom>
          <a:solidFill>
            <a:schemeClr val="bg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PE" dirty="0">
                <a:solidFill>
                  <a:schemeClr val="tx1"/>
                </a:solidFill>
              </a:rPr>
              <a:t>E</a:t>
            </a:r>
          </a:p>
        </p:txBody>
      </p:sp>
      <p:sp>
        <p:nvSpPr>
          <p:cNvPr id="78" name="Elipse 77">
            <a:extLst>
              <a:ext uri="{FF2B5EF4-FFF2-40B4-BE49-F238E27FC236}">
                <a16:creationId xmlns:a16="http://schemas.microsoft.com/office/drawing/2014/main" id="{AD204A4F-D795-16D2-A7E1-59CAA22B62E4}"/>
              </a:ext>
            </a:extLst>
          </p:cNvPr>
          <p:cNvSpPr>
            <a:spLocks noChangeAspect="1"/>
          </p:cNvSpPr>
          <p:nvPr/>
        </p:nvSpPr>
        <p:spPr>
          <a:xfrm>
            <a:off x="3536190" y="2130048"/>
            <a:ext cx="252000" cy="252000"/>
          </a:xfrm>
          <a:prstGeom prst="ellipse">
            <a:avLst/>
          </a:prstGeom>
          <a:solidFill>
            <a:schemeClr val="bg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PE" dirty="0">
                <a:solidFill>
                  <a:schemeClr val="tx1"/>
                </a:solidFill>
              </a:rPr>
              <a:t>F</a:t>
            </a:r>
          </a:p>
        </p:txBody>
      </p:sp>
      <mc:AlternateContent xmlns:mc="http://schemas.openxmlformats.org/markup-compatibility/2006" xmlns:a14="http://schemas.microsoft.com/office/drawing/2010/main">
        <mc:Choice Requires="a14">
          <p:sp>
            <p:nvSpPr>
              <p:cNvPr id="79" name="CuadroTexto 78">
                <a:extLst>
                  <a:ext uri="{FF2B5EF4-FFF2-40B4-BE49-F238E27FC236}">
                    <a16:creationId xmlns:a16="http://schemas.microsoft.com/office/drawing/2014/main" id="{1611B58B-E093-DCC1-BBD4-29E580E9686F}"/>
                  </a:ext>
                </a:extLst>
              </p:cNvPr>
              <p:cNvSpPr txBox="1"/>
              <p:nvPr/>
            </p:nvSpPr>
            <p:spPr>
              <a:xfrm>
                <a:off x="1787885" y="4549172"/>
                <a:ext cx="604846"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PE" sz="1600" b="1" i="1" smtClean="0">
                          <a:latin typeface="Cambria Math" panose="02040503050406030204" pitchFamily="18" charset="0"/>
                        </a:rPr>
                        <m:t>𝟒</m:t>
                      </m:r>
                      <m:r>
                        <a:rPr lang="es-PE" sz="1600" b="1" i="1" smtClean="0">
                          <a:latin typeface="Cambria Math" panose="02040503050406030204" pitchFamily="18" charset="0"/>
                        </a:rPr>
                        <m:t>.</m:t>
                      </m:r>
                      <m:r>
                        <a:rPr lang="es-PE" sz="1600" b="1" i="1" smtClean="0">
                          <a:latin typeface="Cambria Math" panose="02040503050406030204" pitchFamily="18" charset="0"/>
                        </a:rPr>
                        <m:t>𝟐</m:t>
                      </m:r>
                      <m:r>
                        <a:rPr lang="es-PE" sz="1600" b="1" i="1" smtClean="0">
                          <a:latin typeface="Cambria Math" panose="02040503050406030204" pitchFamily="18" charset="0"/>
                        </a:rPr>
                        <m:t> </m:t>
                      </m:r>
                      <m:r>
                        <a:rPr lang="es-PE" sz="1600" b="1" i="1" smtClean="0">
                          <a:latin typeface="Cambria Math" panose="02040503050406030204" pitchFamily="18" charset="0"/>
                        </a:rPr>
                        <m:t>𝒎</m:t>
                      </m:r>
                    </m:oMath>
                  </m:oMathPara>
                </a14:m>
                <a:endParaRPr lang="es-PE" sz="1600" b="1" i="1" dirty="0"/>
              </a:p>
            </p:txBody>
          </p:sp>
        </mc:Choice>
        <mc:Fallback xmlns="">
          <p:sp>
            <p:nvSpPr>
              <p:cNvPr id="79" name="CuadroTexto 78">
                <a:extLst>
                  <a:ext uri="{FF2B5EF4-FFF2-40B4-BE49-F238E27FC236}">
                    <a16:creationId xmlns:a16="http://schemas.microsoft.com/office/drawing/2014/main" id="{1611B58B-E093-DCC1-BBD4-29E580E9686F}"/>
                  </a:ext>
                </a:extLst>
              </p:cNvPr>
              <p:cNvSpPr txBox="1">
                <a:spLocks noRot="1" noChangeAspect="1" noMove="1" noResize="1" noEditPoints="1" noAdjustHandles="1" noChangeArrowheads="1" noChangeShapeType="1" noTextEdit="1"/>
              </p:cNvSpPr>
              <p:nvPr/>
            </p:nvSpPr>
            <p:spPr>
              <a:xfrm>
                <a:off x="1787885" y="4549172"/>
                <a:ext cx="604846" cy="246221"/>
              </a:xfrm>
              <a:prstGeom prst="rect">
                <a:avLst/>
              </a:prstGeom>
              <a:blipFill>
                <a:blip r:embed="rId12"/>
                <a:stretch>
                  <a:fillRect l="-7000" r="-4000" b="-4878"/>
                </a:stretch>
              </a:blipFill>
            </p:spPr>
            <p:txBody>
              <a:bodyPr/>
              <a:lstStyle/>
              <a:p>
                <a:r>
                  <a:rPr lang="es-PE">
                    <a:noFill/>
                  </a:rPr>
                  <a:t> </a:t>
                </a:r>
              </a:p>
            </p:txBody>
          </p:sp>
        </mc:Fallback>
      </mc:AlternateContent>
    </p:spTree>
    <p:extLst>
      <p:ext uri="{BB962C8B-B14F-4D97-AF65-F5344CB8AC3E}">
        <p14:creationId xmlns:p14="http://schemas.microsoft.com/office/powerpoint/2010/main" val="1515928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4338" name="Picture 2" descr="Somos IC - Instituto Continental">
            <a:extLst>
              <a:ext uri="{FF2B5EF4-FFF2-40B4-BE49-F238E27FC236}">
                <a16:creationId xmlns:a16="http://schemas.microsoft.com/office/drawing/2014/main" id="{D0C5F21D-3A2E-57E8-BEEA-FF1CFA9E826A}"/>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1637780" y="1289910"/>
            <a:ext cx="7791355" cy="37788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7938424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4" name="Picture 6" descr="Solicita Más Información - Escuela Posgrado Universidad Continental">
            <a:extLst>
              <a:ext uri="{FF2B5EF4-FFF2-40B4-BE49-F238E27FC236}">
                <a16:creationId xmlns:a16="http://schemas.microsoft.com/office/drawing/2014/main" id="{A856985D-9CDB-77A4-27B1-A586C2F77FB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47577" y="1517020"/>
            <a:ext cx="5039340" cy="32683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77543458"/>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 2013 - 2022</Template>
  <TotalTime>3182</TotalTime>
  <Words>1069</Words>
  <Application>Microsoft Office PowerPoint</Application>
  <PresentationFormat>Panorámica</PresentationFormat>
  <Paragraphs>211</Paragraphs>
  <Slides>15</Slides>
  <Notes>1</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15</vt:i4>
      </vt:variant>
    </vt:vector>
  </HeadingPairs>
  <TitlesOfParts>
    <vt:vector size="21" baseType="lpstr">
      <vt:lpstr>Arial</vt:lpstr>
      <vt:lpstr>Calibri</vt:lpstr>
      <vt:lpstr>Calibri Light</vt:lpstr>
      <vt:lpstr>Cambria Math</vt:lpstr>
      <vt:lpstr>Century Gothic</vt:lpstr>
      <vt:lpstr>Tema de Office</vt:lpstr>
      <vt:lpstr>Métodos aproximados de cálculo estructural: Método de Muto</vt:lpstr>
      <vt:lpstr>Presentación de PowerPoint</vt:lpstr>
      <vt:lpstr>Generalidades de análisis por el Método de Muto</vt:lpstr>
      <vt:lpstr>Generalidades de análisis por el Método de Muto</vt:lpstr>
      <vt:lpstr>Relaciones para determinar las rigideces por el Método de Muto</vt:lpstr>
      <vt:lpstr>Ejemplo: Determinar la rigidez lateral del pórtico usando el Método Muto</vt:lpstr>
      <vt:lpstr>1° Determinando el módulo de elasticidad </vt:lpstr>
      <vt:lpstr>2° Determinando la rigidez de las columnas, esta pertenece al Caso (a), de las relaciones planteadas por el Método de Muto </vt:lpstr>
      <vt:lpstr>2° Determinando la rigidez de las columnas, esta pertenece al Caso (a), de las relaciones planteadas por el Método de Muto </vt:lpstr>
      <vt:lpstr>2° Determinando la rigidez de las columnas, esta pertenece al Caso (a), de las relaciones planteadas por el Método de Muto </vt:lpstr>
      <vt:lpstr>2° Determinando la rigidez de las columnas, esta pertenece al Caso (a), de las relaciones planteadas por el Método de Muto </vt:lpstr>
      <vt:lpstr>2° Determinando la rigidez de las columnas, esta pertenece al Caso (a), de las relaciones planteadas por el Método de Muto </vt:lpstr>
      <vt:lpstr>2° Determinando la rigidez de las columnas, esta pertenece al Caso (a), de las relaciones planteadas por el Método de Muto </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Resolución de evaluación diagnóstica</dc:title>
  <dc:creator>Alain Elvis Alanoca Aragón</dc:creator>
  <cp:lastModifiedBy>Alain Elvis Alanoca Aragón</cp:lastModifiedBy>
  <cp:revision>9</cp:revision>
  <cp:lastPrinted>2023-08-28T04:21:04Z</cp:lastPrinted>
  <dcterms:created xsi:type="dcterms:W3CDTF">2023-08-14T06:59:41Z</dcterms:created>
  <dcterms:modified xsi:type="dcterms:W3CDTF">2024-01-27T09:07:22Z</dcterms:modified>
</cp:coreProperties>
</file>