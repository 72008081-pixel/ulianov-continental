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71" r:id="rId3"/>
    <p:sldId id="358" r:id="rId4"/>
    <p:sldId id="359" r:id="rId5"/>
    <p:sldId id="344" r:id="rId6"/>
    <p:sldId id="360" r:id="rId7"/>
    <p:sldId id="361" r:id="rId8"/>
    <p:sldId id="362" r:id="rId9"/>
    <p:sldId id="363" r:id="rId10"/>
    <p:sldId id="346" r:id="rId11"/>
    <p:sldId id="351" r:id="rId12"/>
    <p:sldId id="364" r:id="rId13"/>
    <p:sldId id="365" r:id="rId14"/>
    <p:sldId id="366" r:id="rId15"/>
    <p:sldId id="367" r:id="rId16"/>
    <p:sldId id="368" r:id="rId17"/>
    <p:sldId id="369" r:id="rId18"/>
    <p:sldId id="370" r:id="rId19"/>
    <p:sldId id="273" r:id="rId20"/>
    <p:sldId id="256" r:id="rId21"/>
  </p:sldIdLst>
  <p:sldSz cx="12192000" cy="6858000"/>
  <p:notesSz cx="7315200" cy="96012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4" pos="211" userDrawn="1">
          <p15:clr>
            <a:srgbClr val="A4A3A4"/>
          </p15:clr>
        </p15:guide>
        <p15:guide id="5" pos="5428" userDrawn="1">
          <p15:clr>
            <a:srgbClr val="A4A3A4"/>
          </p15:clr>
        </p15:guide>
        <p15:guide id="6" pos="4747" userDrawn="1">
          <p15:clr>
            <a:srgbClr val="A4A3A4"/>
          </p15:clr>
        </p15:guide>
        <p15:guide id="7" pos="5881" userDrawn="1">
          <p15:clr>
            <a:srgbClr val="A4A3A4"/>
          </p15:clr>
        </p15:guide>
        <p15:guide id="8" pos="6108" userDrawn="1">
          <p15:clr>
            <a:srgbClr val="A4A3A4"/>
          </p15:clr>
        </p15:guide>
        <p15:guide id="9" pos="6335" userDrawn="1">
          <p15:clr>
            <a:srgbClr val="A4A3A4"/>
          </p15:clr>
        </p15:guide>
        <p15:guide id="10" pos="6562" userDrawn="1">
          <p15:clr>
            <a:srgbClr val="A4A3A4"/>
          </p15:clr>
        </p15:guide>
        <p15:guide id="11" pos="7469" userDrawn="1">
          <p15:clr>
            <a:srgbClr val="A4A3A4"/>
          </p15:clr>
        </p15:guide>
        <p15:guide id="12" pos="7242" userDrawn="1">
          <p15:clr>
            <a:srgbClr val="A4A3A4"/>
          </p15:clr>
        </p15:guide>
        <p15:guide id="13" pos="7015" userDrawn="1">
          <p15:clr>
            <a:srgbClr val="A4A3A4"/>
          </p15:clr>
        </p15:guide>
        <p15:guide id="14" pos="6788" userDrawn="1">
          <p15:clr>
            <a:srgbClr val="A4A3A4"/>
          </p15:clr>
        </p15:guide>
        <p15:guide id="15" pos="4974" userDrawn="1">
          <p15:clr>
            <a:srgbClr val="A4A3A4"/>
          </p15:clr>
        </p15:guide>
        <p15:guide id="16" pos="5654" userDrawn="1">
          <p15:clr>
            <a:srgbClr val="A4A3A4"/>
          </p15:clr>
        </p15:guide>
        <p15:guide id="17" pos="5201" userDrawn="1">
          <p15:clr>
            <a:srgbClr val="A4A3A4"/>
          </p15:clr>
        </p15:guide>
        <p15:guide id="18" pos="665" userDrawn="1">
          <p15:clr>
            <a:srgbClr val="A4A3A4"/>
          </p15:clr>
        </p15:guide>
        <p15:guide id="19" pos="4520" userDrawn="1">
          <p15:clr>
            <a:srgbClr val="A4A3A4"/>
          </p15:clr>
        </p15:guide>
        <p15:guide id="20" pos="4294" userDrawn="1">
          <p15:clr>
            <a:srgbClr val="A4A3A4"/>
          </p15:clr>
        </p15:guide>
        <p15:guide id="21" pos="4067" userDrawn="1">
          <p15:clr>
            <a:srgbClr val="A4A3A4"/>
          </p15:clr>
        </p15:guide>
        <p15:guide id="22" pos="3613" userDrawn="1">
          <p15:clr>
            <a:srgbClr val="A4A3A4"/>
          </p15:clr>
        </p15:guide>
        <p15:guide id="23" pos="3386" userDrawn="1">
          <p15:clr>
            <a:srgbClr val="A4A3A4"/>
          </p15:clr>
        </p15:guide>
        <p15:guide id="24" pos="3160" userDrawn="1">
          <p15:clr>
            <a:srgbClr val="A4A3A4"/>
          </p15:clr>
        </p15:guide>
        <p15:guide id="25" pos="2933" userDrawn="1">
          <p15:clr>
            <a:srgbClr val="A4A3A4"/>
          </p15:clr>
        </p15:guide>
        <p15:guide id="26" pos="2706" userDrawn="1">
          <p15:clr>
            <a:srgbClr val="A4A3A4"/>
          </p15:clr>
        </p15:guide>
        <p15:guide id="27" pos="2479" userDrawn="1">
          <p15:clr>
            <a:srgbClr val="A4A3A4"/>
          </p15:clr>
        </p15:guide>
        <p15:guide id="28" pos="2252" userDrawn="1">
          <p15:clr>
            <a:srgbClr val="A4A3A4"/>
          </p15:clr>
        </p15:guide>
        <p15:guide id="29" pos="2026" userDrawn="1">
          <p15:clr>
            <a:srgbClr val="A4A3A4"/>
          </p15:clr>
        </p15:guide>
        <p15:guide id="30" pos="1799" userDrawn="1">
          <p15:clr>
            <a:srgbClr val="A4A3A4"/>
          </p15:clr>
        </p15:guide>
        <p15:guide id="31" pos="1572" userDrawn="1">
          <p15:clr>
            <a:srgbClr val="A4A3A4"/>
          </p15:clr>
        </p15:guide>
        <p15:guide id="32" pos="1345" userDrawn="1">
          <p15:clr>
            <a:srgbClr val="A4A3A4"/>
          </p15:clr>
        </p15:guide>
        <p15:guide id="33" pos="1118" userDrawn="1">
          <p15:clr>
            <a:srgbClr val="A4A3A4"/>
          </p15:clr>
        </p15:guide>
        <p15:guide id="34" pos="892" userDrawn="1">
          <p15:clr>
            <a:srgbClr val="A4A3A4"/>
          </p15:clr>
        </p15:guide>
        <p15:guide id="35" pos="438" userDrawn="1">
          <p15:clr>
            <a:srgbClr val="A4A3A4"/>
          </p15:clr>
        </p15:guide>
        <p15:guide id="36" orient="horz" pos="5" userDrawn="1">
          <p15:clr>
            <a:srgbClr val="A4A3A4"/>
          </p15:clr>
        </p15:guide>
        <p15:guide id="37" orient="horz" pos="2614" userDrawn="1">
          <p15:clr>
            <a:srgbClr val="A4A3A4"/>
          </p15:clr>
        </p15:guide>
        <p15:guide id="38" orient="horz" pos="346" userDrawn="1">
          <p15:clr>
            <a:srgbClr val="A4A3A4"/>
          </p15:clr>
        </p15:guide>
        <p15:guide id="39" orient="horz" pos="572" userDrawn="1">
          <p15:clr>
            <a:srgbClr val="A4A3A4"/>
          </p15:clr>
        </p15:guide>
        <p15:guide id="40" orient="horz" pos="799" userDrawn="1">
          <p15:clr>
            <a:srgbClr val="A4A3A4"/>
          </p15:clr>
        </p15:guide>
        <p15:guide id="41" orient="horz" pos="1026" userDrawn="1">
          <p15:clr>
            <a:srgbClr val="A4A3A4"/>
          </p15:clr>
        </p15:guide>
        <p15:guide id="42" orient="horz" pos="1253" userDrawn="1">
          <p15:clr>
            <a:srgbClr val="A4A3A4"/>
          </p15:clr>
        </p15:guide>
        <p15:guide id="43" orient="horz" pos="1480" userDrawn="1">
          <p15:clr>
            <a:srgbClr val="A4A3A4"/>
          </p15:clr>
        </p15:guide>
        <p15:guide id="44" orient="horz" pos="1706" userDrawn="1">
          <p15:clr>
            <a:srgbClr val="A4A3A4"/>
          </p15:clr>
        </p15:guide>
        <p15:guide id="45" orient="horz" pos="1933" userDrawn="1">
          <p15:clr>
            <a:srgbClr val="A4A3A4"/>
          </p15:clr>
        </p15:guide>
        <p15:guide id="46" orient="horz" pos="2387" userDrawn="1">
          <p15:clr>
            <a:srgbClr val="A4A3A4"/>
          </p15:clr>
        </p15:guide>
        <p15:guide id="47" orient="horz" pos="2840" userDrawn="1">
          <p15:clr>
            <a:srgbClr val="A4A3A4"/>
          </p15:clr>
        </p15:guide>
        <p15:guide id="48" orient="horz" pos="3067" userDrawn="1">
          <p15:clr>
            <a:srgbClr val="A4A3A4"/>
          </p15:clr>
        </p15:guide>
        <p15:guide id="49" orient="horz" pos="3294" userDrawn="1">
          <p15:clr>
            <a:srgbClr val="A4A3A4"/>
          </p15:clr>
        </p15:guide>
        <p15:guide id="50" orient="horz" pos="3521" userDrawn="1">
          <p15:clr>
            <a:srgbClr val="A4A3A4"/>
          </p15:clr>
        </p15:guide>
        <p15:guide id="51" orient="horz" pos="3748" userDrawn="1">
          <p15:clr>
            <a:srgbClr val="A4A3A4"/>
          </p15:clr>
        </p15:guide>
        <p15:guide id="52" orient="horz" pos="3974" userDrawn="1">
          <p15:clr>
            <a:srgbClr val="A4A3A4"/>
          </p15:clr>
        </p15:guide>
        <p15:guide id="53" orient="horz" pos="42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79A152-663B-41DD-A646-3EC2E2D93136}" v="699" dt="2024-01-27T11:08:23.7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howGuides="1">
      <p:cViewPr varScale="1">
        <p:scale>
          <a:sx n="79" d="100"/>
          <a:sy n="79" d="100"/>
        </p:scale>
        <p:origin x="773" y="211"/>
      </p:cViewPr>
      <p:guideLst>
        <p:guide orient="horz" pos="119"/>
        <p:guide pos="3840"/>
        <p:guide pos="211"/>
        <p:guide pos="5428"/>
        <p:guide pos="4747"/>
        <p:guide pos="5881"/>
        <p:guide pos="6108"/>
        <p:guide pos="6335"/>
        <p:guide pos="6562"/>
        <p:guide pos="7469"/>
        <p:guide pos="7242"/>
        <p:guide pos="7015"/>
        <p:guide pos="6788"/>
        <p:guide pos="4974"/>
        <p:guide pos="5654"/>
        <p:guide pos="5201"/>
        <p:guide pos="665"/>
        <p:guide pos="4520"/>
        <p:guide pos="4294"/>
        <p:guide pos="4067"/>
        <p:guide pos="3613"/>
        <p:guide pos="3386"/>
        <p:guide pos="3160"/>
        <p:guide pos="2933"/>
        <p:guide pos="2706"/>
        <p:guide pos="2479"/>
        <p:guide pos="2252"/>
        <p:guide pos="2026"/>
        <p:guide pos="1799"/>
        <p:guide pos="1572"/>
        <p:guide pos="1345"/>
        <p:guide pos="1118"/>
        <p:guide pos="892"/>
        <p:guide pos="438"/>
        <p:guide orient="horz" pos="5"/>
        <p:guide orient="horz" pos="2614"/>
        <p:guide orient="horz" pos="346"/>
        <p:guide orient="horz" pos="572"/>
        <p:guide orient="horz" pos="799"/>
        <p:guide orient="horz" pos="1026"/>
        <p:guide orient="horz" pos="1253"/>
        <p:guide orient="horz" pos="1480"/>
        <p:guide orient="horz" pos="1706"/>
        <p:guide orient="horz" pos="1933"/>
        <p:guide orient="horz" pos="2387"/>
        <p:guide orient="horz" pos="2840"/>
        <p:guide orient="horz" pos="3067"/>
        <p:guide orient="horz" pos="3294"/>
        <p:guide orient="horz" pos="3521"/>
        <p:guide orient="horz" pos="3748"/>
        <p:guide orient="horz" pos="3974"/>
        <p:guide orient="horz" pos="420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1727"/>
          </a:xfrm>
          <a:prstGeom prst="rect">
            <a:avLst/>
          </a:prstGeom>
        </p:spPr>
        <p:txBody>
          <a:bodyPr vert="horz" lIns="95655" tIns="47828" rIns="95655" bIns="47828" rtlCol="0"/>
          <a:lstStyle>
            <a:lvl1pPr algn="l">
              <a:defRPr sz="13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143587" y="1"/>
            <a:ext cx="3169920" cy="481727"/>
          </a:xfrm>
          <a:prstGeom prst="rect">
            <a:avLst/>
          </a:prstGeom>
        </p:spPr>
        <p:txBody>
          <a:bodyPr vert="horz" lIns="95655" tIns="47828" rIns="95655" bIns="47828" rtlCol="0"/>
          <a:lstStyle>
            <a:lvl1pPr algn="r">
              <a:defRPr sz="1300"/>
            </a:lvl1pPr>
          </a:lstStyle>
          <a:p>
            <a:fld id="{8F9F2EB7-7EC7-4FCB-83E2-4677445F6DE8}" type="datetimeFigureOut">
              <a:rPr lang="es-PE" smtClean="0"/>
              <a:t>9/09/2024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655" tIns="47828" rIns="95655" bIns="47828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2"/>
          </a:xfrm>
          <a:prstGeom prst="rect">
            <a:avLst/>
          </a:prstGeom>
        </p:spPr>
        <p:txBody>
          <a:bodyPr vert="horz" lIns="95655" tIns="47828" rIns="95655" bIns="47828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1726"/>
          </a:xfrm>
          <a:prstGeom prst="rect">
            <a:avLst/>
          </a:prstGeom>
        </p:spPr>
        <p:txBody>
          <a:bodyPr vert="horz" lIns="95655" tIns="47828" rIns="95655" bIns="47828" rtlCol="0" anchor="b"/>
          <a:lstStyle>
            <a:lvl1pPr algn="l">
              <a:defRPr sz="13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143587" y="9119475"/>
            <a:ext cx="3169920" cy="481726"/>
          </a:xfrm>
          <a:prstGeom prst="rect">
            <a:avLst/>
          </a:prstGeom>
        </p:spPr>
        <p:txBody>
          <a:bodyPr vert="horz" lIns="95655" tIns="47828" rIns="95655" bIns="47828" rtlCol="0" anchor="b"/>
          <a:lstStyle>
            <a:lvl1pPr algn="r">
              <a:defRPr sz="1300"/>
            </a:lvl1pPr>
          </a:lstStyle>
          <a:p>
            <a:fld id="{199CD500-B539-4C30-9544-63E73D17B3C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39187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DF6D55-E685-5045-81EF-E560A26E1A2E}" type="slidenum">
              <a:rPr lang="es-ES_tradnl" smtClean="0"/>
              <a:t>1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428431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2E0F8551-E8AB-22F0-9C91-5444710AF087}"/>
              </a:ext>
            </a:extLst>
          </p:cNvPr>
          <p:cNvSpPr/>
          <p:nvPr userDrawn="1"/>
        </p:nvSpPr>
        <p:spPr>
          <a:xfrm>
            <a:off x="1" y="0"/>
            <a:ext cx="12191999" cy="60007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979A041-06B6-39B8-7620-0A683B76D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FEF9CB-1080-4171-A6E0-3C483967D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536410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61DE21-5E74-2630-8537-8F43F1F93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16E5ED-550B-AD90-7976-E71159B30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47F2F20-FB0D-A164-9283-E033423C4832}"/>
              </a:ext>
            </a:extLst>
          </p:cNvPr>
          <p:cNvCxnSpPr>
            <a:cxnSpLocks/>
          </p:cNvCxnSpPr>
          <p:nvPr userDrawn="1"/>
        </p:nvCxnSpPr>
        <p:spPr>
          <a:xfrm>
            <a:off x="838200" y="1747838"/>
            <a:ext cx="10515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5124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AA8BBB-F571-DBB7-599A-80BCA28EE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37F1619-0393-268B-FA68-660877FF6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223317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050B6-B9DB-D06D-3E9A-6F867C7A6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E07955-5649-5E79-BB53-3597AEE3A0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AD9898-DDD9-B3DB-DE69-8365D6C28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74100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421DE6-4B87-65F7-9F25-ECC6BBD37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CAAD6BA-9F2F-D96A-6ACF-5BA8F8495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719DC5-4712-ED49-1000-3E4804AC30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C83D0DD-2A96-A712-4F32-16255C8180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34F14AA-9B2C-1135-8D86-2DD94E1091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34729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A64DF6-C7DC-E63F-FA64-714490468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3305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1580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29724B-2DAE-FBC4-308B-752194542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E257AD-2B79-8F51-13AB-CFC28B98D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FA6A07C-DB6A-CA29-B615-E9958C36F7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763490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41048B-80DA-3BB5-6A58-560522352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D92FEB4-2E00-4023-538B-30A5921BEF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4233CF5-B6B4-10E4-478C-6DDB9A5BF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716202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F1C037-CF07-6EDE-5256-F107A1301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63734DB-7F38-40C2-DB07-056D9F4AA9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010452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7123563-8A2E-E7C1-DFA6-CB09318F59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D9FDEA-5F7A-CB4B-4948-5699F2A9D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71998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414CD5C-D3B7-1E9F-C66A-18DE20BF1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672C051-8D8B-69DD-E8F6-57E8B88F6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BA48894-C322-ABC8-4D7E-DDA280DC9EF4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63352" y="6492875"/>
            <a:ext cx="1504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690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24.png"/><Relationship Id="rId5" Type="http://schemas.openxmlformats.org/officeDocument/2006/relationships/image" Target="../media/image36.png"/><Relationship Id="rId10" Type="http://schemas.openxmlformats.org/officeDocument/2006/relationships/image" Target="../media/image23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35.png"/><Relationship Id="rId7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29.png"/><Relationship Id="rId5" Type="http://schemas.openxmlformats.org/officeDocument/2006/relationships/image" Target="../media/image36.png"/><Relationship Id="rId10" Type="http://schemas.openxmlformats.org/officeDocument/2006/relationships/image" Target="../media/image28.png"/><Relationship Id="rId4" Type="http://schemas.openxmlformats.org/officeDocument/2006/relationships/image" Target="../media/image34.png"/><Relationship Id="rId9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47.png"/><Relationship Id="rId3" Type="http://schemas.openxmlformats.org/officeDocument/2006/relationships/image" Target="../media/image30.png"/><Relationship Id="rId7" Type="http://schemas.openxmlformats.org/officeDocument/2006/relationships/image" Target="../media/image43.png"/><Relationship Id="rId12" Type="http://schemas.openxmlformats.org/officeDocument/2006/relationships/image" Target="../media/image4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5.png"/><Relationship Id="rId5" Type="http://schemas.openxmlformats.org/officeDocument/2006/relationships/image" Target="../media/image32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image" Target="../media/image31.png"/><Relationship Id="rId9" Type="http://schemas.openxmlformats.org/officeDocument/2006/relationships/image" Target="../media/image27.png"/><Relationship Id="rId1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3" Type="http://schemas.openxmlformats.org/officeDocument/2006/relationships/image" Target="../media/image31.png"/><Relationship Id="rId7" Type="http://schemas.openxmlformats.org/officeDocument/2006/relationships/image" Target="../media/image26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" Type="http://schemas.openxmlformats.org/officeDocument/2006/relationships/image" Target="../media/image30.png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52.png"/><Relationship Id="rId5" Type="http://schemas.openxmlformats.org/officeDocument/2006/relationships/image" Target="../media/image41.png"/><Relationship Id="rId15" Type="http://schemas.openxmlformats.org/officeDocument/2006/relationships/image" Target="../media/image56.png"/><Relationship Id="rId10" Type="http://schemas.openxmlformats.org/officeDocument/2006/relationships/image" Target="../media/image51.png"/><Relationship Id="rId19" Type="http://schemas.openxmlformats.org/officeDocument/2006/relationships/image" Target="../media/image60.png"/><Relationship Id="rId4" Type="http://schemas.openxmlformats.org/officeDocument/2006/relationships/image" Target="../media/image32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62.png"/><Relationship Id="rId7" Type="http://schemas.openxmlformats.org/officeDocument/2006/relationships/image" Target="../media/image5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2.png"/><Relationship Id="rId7" Type="http://schemas.openxmlformats.org/officeDocument/2006/relationships/image" Target="../media/image64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54.png"/><Relationship Id="rId10" Type="http://schemas.openxmlformats.org/officeDocument/2006/relationships/image" Target="../media/image67.png"/><Relationship Id="rId4" Type="http://schemas.openxmlformats.org/officeDocument/2006/relationships/image" Target="../media/image53.png"/><Relationship Id="rId9" Type="http://schemas.openxmlformats.org/officeDocument/2006/relationships/image" Target="../media/image6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2.png"/><Relationship Id="rId7" Type="http://schemas.openxmlformats.org/officeDocument/2006/relationships/image" Target="../media/image64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54.png"/><Relationship Id="rId10" Type="http://schemas.openxmlformats.org/officeDocument/2006/relationships/image" Target="../media/image67.png"/><Relationship Id="rId4" Type="http://schemas.openxmlformats.org/officeDocument/2006/relationships/image" Target="../media/image53.png"/><Relationship Id="rId9" Type="http://schemas.openxmlformats.org/officeDocument/2006/relationships/image" Target="../media/image6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70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2.png"/><Relationship Id="rId7" Type="http://schemas.openxmlformats.org/officeDocument/2006/relationships/image" Target="../media/image7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15788" y="2579391"/>
            <a:ext cx="10560424" cy="1842526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r>
              <a:rPr lang="es-ES" sz="4800" b="1" dirty="0">
                <a:latin typeface="Century Gothic" charset="0"/>
                <a:ea typeface="Century Gothic" charset="0"/>
                <a:cs typeface="Century Gothic" charset="0"/>
              </a:rPr>
              <a:t>Métodos aproximados de cálculo estructural: Método del Portal</a:t>
            </a:r>
            <a:endParaRPr lang="es-ES_tradnl" sz="4800" dirty="0"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246901" y="4724459"/>
            <a:ext cx="10560424" cy="719050"/>
          </a:xfrm>
          <a:solidFill>
            <a:schemeClr val="tx1"/>
          </a:solidFill>
        </p:spPr>
        <p:txBody>
          <a:bodyPr>
            <a:normAutofit fontScale="85000" lnSpcReduction="20000"/>
          </a:bodyPr>
          <a:lstStyle/>
          <a:p>
            <a:pPr algn="r"/>
            <a:r>
              <a:rPr lang="es-ES" sz="2600" dirty="0">
                <a:solidFill>
                  <a:schemeClr val="bg1">
                    <a:lumMod val="75000"/>
                  </a:schemeClr>
                </a:solidFill>
                <a:latin typeface="Century Gothic" charset="0"/>
                <a:ea typeface="Century Gothic" charset="0"/>
                <a:cs typeface="Century Gothic" charset="0"/>
              </a:rPr>
              <a:t>Análisis Estructural II</a:t>
            </a:r>
          </a:p>
          <a:p>
            <a:pPr algn="r"/>
            <a:r>
              <a:rPr lang="es-ES" sz="2600" dirty="0">
                <a:solidFill>
                  <a:schemeClr val="bg1">
                    <a:lumMod val="75000"/>
                  </a:schemeClr>
                </a:solidFill>
                <a:latin typeface="Century Gothic" charset="0"/>
                <a:ea typeface="Century Gothic" charset="0"/>
                <a:cs typeface="Century Gothic" charset="0"/>
              </a:rPr>
              <a:t>Ing° Alaín Elvis Alanoca Aragón</a:t>
            </a:r>
          </a:p>
          <a:p>
            <a:endParaRPr lang="es-ES_tradnl" dirty="0">
              <a:latin typeface="Century Gothic" charset="0"/>
              <a:ea typeface="Century Gothic" charset="0"/>
              <a:cs typeface="Century 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704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0636ED9-A587-4E08-845C-8F78B36D1894}"/>
              </a:ext>
            </a:extLst>
          </p:cNvPr>
          <p:cNvSpPr txBox="1"/>
          <p:nvPr/>
        </p:nvSpPr>
        <p:spPr>
          <a:xfrm>
            <a:off x="1792224" y="560832"/>
            <a:ext cx="24753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b="1" dirty="0">
                <a:latin typeface="Century Gothic" panose="020B0502020202020204" pitchFamily="34" charset="0"/>
              </a:rPr>
              <a:t>Propósito</a:t>
            </a:r>
            <a:endParaRPr lang="es-PE" sz="4000" b="1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0DA2B63-B3D3-45E3-8599-3962FEEF0244}"/>
              </a:ext>
            </a:extLst>
          </p:cNvPr>
          <p:cNvSpPr txBox="1"/>
          <p:nvPr/>
        </p:nvSpPr>
        <p:spPr>
          <a:xfrm>
            <a:off x="597408" y="2387084"/>
            <a:ext cx="109971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3200" dirty="0">
                <a:latin typeface="Century Gothic" panose="020B0502020202020204" pitchFamily="34" charset="0"/>
              </a:rPr>
              <a:t>Conocer el procedimiento de análisis estructural de pórticos en el plano bajo el efecto de cargas laterales por el Método del Portal.</a:t>
            </a:r>
          </a:p>
        </p:txBody>
      </p:sp>
    </p:spTree>
    <p:extLst>
      <p:ext uri="{BB962C8B-B14F-4D97-AF65-F5344CB8AC3E}">
        <p14:creationId xmlns:p14="http://schemas.microsoft.com/office/powerpoint/2010/main" val="927736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D4B30-9B7A-4FF3-9506-6E2F889CB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Puntos de inflexión de momentos por el Método del Portal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6F64EEF-B30C-28CE-9B83-26A70C7AF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960" y="1989138"/>
            <a:ext cx="3922629" cy="413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653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D4B30-9B7A-4FF3-9506-6E2F889CB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Procedimiento de cálculo del Método del Portal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0914ED9-993F-338F-37C8-725FD3F32826}"/>
              </a:ext>
            </a:extLst>
          </p:cNvPr>
          <p:cNvSpPr txBox="1"/>
          <p:nvPr/>
        </p:nvSpPr>
        <p:spPr>
          <a:xfrm>
            <a:off x="838200" y="2001408"/>
            <a:ext cx="10154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dirty="0"/>
              <a:t>1° Determinar los puntos de inflexión de las columnas, según la siguiente figura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EB7D2B1-4FD7-6846-91C2-B6CC02D07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635" y="2389226"/>
            <a:ext cx="3922629" cy="413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712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D4B30-9B7A-4FF3-9506-6E2F889CB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Procedimiento de cálculo del Método del Portal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0914ED9-993F-338F-37C8-725FD3F32826}"/>
              </a:ext>
            </a:extLst>
          </p:cNvPr>
          <p:cNvSpPr txBox="1"/>
          <p:nvPr/>
        </p:nvSpPr>
        <p:spPr>
          <a:xfrm>
            <a:off x="838200" y="2001408"/>
            <a:ext cx="101543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dirty="0"/>
              <a:t>2° Determinar la cortante que absorbe cada columna, considerando que las columnas internas asumen 1.5 veces más que las externas, como se muestra en la siguiente figura: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91FC643-151F-8FA3-AAEA-5DC0D1CABB8F}"/>
              </a:ext>
            </a:extLst>
          </p:cNvPr>
          <p:cNvSpPr/>
          <p:nvPr/>
        </p:nvSpPr>
        <p:spPr>
          <a:xfrm>
            <a:off x="1109601" y="3650864"/>
            <a:ext cx="72000" cy="219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EADB4F6B-A47F-98C5-9E60-EC7FEBCD3A4D}"/>
              </a:ext>
            </a:extLst>
          </p:cNvPr>
          <p:cNvCxnSpPr>
            <a:cxnSpLocks/>
          </p:cNvCxnSpPr>
          <p:nvPr/>
        </p:nvCxnSpPr>
        <p:spPr>
          <a:xfrm>
            <a:off x="819252" y="3613946"/>
            <a:ext cx="5511595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AB796092-C43D-352D-887A-1D6C9D76A3C6}"/>
                  </a:ext>
                </a:extLst>
              </p:cNvPr>
              <p:cNvSpPr txBox="1"/>
              <p:nvPr/>
            </p:nvSpPr>
            <p:spPr>
              <a:xfrm>
                <a:off x="3195921" y="3200401"/>
                <a:ext cx="29495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es-PE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AB796092-C43D-352D-887A-1D6C9D76A3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921" y="3200401"/>
                <a:ext cx="294953" cy="369332"/>
              </a:xfrm>
              <a:prstGeom prst="rect">
                <a:avLst/>
              </a:prstGeom>
              <a:blipFill>
                <a:blip r:embed="rId2"/>
                <a:stretch>
                  <a:fillRect l="-32653" r="-32653" b="-27869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ángulo 3">
            <a:extLst>
              <a:ext uri="{FF2B5EF4-FFF2-40B4-BE49-F238E27FC236}">
                <a16:creationId xmlns:a16="http://schemas.microsoft.com/office/drawing/2014/main" id="{218EB50D-093D-5541-3D63-600DC8D6B33D}"/>
              </a:ext>
            </a:extLst>
          </p:cNvPr>
          <p:cNvSpPr/>
          <p:nvPr/>
        </p:nvSpPr>
        <p:spPr>
          <a:xfrm>
            <a:off x="5791139" y="3650863"/>
            <a:ext cx="72000" cy="219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D02E501-52BC-51D7-1524-815746223ABA}"/>
              </a:ext>
            </a:extLst>
          </p:cNvPr>
          <p:cNvSpPr/>
          <p:nvPr/>
        </p:nvSpPr>
        <p:spPr>
          <a:xfrm>
            <a:off x="4351276" y="3667777"/>
            <a:ext cx="72000" cy="219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98CF589-4D5A-15B7-6CB4-9C5A6C45340D}"/>
              </a:ext>
            </a:extLst>
          </p:cNvPr>
          <p:cNvSpPr/>
          <p:nvPr/>
        </p:nvSpPr>
        <p:spPr>
          <a:xfrm>
            <a:off x="2558308" y="3667777"/>
            <a:ext cx="72000" cy="219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EF95DD71-2BA7-3A33-CB34-2EAB52F74695}"/>
                  </a:ext>
                </a:extLst>
              </p:cNvPr>
              <p:cNvSpPr txBox="1"/>
              <p:nvPr/>
            </p:nvSpPr>
            <p:spPr>
              <a:xfrm>
                <a:off x="1290089" y="4625152"/>
                <a:ext cx="2693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𝑽</m:t>
                      </m:r>
                    </m:oMath>
                  </m:oMathPara>
                </a14:m>
                <a:endParaRPr lang="es-PE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EF95DD71-2BA7-3A33-CB34-2EAB52F74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0089" y="4625152"/>
                <a:ext cx="269304" cy="369332"/>
              </a:xfrm>
              <a:prstGeom prst="rect">
                <a:avLst/>
              </a:prstGeom>
              <a:blipFill>
                <a:blip r:embed="rId3"/>
                <a:stretch>
                  <a:fillRect l="-27273" r="-25000" b="-666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35156485-83F4-1239-56C4-462DDB1AE8C4}"/>
                  </a:ext>
                </a:extLst>
              </p:cNvPr>
              <p:cNvSpPr txBox="1"/>
              <p:nvPr/>
            </p:nvSpPr>
            <p:spPr>
              <a:xfrm>
                <a:off x="2811174" y="4625152"/>
                <a:ext cx="7518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PE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s-PE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𝑽</m:t>
                      </m:r>
                    </m:oMath>
                  </m:oMathPara>
                </a14:m>
                <a:endParaRPr lang="es-PE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35156485-83F4-1239-56C4-462DDB1AE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1174" y="4625152"/>
                <a:ext cx="751809" cy="369332"/>
              </a:xfrm>
              <a:prstGeom prst="rect">
                <a:avLst/>
              </a:prstGeom>
              <a:blipFill>
                <a:blip r:embed="rId4"/>
                <a:stretch>
                  <a:fillRect l="-8943" r="-10569" b="-8333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3FB6292F-09D5-095E-FA5F-99E96FB4A743}"/>
                  </a:ext>
                </a:extLst>
              </p:cNvPr>
              <p:cNvSpPr txBox="1"/>
              <p:nvPr/>
            </p:nvSpPr>
            <p:spPr>
              <a:xfrm>
                <a:off x="4532142" y="4625152"/>
                <a:ext cx="7518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PE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s-PE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𝑽</m:t>
                      </m:r>
                    </m:oMath>
                  </m:oMathPara>
                </a14:m>
                <a:endParaRPr lang="es-PE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3FB6292F-09D5-095E-FA5F-99E96FB4A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2142" y="4625152"/>
                <a:ext cx="751809" cy="369332"/>
              </a:xfrm>
              <a:prstGeom prst="rect">
                <a:avLst/>
              </a:prstGeom>
              <a:blipFill>
                <a:blip r:embed="rId5"/>
                <a:stretch>
                  <a:fillRect l="-8871" r="-9677" b="-8333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216C1F5B-0C92-1CD4-35D8-E5DF512C0A31}"/>
                  </a:ext>
                </a:extLst>
              </p:cNvPr>
              <p:cNvSpPr txBox="1"/>
              <p:nvPr/>
            </p:nvSpPr>
            <p:spPr>
              <a:xfrm>
                <a:off x="5916453" y="4610364"/>
                <a:ext cx="2693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𝑽</m:t>
                      </m:r>
                    </m:oMath>
                  </m:oMathPara>
                </a14:m>
                <a:endParaRPr lang="es-PE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216C1F5B-0C92-1CD4-35D8-E5DF512C0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6453" y="4610364"/>
                <a:ext cx="269304" cy="369332"/>
              </a:xfrm>
              <a:prstGeom prst="rect">
                <a:avLst/>
              </a:prstGeom>
              <a:blipFill>
                <a:blip r:embed="rId6"/>
                <a:stretch>
                  <a:fillRect l="-27273" r="-25000" b="-655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3972235C-6EE1-981A-7F9D-3708537F07A6}"/>
              </a:ext>
            </a:extLst>
          </p:cNvPr>
          <p:cNvCxnSpPr/>
          <p:nvPr/>
        </p:nvCxnSpPr>
        <p:spPr>
          <a:xfrm flipH="1">
            <a:off x="876818" y="4610364"/>
            <a:ext cx="62914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E7D8C5FC-3829-959B-14FE-64094076D089}"/>
              </a:ext>
            </a:extLst>
          </p:cNvPr>
          <p:cNvCxnSpPr/>
          <p:nvPr/>
        </p:nvCxnSpPr>
        <p:spPr>
          <a:xfrm flipH="1">
            <a:off x="2243735" y="4610364"/>
            <a:ext cx="62914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78057274-8307-BC8C-A584-07767845FA03}"/>
              </a:ext>
            </a:extLst>
          </p:cNvPr>
          <p:cNvCxnSpPr/>
          <p:nvPr/>
        </p:nvCxnSpPr>
        <p:spPr>
          <a:xfrm flipH="1">
            <a:off x="4072703" y="4625152"/>
            <a:ext cx="62914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7162668F-C550-9D12-C793-44ED5E85BDA2}"/>
              </a:ext>
            </a:extLst>
          </p:cNvPr>
          <p:cNvCxnSpPr/>
          <p:nvPr/>
        </p:nvCxnSpPr>
        <p:spPr>
          <a:xfrm flipH="1">
            <a:off x="5470959" y="4597989"/>
            <a:ext cx="62914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17A9086D-2525-D0F1-D20D-D341736A6487}"/>
                  </a:ext>
                </a:extLst>
              </p:cNvPr>
              <p:cNvSpPr txBox="1"/>
              <p:nvPr/>
            </p:nvSpPr>
            <p:spPr>
              <a:xfrm>
                <a:off x="7186520" y="4177978"/>
                <a:ext cx="1415259" cy="8943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PE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nary>
                    </m:oMath>
                  </m:oMathPara>
                </a14:m>
                <a:endParaRPr lang="es-PE" sz="2400" dirty="0"/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17A9086D-2525-D0F1-D20D-D341736A64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6520" y="4177978"/>
                <a:ext cx="1415259" cy="89434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5668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D4B30-9B7A-4FF3-9506-6E2F889CB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Procedimiento de cálculo del Método del Portal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0914ED9-993F-338F-37C8-725FD3F32826}"/>
              </a:ext>
            </a:extLst>
          </p:cNvPr>
          <p:cNvSpPr txBox="1"/>
          <p:nvPr/>
        </p:nvSpPr>
        <p:spPr>
          <a:xfrm>
            <a:off x="838200" y="2001408"/>
            <a:ext cx="10154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dirty="0"/>
              <a:t>3° Determinar los momentos en la cabeza y el pie de la columna, según el detalle de la siguiente figura: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91FC643-151F-8FA3-AAEA-5DC0D1CABB8F}"/>
              </a:ext>
            </a:extLst>
          </p:cNvPr>
          <p:cNvSpPr/>
          <p:nvPr/>
        </p:nvSpPr>
        <p:spPr>
          <a:xfrm>
            <a:off x="2791444" y="3423112"/>
            <a:ext cx="72000" cy="219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EF95DD71-2BA7-3A33-CB34-2EAB52F74695}"/>
                  </a:ext>
                </a:extLst>
              </p:cNvPr>
              <p:cNvSpPr txBox="1"/>
              <p:nvPr/>
            </p:nvSpPr>
            <p:spPr>
              <a:xfrm>
                <a:off x="2227809" y="4168440"/>
                <a:ext cx="2693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𝑽</m:t>
                      </m:r>
                    </m:oMath>
                  </m:oMathPara>
                </a14:m>
                <a:endParaRPr lang="es-PE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EF95DD71-2BA7-3A33-CB34-2EAB52F74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7809" y="4168440"/>
                <a:ext cx="269304" cy="369332"/>
              </a:xfrm>
              <a:prstGeom prst="rect">
                <a:avLst/>
              </a:prstGeom>
              <a:blipFill>
                <a:blip r:embed="rId2"/>
                <a:stretch>
                  <a:fillRect l="-24444" r="-24444" b="-666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3972235C-6EE1-981A-7F9D-3708537F07A6}"/>
              </a:ext>
            </a:extLst>
          </p:cNvPr>
          <p:cNvCxnSpPr/>
          <p:nvPr/>
        </p:nvCxnSpPr>
        <p:spPr>
          <a:xfrm flipH="1">
            <a:off x="2548871" y="4250789"/>
            <a:ext cx="62914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80E97772-AA9F-FC31-D3A9-D21B992CE382}"/>
              </a:ext>
            </a:extLst>
          </p:cNvPr>
          <p:cNvCxnSpPr>
            <a:cxnSpLocks/>
          </p:cNvCxnSpPr>
          <p:nvPr/>
        </p:nvCxnSpPr>
        <p:spPr>
          <a:xfrm rot="10800000" flipH="1">
            <a:off x="2595224" y="4521112"/>
            <a:ext cx="62914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1BB88AD0-9F43-6D41-19E0-57D62CDA9503}"/>
                  </a:ext>
                </a:extLst>
              </p:cNvPr>
              <p:cNvSpPr txBox="1"/>
              <p:nvPr/>
            </p:nvSpPr>
            <p:spPr>
              <a:xfrm>
                <a:off x="2981117" y="5387960"/>
                <a:ext cx="14600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s-PE"/>
                </a:defPPr>
                <a:lvl1pPr>
                  <a:defRPr sz="2000" b="1" i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1BB88AD0-9F43-6D41-19E0-57D62CDA9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1117" y="5387960"/>
                <a:ext cx="146001" cy="307777"/>
              </a:xfrm>
              <a:prstGeom prst="rect">
                <a:avLst/>
              </a:prstGeom>
              <a:blipFill>
                <a:blip r:embed="rId3"/>
                <a:stretch>
                  <a:fillRect l="-37500" r="-37500" b="-100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6D9FA712-F218-2B56-FB15-027EE3A5C229}"/>
                  </a:ext>
                </a:extLst>
              </p:cNvPr>
              <p:cNvSpPr txBox="1"/>
              <p:nvPr/>
            </p:nvSpPr>
            <p:spPr>
              <a:xfrm>
                <a:off x="2981117" y="3438421"/>
                <a:ext cx="15709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6D9FA712-F218-2B56-FB15-027EE3A5C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1117" y="3438421"/>
                <a:ext cx="157094" cy="307777"/>
              </a:xfrm>
              <a:prstGeom prst="rect">
                <a:avLst/>
              </a:prstGeom>
              <a:blipFill>
                <a:blip r:embed="rId4"/>
                <a:stretch>
                  <a:fillRect l="-53846" r="-57692" b="-33333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3816BE5C-1F34-6E93-9D48-F9FB69FDFDF1}"/>
              </a:ext>
            </a:extLst>
          </p:cNvPr>
          <p:cNvCxnSpPr>
            <a:cxnSpLocks/>
          </p:cNvCxnSpPr>
          <p:nvPr/>
        </p:nvCxnSpPr>
        <p:spPr>
          <a:xfrm>
            <a:off x="1894295" y="3222397"/>
            <a:ext cx="0" cy="24733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283409FA-2C72-2649-7C1C-8B5DE20F4523}"/>
              </a:ext>
            </a:extLst>
          </p:cNvPr>
          <p:cNvCxnSpPr/>
          <p:nvPr/>
        </p:nvCxnSpPr>
        <p:spPr>
          <a:xfrm>
            <a:off x="1740870" y="3438421"/>
            <a:ext cx="3603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96BA1DDC-CA45-EB06-D37A-B28348CA99D0}"/>
              </a:ext>
            </a:extLst>
          </p:cNvPr>
          <p:cNvCxnSpPr/>
          <p:nvPr/>
        </p:nvCxnSpPr>
        <p:spPr>
          <a:xfrm>
            <a:off x="1749271" y="5589854"/>
            <a:ext cx="3603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1303E5A3-6257-549B-336A-64807D65C3C5}"/>
                  </a:ext>
                </a:extLst>
              </p:cNvPr>
              <p:cNvSpPr txBox="1"/>
              <p:nvPr/>
            </p:nvSpPr>
            <p:spPr>
              <a:xfrm>
                <a:off x="1485346" y="3807892"/>
                <a:ext cx="3205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</m:oMath>
                  </m:oMathPara>
                </a14:m>
                <a:endParaRPr lang="es-PE" b="1" i="1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1303E5A3-6257-549B-336A-64807D65C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346" y="3807892"/>
                <a:ext cx="320537" cy="276999"/>
              </a:xfrm>
              <a:prstGeom prst="rect">
                <a:avLst/>
              </a:prstGeom>
              <a:blipFill>
                <a:blip r:embed="rId5"/>
                <a:stretch>
                  <a:fillRect l="-21154" t="-2222" r="-9615" b="-1777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8089CAFF-2EE7-012E-197F-B33D30FD5235}"/>
              </a:ext>
            </a:extLst>
          </p:cNvPr>
          <p:cNvCxnSpPr/>
          <p:nvPr/>
        </p:nvCxnSpPr>
        <p:spPr>
          <a:xfrm>
            <a:off x="1694589" y="4374525"/>
            <a:ext cx="3603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217C7273-9B8D-46CC-CBAE-7D2D2C5B3AD0}"/>
                  </a:ext>
                </a:extLst>
              </p:cNvPr>
              <p:cNvSpPr txBox="1"/>
              <p:nvPr/>
            </p:nvSpPr>
            <p:spPr>
              <a:xfrm>
                <a:off x="1504879" y="4798610"/>
                <a:ext cx="3301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s-PE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</m:oMath>
                  </m:oMathPara>
                </a14:m>
                <a:endParaRPr lang="es-PE" b="1" i="1" dirty="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217C7273-9B8D-46CC-CBAE-7D2D2C5B3A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4879" y="4798610"/>
                <a:ext cx="330155" cy="276999"/>
              </a:xfrm>
              <a:prstGeom prst="rect">
                <a:avLst/>
              </a:prstGeom>
              <a:blipFill>
                <a:blip r:embed="rId6"/>
                <a:stretch>
                  <a:fillRect l="-20370" r="-7407" b="-1521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A89FA456-E8B8-E1E2-4A8C-6E7AEF23DC74}"/>
              </a:ext>
            </a:extLst>
          </p:cNvPr>
          <p:cNvCxnSpPr>
            <a:cxnSpLocks/>
          </p:cNvCxnSpPr>
          <p:nvPr/>
        </p:nvCxnSpPr>
        <p:spPr>
          <a:xfrm>
            <a:off x="1248365" y="3222397"/>
            <a:ext cx="0" cy="24733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E94986A4-2563-2A3A-DB2F-79B93DEC5A69}"/>
              </a:ext>
            </a:extLst>
          </p:cNvPr>
          <p:cNvCxnSpPr/>
          <p:nvPr/>
        </p:nvCxnSpPr>
        <p:spPr>
          <a:xfrm>
            <a:off x="1094940" y="3438421"/>
            <a:ext cx="3603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32C8B64A-6CF6-86A5-C59F-C77F5D44407A}"/>
              </a:ext>
            </a:extLst>
          </p:cNvPr>
          <p:cNvCxnSpPr/>
          <p:nvPr/>
        </p:nvCxnSpPr>
        <p:spPr>
          <a:xfrm>
            <a:off x="1103341" y="5589854"/>
            <a:ext cx="3603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949A13F8-46AA-370D-00F3-0E7BCF6FABE9}"/>
                  </a:ext>
                </a:extLst>
              </p:cNvPr>
              <p:cNvSpPr txBox="1"/>
              <p:nvPr/>
            </p:nvSpPr>
            <p:spPr>
              <a:xfrm>
                <a:off x="898704" y="4282915"/>
                <a:ext cx="1987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1" i="1" smtClean="0">
                          <a:latin typeface="Cambria Math" panose="02040503050406030204" pitchFamily="18" charset="0"/>
                        </a:rPr>
                        <m:t>𝒉</m:t>
                      </m:r>
                    </m:oMath>
                  </m:oMathPara>
                </a14:m>
                <a:endParaRPr lang="es-PE" b="1" i="1" dirty="0"/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949A13F8-46AA-370D-00F3-0E7BCF6FA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704" y="4282915"/>
                <a:ext cx="198772" cy="276999"/>
              </a:xfrm>
              <a:prstGeom prst="rect">
                <a:avLst/>
              </a:prstGeom>
              <a:blipFill>
                <a:blip r:embed="rId7"/>
                <a:stretch>
                  <a:fillRect l="-30303" t="-2222" r="-30303" b="-8889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ángulo 29">
            <a:extLst>
              <a:ext uri="{FF2B5EF4-FFF2-40B4-BE49-F238E27FC236}">
                <a16:creationId xmlns:a16="http://schemas.microsoft.com/office/drawing/2014/main" id="{70730361-2A02-AF2D-9363-A2D12D044AED}"/>
              </a:ext>
            </a:extLst>
          </p:cNvPr>
          <p:cNvSpPr/>
          <p:nvPr/>
        </p:nvSpPr>
        <p:spPr>
          <a:xfrm>
            <a:off x="5339275" y="3387677"/>
            <a:ext cx="72000" cy="219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7CC0FD4C-DD4C-780C-C389-8CDCB30C1E74}"/>
              </a:ext>
            </a:extLst>
          </p:cNvPr>
          <p:cNvCxnSpPr>
            <a:cxnSpLocks/>
          </p:cNvCxnSpPr>
          <p:nvPr/>
        </p:nvCxnSpPr>
        <p:spPr>
          <a:xfrm flipH="1">
            <a:off x="4490715" y="3405395"/>
            <a:ext cx="1821309" cy="2178282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82E0DBFE-AB8E-94BD-29C8-DA38876657DE}"/>
              </a:ext>
            </a:extLst>
          </p:cNvPr>
          <p:cNvCxnSpPr>
            <a:stCxn id="30" idx="0"/>
          </p:cNvCxnSpPr>
          <p:nvPr/>
        </p:nvCxnSpPr>
        <p:spPr>
          <a:xfrm>
            <a:off x="5375275" y="3387677"/>
            <a:ext cx="936749" cy="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6AA472E6-3743-C74C-AA35-B4DDB7DD6C2C}"/>
              </a:ext>
            </a:extLst>
          </p:cNvPr>
          <p:cNvCxnSpPr/>
          <p:nvPr/>
        </p:nvCxnSpPr>
        <p:spPr>
          <a:xfrm>
            <a:off x="4439816" y="5583677"/>
            <a:ext cx="936749" cy="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07213CA2-AC78-6019-B292-700DE3508003}"/>
                  </a:ext>
                </a:extLst>
              </p:cNvPr>
              <p:cNvSpPr txBox="1"/>
              <p:nvPr/>
            </p:nvSpPr>
            <p:spPr>
              <a:xfrm>
                <a:off x="5638800" y="2974258"/>
                <a:ext cx="1541897" cy="299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 </m:t>
                      </m:r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07213CA2-AC78-6019-B292-700DE35080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2974258"/>
                <a:ext cx="1541897" cy="299313"/>
              </a:xfrm>
              <a:prstGeom prst="rect">
                <a:avLst/>
              </a:prstGeom>
              <a:blipFill>
                <a:blip r:embed="rId8"/>
                <a:stretch>
                  <a:fillRect l="-1186" b="-2653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29990290-E4A5-2054-4218-F306DEAA26DC}"/>
                  </a:ext>
                </a:extLst>
              </p:cNvPr>
              <p:cNvSpPr txBox="1"/>
              <p:nvPr/>
            </p:nvSpPr>
            <p:spPr>
              <a:xfrm>
                <a:off x="3935413" y="5695737"/>
                <a:ext cx="15431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 </m:t>
                      </m:r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29990290-E4A5-2054-4218-F306DEAA26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5413" y="5695737"/>
                <a:ext cx="1543179" cy="276999"/>
              </a:xfrm>
              <a:prstGeom prst="rect">
                <a:avLst/>
              </a:prstGeom>
              <a:blipFill>
                <a:blip r:embed="rId9"/>
                <a:stretch>
                  <a:fillRect l="-1976" b="-1739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8933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D4B30-9B7A-4FF3-9506-6E2F889CB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Procedimiento de cálculo del Método del Portal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0914ED9-993F-338F-37C8-725FD3F32826}"/>
              </a:ext>
            </a:extLst>
          </p:cNvPr>
          <p:cNvSpPr txBox="1"/>
          <p:nvPr/>
        </p:nvSpPr>
        <p:spPr>
          <a:xfrm>
            <a:off x="838200" y="2001408"/>
            <a:ext cx="10154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dirty="0"/>
              <a:t>4° Determinar los momentos en las vigas aplicando equilibrio en nudos y reparto proporcional de momentos según sus rigideces relativas: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91FC643-151F-8FA3-AAEA-5DC0D1CABB8F}"/>
              </a:ext>
            </a:extLst>
          </p:cNvPr>
          <p:cNvSpPr/>
          <p:nvPr/>
        </p:nvSpPr>
        <p:spPr>
          <a:xfrm>
            <a:off x="1361935" y="3748663"/>
            <a:ext cx="72000" cy="219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1BB88AD0-9F43-6D41-19E0-57D62CDA9503}"/>
                  </a:ext>
                </a:extLst>
              </p:cNvPr>
              <p:cNvSpPr txBox="1"/>
              <p:nvPr/>
            </p:nvSpPr>
            <p:spPr>
              <a:xfrm>
                <a:off x="1551608" y="5713511"/>
                <a:ext cx="14600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s-PE"/>
                </a:defPPr>
                <a:lvl1pPr>
                  <a:defRPr sz="2000" b="1" i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1BB88AD0-9F43-6D41-19E0-57D62CDA9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1608" y="5713511"/>
                <a:ext cx="146001" cy="307777"/>
              </a:xfrm>
              <a:prstGeom prst="rect">
                <a:avLst/>
              </a:prstGeom>
              <a:blipFill>
                <a:blip r:embed="rId2"/>
                <a:stretch>
                  <a:fillRect l="-43478" r="-39130" b="-9804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6D9FA712-F218-2B56-FB15-027EE3A5C229}"/>
                  </a:ext>
                </a:extLst>
              </p:cNvPr>
              <p:cNvSpPr txBox="1"/>
              <p:nvPr/>
            </p:nvSpPr>
            <p:spPr>
              <a:xfrm>
                <a:off x="1551608" y="3763972"/>
                <a:ext cx="15709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6D9FA712-F218-2B56-FB15-027EE3A5C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1608" y="3763972"/>
                <a:ext cx="157094" cy="307777"/>
              </a:xfrm>
              <a:prstGeom prst="rect">
                <a:avLst/>
              </a:prstGeom>
              <a:blipFill>
                <a:blip r:embed="rId3"/>
                <a:stretch>
                  <a:fillRect l="-60000" r="-60000" b="-33333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ángulo 3">
            <a:extLst>
              <a:ext uri="{FF2B5EF4-FFF2-40B4-BE49-F238E27FC236}">
                <a16:creationId xmlns:a16="http://schemas.microsoft.com/office/drawing/2014/main" id="{3E331AD6-515A-C7F2-ACA5-136D26E237AE}"/>
              </a:ext>
            </a:extLst>
          </p:cNvPr>
          <p:cNvSpPr/>
          <p:nvPr/>
        </p:nvSpPr>
        <p:spPr>
          <a:xfrm rot="16200000">
            <a:off x="2801760" y="2222984"/>
            <a:ext cx="72000" cy="219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677DEE83-0313-B3D2-4A56-C00EE50538B1}"/>
                  </a:ext>
                </a:extLst>
              </p:cNvPr>
              <p:cNvSpPr txBox="1"/>
              <p:nvPr/>
            </p:nvSpPr>
            <p:spPr>
              <a:xfrm>
                <a:off x="3944290" y="3769709"/>
                <a:ext cx="21480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677DEE83-0313-B3D2-4A56-C00EE5053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4290" y="3769709"/>
                <a:ext cx="214802" cy="307777"/>
              </a:xfrm>
              <a:prstGeom prst="rect">
                <a:avLst/>
              </a:prstGeom>
              <a:blipFill>
                <a:blip r:embed="rId4"/>
                <a:stretch>
                  <a:fillRect l="-28571" r="-34286" b="-7843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ángulo 6">
            <a:extLst>
              <a:ext uri="{FF2B5EF4-FFF2-40B4-BE49-F238E27FC236}">
                <a16:creationId xmlns:a16="http://schemas.microsoft.com/office/drawing/2014/main" id="{B4934103-A7A2-77F3-D9A8-0D9F58DC031D}"/>
              </a:ext>
            </a:extLst>
          </p:cNvPr>
          <p:cNvSpPr/>
          <p:nvPr/>
        </p:nvSpPr>
        <p:spPr>
          <a:xfrm>
            <a:off x="4237109" y="3719139"/>
            <a:ext cx="72000" cy="219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F92AC75-1CF3-2038-9737-19290576A39B}"/>
              </a:ext>
            </a:extLst>
          </p:cNvPr>
          <p:cNvSpPr/>
          <p:nvPr/>
        </p:nvSpPr>
        <p:spPr>
          <a:xfrm rot="16200000">
            <a:off x="5573824" y="2193460"/>
            <a:ext cx="72000" cy="219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7514F17-6D03-C320-4F3C-3D9C6F2409E7}"/>
              </a:ext>
            </a:extLst>
          </p:cNvPr>
          <p:cNvSpPr/>
          <p:nvPr/>
        </p:nvSpPr>
        <p:spPr>
          <a:xfrm>
            <a:off x="6888096" y="3719139"/>
            <a:ext cx="72000" cy="219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12F795B-F75D-9BAA-A004-2A64C24AAF58}"/>
                  </a:ext>
                </a:extLst>
              </p:cNvPr>
              <p:cNvSpPr txBox="1"/>
              <p:nvPr/>
            </p:nvSpPr>
            <p:spPr>
              <a:xfrm>
                <a:off x="3981463" y="5663679"/>
                <a:ext cx="15228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12F795B-F75D-9BAA-A004-2A64C24AA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1463" y="5663679"/>
                <a:ext cx="152285" cy="307777"/>
              </a:xfrm>
              <a:prstGeom prst="rect">
                <a:avLst/>
              </a:prstGeom>
              <a:blipFill>
                <a:blip r:embed="rId5"/>
                <a:stretch>
                  <a:fillRect l="-40000" r="-48000" b="-7843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BA3E008F-043A-768D-54B2-6AD92570B3FA}"/>
                  </a:ext>
                </a:extLst>
              </p:cNvPr>
              <p:cNvSpPr txBox="1"/>
              <p:nvPr/>
            </p:nvSpPr>
            <p:spPr>
              <a:xfrm>
                <a:off x="6590986" y="3695473"/>
                <a:ext cx="29495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BA3E008F-043A-768D-54B2-6AD92570B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986" y="3695473"/>
                <a:ext cx="294953" cy="307777"/>
              </a:xfrm>
              <a:prstGeom prst="rect">
                <a:avLst/>
              </a:prstGeom>
              <a:blipFill>
                <a:blip r:embed="rId6"/>
                <a:stretch>
                  <a:fillRect l="-12245" r="-12245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E5065978-B09C-96CE-881F-5A93E1367A8E}"/>
                  </a:ext>
                </a:extLst>
              </p:cNvPr>
              <p:cNvSpPr txBox="1"/>
              <p:nvPr/>
            </p:nvSpPr>
            <p:spPr>
              <a:xfrm>
                <a:off x="6565258" y="5670232"/>
                <a:ext cx="22442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E5065978-B09C-96CE-881F-5A93E1367A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258" y="5670232"/>
                <a:ext cx="224420" cy="307777"/>
              </a:xfrm>
              <a:prstGeom prst="rect">
                <a:avLst/>
              </a:prstGeom>
              <a:blipFill>
                <a:blip r:embed="rId7"/>
                <a:stretch>
                  <a:fillRect l="-16216" r="-16216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Flecha: curvada hacia abajo 34">
            <a:extLst>
              <a:ext uri="{FF2B5EF4-FFF2-40B4-BE49-F238E27FC236}">
                <a16:creationId xmlns:a16="http://schemas.microsoft.com/office/drawing/2014/main" id="{CE0BE503-FF1C-5550-0167-10406FD6D9FD}"/>
              </a:ext>
            </a:extLst>
          </p:cNvPr>
          <p:cNvSpPr/>
          <p:nvPr/>
        </p:nvSpPr>
        <p:spPr>
          <a:xfrm>
            <a:off x="1204274" y="3545584"/>
            <a:ext cx="504428" cy="215404"/>
          </a:xfrm>
          <a:prstGeom prst="curvedDown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36" name="Flecha: curvada hacia abajo 35">
            <a:extLst>
              <a:ext uri="{FF2B5EF4-FFF2-40B4-BE49-F238E27FC236}">
                <a16:creationId xmlns:a16="http://schemas.microsoft.com/office/drawing/2014/main" id="{C9A7B64D-9D98-6EF3-FFC9-78AD60B7F535}"/>
              </a:ext>
            </a:extLst>
          </p:cNvPr>
          <p:cNvSpPr/>
          <p:nvPr/>
        </p:nvSpPr>
        <p:spPr>
          <a:xfrm>
            <a:off x="4041309" y="3530541"/>
            <a:ext cx="504428" cy="215404"/>
          </a:xfrm>
          <a:prstGeom prst="curvedDown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39" name="Flecha: curvada hacia abajo 38">
            <a:extLst>
              <a:ext uri="{FF2B5EF4-FFF2-40B4-BE49-F238E27FC236}">
                <a16:creationId xmlns:a16="http://schemas.microsoft.com/office/drawing/2014/main" id="{B4B2F817-770B-6ED0-75B6-7EA8C5DE554C}"/>
              </a:ext>
            </a:extLst>
          </p:cNvPr>
          <p:cNvSpPr/>
          <p:nvPr/>
        </p:nvSpPr>
        <p:spPr>
          <a:xfrm>
            <a:off x="6661896" y="3545584"/>
            <a:ext cx="504428" cy="215404"/>
          </a:xfrm>
          <a:prstGeom prst="curvedDown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40" name="Flecha: curvada hacia arriba 39">
            <a:extLst>
              <a:ext uri="{FF2B5EF4-FFF2-40B4-BE49-F238E27FC236}">
                <a16:creationId xmlns:a16="http://schemas.microsoft.com/office/drawing/2014/main" id="{19EA02AC-90DF-B314-1789-209F3F0E8AB9}"/>
              </a:ext>
            </a:extLst>
          </p:cNvPr>
          <p:cNvSpPr/>
          <p:nvPr/>
        </p:nvSpPr>
        <p:spPr>
          <a:xfrm rot="5400000">
            <a:off x="1451979" y="3241322"/>
            <a:ext cx="504651" cy="215404"/>
          </a:xfrm>
          <a:prstGeom prst="curvedUp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43" name="Flecha: curvada hacia arriba 42">
            <a:extLst>
              <a:ext uri="{FF2B5EF4-FFF2-40B4-BE49-F238E27FC236}">
                <a16:creationId xmlns:a16="http://schemas.microsoft.com/office/drawing/2014/main" id="{09CA20F0-5122-F5AD-D628-4955BA9DC0BB}"/>
              </a:ext>
            </a:extLst>
          </p:cNvPr>
          <p:cNvSpPr/>
          <p:nvPr/>
        </p:nvSpPr>
        <p:spPr>
          <a:xfrm rot="5400000">
            <a:off x="4254604" y="3219757"/>
            <a:ext cx="504651" cy="215404"/>
          </a:xfrm>
          <a:prstGeom prst="curvedUp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44" name="Flecha: curvada hacia arriba 43">
            <a:extLst>
              <a:ext uri="{FF2B5EF4-FFF2-40B4-BE49-F238E27FC236}">
                <a16:creationId xmlns:a16="http://schemas.microsoft.com/office/drawing/2014/main" id="{A05BC622-18C1-A886-BBD5-158DA937D91B}"/>
              </a:ext>
            </a:extLst>
          </p:cNvPr>
          <p:cNvSpPr/>
          <p:nvPr/>
        </p:nvSpPr>
        <p:spPr>
          <a:xfrm rot="5400000" flipV="1">
            <a:off x="3747457" y="3241322"/>
            <a:ext cx="504651" cy="215405"/>
          </a:xfrm>
          <a:prstGeom prst="curvedUp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45" name="Flecha: curvada hacia arriba 44">
            <a:extLst>
              <a:ext uri="{FF2B5EF4-FFF2-40B4-BE49-F238E27FC236}">
                <a16:creationId xmlns:a16="http://schemas.microsoft.com/office/drawing/2014/main" id="{0CAF3216-65C4-A785-2F08-059E952E34EC}"/>
              </a:ext>
            </a:extLst>
          </p:cNvPr>
          <p:cNvSpPr/>
          <p:nvPr/>
        </p:nvSpPr>
        <p:spPr>
          <a:xfrm rot="5400000" flipV="1">
            <a:off x="6442380" y="3219756"/>
            <a:ext cx="504651" cy="215405"/>
          </a:xfrm>
          <a:prstGeom prst="curvedUp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7980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D4B30-9B7A-4FF3-9506-6E2F889CB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Procedimiento de cálculo del Método del Portal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0914ED9-993F-338F-37C8-725FD3F32826}"/>
              </a:ext>
            </a:extLst>
          </p:cNvPr>
          <p:cNvSpPr txBox="1"/>
          <p:nvPr/>
        </p:nvSpPr>
        <p:spPr>
          <a:xfrm>
            <a:off x="838200" y="2001408"/>
            <a:ext cx="10154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dirty="0"/>
              <a:t>5° Evaluar las cortantes en vigas por equilibrio: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91FC643-151F-8FA3-AAEA-5DC0D1CABB8F}"/>
              </a:ext>
            </a:extLst>
          </p:cNvPr>
          <p:cNvSpPr/>
          <p:nvPr/>
        </p:nvSpPr>
        <p:spPr>
          <a:xfrm>
            <a:off x="1361935" y="3748663"/>
            <a:ext cx="72000" cy="219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1BB88AD0-9F43-6D41-19E0-57D62CDA9503}"/>
                  </a:ext>
                </a:extLst>
              </p:cNvPr>
              <p:cNvSpPr txBox="1"/>
              <p:nvPr/>
            </p:nvSpPr>
            <p:spPr>
              <a:xfrm>
                <a:off x="1551608" y="5713511"/>
                <a:ext cx="14600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s-PE"/>
                </a:defPPr>
                <a:lvl1pPr>
                  <a:defRPr sz="2000" b="1" i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1BB88AD0-9F43-6D41-19E0-57D62CDA9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1608" y="5713511"/>
                <a:ext cx="146001" cy="307777"/>
              </a:xfrm>
              <a:prstGeom prst="rect">
                <a:avLst/>
              </a:prstGeom>
              <a:blipFill>
                <a:blip r:embed="rId2"/>
                <a:stretch>
                  <a:fillRect l="-43478" r="-39130" b="-9804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6D9FA712-F218-2B56-FB15-027EE3A5C229}"/>
                  </a:ext>
                </a:extLst>
              </p:cNvPr>
              <p:cNvSpPr txBox="1"/>
              <p:nvPr/>
            </p:nvSpPr>
            <p:spPr>
              <a:xfrm>
                <a:off x="1551608" y="3763972"/>
                <a:ext cx="15709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6D9FA712-F218-2B56-FB15-027EE3A5C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1608" y="3763972"/>
                <a:ext cx="157094" cy="307777"/>
              </a:xfrm>
              <a:prstGeom prst="rect">
                <a:avLst/>
              </a:prstGeom>
              <a:blipFill>
                <a:blip r:embed="rId3"/>
                <a:stretch>
                  <a:fillRect l="-60000" r="-60000" b="-33333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ángulo 3">
            <a:extLst>
              <a:ext uri="{FF2B5EF4-FFF2-40B4-BE49-F238E27FC236}">
                <a16:creationId xmlns:a16="http://schemas.microsoft.com/office/drawing/2014/main" id="{3E331AD6-515A-C7F2-ACA5-136D26E237AE}"/>
              </a:ext>
            </a:extLst>
          </p:cNvPr>
          <p:cNvSpPr/>
          <p:nvPr/>
        </p:nvSpPr>
        <p:spPr>
          <a:xfrm rot="16200000">
            <a:off x="2801760" y="2222984"/>
            <a:ext cx="72000" cy="219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677DEE83-0313-B3D2-4A56-C00EE50538B1}"/>
                  </a:ext>
                </a:extLst>
              </p:cNvPr>
              <p:cNvSpPr txBox="1"/>
              <p:nvPr/>
            </p:nvSpPr>
            <p:spPr>
              <a:xfrm>
                <a:off x="3944290" y="3769709"/>
                <a:ext cx="21480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677DEE83-0313-B3D2-4A56-C00EE5053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4290" y="3769709"/>
                <a:ext cx="214802" cy="307777"/>
              </a:xfrm>
              <a:prstGeom prst="rect">
                <a:avLst/>
              </a:prstGeom>
              <a:blipFill>
                <a:blip r:embed="rId4"/>
                <a:stretch>
                  <a:fillRect l="-28571" r="-34286" b="-7843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ángulo 6">
            <a:extLst>
              <a:ext uri="{FF2B5EF4-FFF2-40B4-BE49-F238E27FC236}">
                <a16:creationId xmlns:a16="http://schemas.microsoft.com/office/drawing/2014/main" id="{B4934103-A7A2-77F3-D9A8-0D9F58DC031D}"/>
              </a:ext>
            </a:extLst>
          </p:cNvPr>
          <p:cNvSpPr/>
          <p:nvPr/>
        </p:nvSpPr>
        <p:spPr>
          <a:xfrm>
            <a:off x="4237109" y="3719139"/>
            <a:ext cx="72000" cy="219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F92AC75-1CF3-2038-9737-19290576A39B}"/>
              </a:ext>
            </a:extLst>
          </p:cNvPr>
          <p:cNvSpPr/>
          <p:nvPr/>
        </p:nvSpPr>
        <p:spPr>
          <a:xfrm rot="16200000">
            <a:off x="5573824" y="2193460"/>
            <a:ext cx="72000" cy="219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7514F17-6D03-C320-4F3C-3D9C6F2409E7}"/>
              </a:ext>
            </a:extLst>
          </p:cNvPr>
          <p:cNvSpPr/>
          <p:nvPr/>
        </p:nvSpPr>
        <p:spPr>
          <a:xfrm>
            <a:off x="6888096" y="3719139"/>
            <a:ext cx="72000" cy="219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12F795B-F75D-9BAA-A004-2A64C24AAF58}"/>
                  </a:ext>
                </a:extLst>
              </p:cNvPr>
              <p:cNvSpPr txBox="1"/>
              <p:nvPr/>
            </p:nvSpPr>
            <p:spPr>
              <a:xfrm>
                <a:off x="3981463" y="5663679"/>
                <a:ext cx="15228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12F795B-F75D-9BAA-A004-2A64C24AA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1463" y="5663679"/>
                <a:ext cx="152285" cy="307777"/>
              </a:xfrm>
              <a:prstGeom prst="rect">
                <a:avLst/>
              </a:prstGeom>
              <a:blipFill>
                <a:blip r:embed="rId5"/>
                <a:stretch>
                  <a:fillRect l="-40000" r="-48000" b="-7843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BA3E008F-043A-768D-54B2-6AD92570B3FA}"/>
                  </a:ext>
                </a:extLst>
              </p:cNvPr>
              <p:cNvSpPr txBox="1"/>
              <p:nvPr/>
            </p:nvSpPr>
            <p:spPr>
              <a:xfrm>
                <a:off x="6590986" y="3695473"/>
                <a:ext cx="29495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BA3E008F-043A-768D-54B2-6AD92570B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986" y="3695473"/>
                <a:ext cx="294953" cy="307777"/>
              </a:xfrm>
              <a:prstGeom prst="rect">
                <a:avLst/>
              </a:prstGeom>
              <a:blipFill>
                <a:blip r:embed="rId6"/>
                <a:stretch>
                  <a:fillRect l="-12245" r="-12245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E5065978-B09C-96CE-881F-5A93E1367A8E}"/>
                  </a:ext>
                </a:extLst>
              </p:cNvPr>
              <p:cNvSpPr txBox="1"/>
              <p:nvPr/>
            </p:nvSpPr>
            <p:spPr>
              <a:xfrm>
                <a:off x="6565258" y="5670232"/>
                <a:ext cx="22442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E5065978-B09C-96CE-881F-5A93E1367A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258" y="5670232"/>
                <a:ext cx="224420" cy="307777"/>
              </a:xfrm>
              <a:prstGeom prst="rect">
                <a:avLst/>
              </a:prstGeom>
              <a:blipFill>
                <a:blip r:embed="rId7"/>
                <a:stretch>
                  <a:fillRect l="-16216" r="-16216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Flecha: curvada hacia abajo 34">
            <a:extLst>
              <a:ext uri="{FF2B5EF4-FFF2-40B4-BE49-F238E27FC236}">
                <a16:creationId xmlns:a16="http://schemas.microsoft.com/office/drawing/2014/main" id="{CE0BE503-FF1C-5550-0167-10406FD6D9FD}"/>
              </a:ext>
            </a:extLst>
          </p:cNvPr>
          <p:cNvSpPr/>
          <p:nvPr/>
        </p:nvSpPr>
        <p:spPr>
          <a:xfrm>
            <a:off x="1204274" y="3545584"/>
            <a:ext cx="504428" cy="215404"/>
          </a:xfrm>
          <a:prstGeom prst="curvedDown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36" name="Flecha: curvada hacia abajo 35">
            <a:extLst>
              <a:ext uri="{FF2B5EF4-FFF2-40B4-BE49-F238E27FC236}">
                <a16:creationId xmlns:a16="http://schemas.microsoft.com/office/drawing/2014/main" id="{C9A7B64D-9D98-6EF3-FFC9-78AD60B7F535}"/>
              </a:ext>
            </a:extLst>
          </p:cNvPr>
          <p:cNvSpPr/>
          <p:nvPr/>
        </p:nvSpPr>
        <p:spPr>
          <a:xfrm>
            <a:off x="4041309" y="3530541"/>
            <a:ext cx="504428" cy="215404"/>
          </a:xfrm>
          <a:prstGeom prst="curvedDown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39" name="Flecha: curvada hacia abajo 38">
            <a:extLst>
              <a:ext uri="{FF2B5EF4-FFF2-40B4-BE49-F238E27FC236}">
                <a16:creationId xmlns:a16="http://schemas.microsoft.com/office/drawing/2014/main" id="{B4B2F817-770B-6ED0-75B6-7EA8C5DE554C}"/>
              </a:ext>
            </a:extLst>
          </p:cNvPr>
          <p:cNvSpPr/>
          <p:nvPr/>
        </p:nvSpPr>
        <p:spPr>
          <a:xfrm>
            <a:off x="6661896" y="3545584"/>
            <a:ext cx="504428" cy="215404"/>
          </a:xfrm>
          <a:prstGeom prst="curvedDown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40" name="Flecha: curvada hacia arriba 39">
            <a:extLst>
              <a:ext uri="{FF2B5EF4-FFF2-40B4-BE49-F238E27FC236}">
                <a16:creationId xmlns:a16="http://schemas.microsoft.com/office/drawing/2014/main" id="{19EA02AC-90DF-B314-1789-209F3F0E8AB9}"/>
              </a:ext>
            </a:extLst>
          </p:cNvPr>
          <p:cNvSpPr/>
          <p:nvPr/>
        </p:nvSpPr>
        <p:spPr>
          <a:xfrm rot="5400000">
            <a:off x="1451979" y="3241322"/>
            <a:ext cx="504651" cy="215404"/>
          </a:xfrm>
          <a:prstGeom prst="curvedUp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43" name="Flecha: curvada hacia arriba 42">
            <a:extLst>
              <a:ext uri="{FF2B5EF4-FFF2-40B4-BE49-F238E27FC236}">
                <a16:creationId xmlns:a16="http://schemas.microsoft.com/office/drawing/2014/main" id="{09CA20F0-5122-F5AD-D628-4955BA9DC0BB}"/>
              </a:ext>
            </a:extLst>
          </p:cNvPr>
          <p:cNvSpPr/>
          <p:nvPr/>
        </p:nvSpPr>
        <p:spPr>
          <a:xfrm rot="5400000">
            <a:off x="4254604" y="3219757"/>
            <a:ext cx="504651" cy="215404"/>
          </a:xfrm>
          <a:prstGeom prst="curvedUp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44" name="Flecha: curvada hacia arriba 43">
            <a:extLst>
              <a:ext uri="{FF2B5EF4-FFF2-40B4-BE49-F238E27FC236}">
                <a16:creationId xmlns:a16="http://schemas.microsoft.com/office/drawing/2014/main" id="{A05BC622-18C1-A886-BBD5-158DA937D91B}"/>
              </a:ext>
            </a:extLst>
          </p:cNvPr>
          <p:cNvSpPr/>
          <p:nvPr/>
        </p:nvSpPr>
        <p:spPr>
          <a:xfrm rot="5400000" flipV="1">
            <a:off x="3747457" y="3241322"/>
            <a:ext cx="504651" cy="215405"/>
          </a:xfrm>
          <a:prstGeom prst="curvedUp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45" name="Flecha: curvada hacia arriba 44">
            <a:extLst>
              <a:ext uri="{FF2B5EF4-FFF2-40B4-BE49-F238E27FC236}">
                <a16:creationId xmlns:a16="http://schemas.microsoft.com/office/drawing/2014/main" id="{0CAF3216-65C4-A785-2F08-059E952E34EC}"/>
              </a:ext>
            </a:extLst>
          </p:cNvPr>
          <p:cNvSpPr/>
          <p:nvPr/>
        </p:nvSpPr>
        <p:spPr>
          <a:xfrm rot="5400000" flipV="1">
            <a:off x="6442380" y="3219756"/>
            <a:ext cx="504651" cy="215405"/>
          </a:xfrm>
          <a:prstGeom prst="curvedUp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6694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D4B30-9B7A-4FF3-9506-6E2F889CB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Procedimiento de cálculo del Método del Portal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0914ED9-993F-338F-37C8-725FD3F32826}"/>
              </a:ext>
            </a:extLst>
          </p:cNvPr>
          <p:cNvSpPr txBox="1"/>
          <p:nvPr/>
        </p:nvSpPr>
        <p:spPr>
          <a:xfrm>
            <a:off x="838200" y="2001408"/>
            <a:ext cx="10154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dirty="0"/>
              <a:t>6° Calcular las fuerzas axiales en las columnas: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91FC643-151F-8FA3-AAEA-5DC0D1CABB8F}"/>
              </a:ext>
            </a:extLst>
          </p:cNvPr>
          <p:cNvSpPr/>
          <p:nvPr/>
        </p:nvSpPr>
        <p:spPr>
          <a:xfrm>
            <a:off x="1361935" y="3748663"/>
            <a:ext cx="72000" cy="219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1BB88AD0-9F43-6D41-19E0-57D62CDA9503}"/>
                  </a:ext>
                </a:extLst>
              </p:cNvPr>
              <p:cNvSpPr txBox="1"/>
              <p:nvPr/>
            </p:nvSpPr>
            <p:spPr>
              <a:xfrm>
                <a:off x="1551608" y="5713511"/>
                <a:ext cx="14600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s-PE"/>
                </a:defPPr>
                <a:lvl1pPr>
                  <a:defRPr sz="2000" b="1" i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1BB88AD0-9F43-6D41-19E0-57D62CDA9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1608" y="5713511"/>
                <a:ext cx="146001" cy="307777"/>
              </a:xfrm>
              <a:prstGeom prst="rect">
                <a:avLst/>
              </a:prstGeom>
              <a:blipFill>
                <a:blip r:embed="rId2"/>
                <a:stretch>
                  <a:fillRect l="-43478" r="-39130" b="-9804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6D9FA712-F218-2B56-FB15-027EE3A5C229}"/>
                  </a:ext>
                </a:extLst>
              </p:cNvPr>
              <p:cNvSpPr txBox="1"/>
              <p:nvPr/>
            </p:nvSpPr>
            <p:spPr>
              <a:xfrm>
                <a:off x="1551608" y="3763972"/>
                <a:ext cx="15709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6D9FA712-F218-2B56-FB15-027EE3A5C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1608" y="3763972"/>
                <a:ext cx="157094" cy="307777"/>
              </a:xfrm>
              <a:prstGeom prst="rect">
                <a:avLst/>
              </a:prstGeom>
              <a:blipFill>
                <a:blip r:embed="rId3"/>
                <a:stretch>
                  <a:fillRect l="-60000" r="-60000" b="-33333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ángulo 3">
            <a:extLst>
              <a:ext uri="{FF2B5EF4-FFF2-40B4-BE49-F238E27FC236}">
                <a16:creationId xmlns:a16="http://schemas.microsoft.com/office/drawing/2014/main" id="{3E331AD6-515A-C7F2-ACA5-136D26E237AE}"/>
              </a:ext>
            </a:extLst>
          </p:cNvPr>
          <p:cNvSpPr/>
          <p:nvPr/>
        </p:nvSpPr>
        <p:spPr>
          <a:xfrm rot="16200000">
            <a:off x="2801760" y="2222984"/>
            <a:ext cx="72000" cy="219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677DEE83-0313-B3D2-4A56-C00EE50538B1}"/>
                  </a:ext>
                </a:extLst>
              </p:cNvPr>
              <p:cNvSpPr txBox="1"/>
              <p:nvPr/>
            </p:nvSpPr>
            <p:spPr>
              <a:xfrm>
                <a:off x="3944290" y="3769709"/>
                <a:ext cx="21480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677DEE83-0313-B3D2-4A56-C00EE5053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4290" y="3769709"/>
                <a:ext cx="214802" cy="307777"/>
              </a:xfrm>
              <a:prstGeom prst="rect">
                <a:avLst/>
              </a:prstGeom>
              <a:blipFill>
                <a:blip r:embed="rId4"/>
                <a:stretch>
                  <a:fillRect l="-28571" r="-34286" b="-7843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ángulo 6">
            <a:extLst>
              <a:ext uri="{FF2B5EF4-FFF2-40B4-BE49-F238E27FC236}">
                <a16:creationId xmlns:a16="http://schemas.microsoft.com/office/drawing/2014/main" id="{B4934103-A7A2-77F3-D9A8-0D9F58DC031D}"/>
              </a:ext>
            </a:extLst>
          </p:cNvPr>
          <p:cNvSpPr/>
          <p:nvPr/>
        </p:nvSpPr>
        <p:spPr>
          <a:xfrm>
            <a:off x="4237109" y="3719139"/>
            <a:ext cx="72000" cy="219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F92AC75-1CF3-2038-9737-19290576A39B}"/>
              </a:ext>
            </a:extLst>
          </p:cNvPr>
          <p:cNvSpPr/>
          <p:nvPr/>
        </p:nvSpPr>
        <p:spPr>
          <a:xfrm rot="16200000">
            <a:off x="5573824" y="2193460"/>
            <a:ext cx="72000" cy="219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7514F17-6D03-C320-4F3C-3D9C6F2409E7}"/>
              </a:ext>
            </a:extLst>
          </p:cNvPr>
          <p:cNvSpPr/>
          <p:nvPr/>
        </p:nvSpPr>
        <p:spPr>
          <a:xfrm>
            <a:off x="6888096" y="3719139"/>
            <a:ext cx="72000" cy="219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12F795B-F75D-9BAA-A004-2A64C24AAF58}"/>
                  </a:ext>
                </a:extLst>
              </p:cNvPr>
              <p:cNvSpPr txBox="1"/>
              <p:nvPr/>
            </p:nvSpPr>
            <p:spPr>
              <a:xfrm>
                <a:off x="3981463" y="5663679"/>
                <a:ext cx="15228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12F795B-F75D-9BAA-A004-2A64C24AA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1463" y="5663679"/>
                <a:ext cx="152285" cy="307777"/>
              </a:xfrm>
              <a:prstGeom prst="rect">
                <a:avLst/>
              </a:prstGeom>
              <a:blipFill>
                <a:blip r:embed="rId5"/>
                <a:stretch>
                  <a:fillRect l="-40000" r="-48000" b="-7843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BA3E008F-043A-768D-54B2-6AD92570B3FA}"/>
                  </a:ext>
                </a:extLst>
              </p:cNvPr>
              <p:cNvSpPr txBox="1"/>
              <p:nvPr/>
            </p:nvSpPr>
            <p:spPr>
              <a:xfrm>
                <a:off x="6590986" y="3695473"/>
                <a:ext cx="29495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BA3E008F-043A-768D-54B2-6AD92570B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986" y="3695473"/>
                <a:ext cx="294953" cy="307777"/>
              </a:xfrm>
              <a:prstGeom prst="rect">
                <a:avLst/>
              </a:prstGeom>
              <a:blipFill>
                <a:blip r:embed="rId6"/>
                <a:stretch>
                  <a:fillRect l="-12245" r="-12245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E5065978-B09C-96CE-881F-5A93E1367A8E}"/>
                  </a:ext>
                </a:extLst>
              </p:cNvPr>
              <p:cNvSpPr txBox="1"/>
              <p:nvPr/>
            </p:nvSpPr>
            <p:spPr>
              <a:xfrm>
                <a:off x="6565258" y="5670232"/>
                <a:ext cx="22442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E5065978-B09C-96CE-881F-5A93E1367A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258" y="5670232"/>
                <a:ext cx="224420" cy="307777"/>
              </a:xfrm>
              <a:prstGeom prst="rect">
                <a:avLst/>
              </a:prstGeom>
              <a:blipFill>
                <a:blip r:embed="rId7"/>
                <a:stretch>
                  <a:fillRect l="-16216" r="-16216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Flecha: curvada hacia abajo 34">
            <a:extLst>
              <a:ext uri="{FF2B5EF4-FFF2-40B4-BE49-F238E27FC236}">
                <a16:creationId xmlns:a16="http://schemas.microsoft.com/office/drawing/2014/main" id="{CE0BE503-FF1C-5550-0167-10406FD6D9FD}"/>
              </a:ext>
            </a:extLst>
          </p:cNvPr>
          <p:cNvSpPr/>
          <p:nvPr/>
        </p:nvSpPr>
        <p:spPr>
          <a:xfrm>
            <a:off x="1204274" y="3545584"/>
            <a:ext cx="504428" cy="215404"/>
          </a:xfrm>
          <a:prstGeom prst="curvedDown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36" name="Flecha: curvada hacia abajo 35">
            <a:extLst>
              <a:ext uri="{FF2B5EF4-FFF2-40B4-BE49-F238E27FC236}">
                <a16:creationId xmlns:a16="http://schemas.microsoft.com/office/drawing/2014/main" id="{C9A7B64D-9D98-6EF3-FFC9-78AD60B7F535}"/>
              </a:ext>
            </a:extLst>
          </p:cNvPr>
          <p:cNvSpPr/>
          <p:nvPr/>
        </p:nvSpPr>
        <p:spPr>
          <a:xfrm>
            <a:off x="4041309" y="3530541"/>
            <a:ext cx="504428" cy="215404"/>
          </a:xfrm>
          <a:prstGeom prst="curvedDown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39" name="Flecha: curvada hacia abajo 38">
            <a:extLst>
              <a:ext uri="{FF2B5EF4-FFF2-40B4-BE49-F238E27FC236}">
                <a16:creationId xmlns:a16="http://schemas.microsoft.com/office/drawing/2014/main" id="{B4B2F817-770B-6ED0-75B6-7EA8C5DE554C}"/>
              </a:ext>
            </a:extLst>
          </p:cNvPr>
          <p:cNvSpPr/>
          <p:nvPr/>
        </p:nvSpPr>
        <p:spPr>
          <a:xfrm>
            <a:off x="6661896" y="3545584"/>
            <a:ext cx="504428" cy="215404"/>
          </a:xfrm>
          <a:prstGeom prst="curvedDown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40" name="Flecha: curvada hacia arriba 39">
            <a:extLst>
              <a:ext uri="{FF2B5EF4-FFF2-40B4-BE49-F238E27FC236}">
                <a16:creationId xmlns:a16="http://schemas.microsoft.com/office/drawing/2014/main" id="{19EA02AC-90DF-B314-1789-209F3F0E8AB9}"/>
              </a:ext>
            </a:extLst>
          </p:cNvPr>
          <p:cNvSpPr/>
          <p:nvPr/>
        </p:nvSpPr>
        <p:spPr>
          <a:xfrm rot="5400000">
            <a:off x="1451979" y="3241322"/>
            <a:ext cx="504651" cy="215404"/>
          </a:xfrm>
          <a:prstGeom prst="curvedUp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43" name="Flecha: curvada hacia arriba 42">
            <a:extLst>
              <a:ext uri="{FF2B5EF4-FFF2-40B4-BE49-F238E27FC236}">
                <a16:creationId xmlns:a16="http://schemas.microsoft.com/office/drawing/2014/main" id="{09CA20F0-5122-F5AD-D628-4955BA9DC0BB}"/>
              </a:ext>
            </a:extLst>
          </p:cNvPr>
          <p:cNvSpPr/>
          <p:nvPr/>
        </p:nvSpPr>
        <p:spPr>
          <a:xfrm rot="5400000">
            <a:off x="4254604" y="3219757"/>
            <a:ext cx="504651" cy="215404"/>
          </a:xfrm>
          <a:prstGeom prst="curvedUp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44" name="Flecha: curvada hacia arriba 43">
            <a:extLst>
              <a:ext uri="{FF2B5EF4-FFF2-40B4-BE49-F238E27FC236}">
                <a16:creationId xmlns:a16="http://schemas.microsoft.com/office/drawing/2014/main" id="{A05BC622-18C1-A886-BBD5-158DA937D91B}"/>
              </a:ext>
            </a:extLst>
          </p:cNvPr>
          <p:cNvSpPr/>
          <p:nvPr/>
        </p:nvSpPr>
        <p:spPr>
          <a:xfrm rot="5400000" flipV="1">
            <a:off x="3747457" y="3241322"/>
            <a:ext cx="504651" cy="215405"/>
          </a:xfrm>
          <a:prstGeom prst="curvedUp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45" name="Flecha: curvada hacia arriba 44">
            <a:extLst>
              <a:ext uri="{FF2B5EF4-FFF2-40B4-BE49-F238E27FC236}">
                <a16:creationId xmlns:a16="http://schemas.microsoft.com/office/drawing/2014/main" id="{0CAF3216-65C4-A785-2F08-059E952E34EC}"/>
              </a:ext>
            </a:extLst>
          </p:cNvPr>
          <p:cNvSpPr/>
          <p:nvPr/>
        </p:nvSpPr>
        <p:spPr>
          <a:xfrm rot="5400000" flipV="1">
            <a:off x="6442380" y="3219756"/>
            <a:ext cx="504651" cy="215405"/>
          </a:xfrm>
          <a:prstGeom prst="curvedUp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8682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D4B30-9B7A-4FF3-9506-6E2F889CB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Ejemplo: Resolver el pórtico usando el Método del Portal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3903A5C6-AB62-8217-6604-553267E4BC12}"/>
              </a:ext>
            </a:extLst>
          </p:cNvPr>
          <p:cNvGrpSpPr/>
          <p:nvPr/>
        </p:nvGrpSpPr>
        <p:grpSpPr>
          <a:xfrm>
            <a:off x="2746987" y="2358621"/>
            <a:ext cx="5149238" cy="2304901"/>
            <a:chOff x="802746" y="2708275"/>
            <a:chExt cx="4673826" cy="1950578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F092B829-0F0C-F37E-7FB0-DF0011828F6E}"/>
                </a:ext>
              </a:extLst>
            </p:cNvPr>
            <p:cNvSpPr/>
            <p:nvPr/>
          </p:nvSpPr>
          <p:spPr>
            <a:xfrm>
              <a:off x="802746" y="4508726"/>
              <a:ext cx="499090" cy="150127"/>
            </a:xfrm>
            <a:prstGeom prst="rect">
              <a:avLst/>
            </a:prstGeom>
            <a:pattFill prst="wdUpDiag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26E44751-1FBE-FDF6-F5DB-F916D18BA2C2}"/>
                </a:ext>
              </a:extLst>
            </p:cNvPr>
            <p:cNvSpPr/>
            <p:nvPr/>
          </p:nvSpPr>
          <p:spPr>
            <a:xfrm>
              <a:off x="948234" y="2708501"/>
              <a:ext cx="144000" cy="180000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3BF99385-421A-A497-46F6-F625D68D10BB}"/>
                </a:ext>
              </a:extLst>
            </p:cNvPr>
            <p:cNvSpPr/>
            <p:nvPr/>
          </p:nvSpPr>
          <p:spPr>
            <a:xfrm>
              <a:off x="948234" y="2708275"/>
              <a:ext cx="4320224" cy="21625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1DD7C29E-220A-039C-4872-C5A9D7FD0E8A}"/>
                </a:ext>
              </a:extLst>
            </p:cNvPr>
            <p:cNvSpPr/>
            <p:nvPr/>
          </p:nvSpPr>
          <p:spPr>
            <a:xfrm>
              <a:off x="2785313" y="4508500"/>
              <a:ext cx="499090" cy="150127"/>
            </a:xfrm>
            <a:prstGeom prst="rect">
              <a:avLst/>
            </a:prstGeom>
            <a:pattFill prst="wdUpDiag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35D9AF8B-3376-4798-8978-A804452CFF04}"/>
                </a:ext>
              </a:extLst>
            </p:cNvPr>
            <p:cNvSpPr/>
            <p:nvPr/>
          </p:nvSpPr>
          <p:spPr>
            <a:xfrm>
              <a:off x="2930801" y="2708275"/>
              <a:ext cx="144000" cy="180000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15C6AAFD-A84E-784F-31DB-BA14CF663C50}"/>
                </a:ext>
              </a:extLst>
            </p:cNvPr>
            <p:cNvSpPr/>
            <p:nvPr/>
          </p:nvSpPr>
          <p:spPr>
            <a:xfrm>
              <a:off x="4977482" y="4508500"/>
              <a:ext cx="499090" cy="150127"/>
            </a:xfrm>
            <a:prstGeom prst="rect">
              <a:avLst/>
            </a:prstGeom>
            <a:pattFill prst="wdUpDiag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DD95B2B8-AE41-91C8-8890-DCFAA99B3C61}"/>
                </a:ext>
              </a:extLst>
            </p:cNvPr>
            <p:cNvSpPr/>
            <p:nvPr/>
          </p:nvSpPr>
          <p:spPr>
            <a:xfrm>
              <a:off x="5122970" y="2708275"/>
              <a:ext cx="144000" cy="180000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CFDC01DB-0147-3DB8-4328-BA956B91C19E}"/>
              </a:ext>
            </a:extLst>
          </p:cNvPr>
          <p:cNvCxnSpPr/>
          <p:nvPr/>
        </p:nvCxnSpPr>
        <p:spPr>
          <a:xfrm>
            <a:off x="2388163" y="2358944"/>
            <a:ext cx="0" cy="22319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52F30F76-FB31-DB33-88D7-2FA65898AD1E}"/>
              </a:ext>
            </a:extLst>
          </p:cNvPr>
          <p:cNvCxnSpPr/>
          <p:nvPr/>
        </p:nvCxnSpPr>
        <p:spPr>
          <a:xfrm>
            <a:off x="2243825" y="2502960"/>
            <a:ext cx="3603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3DDD77F7-59B6-616E-21DF-6C8373369C01}"/>
              </a:ext>
            </a:extLst>
          </p:cNvPr>
          <p:cNvCxnSpPr/>
          <p:nvPr/>
        </p:nvCxnSpPr>
        <p:spPr>
          <a:xfrm>
            <a:off x="2243139" y="4485012"/>
            <a:ext cx="3603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F36189C6-ED21-2C89-17B8-BEB84760C08B}"/>
                  </a:ext>
                </a:extLst>
              </p:cNvPr>
              <p:cNvSpPr txBox="1"/>
              <p:nvPr/>
            </p:nvSpPr>
            <p:spPr>
              <a:xfrm>
                <a:off x="1810073" y="3247765"/>
                <a:ext cx="60484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F36189C6-ED21-2C89-17B8-BEB84760C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0073" y="3247765"/>
                <a:ext cx="604846" cy="246221"/>
              </a:xfrm>
              <a:prstGeom prst="rect">
                <a:avLst/>
              </a:prstGeom>
              <a:blipFill>
                <a:blip r:embed="rId2"/>
                <a:stretch>
                  <a:fillRect l="-8081" r="-4040" b="-50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B4797FC6-1517-692D-2E56-B48C5032DCD5}"/>
              </a:ext>
            </a:extLst>
          </p:cNvPr>
          <p:cNvCxnSpPr>
            <a:cxnSpLocks/>
          </p:cNvCxnSpPr>
          <p:nvPr/>
        </p:nvCxnSpPr>
        <p:spPr>
          <a:xfrm>
            <a:off x="2711649" y="4879224"/>
            <a:ext cx="515525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5AB85D76-1E13-A5EB-42FD-B6D5C1988733}"/>
              </a:ext>
            </a:extLst>
          </p:cNvPr>
          <p:cNvCxnSpPr/>
          <p:nvPr/>
        </p:nvCxnSpPr>
        <p:spPr>
          <a:xfrm>
            <a:off x="2986597" y="4744667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E790FB11-125F-3F72-E8F5-2AB051658AFD}"/>
              </a:ext>
            </a:extLst>
          </p:cNvPr>
          <p:cNvCxnSpPr/>
          <p:nvPr/>
        </p:nvCxnSpPr>
        <p:spPr>
          <a:xfrm>
            <a:off x="5170826" y="4744667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F4451327-6A7E-7295-09E3-6EB2308F348D}"/>
              </a:ext>
            </a:extLst>
          </p:cNvPr>
          <p:cNvCxnSpPr/>
          <p:nvPr/>
        </p:nvCxnSpPr>
        <p:spPr>
          <a:xfrm>
            <a:off x="7586928" y="4735208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upo 37">
            <a:extLst>
              <a:ext uri="{FF2B5EF4-FFF2-40B4-BE49-F238E27FC236}">
                <a16:creationId xmlns:a16="http://schemas.microsoft.com/office/drawing/2014/main" id="{54954D6D-CC84-C3E6-C3FC-2052C45EA298}"/>
              </a:ext>
            </a:extLst>
          </p:cNvPr>
          <p:cNvGrpSpPr/>
          <p:nvPr/>
        </p:nvGrpSpPr>
        <p:grpSpPr>
          <a:xfrm>
            <a:off x="2080872" y="5058915"/>
            <a:ext cx="1253448" cy="1101128"/>
            <a:chOff x="424663" y="4976843"/>
            <a:chExt cx="1253448" cy="1101128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180F0F17-A1B8-2181-B547-1C10414558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49729" y="5048875"/>
              <a:ext cx="431954" cy="432000"/>
            </a:xfrm>
            <a:prstGeom prst="rect">
              <a:avLst/>
            </a:prstGeom>
            <a:pattFill prst="wdUpDiag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77DD0DD3-F02E-B575-9564-FE09A1A55317}"/>
                </a:ext>
              </a:extLst>
            </p:cNvPr>
            <p:cNvCxnSpPr/>
            <p:nvPr/>
          </p:nvCxnSpPr>
          <p:spPr>
            <a:xfrm>
              <a:off x="1149729" y="5640390"/>
              <a:ext cx="0" cy="18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E601BA6D-2052-749B-8E4C-285F80AFBB27}"/>
                </a:ext>
              </a:extLst>
            </p:cNvPr>
            <p:cNvCxnSpPr>
              <a:cxnSpLocks/>
            </p:cNvCxnSpPr>
            <p:nvPr/>
          </p:nvCxnSpPr>
          <p:spPr>
            <a:xfrm>
              <a:off x="1042821" y="5733256"/>
              <a:ext cx="63529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B0EC4A1B-117F-9ECA-4D5F-076E5A7F455E}"/>
                    </a:ext>
                  </a:extLst>
                </p:cNvPr>
                <p:cNvSpPr txBox="1"/>
                <p:nvPr/>
              </p:nvSpPr>
              <p:spPr>
                <a:xfrm>
                  <a:off x="1110400" y="5893305"/>
                  <a:ext cx="47128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𝟑𝟎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𝒄𝒎</m:t>
                        </m:r>
                      </m:oMath>
                    </m:oMathPara>
                  </a14:m>
                  <a:endParaRPr lang="es-PE" sz="1200" b="1" i="1" dirty="0"/>
                </a:p>
              </p:txBody>
            </p:sp>
          </mc:Choice>
          <mc:Fallback xmlns=""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B0EC4A1B-117F-9ECA-4D5F-076E5A7F45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400" y="5893305"/>
                  <a:ext cx="471283" cy="184666"/>
                </a:xfrm>
                <a:prstGeom prst="rect">
                  <a:avLst/>
                </a:prstGeom>
                <a:blipFill>
                  <a:blip r:embed="rId3"/>
                  <a:stretch>
                    <a:fillRect l="-7792" r="-5195" b="-3226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0256719A-02F0-50D3-CDD6-92586642DA3D}"/>
                </a:ext>
              </a:extLst>
            </p:cNvPr>
            <p:cNvCxnSpPr>
              <a:cxnSpLocks/>
            </p:cNvCxnSpPr>
            <p:nvPr/>
          </p:nvCxnSpPr>
          <p:spPr>
            <a:xfrm>
              <a:off x="918571" y="4976843"/>
              <a:ext cx="0" cy="6127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46561584-17C2-B301-B7C0-CBDE41AFEA25}"/>
                </a:ext>
              </a:extLst>
            </p:cNvPr>
            <p:cNvCxnSpPr/>
            <p:nvPr/>
          </p:nvCxnSpPr>
          <p:spPr>
            <a:xfrm>
              <a:off x="801276" y="5042849"/>
              <a:ext cx="21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47B61D6A-9196-506A-46BB-F468D4B44EB0}"/>
                </a:ext>
              </a:extLst>
            </p:cNvPr>
            <p:cNvCxnSpPr/>
            <p:nvPr/>
          </p:nvCxnSpPr>
          <p:spPr>
            <a:xfrm>
              <a:off x="814039" y="5462158"/>
              <a:ext cx="21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311EC56E-9699-0352-1A25-6133DAA12D25}"/>
                </a:ext>
              </a:extLst>
            </p:cNvPr>
            <p:cNvCxnSpPr/>
            <p:nvPr/>
          </p:nvCxnSpPr>
          <p:spPr>
            <a:xfrm>
              <a:off x="1576430" y="5659132"/>
              <a:ext cx="0" cy="18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CuadroTexto 36">
                  <a:extLst>
                    <a:ext uri="{FF2B5EF4-FFF2-40B4-BE49-F238E27FC236}">
                      <a16:creationId xmlns:a16="http://schemas.microsoft.com/office/drawing/2014/main" id="{F470CAC1-752B-AA49-8BE2-E46BC72E6187}"/>
                    </a:ext>
                  </a:extLst>
                </p:cNvPr>
                <p:cNvSpPr txBox="1"/>
                <p:nvPr/>
              </p:nvSpPr>
              <p:spPr>
                <a:xfrm>
                  <a:off x="424663" y="5148731"/>
                  <a:ext cx="47128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𝟑𝟎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𝒄𝒎</m:t>
                        </m:r>
                      </m:oMath>
                    </m:oMathPara>
                  </a14:m>
                  <a:endParaRPr lang="es-PE" sz="1200" b="1" i="1" dirty="0"/>
                </a:p>
              </p:txBody>
            </p:sp>
          </mc:Choice>
          <mc:Fallback xmlns="">
            <p:sp>
              <p:nvSpPr>
                <p:cNvPr id="37" name="CuadroTexto 36">
                  <a:extLst>
                    <a:ext uri="{FF2B5EF4-FFF2-40B4-BE49-F238E27FC236}">
                      <a16:creationId xmlns:a16="http://schemas.microsoft.com/office/drawing/2014/main" id="{F470CAC1-752B-AA49-8BE2-E46BC72E61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663" y="5148731"/>
                  <a:ext cx="471283" cy="184666"/>
                </a:xfrm>
                <a:prstGeom prst="rect">
                  <a:avLst/>
                </a:prstGeom>
                <a:blipFill>
                  <a:blip r:embed="rId4"/>
                  <a:stretch>
                    <a:fillRect l="-7692" r="-5128" b="-6667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9396947E-B5B7-9FEA-496A-C485D416760A}"/>
              </a:ext>
            </a:extLst>
          </p:cNvPr>
          <p:cNvGrpSpPr/>
          <p:nvPr/>
        </p:nvGrpSpPr>
        <p:grpSpPr>
          <a:xfrm>
            <a:off x="4245760" y="5170053"/>
            <a:ext cx="1253448" cy="1101128"/>
            <a:chOff x="424663" y="4976843"/>
            <a:chExt cx="1253448" cy="1101128"/>
          </a:xfrm>
        </p:grpSpPr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FACC5F9A-5E29-3251-8BED-F66BE3F1BC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49729" y="5048875"/>
              <a:ext cx="504000" cy="432000"/>
            </a:xfrm>
            <a:prstGeom prst="rect">
              <a:avLst/>
            </a:prstGeom>
            <a:pattFill prst="wdUpDiag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1476BF03-4976-F2D7-B69D-5B12963ABB3F}"/>
                </a:ext>
              </a:extLst>
            </p:cNvPr>
            <p:cNvCxnSpPr/>
            <p:nvPr/>
          </p:nvCxnSpPr>
          <p:spPr>
            <a:xfrm>
              <a:off x="1149729" y="5640390"/>
              <a:ext cx="0" cy="18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3801204E-C8EB-2857-D435-F98093810063}"/>
                </a:ext>
              </a:extLst>
            </p:cNvPr>
            <p:cNvCxnSpPr>
              <a:cxnSpLocks/>
            </p:cNvCxnSpPr>
            <p:nvPr/>
          </p:nvCxnSpPr>
          <p:spPr>
            <a:xfrm>
              <a:off x="1042821" y="5733256"/>
              <a:ext cx="63529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CuadroTexto 42">
                  <a:extLst>
                    <a:ext uri="{FF2B5EF4-FFF2-40B4-BE49-F238E27FC236}">
                      <a16:creationId xmlns:a16="http://schemas.microsoft.com/office/drawing/2014/main" id="{E2A07CE4-A1D6-A3B8-3CE5-E7E8C0D38395}"/>
                    </a:ext>
                  </a:extLst>
                </p:cNvPr>
                <p:cNvSpPr txBox="1"/>
                <p:nvPr/>
              </p:nvSpPr>
              <p:spPr>
                <a:xfrm>
                  <a:off x="1110400" y="5893305"/>
                  <a:ext cx="47128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𝟑𝟓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𝒄𝒎</m:t>
                        </m:r>
                      </m:oMath>
                    </m:oMathPara>
                  </a14:m>
                  <a:endParaRPr lang="es-PE" sz="1200" b="1" i="1" dirty="0"/>
                </a:p>
              </p:txBody>
            </p:sp>
          </mc:Choice>
          <mc:Fallback xmlns="">
            <p:sp>
              <p:nvSpPr>
                <p:cNvPr id="43" name="CuadroTexto 42">
                  <a:extLst>
                    <a:ext uri="{FF2B5EF4-FFF2-40B4-BE49-F238E27FC236}">
                      <a16:creationId xmlns:a16="http://schemas.microsoft.com/office/drawing/2014/main" id="{E2A07CE4-A1D6-A3B8-3CE5-E7E8C0D383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400" y="5893305"/>
                  <a:ext cx="471283" cy="184666"/>
                </a:xfrm>
                <a:prstGeom prst="rect">
                  <a:avLst/>
                </a:prstGeom>
                <a:blipFill>
                  <a:blip r:embed="rId5"/>
                  <a:stretch>
                    <a:fillRect l="-9091" r="-5195" b="-6452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0097B614-9D4E-F932-40D6-22DEB0A2B7FD}"/>
                </a:ext>
              </a:extLst>
            </p:cNvPr>
            <p:cNvCxnSpPr>
              <a:cxnSpLocks/>
            </p:cNvCxnSpPr>
            <p:nvPr/>
          </p:nvCxnSpPr>
          <p:spPr>
            <a:xfrm>
              <a:off x="918571" y="4976843"/>
              <a:ext cx="0" cy="6127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71E37251-F13A-8BFB-D581-124A8965E6E4}"/>
                </a:ext>
              </a:extLst>
            </p:cNvPr>
            <p:cNvCxnSpPr/>
            <p:nvPr/>
          </p:nvCxnSpPr>
          <p:spPr>
            <a:xfrm>
              <a:off x="801276" y="5042849"/>
              <a:ext cx="21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540A507A-D001-AF41-662B-1259C0648680}"/>
                </a:ext>
              </a:extLst>
            </p:cNvPr>
            <p:cNvCxnSpPr/>
            <p:nvPr/>
          </p:nvCxnSpPr>
          <p:spPr>
            <a:xfrm>
              <a:off x="814039" y="5462158"/>
              <a:ext cx="21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755B1E69-4C28-B938-BBB9-9CD1E12C14D0}"/>
                </a:ext>
              </a:extLst>
            </p:cNvPr>
            <p:cNvCxnSpPr/>
            <p:nvPr/>
          </p:nvCxnSpPr>
          <p:spPr>
            <a:xfrm>
              <a:off x="1644166" y="5650665"/>
              <a:ext cx="0" cy="18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CuadroTexto 47">
                  <a:extLst>
                    <a:ext uri="{FF2B5EF4-FFF2-40B4-BE49-F238E27FC236}">
                      <a16:creationId xmlns:a16="http://schemas.microsoft.com/office/drawing/2014/main" id="{90F36EC7-41DC-5C3A-3CBC-B706C5961235}"/>
                    </a:ext>
                  </a:extLst>
                </p:cNvPr>
                <p:cNvSpPr txBox="1"/>
                <p:nvPr/>
              </p:nvSpPr>
              <p:spPr>
                <a:xfrm>
                  <a:off x="424663" y="5148731"/>
                  <a:ext cx="47128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𝟑𝟎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𝒄𝒎</m:t>
                        </m:r>
                      </m:oMath>
                    </m:oMathPara>
                  </a14:m>
                  <a:endParaRPr lang="es-PE" sz="1200" b="1" i="1" dirty="0"/>
                </a:p>
              </p:txBody>
            </p:sp>
          </mc:Choice>
          <mc:Fallback xmlns="">
            <p:sp>
              <p:nvSpPr>
                <p:cNvPr id="48" name="CuadroTexto 47">
                  <a:extLst>
                    <a:ext uri="{FF2B5EF4-FFF2-40B4-BE49-F238E27FC236}">
                      <a16:creationId xmlns:a16="http://schemas.microsoft.com/office/drawing/2014/main" id="{90F36EC7-41DC-5C3A-3CBC-B706C59612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663" y="5148731"/>
                  <a:ext cx="471283" cy="184666"/>
                </a:xfrm>
                <a:prstGeom prst="rect">
                  <a:avLst/>
                </a:prstGeom>
                <a:blipFill>
                  <a:blip r:embed="rId6"/>
                  <a:stretch>
                    <a:fillRect l="-7692" r="-5128" b="-3226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upo 48">
            <a:extLst>
              <a:ext uri="{FF2B5EF4-FFF2-40B4-BE49-F238E27FC236}">
                <a16:creationId xmlns:a16="http://schemas.microsoft.com/office/drawing/2014/main" id="{B304BAF0-437D-3B6A-76B7-8A8CCA3E28B7}"/>
              </a:ext>
            </a:extLst>
          </p:cNvPr>
          <p:cNvGrpSpPr/>
          <p:nvPr/>
        </p:nvGrpSpPr>
        <p:grpSpPr>
          <a:xfrm>
            <a:off x="6565838" y="5190640"/>
            <a:ext cx="1301066" cy="1101128"/>
            <a:chOff x="424663" y="4976843"/>
            <a:chExt cx="1301066" cy="1101128"/>
          </a:xfrm>
        </p:grpSpPr>
        <p:sp>
          <p:nvSpPr>
            <p:cNvPr id="50" name="Rectángulo 49">
              <a:extLst>
                <a:ext uri="{FF2B5EF4-FFF2-40B4-BE49-F238E27FC236}">
                  <a16:creationId xmlns:a16="http://schemas.microsoft.com/office/drawing/2014/main" id="{41443029-9884-E4A1-0E69-4B2EE5B676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49729" y="5048875"/>
              <a:ext cx="576000" cy="432000"/>
            </a:xfrm>
            <a:prstGeom prst="rect">
              <a:avLst/>
            </a:prstGeom>
            <a:pattFill prst="wdUpDiag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847F684D-3233-EB67-C7AC-DDF841C4EC1C}"/>
                </a:ext>
              </a:extLst>
            </p:cNvPr>
            <p:cNvCxnSpPr/>
            <p:nvPr/>
          </p:nvCxnSpPr>
          <p:spPr>
            <a:xfrm>
              <a:off x="1149729" y="5640390"/>
              <a:ext cx="0" cy="18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F474D313-96D9-D812-2B99-899F3F55AE84}"/>
                </a:ext>
              </a:extLst>
            </p:cNvPr>
            <p:cNvCxnSpPr>
              <a:cxnSpLocks/>
            </p:cNvCxnSpPr>
            <p:nvPr/>
          </p:nvCxnSpPr>
          <p:spPr>
            <a:xfrm>
              <a:off x="1042821" y="5733256"/>
              <a:ext cx="63529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CuadroTexto 52">
                  <a:extLst>
                    <a:ext uri="{FF2B5EF4-FFF2-40B4-BE49-F238E27FC236}">
                      <a16:creationId xmlns:a16="http://schemas.microsoft.com/office/drawing/2014/main" id="{447BFE75-5D67-A0C0-EA78-3BC57F2FB6D9}"/>
                    </a:ext>
                  </a:extLst>
                </p:cNvPr>
                <p:cNvSpPr txBox="1"/>
                <p:nvPr/>
              </p:nvSpPr>
              <p:spPr>
                <a:xfrm>
                  <a:off x="1110400" y="5893305"/>
                  <a:ext cx="47128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𝟒𝟓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𝒄𝒎</m:t>
                        </m:r>
                      </m:oMath>
                    </m:oMathPara>
                  </a14:m>
                  <a:endParaRPr lang="es-PE" sz="1200" b="1" i="1" dirty="0"/>
                </a:p>
              </p:txBody>
            </p:sp>
          </mc:Choice>
          <mc:Fallback xmlns="">
            <p:sp>
              <p:nvSpPr>
                <p:cNvPr id="53" name="CuadroTexto 52">
                  <a:extLst>
                    <a:ext uri="{FF2B5EF4-FFF2-40B4-BE49-F238E27FC236}">
                      <a16:creationId xmlns:a16="http://schemas.microsoft.com/office/drawing/2014/main" id="{447BFE75-5D67-A0C0-EA78-3BC57F2FB6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400" y="5893305"/>
                  <a:ext cx="471283" cy="184666"/>
                </a:xfrm>
                <a:prstGeom prst="rect">
                  <a:avLst/>
                </a:prstGeom>
                <a:blipFill>
                  <a:blip r:embed="rId7"/>
                  <a:stretch>
                    <a:fillRect l="-9091" r="-5195" b="-6667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071A0967-D1A8-C4A1-A860-44CD3C803799}"/>
                </a:ext>
              </a:extLst>
            </p:cNvPr>
            <p:cNvCxnSpPr>
              <a:cxnSpLocks/>
            </p:cNvCxnSpPr>
            <p:nvPr/>
          </p:nvCxnSpPr>
          <p:spPr>
            <a:xfrm>
              <a:off x="918571" y="4976843"/>
              <a:ext cx="0" cy="6127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7984E6A3-28E1-13A8-7A7E-ABBA2E2FA532}"/>
                </a:ext>
              </a:extLst>
            </p:cNvPr>
            <p:cNvCxnSpPr/>
            <p:nvPr/>
          </p:nvCxnSpPr>
          <p:spPr>
            <a:xfrm>
              <a:off x="801276" y="5042849"/>
              <a:ext cx="21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55">
              <a:extLst>
                <a:ext uri="{FF2B5EF4-FFF2-40B4-BE49-F238E27FC236}">
                  <a16:creationId xmlns:a16="http://schemas.microsoft.com/office/drawing/2014/main" id="{FDCA4726-4C9F-A280-ED7F-3595283ED598}"/>
                </a:ext>
              </a:extLst>
            </p:cNvPr>
            <p:cNvCxnSpPr/>
            <p:nvPr/>
          </p:nvCxnSpPr>
          <p:spPr>
            <a:xfrm>
              <a:off x="814039" y="5462158"/>
              <a:ext cx="21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cto 56">
              <a:extLst>
                <a:ext uri="{FF2B5EF4-FFF2-40B4-BE49-F238E27FC236}">
                  <a16:creationId xmlns:a16="http://schemas.microsoft.com/office/drawing/2014/main" id="{0F093772-58C3-4601-298C-BE4744DC27D8}"/>
                </a:ext>
              </a:extLst>
            </p:cNvPr>
            <p:cNvCxnSpPr/>
            <p:nvPr/>
          </p:nvCxnSpPr>
          <p:spPr>
            <a:xfrm>
              <a:off x="1644166" y="5650665"/>
              <a:ext cx="0" cy="18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CuadroTexto 57">
                  <a:extLst>
                    <a:ext uri="{FF2B5EF4-FFF2-40B4-BE49-F238E27FC236}">
                      <a16:creationId xmlns:a16="http://schemas.microsoft.com/office/drawing/2014/main" id="{4D8B660E-C570-7404-E61F-DCA0B963694D}"/>
                    </a:ext>
                  </a:extLst>
                </p:cNvPr>
                <p:cNvSpPr txBox="1"/>
                <p:nvPr/>
              </p:nvSpPr>
              <p:spPr>
                <a:xfrm>
                  <a:off x="424663" y="5148731"/>
                  <a:ext cx="47128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𝟑𝟎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𝒄𝒎</m:t>
                        </m:r>
                      </m:oMath>
                    </m:oMathPara>
                  </a14:m>
                  <a:endParaRPr lang="es-PE" sz="1200" b="1" i="1" dirty="0"/>
                </a:p>
              </p:txBody>
            </p:sp>
          </mc:Choice>
          <mc:Fallback xmlns="">
            <p:sp>
              <p:nvSpPr>
                <p:cNvPr id="58" name="CuadroTexto 57">
                  <a:extLst>
                    <a:ext uri="{FF2B5EF4-FFF2-40B4-BE49-F238E27FC236}">
                      <a16:creationId xmlns:a16="http://schemas.microsoft.com/office/drawing/2014/main" id="{4D8B660E-C570-7404-E61F-DCA0B96369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663" y="5148731"/>
                  <a:ext cx="471283" cy="184666"/>
                </a:xfrm>
                <a:prstGeom prst="rect">
                  <a:avLst/>
                </a:prstGeom>
                <a:blipFill>
                  <a:blip r:embed="rId4"/>
                  <a:stretch>
                    <a:fillRect l="-7792" r="-6494" b="-6667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B9D0E3A8-D1D0-2B0D-B28C-4B4A300D8206}"/>
              </a:ext>
            </a:extLst>
          </p:cNvPr>
          <p:cNvGrpSpPr/>
          <p:nvPr/>
        </p:nvGrpSpPr>
        <p:grpSpPr>
          <a:xfrm>
            <a:off x="7888408" y="2337818"/>
            <a:ext cx="1155667" cy="1137101"/>
            <a:chOff x="426016" y="4940870"/>
            <a:chExt cx="1155667" cy="1137101"/>
          </a:xfrm>
        </p:grpSpPr>
        <p:sp>
          <p:nvSpPr>
            <p:cNvPr id="60" name="Rectángulo 59">
              <a:extLst>
                <a:ext uri="{FF2B5EF4-FFF2-40B4-BE49-F238E27FC236}">
                  <a16:creationId xmlns:a16="http://schemas.microsoft.com/office/drawing/2014/main" id="{8A559CAF-DBDB-9BFD-557A-9CB0D9E00E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49729" y="5048875"/>
              <a:ext cx="324000" cy="540000"/>
            </a:xfrm>
            <a:prstGeom prst="rect">
              <a:avLst/>
            </a:prstGeom>
            <a:pattFill prst="wdUpDiag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cxnSp>
          <p:nvCxnSpPr>
            <p:cNvPr id="61" name="Conector recto 60">
              <a:extLst>
                <a:ext uri="{FF2B5EF4-FFF2-40B4-BE49-F238E27FC236}">
                  <a16:creationId xmlns:a16="http://schemas.microsoft.com/office/drawing/2014/main" id="{30A144B4-A2B8-5233-FB46-84C03CA4553C}"/>
                </a:ext>
              </a:extLst>
            </p:cNvPr>
            <p:cNvCxnSpPr/>
            <p:nvPr/>
          </p:nvCxnSpPr>
          <p:spPr>
            <a:xfrm>
              <a:off x="1149729" y="5640390"/>
              <a:ext cx="0" cy="18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recto 61">
              <a:extLst>
                <a:ext uri="{FF2B5EF4-FFF2-40B4-BE49-F238E27FC236}">
                  <a16:creationId xmlns:a16="http://schemas.microsoft.com/office/drawing/2014/main" id="{24214798-2537-4986-DD4F-A5E5C413666E}"/>
                </a:ext>
              </a:extLst>
            </p:cNvPr>
            <p:cNvCxnSpPr>
              <a:cxnSpLocks/>
            </p:cNvCxnSpPr>
            <p:nvPr/>
          </p:nvCxnSpPr>
          <p:spPr>
            <a:xfrm>
              <a:off x="1068222" y="5733256"/>
              <a:ext cx="468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6EBC0F68-DE55-F623-80C0-592EC4574729}"/>
                    </a:ext>
                  </a:extLst>
                </p:cNvPr>
                <p:cNvSpPr txBox="1"/>
                <p:nvPr/>
              </p:nvSpPr>
              <p:spPr>
                <a:xfrm>
                  <a:off x="1110400" y="5893305"/>
                  <a:ext cx="47128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𝟑𝟎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𝒄𝒎</m:t>
                        </m:r>
                      </m:oMath>
                    </m:oMathPara>
                  </a14:m>
                  <a:endParaRPr lang="es-PE" sz="1200" b="1" i="1" dirty="0"/>
                </a:p>
              </p:txBody>
            </p:sp>
          </mc:Choice>
          <mc:Fallback xmlns=""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6EBC0F68-DE55-F623-80C0-592EC45747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400" y="5893305"/>
                  <a:ext cx="471283" cy="184666"/>
                </a:xfrm>
                <a:prstGeom prst="rect">
                  <a:avLst/>
                </a:prstGeom>
                <a:blipFill>
                  <a:blip r:embed="rId4"/>
                  <a:stretch>
                    <a:fillRect l="-7692" r="-5128" b="-6667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4" name="Conector recto 63">
              <a:extLst>
                <a:ext uri="{FF2B5EF4-FFF2-40B4-BE49-F238E27FC236}">
                  <a16:creationId xmlns:a16="http://schemas.microsoft.com/office/drawing/2014/main" id="{BC7A24C7-DD4D-87DE-C72B-CF2B74C449BE}"/>
                </a:ext>
              </a:extLst>
            </p:cNvPr>
            <p:cNvCxnSpPr>
              <a:cxnSpLocks/>
            </p:cNvCxnSpPr>
            <p:nvPr/>
          </p:nvCxnSpPr>
          <p:spPr>
            <a:xfrm>
              <a:off x="918571" y="4940870"/>
              <a:ext cx="0" cy="72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9CE1FA22-E1BE-8A39-F1D4-668589BD633C}"/>
                </a:ext>
              </a:extLst>
            </p:cNvPr>
            <p:cNvCxnSpPr/>
            <p:nvPr/>
          </p:nvCxnSpPr>
          <p:spPr>
            <a:xfrm>
              <a:off x="801276" y="5042849"/>
              <a:ext cx="21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ector recto 65">
              <a:extLst>
                <a:ext uri="{FF2B5EF4-FFF2-40B4-BE49-F238E27FC236}">
                  <a16:creationId xmlns:a16="http://schemas.microsoft.com/office/drawing/2014/main" id="{51EAE19B-15B6-F643-596C-47AA44D7E0A6}"/>
                </a:ext>
              </a:extLst>
            </p:cNvPr>
            <p:cNvCxnSpPr/>
            <p:nvPr/>
          </p:nvCxnSpPr>
          <p:spPr>
            <a:xfrm>
              <a:off x="814039" y="5572229"/>
              <a:ext cx="21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ector recto 66">
              <a:extLst>
                <a:ext uri="{FF2B5EF4-FFF2-40B4-BE49-F238E27FC236}">
                  <a16:creationId xmlns:a16="http://schemas.microsoft.com/office/drawing/2014/main" id="{E52223AB-855C-4DE8-6042-A187D31A64F9}"/>
                </a:ext>
              </a:extLst>
            </p:cNvPr>
            <p:cNvCxnSpPr/>
            <p:nvPr/>
          </p:nvCxnSpPr>
          <p:spPr>
            <a:xfrm>
              <a:off x="1500229" y="5650665"/>
              <a:ext cx="0" cy="18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CuadroTexto 67">
                  <a:extLst>
                    <a:ext uri="{FF2B5EF4-FFF2-40B4-BE49-F238E27FC236}">
                      <a16:creationId xmlns:a16="http://schemas.microsoft.com/office/drawing/2014/main" id="{FBFB130B-B08B-2AFC-8A1E-7126928B240E}"/>
                    </a:ext>
                  </a:extLst>
                </p:cNvPr>
                <p:cNvSpPr txBox="1"/>
                <p:nvPr/>
              </p:nvSpPr>
              <p:spPr>
                <a:xfrm>
                  <a:off x="426016" y="5231081"/>
                  <a:ext cx="47128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𝟓𝟎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𝒄𝒎</m:t>
                        </m:r>
                      </m:oMath>
                    </m:oMathPara>
                  </a14:m>
                  <a:endParaRPr lang="es-PE" sz="1200" b="1" i="1" dirty="0"/>
                </a:p>
              </p:txBody>
            </p:sp>
          </mc:Choice>
          <mc:Fallback xmlns="">
            <p:sp>
              <p:nvSpPr>
                <p:cNvPr id="68" name="CuadroTexto 67">
                  <a:extLst>
                    <a:ext uri="{FF2B5EF4-FFF2-40B4-BE49-F238E27FC236}">
                      <a16:creationId xmlns:a16="http://schemas.microsoft.com/office/drawing/2014/main" id="{FBFB130B-B08B-2AFC-8A1E-7126928B24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016" y="5231081"/>
                  <a:ext cx="471283" cy="184666"/>
                </a:xfrm>
                <a:prstGeom prst="rect">
                  <a:avLst/>
                </a:prstGeom>
                <a:blipFill>
                  <a:blip r:embed="rId8"/>
                  <a:stretch>
                    <a:fillRect l="-7792" r="-6494" b="-10000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F52E15BC-D1B4-36D4-705D-21DFAC84EC13}"/>
                  </a:ext>
                </a:extLst>
              </p:cNvPr>
              <p:cNvSpPr txBox="1"/>
              <p:nvPr/>
            </p:nvSpPr>
            <p:spPr>
              <a:xfrm>
                <a:off x="8112572" y="3594436"/>
                <a:ext cx="2084866" cy="10172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𝐴𝑠𝑢𝑚𝑖𝑒𝑛𝑑𝑜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s-PE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=210 </m:t>
                      </m:r>
                      <m:f>
                        <m:fPr>
                          <m:type m:val="skw"/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𝐾𝑔𝑓</m:t>
                          </m:r>
                        </m:num>
                        <m:den>
                          <m:sSup>
                            <m:sSup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𝑐𝑚</m:t>
                              </m:r>
                            </m:e>
                            <m:sup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PE" b="0" dirty="0"/>
              </a:p>
              <a:p>
                <a:r>
                  <a:rPr lang="es-PE" dirty="0"/>
                  <a:t> </a:t>
                </a:r>
              </a:p>
            </p:txBody>
          </p:sp>
        </mc:Choice>
        <mc:Fallback xmlns="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F52E15BC-D1B4-36D4-705D-21DFAC84E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2572" y="3594436"/>
                <a:ext cx="2084866" cy="1017266"/>
              </a:xfrm>
              <a:prstGeom prst="rect">
                <a:avLst/>
              </a:prstGeom>
              <a:blipFill>
                <a:blip r:embed="rId9"/>
                <a:stretch>
                  <a:fillRect l="-4094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Elipse 70">
            <a:extLst>
              <a:ext uri="{FF2B5EF4-FFF2-40B4-BE49-F238E27FC236}">
                <a16:creationId xmlns:a16="http://schemas.microsoft.com/office/drawing/2014/main" id="{5797D301-E54F-7E4D-6053-EEA2CA4CA610}"/>
              </a:ext>
            </a:extLst>
          </p:cNvPr>
          <p:cNvSpPr>
            <a:spLocks noChangeAspect="1"/>
          </p:cNvSpPr>
          <p:nvPr/>
        </p:nvSpPr>
        <p:spPr>
          <a:xfrm>
            <a:off x="3113484" y="4233012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77D2F143-2B14-C132-AC59-40180FF1CE6C}"/>
              </a:ext>
            </a:extLst>
          </p:cNvPr>
          <p:cNvSpPr>
            <a:spLocks noChangeAspect="1"/>
          </p:cNvSpPr>
          <p:nvPr/>
        </p:nvSpPr>
        <p:spPr>
          <a:xfrm>
            <a:off x="2617529" y="2124579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3" name="Elipse 72">
            <a:extLst>
              <a:ext uri="{FF2B5EF4-FFF2-40B4-BE49-F238E27FC236}">
                <a16:creationId xmlns:a16="http://schemas.microsoft.com/office/drawing/2014/main" id="{9EC7B562-B335-1DED-E25C-D5CC2A67D10F}"/>
              </a:ext>
            </a:extLst>
          </p:cNvPr>
          <p:cNvSpPr>
            <a:spLocks noChangeAspect="1"/>
          </p:cNvSpPr>
          <p:nvPr/>
        </p:nvSpPr>
        <p:spPr>
          <a:xfrm>
            <a:off x="5375275" y="4225286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79329118-C02E-7578-1B67-CC7345185D06}"/>
              </a:ext>
            </a:extLst>
          </p:cNvPr>
          <p:cNvSpPr>
            <a:spLocks noChangeAspect="1"/>
          </p:cNvSpPr>
          <p:nvPr/>
        </p:nvSpPr>
        <p:spPr>
          <a:xfrm>
            <a:off x="5062092" y="2077932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5" name="Elipse 74">
            <a:extLst>
              <a:ext uri="{FF2B5EF4-FFF2-40B4-BE49-F238E27FC236}">
                <a16:creationId xmlns:a16="http://schemas.microsoft.com/office/drawing/2014/main" id="{1988DA50-0592-E658-0DC0-7F89F4A7D8C2}"/>
              </a:ext>
            </a:extLst>
          </p:cNvPr>
          <p:cNvSpPr>
            <a:spLocks noChangeAspect="1"/>
          </p:cNvSpPr>
          <p:nvPr/>
        </p:nvSpPr>
        <p:spPr>
          <a:xfrm>
            <a:off x="7761362" y="4215842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6" name="Elipse 75">
            <a:extLst>
              <a:ext uri="{FF2B5EF4-FFF2-40B4-BE49-F238E27FC236}">
                <a16:creationId xmlns:a16="http://schemas.microsoft.com/office/drawing/2014/main" id="{8A889275-A79C-3D1E-0941-98D89C3F79C6}"/>
              </a:ext>
            </a:extLst>
          </p:cNvPr>
          <p:cNvSpPr>
            <a:spLocks noChangeAspect="1"/>
          </p:cNvSpPr>
          <p:nvPr/>
        </p:nvSpPr>
        <p:spPr>
          <a:xfrm>
            <a:off x="7706711" y="2139169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3" name="Flecha: a la derecha 2">
            <a:extLst>
              <a:ext uri="{FF2B5EF4-FFF2-40B4-BE49-F238E27FC236}">
                <a16:creationId xmlns:a16="http://schemas.microsoft.com/office/drawing/2014/main" id="{0ECD0CA7-E394-E6A9-6134-DDF4F0ACEDA9}"/>
              </a:ext>
            </a:extLst>
          </p:cNvPr>
          <p:cNvSpPr/>
          <p:nvPr/>
        </p:nvSpPr>
        <p:spPr>
          <a:xfrm>
            <a:off x="1119116" y="2368297"/>
            <a:ext cx="1762808" cy="246220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D5ACF0F-AC9F-9BFD-E903-55AD0C740D6A}"/>
              </a:ext>
            </a:extLst>
          </p:cNvPr>
          <p:cNvSpPr txBox="1"/>
          <p:nvPr/>
        </p:nvSpPr>
        <p:spPr>
          <a:xfrm>
            <a:off x="843257" y="2065114"/>
            <a:ext cx="1106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>
                <a:solidFill>
                  <a:srgbClr val="0070C0"/>
                </a:solidFill>
              </a:rPr>
              <a:t>6500 Kgf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C8E2B9FA-D40B-E471-C16D-3679C6000FA2}"/>
                  </a:ext>
                </a:extLst>
              </p:cNvPr>
              <p:cNvSpPr txBox="1"/>
              <p:nvPr/>
            </p:nvSpPr>
            <p:spPr>
              <a:xfrm>
                <a:off x="3744113" y="4555145"/>
                <a:ext cx="72827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𝟖𝟎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C8E2B9FA-D40B-E471-C16D-3679C6000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113" y="4555145"/>
                <a:ext cx="728276" cy="246221"/>
              </a:xfrm>
              <a:prstGeom prst="rect">
                <a:avLst/>
              </a:prstGeom>
              <a:blipFill>
                <a:blip r:embed="rId10"/>
                <a:stretch>
                  <a:fillRect l="-5833" r="-3333" b="-487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18DF3144-8A5E-37F3-B0B6-EED6E5C02880}"/>
                  </a:ext>
                </a:extLst>
              </p:cNvPr>
              <p:cNvSpPr txBox="1"/>
              <p:nvPr/>
            </p:nvSpPr>
            <p:spPr>
              <a:xfrm>
                <a:off x="6020004" y="4548652"/>
                <a:ext cx="60484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18DF3144-8A5E-37F3-B0B6-EED6E5C02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004" y="4548652"/>
                <a:ext cx="604846" cy="246221"/>
              </a:xfrm>
              <a:prstGeom prst="rect">
                <a:avLst/>
              </a:prstGeom>
              <a:blipFill>
                <a:blip r:embed="rId11"/>
                <a:stretch>
                  <a:fillRect l="-8081" r="-4040" b="-487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0201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D4B30-9B7A-4FF3-9506-6E2F889CB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1° Determinar los puntos de inflexión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3903A5C6-AB62-8217-6604-553267E4BC12}"/>
              </a:ext>
            </a:extLst>
          </p:cNvPr>
          <p:cNvGrpSpPr/>
          <p:nvPr/>
        </p:nvGrpSpPr>
        <p:grpSpPr>
          <a:xfrm>
            <a:off x="1156230" y="2493924"/>
            <a:ext cx="5149238" cy="2304901"/>
            <a:chOff x="802746" y="2708275"/>
            <a:chExt cx="4673826" cy="1950578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F092B829-0F0C-F37E-7FB0-DF0011828F6E}"/>
                </a:ext>
              </a:extLst>
            </p:cNvPr>
            <p:cNvSpPr/>
            <p:nvPr/>
          </p:nvSpPr>
          <p:spPr>
            <a:xfrm>
              <a:off x="802746" y="4508726"/>
              <a:ext cx="499090" cy="150127"/>
            </a:xfrm>
            <a:prstGeom prst="rect">
              <a:avLst/>
            </a:prstGeom>
            <a:pattFill prst="wdUpDiag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26E44751-1FBE-FDF6-F5DB-F916D18BA2C2}"/>
                </a:ext>
              </a:extLst>
            </p:cNvPr>
            <p:cNvSpPr/>
            <p:nvPr/>
          </p:nvSpPr>
          <p:spPr>
            <a:xfrm>
              <a:off x="948234" y="2708501"/>
              <a:ext cx="144000" cy="180000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3BF99385-421A-A497-46F6-F625D68D10BB}"/>
                </a:ext>
              </a:extLst>
            </p:cNvPr>
            <p:cNvSpPr/>
            <p:nvPr/>
          </p:nvSpPr>
          <p:spPr>
            <a:xfrm>
              <a:off x="948234" y="2708275"/>
              <a:ext cx="4320224" cy="21625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1DD7C29E-220A-039C-4872-C5A9D7FD0E8A}"/>
                </a:ext>
              </a:extLst>
            </p:cNvPr>
            <p:cNvSpPr/>
            <p:nvPr/>
          </p:nvSpPr>
          <p:spPr>
            <a:xfrm>
              <a:off x="2785313" y="4508500"/>
              <a:ext cx="499090" cy="150127"/>
            </a:xfrm>
            <a:prstGeom prst="rect">
              <a:avLst/>
            </a:prstGeom>
            <a:pattFill prst="wdUpDiag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35D9AF8B-3376-4798-8978-A804452CFF04}"/>
                </a:ext>
              </a:extLst>
            </p:cNvPr>
            <p:cNvSpPr/>
            <p:nvPr/>
          </p:nvSpPr>
          <p:spPr>
            <a:xfrm>
              <a:off x="2930801" y="2708275"/>
              <a:ext cx="144000" cy="180000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15C6AAFD-A84E-784F-31DB-BA14CF663C50}"/>
                </a:ext>
              </a:extLst>
            </p:cNvPr>
            <p:cNvSpPr/>
            <p:nvPr/>
          </p:nvSpPr>
          <p:spPr>
            <a:xfrm>
              <a:off x="4977482" y="4508500"/>
              <a:ext cx="499090" cy="150127"/>
            </a:xfrm>
            <a:prstGeom prst="rect">
              <a:avLst/>
            </a:prstGeom>
            <a:pattFill prst="wdUpDiag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DD95B2B8-AE41-91C8-8890-DCFAA99B3C61}"/>
                </a:ext>
              </a:extLst>
            </p:cNvPr>
            <p:cNvSpPr/>
            <p:nvPr/>
          </p:nvSpPr>
          <p:spPr>
            <a:xfrm>
              <a:off x="5122970" y="2708275"/>
              <a:ext cx="144000" cy="180000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CFDC01DB-0147-3DB8-4328-BA956B91C19E}"/>
              </a:ext>
            </a:extLst>
          </p:cNvPr>
          <p:cNvCxnSpPr/>
          <p:nvPr/>
        </p:nvCxnSpPr>
        <p:spPr>
          <a:xfrm>
            <a:off x="797406" y="2494247"/>
            <a:ext cx="0" cy="22319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52F30F76-FB31-DB33-88D7-2FA65898AD1E}"/>
              </a:ext>
            </a:extLst>
          </p:cNvPr>
          <p:cNvCxnSpPr/>
          <p:nvPr/>
        </p:nvCxnSpPr>
        <p:spPr>
          <a:xfrm>
            <a:off x="653068" y="2638263"/>
            <a:ext cx="3603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3DDD77F7-59B6-616E-21DF-6C8373369C01}"/>
              </a:ext>
            </a:extLst>
          </p:cNvPr>
          <p:cNvCxnSpPr/>
          <p:nvPr/>
        </p:nvCxnSpPr>
        <p:spPr>
          <a:xfrm>
            <a:off x="652382" y="4620315"/>
            <a:ext cx="3603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F36189C6-ED21-2C89-17B8-BEB84760C08B}"/>
                  </a:ext>
                </a:extLst>
              </p:cNvPr>
              <p:cNvSpPr txBox="1"/>
              <p:nvPr/>
            </p:nvSpPr>
            <p:spPr>
              <a:xfrm>
                <a:off x="128577" y="3429000"/>
                <a:ext cx="60484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F36189C6-ED21-2C89-17B8-BEB84760C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77" y="3429000"/>
                <a:ext cx="604846" cy="246221"/>
              </a:xfrm>
              <a:prstGeom prst="rect">
                <a:avLst/>
              </a:prstGeom>
              <a:blipFill>
                <a:blip r:embed="rId2"/>
                <a:stretch>
                  <a:fillRect l="-7071" r="-5051" b="-50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B4797FC6-1517-692D-2E56-B48C5032DCD5}"/>
              </a:ext>
            </a:extLst>
          </p:cNvPr>
          <p:cNvCxnSpPr>
            <a:cxnSpLocks/>
          </p:cNvCxnSpPr>
          <p:nvPr/>
        </p:nvCxnSpPr>
        <p:spPr>
          <a:xfrm>
            <a:off x="1120892" y="5014527"/>
            <a:ext cx="515525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5AB85D76-1E13-A5EB-42FD-B6D5C1988733}"/>
              </a:ext>
            </a:extLst>
          </p:cNvPr>
          <p:cNvCxnSpPr/>
          <p:nvPr/>
        </p:nvCxnSpPr>
        <p:spPr>
          <a:xfrm>
            <a:off x="1395840" y="4879970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E790FB11-125F-3F72-E8F5-2AB051658AFD}"/>
              </a:ext>
            </a:extLst>
          </p:cNvPr>
          <p:cNvCxnSpPr/>
          <p:nvPr/>
        </p:nvCxnSpPr>
        <p:spPr>
          <a:xfrm>
            <a:off x="3580069" y="4879970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F4451327-6A7E-7295-09E3-6EB2308F348D}"/>
              </a:ext>
            </a:extLst>
          </p:cNvPr>
          <p:cNvCxnSpPr/>
          <p:nvPr/>
        </p:nvCxnSpPr>
        <p:spPr>
          <a:xfrm>
            <a:off x="5996171" y="4870511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upo 37">
            <a:extLst>
              <a:ext uri="{FF2B5EF4-FFF2-40B4-BE49-F238E27FC236}">
                <a16:creationId xmlns:a16="http://schemas.microsoft.com/office/drawing/2014/main" id="{54954D6D-CC84-C3E6-C3FC-2052C45EA298}"/>
              </a:ext>
            </a:extLst>
          </p:cNvPr>
          <p:cNvGrpSpPr/>
          <p:nvPr/>
        </p:nvGrpSpPr>
        <p:grpSpPr>
          <a:xfrm>
            <a:off x="490115" y="5194218"/>
            <a:ext cx="1253448" cy="1101128"/>
            <a:chOff x="424663" y="4976843"/>
            <a:chExt cx="1253448" cy="1101128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180F0F17-A1B8-2181-B547-1C10414558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49729" y="5048875"/>
              <a:ext cx="431954" cy="432000"/>
            </a:xfrm>
            <a:prstGeom prst="rect">
              <a:avLst/>
            </a:prstGeom>
            <a:pattFill prst="wdUpDiag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77DD0DD3-F02E-B575-9564-FE09A1A55317}"/>
                </a:ext>
              </a:extLst>
            </p:cNvPr>
            <p:cNvCxnSpPr/>
            <p:nvPr/>
          </p:nvCxnSpPr>
          <p:spPr>
            <a:xfrm>
              <a:off x="1149729" y="5640390"/>
              <a:ext cx="0" cy="18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E601BA6D-2052-749B-8E4C-285F80AFBB27}"/>
                </a:ext>
              </a:extLst>
            </p:cNvPr>
            <p:cNvCxnSpPr>
              <a:cxnSpLocks/>
            </p:cNvCxnSpPr>
            <p:nvPr/>
          </p:nvCxnSpPr>
          <p:spPr>
            <a:xfrm>
              <a:off x="1042821" y="5733256"/>
              <a:ext cx="63529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B0EC4A1B-117F-9ECA-4D5F-076E5A7F455E}"/>
                    </a:ext>
                  </a:extLst>
                </p:cNvPr>
                <p:cNvSpPr txBox="1"/>
                <p:nvPr/>
              </p:nvSpPr>
              <p:spPr>
                <a:xfrm>
                  <a:off x="1110400" y="5893305"/>
                  <a:ext cx="47128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𝟑𝟎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𝒄𝒎</m:t>
                        </m:r>
                      </m:oMath>
                    </m:oMathPara>
                  </a14:m>
                  <a:endParaRPr lang="es-PE" sz="1200" b="1" i="1" dirty="0"/>
                </a:p>
              </p:txBody>
            </p:sp>
          </mc:Choice>
          <mc:Fallback xmlns=""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B0EC4A1B-117F-9ECA-4D5F-076E5A7F45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400" y="5893305"/>
                  <a:ext cx="471283" cy="184666"/>
                </a:xfrm>
                <a:prstGeom prst="rect">
                  <a:avLst/>
                </a:prstGeom>
                <a:blipFill>
                  <a:blip r:embed="rId3"/>
                  <a:stretch>
                    <a:fillRect l="-7692" r="-5128" b="-6667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0256719A-02F0-50D3-CDD6-92586642DA3D}"/>
                </a:ext>
              </a:extLst>
            </p:cNvPr>
            <p:cNvCxnSpPr>
              <a:cxnSpLocks/>
            </p:cNvCxnSpPr>
            <p:nvPr/>
          </p:nvCxnSpPr>
          <p:spPr>
            <a:xfrm>
              <a:off x="918571" y="4976843"/>
              <a:ext cx="0" cy="6127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46561584-17C2-B301-B7C0-CBDE41AFEA25}"/>
                </a:ext>
              </a:extLst>
            </p:cNvPr>
            <p:cNvCxnSpPr/>
            <p:nvPr/>
          </p:nvCxnSpPr>
          <p:spPr>
            <a:xfrm>
              <a:off x="801276" y="5042849"/>
              <a:ext cx="21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47B61D6A-9196-506A-46BB-F468D4B44EB0}"/>
                </a:ext>
              </a:extLst>
            </p:cNvPr>
            <p:cNvCxnSpPr/>
            <p:nvPr/>
          </p:nvCxnSpPr>
          <p:spPr>
            <a:xfrm>
              <a:off x="814039" y="5462158"/>
              <a:ext cx="21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311EC56E-9699-0352-1A25-6133DAA12D25}"/>
                </a:ext>
              </a:extLst>
            </p:cNvPr>
            <p:cNvCxnSpPr/>
            <p:nvPr/>
          </p:nvCxnSpPr>
          <p:spPr>
            <a:xfrm>
              <a:off x="1576430" y="5659132"/>
              <a:ext cx="0" cy="18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CuadroTexto 36">
                  <a:extLst>
                    <a:ext uri="{FF2B5EF4-FFF2-40B4-BE49-F238E27FC236}">
                      <a16:creationId xmlns:a16="http://schemas.microsoft.com/office/drawing/2014/main" id="{F470CAC1-752B-AA49-8BE2-E46BC72E6187}"/>
                    </a:ext>
                  </a:extLst>
                </p:cNvPr>
                <p:cNvSpPr txBox="1"/>
                <p:nvPr/>
              </p:nvSpPr>
              <p:spPr>
                <a:xfrm>
                  <a:off x="424663" y="5148731"/>
                  <a:ext cx="47128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𝟑𝟎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𝒄𝒎</m:t>
                        </m:r>
                      </m:oMath>
                    </m:oMathPara>
                  </a14:m>
                  <a:endParaRPr lang="es-PE" sz="1200" b="1" i="1" dirty="0"/>
                </a:p>
              </p:txBody>
            </p:sp>
          </mc:Choice>
          <mc:Fallback xmlns="">
            <p:sp>
              <p:nvSpPr>
                <p:cNvPr id="37" name="CuadroTexto 36">
                  <a:extLst>
                    <a:ext uri="{FF2B5EF4-FFF2-40B4-BE49-F238E27FC236}">
                      <a16:creationId xmlns:a16="http://schemas.microsoft.com/office/drawing/2014/main" id="{F470CAC1-752B-AA49-8BE2-E46BC72E61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663" y="5148731"/>
                  <a:ext cx="471283" cy="184666"/>
                </a:xfrm>
                <a:prstGeom prst="rect">
                  <a:avLst/>
                </a:prstGeom>
                <a:blipFill>
                  <a:blip r:embed="rId4"/>
                  <a:stretch>
                    <a:fillRect l="-7792" r="-5195" b="-6667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9396947E-B5B7-9FEA-496A-C485D416760A}"/>
              </a:ext>
            </a:extLst>
          </p:cNvPr>
          <p:cNvGrpSpPr/>
          <p:nvPr/>
        </p:nvGrpSpPr>
        <p:grpSpPr>
          <a:xfrm>
            <a:off x="2655003" y="5305356"/>
            <a:ext cx="1253448" cy="1101128"/>
            <a:chOff x="424663" y="4976843"/>
            <a:chExt cx="1253448" cy="1101128"/>
          </a:xfrm>
        </p:grpSpPr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FACC5F9A-5E29-3251-8BED-F66BE3F1BC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49729" y="5048875"/>
              <a:ext cx="504000" cy="432000"/>
            </a:xfrm>
            <a:prstGeom prst="rect">
              <a:avLst/>
            </a:prstGeom>
            <a:pattFill prst="wdUpDiag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1476BF03-4976-F2D7-B69D-5B12963ABB3F}"/>
                </a:ext>
              </a:extLst>
            </p:cNvPr>
            <p:cNvCxnSpPr/>
            <p:nvPr/>
          </p:nvCxnSpPr>
          <p:spPr>
            <a:xfrm>
              <a:off x="1149729" y="5640390"/>
              <a:ext cx="0" cy="18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3801204E-C8EB-2857-D435-F98093810063}"/>
                </a:ext>
              </a:extLst>
            </p:cNvPr>
            <p:cNvCxnSpPr>
              <a:cxnSpLocks/>
            </p:cNvCxnSpPr>
            <p:nvPr/>
          </p:nvCxnSpPr>
          <p:spPr>
            <a:xfrm>
              <a:off x="1042821" y="5733256"/>
              <a:ext cx="63529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CuadroTexto 42">
                  <a:extLst>
                    <a:ext uri="{FF2B5EF4-FFF2-40B4-BE49-F238E27FC236}">
                      <a16:creationId xmlns:a16="http://schemas.microsoft.com/office/drawing/2014/main" id="{E2A07CE4-A1D6-A3B8-3CE5-E7E8C0D38395}"/>
                    </a:ext>
                  </a:extLst>
                </p:cNvPr>
                <p:cNvSpPr txBox="1"/>
                <p:nvPr/>
              </p:nvSpPr>
              <p:spPr>
                <a:xfrm>
                  <a:off x="1110400" y="5893305"/>
                  <a:ext cx="47128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𝟑𝟓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𝒄𝒎</m:t>
                        </m:r>
                      </m:oMath>
                    </m:oMathPara>
                  </a14:m>
                  <a:endParaRPr lang="es-PE" sz="1200" b="1" i="1" dirty="0"/>
                </a:p>
              </p:txBody>
            </p:sp>
          </mc:Choice>
          <mc:Fallback xmlns="">
            <p:sp>
              <p:nvSpPr>
                <p:cNvPr id="43" name="CuadroTexto 42">
                  <a:extLst>
                    <a:ext uri="{FF2B5EF4-FFF2-40B4-BE49-F238E27FC236}">
                      <a16:creationId xmlns:a16="http://schemas.microsoft.com/office/drawing/2014/main" id="{E2A07CE4-A1D6-A3B8-3CE5-E7E8C0D383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400" y="5893305"/>
                  <a:ext cx="471283" cy="184666"/>
                </a:xfrm>
                <a:prstGeom prst="rect">
                  <a:avLst/>
                </a:prstGeom>
                <a:blipFill>
                  <a:blip r:embed="rId5"/>
                  <a:stretch>
                    <a:fillRect l="-7692" r="-5128" b="-10000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0097B614-9D4E-F932-40D6-22DEB0A2B7FD}"/>
                </a:ext>
              </a:extLst>
            </p:cNvPr>
            <p:cNvCxnSpPr>
              <a:cxnSpLocks/>
            </p:cNvCxnSpPr>
            <p:nvPr/>
          </p:nvCxnSpPr>
          <p:spPr>
            <a:xfrm>
              <a:off x="918571" y="4976843"/>
              <a:ext cx="0" cy="6127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71E37251-F13A-8BFB-D581-124A8965E6E4}"/>
                </a:ext>
              </a:extLst>
            </p:cNvPr>
            <p:cNvCxnSpPr/>
            <p:nvPr/>
          </p:nvCxnSpPr>
          <p:spPr>
            <a:xfrm>
              <a:off x="801276" y="5042849"/>
              <a:ext cx="21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540A507A-D001-AF41-662B-1259C0648680}"/>
                </a:ext>
              </a:extLst>
            </p:cNvPr>
            <p:cNvCxnSpPr/>
            <p:nvPr/>
          </p:nvCxnSpPr>
          <p:spPr>
            <a:xfrm>
              <a:off x="814039" y="5462158"/>
              <a:ext cx="21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755B1E69-4C28-B938-BBB9-9CD1E12C14D0}"/>
                </a:ext>
              </a:extLst>
            </p:cNvPr>
            <p:cNvCxnSpPr/>
            <p:nvPr/>
          </p:nvCxnSpPr>
          <p:spPr>
            <a:xfrm>
              <a:off x="1644166" y="5650665"/>
              <a:ext cx="0" cy="18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CuadroTexto 47">
                  <a:extLst>
                    <a:ext uri="{FF2B5EF4-FFF2-40B4-BE49-F238E27FC236}">
                      <a16:creationId xmlns:a16="http://schemas.microsoft.com/office/drawing/2014/main" id="{90F36EC7-41DC-5C3A-3CBC-B706C5961235}"/>
                    </a:ext>
                  </a:extLst>
                </p:cNvPr>
                <p:cNvSpPr txBox="1"/>
                <p:nvPr/>
              </p:nvSpPr>
              <p:spPr>
                <a:xfrm>
                  <a:off x="424663" y="5148731"/>
                  <a:ext cx="47128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𝟑𝟎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𝒄𝒎</m:t>
                        </m:r>
                      </m:oMath>
                    </m:oMathPara>
                  </a14:m>
                  <a:endParaRPr lang="es-PE" sz="1200" b="1" i="1" dirty="0"/>
                </a:p>
              </p:txBody>
            </p:sp>
          </mc:Choice>
          <mc:Fallback xmlns="">
            <p:sp>
              <p:nvSpPr>
                <p:cNvPr id="48" name="CuadroTexto 47">
                  <a:extLst>
                    <a:ext uri="{FF2B5EF4-FFF2-40B4-BE49-F238E27FC236}">
                      <a16:creationId xmlns:a16="http://schemas.microsoft.com/office/drawing/2014/main" id="{90F36EC7-41DC-5C3A-3CBC-B706C59612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663" y="5148731"/>
                  <a:ext cx="471283" cy="184666"/>
                </a:xfrm>
                <a:prstGeom prst="rect">
                  <a:avLst/>
                </a:prstGeom>
                <a:blipFill>
                  <a:blip r:embed="rId3"/>
                  <a:stretch>
                    <a:fillRect l="-7792" r="-6494" b="-6667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upo 48">
            <a:extLst>
              <a:ext uri="{FF2B5EF4-FFF2-40B4-BE49-F238E27FC236}">
                <a16:creationId xmlns:a16="http://schemas.microsoft.com/office/drawing/2014/main" id="{B304BAF0-437D-3B6A-76B7-8A8CCA3E28B7}"/>
              </a:ext>
            </a:extLst>
          </p:cNvPr>
          <p:cNvGrpSpPr/>
          <p:nvPr/>
        </p:nvGrpSpPr>
        <p:grpSpPr>
          <a:xfrm>
            <a:off x="4975081" y="5325943"/>
            <a:ext cx="1301066" cy="1101128"/>
            <a:chOff x="424663" y="4976843"/>
            <a:chExt cx="1301066" cy="1101128"/>
          </a:xfrm>
        </p:grpSpPr>
        <p:sp>
          <p:nvSpPr>
            <p:cNvPr id="50" name="Rectángulo 49">
              <a:extLst>
                <a:ext uri="{FF2B5EF4-FFF2-40B4-BE49-F238E27FC236}">
                  <a16:creationId xmlns:a16="http://schemas.microsoft.com/office/drawing/2014/main" id="{41443029-9884-E4A1-0E69-4B2EE5B676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49729" y="5048875"/>
              <a:ext cx="576000" cy="432000"/>
            </a:xfrm>
            <a:prstGeom prst="rect">
              <a:avLst/>
            </a:prstGeom>
            <a:pattFill prst="wdUpDiag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847F684D-3233-EB67-C7AC-DDF841C4EC1C}"/>
                </a:ext>
              </a:extLst>
            </p:cNvPr>
            <p:cNvCxnSpPr/>
            <p:nvPr/>
          </p:nvCxnSpPr>
          <p:spPr>
            <a:xfrm>
              <a:off x="1149729" y="5640390"/>
              <a:ext cx="0" cy="18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F474D313-96D9-D812-2B99-899F3F55AE84}"/>
                </a:ext>
              </a:extLst>
            </p:cNvPr>
            <p:cNvCxnSpPr>
              <a:cxnSpLocks/>
            </p:cNvCxnSpPr>
            <p:nvPr/>
          </p:nvCxnSpPr>
          <p:spPr>
            <a:xfrm>
              <a:off x="1042821" y="5733256"/>
              <a:ext cx="63529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CuadroTexto 52">
                  <a:extLst>
                    <a:ext uri="{FF2B5EF4-FFF2-40B4-BE49-F238E27FC236}">
                      <a16:creationId xmlns:a16="http://schemas.microsoft.com/office/drawing/2014/main" id="{447BFE75-5D67-A0C0-EA78-3BC57F2FB6D9}"/>
                    </a:ext>
                  </a:extLst>
                </p:cNvPr>
                <p:cNvSpPr txBox="1"/>
                <p:nvPr/>
              </p:nvSpPr>
              <p:spPr>
                <a:xfrm>
                  <a:off x="1110400" y="5893305"/>
                  <a:ext cx="47128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𝟒𝟓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𝒄𝒎</m:t>
                        </m:r>
                      </m:oMath>
                    </m:oMathPara>
                  </a14:m>
                  <a:endParaRPr lang="es-PE" sz="1200" b="1" i="1" dirty="0"/>
                </a:p>
              </p:txBody>
            </p:sp>
          </mc:Choice>
          <mc:Fallback xmlns="">
            <p:sp>
              <p:nvSpPr>
                <p:cNvPr id="53" name="CuadroTexto 52">
                  <a:extLst>
                    <a:ext uri="{FF2B5EF4-FFF2-40B4-BE49-F238E27FC236}">
                      <a16:creationId xmlns:a16="http://schemas.microsoft.com/office/drawing/2014/main" id="{447BFE75-5D67-A0C0-EA78-3BC57F2FB6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400" y="5893305"/>
                  <a:ext cx="471283" cy="184666"/>
                </a:xfrm>
                <a:prstGeom prst="rect">
                  <a:avLst/>
                </a:prstGeom>
                <a:blipFill>
                  <a:blip r:embed="rId6"/>
                  <a:stretch>
                    <a:fillRect l="-7792" r="-6494" b="-6452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071A0967-D1A8-C4A1-A860-44CD3C803799}"/>
                </a:ext>
              </a:extLst>
            </p:cNvPr>
            <p:cNvCxnSpPr>
              <a:cxnSpLocks/>
            </p:cNvCxnSpPr>
            <p:nvPr/>
          </p:nvCxnSpPr>
          <p:spPr>
            <a:xfrm>
              <a:off x="918571" y="4976843"/>
              <a:ext cx="0" cy="6127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7984E6A3-28E1-13A8-7A7E-ABBA2E2FA532}"/>
                </a:ext>
              </a:extLst>
            </p:cNvPr>
            <p:cNvCxnSpPr/>
            <p:nvPr/>
          </p:nvCxnSpPr>
          <p:spPr>
            <a:xfrm>
              <a:off x="801276" y="5042849"/>
              <a:ext cx="21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55">
              <a:extLst>
                <a:ext uri="{FF2B5EF4-FFF2-40B4-BE49-F238E27FC236}">
                  <a16:creationId xmlns:a16="http://schemas.microsoft.com/office/drawing/2014/main" id="{FDCA4726-4C9F-A280-ED7F-3595283ED598}"/>
                </a:ext>
              </a:extLst>
            </p:cNvPr>
            <p:cNvCxnSpPr/>
            <p:nvPr/>
          </p:nvCxnSpPr>
          <p:spPr>
            <a:xfrm>
              <a:off x="814039" y="5462158"/>
              <a:ext cx="21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cto 56">
              <a:extLst>
                <a:ext uri="{FF2B5EF4-FFF2-40B4-BE49-F238E27FC236}">
                  <a16:creationId xmlns:a16="http://schemas.microsoft.com/office/drawing/2014/main" id="{0F093772-58C3-4601-298C-BE4744DC27D8}"/>
                </a:ext>
              </a:extLst>
            </p:cNvPr>
            <p:cNvCxnSpPr/>
            <p:nvPr/>
          </p:nvCxnSpPr>
          <p:spPr>
            <a:xfrm>
              <a:off x="1644166" y="5650665"/>
              <a:ext cx="0" cy="18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CuadroTexto 57">
                  <a:extLst>
                    <a:ext uri="{FF2B5EF4-FFF2-40B4-BE49-F238E27FC236}">
                      <a16:creationId xmlns:a16="http://schemas.microsoft.com/office/drawing/2014/main" id="{4D8B660E-C570-7404-E61F-DCA0B963694D}"/>
                    </a:ext>
                  </a:extLst>
                </p:cNvPr>
                <p:cNvSpPr txBox="1"/>
                <p:nvPr/>
              </p:nvSpPr>
              <p:spPr>
                <a:xfrm>
                  <a:off x="424663" y="5148731"/>
                  <a:ext cx="47128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𝟑𝟎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𝒄𝒎</m:t>
                        </m:r>
                      </m:oMath>
                    </m:oMathPara>
                  </a14:m>
                  <a:endParaRPr lang="es-PE" sz="1200" b="1" i="1" dirty="0"/>
                </a:p>
              </p:txBody>
            </p:sp>
          </mc:Choice>
          <mc:Fallback xmlns="">
            <p:sp>
              <p:nvSpPr>
                <p:cNvPr id="58" name="CuadroTexto 57">
                  <a:extLst>
                    <a:ext uri="{FF2B5EF4-FFF2-40B4-BE49-F238E27FC236}">
                      <a16:creationId xmlns:a16="http://schemas.microsoft.com/office/drawing/2014/main" id="{4D8B660E-C570-7404-E61F-DCA0B96369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663" y="5148731"/>
                  <a:ext cx="471283" cy="184666"/>
                </a:xfrm>
                <a:prstGeom prst="rect">
                  <a:avLst/>
                </a:prstGeom>
                <a:blipFill>
                  <a:blip r:embed="rId4"/>
                  <a:stretch>
                    <a:fillRect l="-7792" r="-5195" b="-3226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E2548BE-8736-3C1C-1412-D142E5CB5AA9}"/>
                  </a:ext>
                </a:extLst>
              </p:cNvPr>
              <p:cNvSpPr txBox="1"/>
              <p:nvPr/>
            </p:nvSpPr>
            <p:spPr>
              <a:xfrm>
                <a:off x="2153356" y="4737942"/>
                <a:ext cx="72827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𝟖𝟎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E2548BE-8736-3C1C-1412-D142E5CB5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356" y="4737942"/>
                <a:ext cx="728276" cy="246221"/>
              </a:xfrm>
              <a:prstGeom prst="rect">
                <a:avLst/>
              </a:prstGeom>
              <a:blipFill>
                <a:blip r:embed="rId7"/>
                <a:stretch>
                  <a:fillRect l="-5833" r="-3333" b="-487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897EB06-9331-951B-3FA0-633C5451AA96}"/>
                  </a:ext>
                </a:extLst>
              </p:cNvPr>
              <p:cNvSpPr txBox="1"/>
              <p:nvPr/>
            </p:nvSpPr>
            <p:spPr>
              <a:xfrm>
                <a:off x="4409760" y="4690953"/>
                <a:ext cx="60484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897EB06-9331-951B-3FA0-633C5451A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9760" y="4690953"/>
                <a:ext cx="604846" cy="246221"/>
              </a:xfrm>
              <a:prstGeom prst="rect">
                <a:avLst/>
              </a:prstGeom>
              <a:blipFill>
                <a:blip r:embed="rId8"/>
                <a:stretch>
                  <a:fillRect l="-7000" r="-4000" b="-50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ipse 4">
            <a:extLst>
              <a:ext uri="{FF2B5EF4-FFF2-40B4-BE49-F238E27FC236}">
                <a16:creationId xmlns:a16="http://schemas.microsoft.com/office/drawing/2014/main" id="{71B2BDE7-C9C8-1BED-8078-A58807BFF3AD}"/>
              </a:ext>
            </a:extLst>
          </p:cNvPr>
          <p:cNvSpPr>
            <a:spLocks noChangeAspect="1"/>
          </p:cNvSpPr>
          <p:nvPr/>
        </p:nvSpPr>
        <p:spPr>
          <a:xfrm>
            <a:off x="1536719" y="4370969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91EA0B83-AE74-3852-B5DE-2A88ED9C8D49}"/>
              </a:ext>
            </a:extLst>
          </p:cNvPr>
          <p:cNvSpPr>
            <a:spLocks noChangeAspect="1"/>
          </p:cNvSpPr>
          <p:nvPr/>
        </p:nvSpPr>
        <p:spPr>
          <a:xfrm>
            <a:off x="1040764" y="2262536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8CF205D0-BB5C-249A-21B2-90553ED05323}"/>
              </a:ext>
            </a:extLst>
          </p:cNvPr>
          <p:cNvSpPr>
            <a:spLocks noChangeAspect="1"/>
          </p:cNvSpPr>
          <p:nvPr/>
        </p:nvSpPr>
        <p:spPr>
          <a:xfrm>
            <a:off x="3798510" y="4363243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0DCD015F-3008-5DAA-FF83-E516465B02F3}"/>
              </a:ext>
            </a:extLst>
          </p:cNvPr>
          <p:cNvSpPr>
            <a:spLocks noChangeAspect="1"/>
          </p:cNvSpPr>
          <p:nvPr/>
        </p:nvSpPr>
        <p:spPr>
          <a:xfrm>
            <a:off x="3485327" y="2215889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23E3FAD5-0E44-F8FA-6C75-9759F86A9B52}"/>
              </a:ext>
            </a:extLst>
          </p:cNvPr>
          <p:cNvSpPr>
            <a:spLocks noChangeAspect="1"/>
          </p:cNvSpPr>
          <p:nvPr/>
        </p:nvSpPr>
        <p:spPr>
          <a:xfrm>
            <a:off x="6184597" y="4353799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90569800-D23B-D80A-037D-F6F07D328839}"/>
              </a:ext>
            </a:extLst>
          </p:cNvPr>
          <p:cNvSpPr>
            <a:spLocks noChangeAspect="1"/>
          </p:cNvSpPr>
          <p:nvPr/>
        </p:nvSpPr>
        <p:spPr>
          <a:xfrm>
            <a:off x="6129946" y="2277126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F</a:t>
            </a: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63935009-31A7-5C01-C06C-35E3DA2180C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63361" y="188913"/>
            <a:ext cx="2405400" cy="2533499"/>
          </a:xfrm>
          <a:prstGeom prst="rect">
            <a:avLst/>
          </a:prstGeom>
        </p:spPr>
      </p:pic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11B544CF-92D5-4574-C12D-BC3CC072E64F}"/>
              </a:ext>
            </a:extLst>
          </p:cNvPr>
          <p:cNvCxnSpPr/>
          <p:nvPr/>
        </p:nvCxnSpPr>
        <p:spPr>
          <a:xfrm>
            <a:off x="6906106" y="2493924"/>
            <a:ext cx="0" cy="22319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DB0BD6C6-BF61-25B0-9695-E3E5EB0F4F3C}"/>
              </a:ext>
            </a:extLst>
          </p:cNvPr>
          <p:cNvCxnSpPr/>
          <p:nvPr/>
        </p:nvCxnSpPr>
        <p:spPr>
          <a:xfrm>
            <a:off x="6761768" y="2637940"/>
            <a:ext cx="3603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7BD70833-E4B2-5D5F-B6E1-6E346D7DA2CA}"/>
              </a:ext>
            </a:extLst>
          </p:cNvPr>
          <p:cNvCxnSpPr/>
          <p:nvPr/>
        </p:nvCxnSpPr>
        <p:spPr>
          <a:xfrm>
            <a:off x="6761082" y="4619992"/>
            <a:ext cx="3603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A3A0D227-51B9-3BA4-368E-D91D7C91BAAA}"/>
              </a:ext>
            </a:extLst>
          </p:cNvPr>
          <p:cNvCxnSpPr/>
          <p:nvPr/>
        </p:nvCxnSpPr>
        <p:spPr>
          <a:xfrm>
            <a:off x="6761082" y="3489404"/>
            <a:ext cx="3603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FD0F50CB-A64E-4921-0973-B194664EDCBA}"/>
                  </a:ext>
                </a:extLst>
              </p:cNvPr>
              <p:cNvSpPr txBox="1"/>
              <p:nvPr/>
            </p:nvSpPr>
            <p:spPr>
              <a:xfrm>
                <a:off x="6970090" y="3901273"/>
                <a:ext cx="253236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𝟔</m:t>
                      </m:r>
                      <m:d>
                        <m:dPr>
                          <m:ctrlPr>
                            <a:rPr lang="es-PE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s-PE" sz="16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PE" sz="16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e>
                      </m:d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𝟔𝟖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FD0F50CB-A64E-4921-0973-B194664ED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090" y="3901273"/>
                <a:ext cx="2532360" cy="246221"/>
              </a:xfrm>
              <a:prstGeom prst="rect">
                <a:avLst/>
              </a:prstGeom>
              <a:blipFill>
                <a:blip r:embed="rId10"/>
                <a:stretch>
                  <a:fillRect l="-1202" r="-721" b="-75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CuadroTexto 73">
                <a:extLst>
                  <a:ext uri="{FF2B5EF4-FFF2-40B4-BE49-F238E27FC236}">
                    <a16:creationId xmlns:a16="http://schemas.microsoft.com/office/drawing/2014/main" id="{8E1F4FE8-A5B4-269D-8FEF-532734254490}"/>
                  </a:ext>
                </a:extLst>
              </p:cNvPr>
              <p:cNvSpPr txBox="1"/>
              <p:nvPr/>
            </p:nvSpPr>
            <p:spPr>
              <a:xfrm>
                <a:off x="6990408" y="2981322"/>
                <a:ext cx="253236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𝟒</m:t>
                      </m:r>
                      <m:d>
                        <m:dPr>
                          <m:ctrlPr>
                            <a:rPr lang="es-PE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s-PE" sz="16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PE" sz="16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e>
                      </m:d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74" name="CuadroTexto 73">
                <a:extLst>
                  <a:ext uri="{FF2B5EF4-FFF2-40B4-BE49-F238E27FC236}">
                    <a16:creationId xmlns:a16="http://schemas.microsoft.com/office/drawing/2014/main" id="{8E1F4FE8-A5B4-269D-8FEF-532734254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0408" y="2981322"/>
                <a:ext cx="2532360" cy="246221"/>
              </a:xfrm>
              <a:prstGeom prst="rect">
                <a:avLst/>
              </a:prstGeom>
              <a:blipFill>
                <a:blip r:embed="rId11"/>
                <a:stretch>
                  <a:fillRect l="-1446" r="-723" b="-100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6050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D4B30-9B7A-4FF3-9506-6E2F889CB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2° Determinar la cortante asumida por cada columna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3903A5C6-AB62-8217-6604-553267E4BC12}"/>
              </a:ext>
            </a:extLst>
          </p:cNvPr>
          <p:cNvGrpSpPr/>
          <p:nvPr/>
        </p:nvGrpSpPr>
        <p:grpSpPr>
          <a:xfrm>
            <a:off x="1156230" y="2493924"/>
            <a:ext cx="5149238" cy="2304901"/>
            <a:chOff x="802746" y="2708275"/>
            <a:chExt cx="4673826" cy="1950578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F092B829-0F0C-F37E-7FB0-DF0011828F6E}"/>
                </a:ext>
              </a:extLst>
            </p:cNvPr>
            <p:cNvSpPr/>
            <p:nvPr/>
          </p:nvSpPr>
          <p:spPr>
            <a:xfrm>
              <a:off x="802746" y="4508726"/>
              <a:ext cx="499090" cy="150127"/>
            </a:xfrm>
            <a:prstGeom prst="rect">
              <a:avLst/>
            </a:prstGeom>
            <a:pattFill prst="wdUpDiag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26E44751-1FBE-FDF6-F5DB-F916D18BA2C2}"/>
                </a:ext>
              </a:extLst>
            </p:cNvPr>
            <p:cNvSpPr/>
            <p:nvPr/>
          </p:nvSpPr>
          <p:spPr>
            <a:xfrm>
              <a:off x="948234" y="2708501"/>
              <a:ext cx="144000" cy="180000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3BF99385-421A-A497-46F6-F625D68D10BB}"/>
                </a:ext>
              </a:extLst>
            </p:cNvPr>
            <p:cNvSpPr/>
            <p:nvPr/>
          </p:nvSpPr>
          <p:spPr>
            <a:xfrm>
              <a:off x="948234" y="2708275"/>
              <a:ext cx="4320224" cy="21625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1DD7C29E-220A-039C-4872-C5A9D7FD0E8A}"/>
                </a:ext>
              </a:extLst>
            </p:cNvPr>
            <p:cNvSpPr/>
            <p:nvPr/>
          </p:nvSpPr>
          <p:spPr>
            <a:xfrm>
              <a:off x="2785313" y="4508500"/>
              <a:ext cx="499090" cy="150127"/>
            </a:xfrm>
            <a:prstGeom prst="rect">
              <a:avLst/>
            </a:prstGeom>
            <a:pattFill prst="wdUpDiag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35D9AF8B-3376-4798-8978-A804452CFF04}"/>
                </a:ext>
              </a:extLst>
            </p:cNvPr>
            <p:cNvSpPr/>
            <p:nvPr/>
          </p:nvSpPr>
          <p:spPr>
            <a:xfrm>
              <a:off x="2930801" y="2708275"/>
              <a:ext cx="144000" cy="180000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15C6AAFD-A84E-784F-31DB-BA14CF663C50}"/>
                </a:ext>
              </a:extLst>
            </p:cNvPr>
            <p:cNvSpPr/>
            <p:nvPr/>
          </p:nvSpPr>
          <p:spPr>
            <a:xfrm>
              <a:off x="4977482" y="4508500"/>
              <a:ext cx="499090" cy="150127"/>
            </a:xfrm>
            <a:prstGeom prst="rect">
              <a:avLst/>
            </a:prstGeom>
            <a:pattFill prst="wdUpDiag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DD95B2B8-AE41-91C8-8890-DCFAA99B3C61}"/>
                </a:ext>
              </a:extLst>
            </p:cNvPr>
            <p:cNvSpPr/>
            <p:nvPr/>
          </p:nvSpPr>
          <p:spPr>
            <a:xfrm>
              <a:off x="5122970" y="2708275"/>
              <a:ext cx="144000" cy="180000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CFDC01DB-0147-3DB8-4328-BA956B91C19E}"/>
              </a:ext>
            </a:extLst>
          </p:cNvPr>
          <p:cNvCxnSpPr/>
          <p:nvPr/>
        </p:nvCxnSpPr>
        <p:spPr>
          <a:xfrm>
            <a:off x="797406" y="2494247"/>
            <a:ext cx="0" cy="22319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52F30F76-FB31-DB33-88D7-2FA65898AD1E}"/>
              </a:ext>
            </a:extLst>
          </p:cNvPr>
          <p:cNvCxnSpPr/>
          <p:nvPr/>
        </p:nvCxnSpPr>
        <p:spPr>
          <a:xfrm>
            <a:off x="653068" y="2638263"/>
            <a:ext cx="3603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3DDD77F7-59B6-616E-21DF-6C8373369C01}"/>
              </a:ext>
            </a:extLst>
          </p:cNvPr>
          <p:cNvCxnSpPr/>
          <p:nvPr/>
        </p:nvCxnSpPr>
        <p:spPr>
          <a:xfrm>
            <a:off x="652382" y="4620315"/>
            <a:ext cx="3603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F36189C6-ED21-2C89-17B8-BEB84760C08B}"/>
                  </a:ext>
                </a:extLst>
              </p:cNvPr>
              <p:cNvSpPr txBox="1"/>
              <p:nvPr/>
            </p:nvSpPr>
            <p:spPr>
              <a:xfrm>
                <a:off x="128577" y="3429000"/>
                <a:ext cx="60484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F36189C6-ED21-2C89-17B8-BEB84760C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77" y="3429000"/>
                <a:ext cx="604846" cy="246221"/>
              </a:xfrm>
              <a:prstGeom prst="rect">
                <a:avLst/>
              </a:prstGeom>
              <a:blipFill>
                <a:blip r:embed="rId2"/>
                <a:stretch>
                  <a:fillRect l="-7071" r="-5051" b="-50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B4797FC6-1517-692D-2E56-B48C5032DCD5}"/>
              </a:ext>
            </a:extLst>
          </p:cNvPr>
          <p:cNvCxnSpPr>
            <a:cxnSpLocks/>
          </p:cNvCxnSpPr>
          <p:nvPr/>
        </p:nvCxnSpPr>
        <p:spPr>
          <a:xfrm>
            <a:off x="1120892" y="5014527"/>
            <a:ext cx="515525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5AB85D76-1E13-A5EB-42FD-B6D5C1988733}"/>
              </a:ext>
            </a:extLst>
          </p:cNvPr>
          <p:cNvCxnSpPr/>
          <p:nvPr/>
        </p:nvCxnSpPr>
        <p:spPr>
          <a:xfrm>
            <a:off x="1395840" y="4879970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E790FB11-125F-3F72-E8F5-2AB051658AFD}"/>
              </a:ext>
            </a:extLst>
          </p:cNvPr>
          <p:cNvCxnSpPr/>
          <p:nvPr/>
        </p:nvCxnSpPr>
        <p:spPr>
          <a:xfrm>
            <a:off x="3580069" y="4879970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F4451327-6A7E-7295-09E3-6EB2308F348D}"/>
              </a:ext>
            </a:extLst>
          </p:cNvPr>
          <p:cNvCxnSpPr/>
          <p:nvPr/>
        </p:nvCxnSpPr>
        <p:spPr>
          <a:xfrm>
            <a:off x="5996171" y="4870511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upo 37">
            <a:extLst>
              <a:ext uri="{FF2B5EF4-FFF2-40B4-BE49-F238E27FC236}">
                <a16:creationId xmlns:a16="http://schemas.microsoft.com/office/drawing/2014/main" id="{54954D6D-CC84-C3E6-C3FC-2052C45EA298}"/>
              </a:ext>
            </a:extLst>
          </p:cNvPr>
          <p:cNvGrpSpPr/>
          <p:nvPr/>
        </p:nvGrpSpPr>
        <p:grpSpPr>
          <a:xfrm>
            <a:off x="490115" y="5194218"/>
            <a:ext cx="1253448" cy="1101128"/>
            <a:chOff x="424663" y="4976843"/>
            <a:chExt cx="1253448" cy="1101128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180F0F17-A1B8-2181-B547-1C10414558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49729" y="5048875"/>
              <a:ext cx="431954" cy="432000"/>
            </a:xfrm>
            <a:prstGeom prst="rect">
              <a:avLst/>
            </a:prstGeom>
            <a:pattFill prst="wdUpDiag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77DD0DD3-F02E-B575-9564-FE09A1A55317}"/>
                </a:ext>
              </a:extLst>
            </p:cNvPr>
            <p:cNvCxnSpPr/>
            <p:nvPr/>
          </p:nvCxnSpPr>
          <p:spPr>
            <a:xfrm>
              <a:off x="1149729" y="5640390"/>
              <a:ext cx="0" cy="18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E601BA6D-2052-749B-8E4C-285F80AFBB27}"/>
                </a:ext>
              </a:extLst>
            </p:cNvPr>
            <p:cNvCxnSpPr>
              <a:cxnSpLocks/>
            </p:cNvCxnSpPr>
            <p:nvPr/>
          </p:nvCxnSpPr>
          <p:spPr>
            <a:xfrm>
              <a:off x="1042821" y="5733256"/>
              <a:ext cx="63529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B0EC4A1B-117F-9ECA-4D5F-076E5A7F455E}"/>
                    </a:ext>
                  </a:extLst>
                </p:cNvPr>
                <p:cNvSpPr txBox="1"/>
                <p:nvPr/>
              </p:nvSpPr>
              <p:spPr>
                <a:xfrm>
                  <a:off x="1110400" y="5893305"/>
                  <a:ext cx="47128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𝟑𝟎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𝒄𝒎</m:t>
                        </m:r>
                      </m:oMath>
                    </m:oMathPara>
                  </a14:m>
                  <a:endParaRPr lang="es-PE" sz="1200" b="1" i="1" dirty="0"/>
                </a:p>
              </p:txBody>
            </p:sp>
          </mc:Choice>
          <mc:Fallback xmlns=""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B0EC4A1B-117F-9ECA-4D5F-076E5A7F45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400" y="5893305"/>
                  <a:ext cx="471283" cy="184666"/>
                </a:xfrm>
                <a:prstGeom prst="rect">
                  <a:avLst/>
                </a:prstGeom>
                <a:blipFill>
                  <a:blip r:embed="rId3"/>
                  <a:stretch>
                    <a:fillRect l="-7792" r="-5195" b="-3226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0256719A-02F0-50D3-CDD6-92586642DA3D}"/>
                </a:ext>
              </a:extLst>
            </p:cNvPr>
            <p:cNvCxnSpPr>
              <a:cxnSpLocks/>
            </p:cNvCxnSpPr>
            <p:nvPr/>
          </p:nvCxnSpPr>
          <p:spPr>
            <a:xfrm>
              <a:off x="918571" y="4976843"/>
              <a:ext cx="0" cy="6127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46561584-17C2-B301-B7C0-CBDE41AFEA25}"/>
                </a:ext>
              </a:extLst>
            </p:cNvPr>
            <p:cNvCxnSpPr/>
            <p:nvPr/>
          </p:nvCxnSpPr>
          <p:spPr>
            <a:xfrm>
              <a:off x="801276" y="5042849"/>
              <a:ext cx="21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47B61D6A-9196-506A-46BB-F468D4B44EB0}"/>
                </a:ext>
              </a:extLst>
            </p:cNvPr>
            <p:cNvCxnSpPr/>
            <p:nvPr/>
          </p:nvCxnSpPr>
          <p:spPr>
            <a:xfrm>
              <a:off x="814039" y="5462158"/>
              <a:ext cx="21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311EC56E-9699-0352-1A25-6133DAA12D25}"/>
                </a:ext>
              </a:extLst>
            </p:cNvPr>
            <p:cNvCxnSpPr/>
            <p:nvPr/>
          </p:nvCxnSpPr>
          <p:spPr>
            <a:xfrm>
              <a:off x="1576430" y="5659132"/>
              <a:ext cx="0" cy="18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CuadroTexto 36">
                  <a:extLst>
                    <a:ext uri="{FF2B5EF4-FFF2-40B4-BE49-F238E27FC236}">
                      <a16:creationId xmlns:a16="http://schemas.microsoft.com/office/drawing/2014/main" id="{F470CAC1-752B-AA49-8BE2-E46BC72E6187}"/>
                    </a:ext>
                  </a:extLst>
                </p:cNvPr>
                <p:cNvSpPr txBox="1"/>
                <p:nvPr/>
              </p:nvSpPr>
              <p:spPr>
                <a:xfrm>
                  <a:off x="424663" y="5148731"/>
                  <a:ext cx="47128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𝟑𝟎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𝒄𝒎</m:t>
                        </m:r>
                      </m:oMath>
                    </m:oMathPara>
                  </a14:m>
                  <a:endParaRPr lang="es-PE" sz="1200" b="1" i="1" dirty="0"/>
                </a:p>
              </p:txBody>
            </p:sp>
          </mc:Choice>
          <mc:Fallback xmlns="">
            <p:sp>
              <p:nvSpPr>
                <p:cNvPr id="37" name="CuadroTexto 36">
                  <a:extLst>
                    <a:ext uri="{FF2B5EF4-FFF2-40B4-BE49-F238E27FC236}">
                      <a16:creationId xmlns:a16="http://schemas.microsoft.com/office/drawing/2014/main" id="{F470CAC1-752B-AA49-8BE2-E46BC72E61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663" y="5148731"/>
                  <a:ext cx="471283" cy="184666"/>
                </a:xfrm>
                <a:prstGeom prst="rect">
                  <a:avLst/>
                </a:prstGeom>
                <a:blipFill>
                  <a:blip r:embed="rId4"/>
                  <a:stretch>
                    <a:fillRect l="-7692" r="-5128" b="-3226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9396947E-B5B7-9FEA-496A-C485D416760A}"/>
              </a:ext>
            </a:extLst>
          </p:cNvPr>
          <p:cNvGrpSpPr/>
          <p:nvPr/>
        </p:nvGrpSpPr>
        <p:grpSpPr>
          <a:xfrm>
            <a:off x="2655003" y="5305356"/>
            <a:ext cx="1253448" cy="1101128"/>
            <a:chOff x="424663" y="4976843"/>
            <a:chExt cx="1253448" cy="1101128"/>
          </a:xfrm>
        </p:grpSpPr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FACC5F9A-5E29-3251-8BED-F66BE3F1BC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49729" y="5048875"/>
              <a:ext cx="504000" cy="432000"/>
            </a:xfrm>
            <a:prstGeom prst="rect">
              <a:avLst/>
            </a:prstGeom>
            <a:pattFill prst="wdUpDiag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1476BF03-4976-F2D7-B69D-5B12963ABB3F}"/>
                </a:ext>
              </a:extLst>
            </p:cNvPr>
            <p:cNvCxnSpPr/>
            <p:nvPr/>
          </p:nvCxnSpPr>
          <p:spPr>
            <a:xfrm>
              <a:off x="1149729" y="5640390"/>
              <a:ext cx="0" cy="18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3801204E-C8EB-2857-D435-F98093810063}"/>
                </a:ext>
              </a:extLst>
            </p:cNvPr>
            <p:cNvCxnSpPr>
              <a:cxnSpLocks/>
            </p:cNvCxnSpPr>
            <p:nvPr/>
          </p:nvCxnSpPr>
          <p:spPr>
            <a:xfrm>
              <a:off x="1042821" y="5733256"/>
              <a:ext cx="63529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CuadroTexto 42">
                  <a:extLst>
                    <a:ext uri="{FF2B5EF4-FFF2-40B4-BE49-F238E27FC236}">
                      <a16:creationId xmlns:a16="http://schemas.microsoft.com/office/drawing/2014/main" id="{E2A07CE4-A1D6-A3B8-3CE5-E7E8C0D38395}"/>
                    </a:ext>
                  </a:extLst>
                </p:cNvPr>
                <p:cNvSpPr txBox="1"/>
                <p:nvPr/>
              </p:nvSpPr>
              <p:spPr>
                <a:xfrm>
                  <a:off x="1110400" y="5893305"/>
                  <a:ext cx="47128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𝟑𝟓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𝒄𝒎</m:t>
                        </m:r>
                      </m:oMath>
                    </m:oMathPara>
                  </a14:m>
                  <a:endParaRPr lang="es-PE" sz="1200" b="1" i="1" dirty="0"/>
                </a:p>
              </p:txBody>
            </p:sp>
          </mc:Choice>
          <mc:Fallback xmlns="">
            <p:sp>
              <p:nvSpPr>
                <p:cNvPr id="43" name="CuadroTexto 42">
                  <a:extLst>
                    <a:ext uri="{FF2B5EF4-FFF2-40B4-BE49-F238E27FC236}">
                      <a16:creationId xmlns:a16="http://schemas.microsoft.com/office/drawing/2014/main" id="{E2A07CE4-A1D6-A3B8-3CE5-E7E8C0D383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400" y="5893305"/>
                  <a:ext cx="471283" cy="184666"/>
                </a:xfrm>
                <a:prstGeom prst="rect">
                  <a:avLst/>
                </a:prstGeom>
                <a:blipFill>
                  <a:blip r:embed="rId5"/>
                  <a:stretch>
                    <a:fillRect l="-7792" r="-6494" b="-6667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0097B614-9D4E-F932-40D6-22DEB0A2B7FD}"/>
                </a:ext>
              </a:extLst>
            </p:cNvPr>
            <p:cNvCxnSpPr>
              <a:cxnSpLocks/>
            </p:cNvCxnSpPr>
            <p:nvPr/>
          </p:nvCxnSpPr>
          <p:spPr>
            <a:xfrm>
              <a:off x="918571" y="4976843"/>
              <a:ext cx="0" cy="6127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71E37251-F13A-8BFB-D581-124A8965E6E4}"/>
                </a:ext>
              </a:extLst>
            </p:cNvPr>
            <p:cNvCxnSpPr/>
            <p:nvPr/>
          </p:nvCxnSpPr>
          <p:spPr>
            <a:xfrm>
              <a:off x="801276" y="5042849"/>
              <a:ext cx="21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540A507A-D001-AF41-662B-1259C0648680}"/>
                </a:ext>
              </a:extLst>
            </p:cNvPr>
            <p:cNvCxnSpPr/>
            <p:nvPr/>
          </p:nvCxnSpPr>
          <p:spPr>
            <a:xfrm>
              <a:off x="814039" y="5462158"/>
              <a:ext cx="21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755B1E69-4C28-B938-BBB9-9CD1E12C14D0}"/>
                </a:ext>
              </a:extLst>
            </p:cNvPr>
            <p:cNvCxnSpPr/>
            <p:nvPr/>
          </p:nvCxnSpPr>
          <p:spPr>
            <a:xfrm>
              <a:off x="1644166" y="5650665"/>
              <a:ext cx="0" cy="18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CuadroTexto 47">
                  <a:extLst>
                    <a:ext uri="{FF2B5EF4-FFF2-40B4-BE49-F238E27FC236}">
                      <a16:creationId xmlns:a16="http://schemas.microsoft.com/office/drawing/2014/main" id="{90F36EC7-41DC-5C3A-3CBC-B706C5961235}"/>
                    </a:ext>
                  </a:extLst>
                </p:cNvPr>
                <p:cNvSpPr txBox="1"/>
                <p:nvPr/>
              </p:nvSpPr>
              <p:spPr>
                <a:xfrm>
                  <a:off x="424663" y="5148731"/>
                  <a:ext cx="47128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𝟑𝟎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𝒄𝒎</m:t>
                        </m:r>
                      </m:oMath>
                    </m:oMathPara>
                  </a14:m>
                  <a:endParaRPr lang="es-PE" sz="1200" b="1" i="1" dirty="0"/>
                </a:p>
              </p:txBody>
            </p:sp>
          </mc:Choice>
          <mc:Fallback xmlns="">
            <p:sp>
              <p:nvSpPr>
                <p:cNvPr id="48" name="CuadroTexto 47">
                  <a:extLst>
                    <a:ext uri="{FF2B5EF4-FFF2-40B4-BE49-F238E27FC236}">
                      <a16:creationId xmlns:a16="http://schemas.microsoft.com/office/drawing/2014/main" id="{90F36EC7-41DC-5C3A-3CBC-B706C59612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663" y="5148731"/>
                  <a:ext cx="471283" cy="184666"/>
                </a:xfrm>
                <a:prstGeom prst="rect">
                  <a:avLst/>
                </a:prstGeom>
                <a:blipFill>
                  <a:blip r:embed="rId6"/>
                  <a:stretch>
                    <a:fillRect l="-7792" r="-5195" b="-3226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upo 48">
            <a:extLst>
              <a:ext uri="{FF2B5EF4-FFF2-40B4-BE49-F238E27FC236}">
                <a16:creationId xmlns:a16="http://schemas.microsoft.com/office/drawing/2014/main" id="{B304BAF0-437D-3B6A-76B7-8A8CCA3E28B7}"/>
              </a:ext>
            </a:extLst>
          </p:cNvPr>
          <p:cNvGrpSpPr/>
          <p:nvPr/>
        </p:nvGrpSpPr>
        <p:grpSpPr>
          <a:xfrm>
            <a:off x="4975081" y="5325943"/>
            <a:ext cx="1301066" cy="1101128"/>
            <a:chOff x="424663" y="4976843"/>
            <a:chExt cx="1301066" cy="1101128"/>
          </a:xfrm>
        </p:grpSpPr>
        <p:sp>
          <p:nvSpPr>
            <p:cNvPr id="50" name="Rectángulo 49">
              <a:extLst>
                <a:ext uri="{FF2B5EF4-FFF2-40B4-BE49-F238E27FC236}">
                  <a16:creationId xmlns:a16="http://schemas.microsoft.com/office/drawing/2014/main" id="{41443029-9884-E4A1-0E69-4B2EE5B676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49729" y="5048875"/>
              <a:ext cx="576000" cy="432000"/>
            </a:xfrm>
            <a:prstGeom prst="rect">
              <a:avLst/>
            </a:prstGeom>
            <a:pattFill prst="wdUpDiag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847F684D-3233-EB67-C7AC-DDF841C4EC1C}"/>
                </a:ext>
              </a:extLst>
            </p:cNvPr>
            <p:cNvCxnSpPr/>
            <p:nvPr/>
          </p:nvCxnSpPr>
          <p:spPr>
            <a:xfrm>
              <a:off x="1149729" y="5640390"/>
              <a:ext cx="0" cy="18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F474D313-96D9-D812-2B99-899F3F55AE84}"/>
                </a:ext>
              </a:extLst>
            </p:cNvPr>
            <p:cNvCxnSpPr>
              <a:cxnSpLocks/>
            </p:cNvCxnSpPr>
            <p:nvPr/>
          </p:nvCxnSpPr>
          <p:spPr>
            <a:xfrm>
              <a:off x="1042821" y="5733256"/>
              <a:ext cx="63529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CuadroTexto 52">
                  <a:extLst>
                    <a:ext uri="{FF2B5EF4-FFF2-40B4-BE49-F238E27FC236}">
                      <a16:creationId xmlns:a16="http://schemas.microsoft.com/office/drawing/2014/main" id="{447BFE75-5D67-A0C0-EA78-3BC57F2FB6D9}"/>
                    </a:ext>
                  </a:extLst>
                </p:cNvPr>
                <p:cNvSpPr txBox="1"/>
                <p:nvPr/>
              </p:nvSpPr>
              <p:spPr>
                <a:xfrm>
                  <a:off x="1110400" y="5893305"/>
                  <a:ext cx="47128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𝟒𝟓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𝒄𝒎</m:t>
                        </m:r>
                      </m:oMath>
                    </m:oMathPara>
                  </a14:m>
                  <a:endParaRPr lang="es-PE" sz="1200" b="1" i="1" dirty="0"/>
                </a:p>
              </p:txBody>
            </p:sp>
          </mc:Choice>
          <mc:Fallback xmlns="">
            <p:sp>
              <p:nvSpPr>
                <p:cNvPr id="53" name="CuadroTexto 52">
                  <a:extLst>
                    <a:ext uri="{FF2B5EF4-FFF2-40B4-BE49-F238E27FC236}">
                      <a16:creationId xmlns:a16="http://schemas.microsoft.com/office/drawing/2014/main" id="{447BFE75-5D67-A0C0-EA78-3BC57F2FB6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400" y="5893305"/>
                  <a:ext cx="471283" cy="184666"/>
                </a:xfrm>
                <a:prstGeom prst="rect">
                  <a:avLst/>
                </a:prstGeom>
                <a:blipFill>
                  <a:blip r:embed="rId7"/>
                  <a:stretch>
                    <a:fillRect l="-9091" r="-5195" b="-10000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071A0967-D1A8-C4A1-A860-44CD3C803799}"/>
                </a:ext>
              </a:extLst>
            </p:cNvPr>
            <p:cNvCxnSpPr>
              <a:cxnSpLocks/>
            </p:cNvCxnSpPr>
            <p:nvPr/>
          </p:nvCxnSpPr>
          <p:spPr>
            <a:xfrm>
              <a:off x="918571" y="4976843"/>
              <a:ext cx="0" cy="6127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7984E6A3-28E1-13A8-7A7E-ABBA2E2FA532}"/>
                </a:ext>
              </a:extLst>
            </p:cNvPr>
            <p:cNvCxnSpPr/>
            <p:nvPr/>
          </p:nvCxnSpPr>
          <p:spPr>
            <a:xfrm>
              <a:off x="801276" y="5042849"/>
              <a:ext cx="21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55">
              <a:extLst>
                <a:ext uri="{FF2B5EF4-FFF2-40B4-BE49-F238E27FC236}">
                  <a16:creationId xmlns:a16="http://schemas.microsoft.com/office/drawing/2014/main" id="{FDCA4726-4C9F-A280-ED7F-3595283ED598}"/>
                </a:ext>
              </a:extLst>
            </p:cNvPr>
            <p:cNvCxnSpPr/>
            <p:nvPr/>
          </p:nvCxnSpPr>
          <p:spPr>
            <a:xfrm>
              <a:off x="814039" y="5462158"/>
              <a:ext cx="21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cto 56">
              <a:extLst>
                <a:ext uri="{FF2B5EF4-FFF2-40B4-BE49-F238E27FC236}">
                  <a16:creationId xmlns:a16="http://schemas.microsoft.com/office/drawing/2014/main" id="{0F093772-58C3-4601-298C-BE4744DC27D8}"/>
                </a:ext>
              </a:extLst>
            </p:cNvPr>
            <p:cNvCxnSpPr/>
            <p:nvPr/>
          </p:nvCxnSpPr>
          <p:spPr>
            <a:xfrm>
              <a:off x="1644166" y="5650665"/>
              <a:ext cx="0" cy="18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CuadroTexto 57">
                  <a:extLst>
                    <a:ext uri="{FF2B5EF4-FFF2-40B4-BE49-F238E27FC236}">
                      <a16:creationId xmlns:a16="http://schemas.microsoft.com/office/drawing/2014/main" id="{4D8B660E-C570-7404-E61F-DCA0B963694D}"/>
                    </a:ext>
                  </a:extLst>
                </p:cNvPr>
                <p:cNvSpPr txBox="1"/>
                <p:nvPr/>
              </p:nvSpPr>
              <p:spPr>
                <a:xfrm>
                  <a:off x="424663" y="5148731"/>
                  <a:ext cx="47128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𝟑𝟎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𝒄𝒎</m:t>
                        </m:r>
                      </m:oMath>
                    </m:oMathPara>
                  </a14:m>
                  <a:endParaRPr lang="es-PE" sz="1200" b="1" i="1" dirty="0"/>
                </a:p>
              </p:txBody>
            </p:sp>
          </mc:Choice>
          <mc:Fallback xmlns="">
            <p:sp>
              <p:nvSpPr>
                <p:cNvPr id="58" name="CuadroTexto 57">
                  <a:extLst>
                    <a:ext uri="{FF2B5EF4-FFF2-40B4-BE49-F238E27FC236}">
                      <a16:creationId xmlns:a16="http://schemas.microsoft.com/office/drawing/2014/main" id="{4D8B660E-C570-7404-E61F-DCA0B96369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663" y="5148731"/>
                  <a:ext cx="471283" cy="184666"/>
                </a:xfrm>
                <a:prstGeom prst="rect">
                  <a:avLst/>
                </a:prstGeom>
                <a:blipFill>
                  <a:blip r:embed="rId4"/>
                  <a:stretch>
                    <a:fillRect l="-7792" r="-6494" b="-6667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E2548BE-8736-3C1C-1412-D142E5CB5AA9}"/>
                  </a:ext>
                </a:extLst>
              </p:cNvPr>
              <p:cNvSpPr txBox="1"/>
              <p:nvPr/>
            </p:nvSpPr>
            <p:spPr>
              <a:xfrm>
                <a:off x="2153356" y="4737942"/>
                <a:ext cx="72827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𝟖𝟎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E2548BE-8736-3C1C-1412-D142E5CB5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356" y="4737942"/>
                <a:ext cx="728276" cy="246221"/>
              </a:xfrm>
              <a:prstGeom prst="rect">
                <a:avLst/>
              </a:prstGeom>
              <a:blipFill>
                <a:blip r:embed="rId8"/>
                <a:stretch>
                  <a:fillRect l="-5833" r="-3333" b="-487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897EB06-9331-951B-3FA0-633C5451AA96}"/>
                  </a:ext>
                </a:extLst>
              </p:cNvPr>
              <p:cNvSpPr txBox="1"/>
              <p:nvPr/>
            </p:nvSpPr>
            <p:spPr>
              <a:xfrm>
                <a:off x="4409760" y="4690953"/>
                <a:ext cx="60484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897EB06-9331-951B-3FA0-633C5451A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9760" y="4690953"/>
                <a:ext cx="604846" cy="246221"/>
              </a:xfrm>
              <a:prstGeom prst="rect">
                <a:avLst/>
              </a:prstGeom>
              <a:blipFill>
                <a:blip r:embed="rId9"/>
                <a:stretch>
                  <a:fillRect l="-7000" r="-4000" b="-50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ipse 4">
            <a:extLst>
              <a:ext uri="{FF2B5EF4-FFF2-40B4-BE49-F238E27FC236}">
                <a16:creationId xmlns:a16="http://schemas.microsoft.com/office/drawing/2014/main" id="{71B2BDE7-C9C8-1BED-8078-A58807BFF3AD}"/>
              </a:ext>
            </a:extLst>
          </p:cNvPr>
          <p:cNvSpPr>
            <a:spLocks noChangeAspect="1"/>
          </p:cNvSpPr>
          <p:nvPr/>
        </p:nvSpPr>
        <p:spPr>
          <a:xfrm>
            <a:off x="1536719" y="4370969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91EA0B83-AE74-3852-B5DE-2A88ED9C8D49}"/>
              </a:ext>
            </a:extLst>
          </p:cNvPr>
          <p:cNvSpPr>
            <a:spLocks noChangeAspect="1"/>
          </p:cNvSpPr>
          <p:nvPr/>
        </p:nvSpPr>
        <p:spPr>
          <a:xfrm>
            <a:off x="1040764" y="2262536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8CF205D0-BB5C-249A-21B2-90553ED05323}"/>
              </a:ext>
            </a:extLst>
          </p:cNvPr>
          <p:cNvSpPr>
            <a:spLocks noChangeAspect="1"/>
          </p:cNvSpPr>
          <p:nvPr/>
        </p:nvSpPr>
        <p:spPr>
          <a:xfrm>
            <a:off x="3798510" y="4363243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0DCD015F-3008-5DAA-FF83-E516465B02F3}"/>
              </a:ext>
            </a:extLst>
          </p:cNvPr>
          <p:cNvSpPr>
            <a:spLocks noChangeAspect="1"/>
          </p:cNvSpPr>
          <p:nvPr/>
        </p:nvSpPr>
        <p:spPr>
          <a:xfrm>
            <a:off x="3485327" y="2215889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23E3FAD5-0E44-F8FA-6C75-9759F86A9B52}"/>
              </a:ext>
            </a:extLst>
          </p:cNvPr>
          <p:cNvSpPr>
            <a:spLocks noChangeAspect="1"/>
          </p:cNvSpPr>
          <p:nvPr/>
        </p:nvSpPr>
        <p:spPr>
          <a:xfrm>
            <a:off x="6184597" y="4353799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90569800-D23B-D80A-037D-F6F07D328839}"/>
              </a:ext>
            </a:extLst>
          </p:cNvPr>
          <p:cNvSpPr>
            <a:spLocks noChangeAspect="1"/>
          </p:cNvSpPr>
          <p:nvPr/>
        </p:nvSpPr>
        <p:spPr>
          <a:xfrm>
            <a:off x="6129946" y="2277126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9" name="Flecha: a la derecha 58">
            <a:extLst>
              <a:ext uri="{FF2B5EF4-FFF2-40B4-BE49-F238E27FC236}">
                <a16:creationId xmlns:a16="http://schemas.microsoft.com/office/drawing/2014/main" id="{69BEB91E-DEBE-0CD8-D13B-D6C832AE0230}"/>
              </a:ext>
            </a:extLst>
          </p:cNvPr>
          <p:cNvSpPr/>
          <p:nvPr/>
        </p:nvSpPr>
        <p:spPr>
          <a:xfrm>
            <a:off x="218767" y="2495133"/>
            <a:ext cx="1070050" cy="252000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1FECD988-59F4-D49F-8DC4-32F71982A27A}"/>
              </a:ext>
            </a:extLst>
          </p:cNvPr>
          <p:cNvSpPr txBox="1"/>
          <p:nvPr/>
        </p:nvSpPr>
        <p:spPr>
          <a:xfrm>
            <a:off x="58237" y="2151359"/>
            <a:ext cx="1106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>
                <a:solidFill>
                  <a:srgbClr val="0070C0"/>
                </a:solidFill>
              </a:rPr>
              <a:t>6500 Kgf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CuadroTexto 60">
                <a:extLst>
                  <a:ext uri="{FF2B5EF4-FFF2-40B4-BE49-F238E27FC236}">
                    <a16:creationId xmlns:a16="http://schemas.microsoft.com/office/drawing/2014/main" id="{9F8112A7-5C06-E6D6-DD85-1FA4FF9F8D47}"/>
                  </a:ext>
                </a:extLst>
              </p:cNvPr>
              <p:cNvSpPr txBox="1"/>
              <p:nvPr/>
            </p:nvSpPr>
            <p:spPr>
              <a:xfrm>
                <a:off x="1592371" y="3559033"/>
                <a:ext cx="2693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𝑽</m:t>
                      </m:r>
                    </m:oMath>
                  </m:oMathPara>
                </a14:m>
                <a:endParaRPr lang="es-PE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1" name="CuadroTexto 60">
                <a:extLst>
                  <a:ext uri="{FF2B5EF4-FFF2-40B4-BE49-F238E27FC236}">
                    <a16:creationId xmlns:a16="http://schemas.microsoft.com/office/drawing/2014/main" id="{9F8112A7-5C06-E6D6-DD85-1FA4FF9F8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371" y="3559033"/>
                <a:ext cx="269304" cy="369332"/>
              </a:xfrm>
              <a:prstGeom prst="rect">
                <a:avLst/>
              </a:prstGeom>
              <a:blipFill>
                <a:blip r:embed="rId10"/>
                <a:stretch>
                  <a:fillRect l="-25000" r="-27273" b="-666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4DE5B025-94AA-D277-F6B1-882C27E4A2AC}"/>
              </a:ext>
            </a:extLst>
          </p:cNvPr>
          <p:cNvCxnSpPr/>
          <p:nvPr/>
        </p:nvCxnSpPr>
        <p:spPr>
          <a:xfrm flipH="1">
            <a:off x="1082728" y="3490725"/>
            <a:ext cx="62914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200EFEFA-AB29-DC9D-55B0-6763216B9531}"/>
                  </a:ext>
                </a:extLst>
              </p:cNvPr>
              <p:cNvSpPr txBox="1"/>
              <p:nvPr/>
            </p:nvSpPr>
            <p:spPr>
              <a:xfrm>
                <a:off x="3740705" y="3494019"/>
                <a:ext cx="7518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PE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s-PE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𝑽</m:t>
                      </m:r>
                    </m:oMath>
                  </m:oMathPara>
                </a14:m>
                <a:endParaRPr lang="es-PE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200EFEFA-AB29-DC9D-55B0-6763216B9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0705" y="3494019"/>
                <a:ext cx="751809" cy="369332"/>
              </a:xfrm>
              <a:prstGeom prst="rect">
                <a:avLst/>
              </a:prstGeom>
              <a:blipFill>
                <a:blip r:embed="rId11"/>
                <a:stretch>
                  <a:fillRect l="-9756" r="-8943" b="-819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3779330C-1BD3-3B6B-F29B-FEB7615B158B}"/>
              </a:ext>
            </a:extLst>
          </p:cNvPr>
          <p:cNvCxnSpPr/>
          <p:nvPr/>
        </p:nvCxnSpPr>
        <p:spPr>
          <a:xfrm flipH="1">
            <a:off x="3231062" y="3425711"/>
            <a:ext cx="62914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CuadroTexto 65">
                <a:extLst>
                  <a:ext uri="{FF2B5EF4-FFF2-40B4-BE49-F238E27FC236}">
                    <a16:creationId xmlns:a16="http://schemas.microsoft.com/office/drawing/2014/main" id="{6245DBB8-AB8B-765D-2D62-B98C73BBC2DE}"/>
                  </a:ext>
                </a:extLst>
              </p:cNvPr>
              <p:cNvSpPr txBox="1"/>
              <p:nvPr/>
            </p:nvSpPr>
            <p:spPr>
              <a:xfrm>
                <a:off x="6290825" y="3498010"/>
                <a:ext cx="2693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𝑽</m:t>
                      </m:r>
                    </m:oMath>
                  </m:oMathPara>
                </a14:m>
                <a:endParaRPr lang="es-PE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6" name="CuadroTexto 65">
                <a:extLst>
                  <a:ext uri="{FF2B5EF4-FFF2-40B4-BE49-F238E27FC236}">
                    <a16:creationId xmlns:a16="http://schemas.microsoft.com/office/drawing/2014/main" id="{6245DBB8-AB8B-765D-2D62-B98C73BBC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0825" y="3498010"/>
                <a:ext cx="269304" cy="369332"/>
              </a:xfrm>
              <a:prstGeom prst="rect">
                <a:avLst/>
              </a:prstGeom>
              <a:blipFill>
                <a:blip r:embed="rId12"/>
                <a:stretch>
                  <a:fillRect l="-27273" r="-25000" b="-666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CB27B7F3-5BAF-24FD-0A51-1C8100E2C814}"/>
              </a:ext>
            </a:extLst>
          </p:cNvPr>
          <p:cNvCxnSpPr/>
          <p:nvPr/>
        </p:nvCxnSpPr>
        <p:spPr>
          <a:xfrm flipH="1">
            <a:off x="5781182" y="3429702"/>
            <a:ext cx="62914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CuadroTexto 67">
                <a:extLst>
                  <a:ext uri="{FF2B5EF4-FFF2-40B4-BE49-F238E27FC236}">
                    <a16:creationId xmlns:a16="http://schemas.microsoft.com/office/drawing/2014/main" id="{5B5DEC46-1CB5-F441-A9F6-618749EFB3C3}"/>
                  </a:ext>
                </a:extLst>
              </p:cNvPr>
              <p:cNvSpPr txBox="1"/>
              <p:nvPr/>
            </p:nvSpPr>
            <p:spPr>
              <a:xfrm>
                <a:off x="7385843" y="2708157"/>
                <a:ext cx="28895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+1.5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=6500</m:t>
                      </m:r>
                    </m:oMath>
                  </m:oMathPara>
                </a14:m>
                <a:endParaRPr lang="es-PE" sz="2400" dirty="0"/>
              </a:p>
            </p:txBody>
          </p:sp>
        </mc:Choice>
        <mc:Fallback xmlns="">
          <p:sp>
            <p:nvSpPr>
              <p:cNvPr id="68" name="CuadroTexto 67">
                <a:extLst>
                  <a:ext uri="{FF2B5EF4-FFF2-40B4-BE49-F238E27FC236}">
                    <a16:creationId xmlns:a16="http://schemas.microsoft.com/office/drawing/2014/main" id="{5B5DEC46-1CB5-F441-A9F6-618749EFB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5843" y="2708157"/>
                <a:ext cx="2889574" cy="369332"/>
              </a:xfrm>
              <a:prstGeom prst="rect">
                <a:avLst/>
              </a:prstGeom>
              <a:blipFill>
                <a:blip r:embed="rId13"/>
                <a:stretch>
                  <a:fillRect l="-2110" r="-2321" b="-819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C8F9A33E-1C3D-1D0D-506B-81F974DD85E1}"/>
                  </a:ext>
                </a:extLst>
              </p:cNvPr>
              <p:cNvSpPr txBox="1"/>
              <p:nvPr/>
            </p:nvSpPr>
            <p:spPr>
              <a:xfrm>
                <a:off x="7385843" y="3429000"/>
                <a:ext cx="240187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=1857.14 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𝐾𝑔𝑓</m:t>
                      </m:r>
                    </m:oMath>
                  </m:oMathPara>
                </a14:m>
                <a:endParaRPr lang="es-PE" sz="2400" dirty="0"/>
              </a:p>
            </p:txBody>
          </p:sp>
        </mc:Choice>
        <mc:Fallback xmlns="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C8F9A33E-1C3D-1D0D-506B-81F974DD8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5843" y="3429000"/>
                <a:ext cx="2401876" cy="369332"/>
              </a:xfrm>
              <a:prstGeom prst="rect">
                <a:avLst/>
              </a:prstGeom>
              <a:blipFill>
                <a:blip r:embed="rId14"/>
                <a:stretch>
                  <a:fillRect l="-2792" r="-3553" b="-350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CuadroTexto 74">
                <a:extLst>
                  <a:ext uri="{FF2B5EF4-FFF2-40B4-BE49-F238E27FC236}">
                    <a16:creationId xmlns:a16="http://schemas.microsoft.com/office/drawing/2014/main" id="{5B652656-F878-CD8E-D392-2327533CCB00}"/>
                  </a:ext>
                </a:extLst>
              </p:cNvPr>
              <p:cNvSpPr txBox="1"/>
              <p:nvPr/>
            </p:nvSpPr>
            <p:spPr>
              <a:xfrm>
                <a:off x="7385843" y="4029918"/>
                <a:ext cx="280422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1.5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=2785.71 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𝐾𝑔𝑓</m:t>
                      </m:r>
                    </m:oMath>
                  </m:oMathPara>
                </a14:m>
                <a:endParaRPr lang="es-PE" sz="2400" dirty="0"/>
              </a:p>
            </p:txBody>
          </p:sp>
        </mc:Choice>
        <mc:Fallback xmlns="">
          <p:sp>
            <p:nvSpPr>
              <p:cNvPr id="75" name="CuadroTexto 74">
                <a:extLst>
                  <a:ext uri="{FF2B5EF4-FFF2-40B4-BE49-F238E27FC236}">
                    <a16:creationId xmlns:a16="http://schemas.microsoft.com/office/drawing/2014/main" id="{5B652656-F878-CD8E-D392-2327533CC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5843" y="4029918"/>
                <a:ext cx="2804229" cy="369332"/>
              </a:xfrm>
              <a:prstGeom prst="rect">
                <a:avLst/>
              </a:prstGeom>
              <a:blipFill>
                <a:blip r:embed="rId15"/>
                <a:stretch>
                  <a:fillRect l="-2174" r="-3043" b="-34426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8609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D4B30-9B7A-4FF3-9506-6E2F889CB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3° Determinar los momentos en el pie y cabeza de las columnas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3903A5C6-AB62-8217-6604-553267E4BC12}"/>
              </a:ext>
            </a:extLst>
          </p:cNvPr>
          <p:cNvGrpSpPr/>
          <p:nvPr/>
        </p:nvGrpSpPr>
        <p:grpSpPr>
          <a:xfrm>
            <a:off x="1156230" y="2493924"/>
            <a:ext cx="5149238" cy="2304901"/>
            <a:chOff x="802746" y="2708275"/>
            <a:chExt cx="4673826" cy="1950578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F092B829-0F0C-F37E-7FB0-DF0011828F6E}"/>
                </a:ext>
              </a:extLst>
            </p:cNvPr>
            <p:cNvSpPr/>
            <p:nvPr/>
          </p:nvSpPr>
          <p:spPr>
            <a:xfrm>
              <a:off x="802746" y="4508726"/>
              <a:ext cx="499090" cy="150127"/>
            </a:xfrm>
            <a:prstGeom prst="rect">
              <a:avLst/>
            </a:prstGeom>
            <a:pattFill prst="wdUpDiag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26E44751-1FBE-FDF6-F5DB-F916D18BA2C2}"/>
                </a:ext>
              </a:extLst>
            </p:cNvPr>
            <p:cNvSpPr/>
            <p:nvPr/>
          </p:nvSpPr>
          <p:spPr>
            <a:xfrm>
              <a:off x="948234" y="2708501"/>
              <a:ext cx="144000" cy="180000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3BF99385-421A-A497-46F6-F625D68D10BB}"/>
                </a:ext>
              </a:extLst>
            </p:cNvPr>
            <p:cNvSpPr/>
            <p:nvPr/>
          </p:nvSpPr>
          <p:spPr>
            <a:xfrm>
              <a:off x="948234" y="2708275"/>
              <a:ext cx="4320224" cy="21625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1DD7C29E-220A-039C-4872-C5A9D7FD0E8A}"/>
                </a:ext>
              </a:extLst>
            </p:cNvPr>
            <p:cNvSpPr/>
            <p:nvPr/>
          </p:nvSpPr>
          <p:spPr>
            <a:xfrm>
              <a:off x="2785313" y="4508500"/>
              <a:ext cx="499090" cy="150127"/>
            </a:xfrm>
            <a:prstGeom prst="rect">
              <a:avLst/>
            </a:prstGeom>
            <a:pattFill prst="wdUpDiag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35D9AF8B-3376-4798-8978-A804452CFF04}"/>
                </a:ext>
              </a:extLst>
            </p:cNvPr>
            <p:cNvSpPr/>
            <p:nvPr/>
          </p:nvSpPr>
          <p:spPr>
            <a:xfrm>
              <a:off x="2930801" y="2708275"/>
              <a:ext cx="144000" cy="180000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15C6AAFD-A84E-784F-31DB-BA14CF663C50}"/>
                </a:ext>
              </a:extLst>
            </p:cNvPr>
            <p:cNvSpPr/>
            <p:nvPr/>
          </p:nvSpPr>
          <p:spPr>
            <a:xfrm>
              <a:off x="4977482" y="4508500"/>
              <a:ext cx="499090" cy="150127"/>
            </a:xfrm>
            <a:prstGeom prst="rect">
              <a:avLst/>
            </a:prstGeom>
            <a:pattFill prst="wdUpDiag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DD95B2B8-AE41-91C8-8890-DCFAA99B3C61}"/>
                </a:ext>
              </a:extLst>
            </p:cNvPr>
            <p:cNvSpPr/>
            <p:nvPr/>
          </p:nvSpPr>
          <p:spPr>
            <a:xfrm>
              <a:off x="5122970" y="2708275"/>
              <a:ext cx="144000" cy="180000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CFDC01DB-0147-3DB8-4328-BA956B91C19E}"/>
              </a:ext>
            </a:extLst>
          </p:cNvPr>
          <p:cNvCxnSpPr/>
          <p:nvPr/>
        </p:nvCxnSpPr>
        <p:spPr>
          <a:xfrm>
            <a:off x="797406" y="2494247"/>
            <a:ext cx="0" cy="22319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52F30F76-FB31-DB33-88D7-2FA65898AD1E}"/>
              </a:ext>
            </a:extLst>
          </p:cNvPr>
          <p:cNvCxnSpPr/>
          <p:nvPr/>
        </p:nvCxnSpPr>
        <p:spPr>
          <a:xfrm>
            <a:off x="653068" y="2638263"/>
            <a:ext cx="3603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3DDD77F7-59B6-616E-21DF-6C8373369C01}"/>
              </a:ext>
            </a:extLst>
          </p:cNvPr>
          <p:cNvCxnSpPr/>
          <p:nvPr/>
        </p:nvCxnSpPr>
        <p:spPr>
          <a:xfrm>
            <a:off x="652382" y="4620315"/>
            <a:ext cx="3603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B4797FC6-1517-692D-2E56-B48C5032DCD5}"/>
              </a:ext>
            </a:extLst>
          </p:cNvPr>
          <p:cNvCxnSpPr>
            <a:cxnSpLocks/>
          </p:cNvCxnSpPr>
          <p:nvPr/>
        </p:nvCxnSpPr>
        <p:spPr>
          <a:xfrm>
            <a:off x="1120892" y="5014527"/>
            <a:ext cx="515525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5AB85D76-1E13-A5EB-42FD-B6D5C1988733}"/>
              </a:ext>
            </a:extLst>
          </p:cNvPr>
          <p:cNvCxnSpPr/>
          <p:nvPr/>
        </p:nvCxnSpPr>
        <p:spPr>
          <a:xfrm>
            <a:off x="1395840" y="4879970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E790FB11-125F-3F72-E8F5-2AB051658AFD}"/>
              </a:ext>
            </a:extLst>
          </p:cNvPr>
          <p:cNvCxnSpPr/>
          <p:nvPr/>
        </p:nvCxnSpPr>
        <p:spPr>
          <a:xfrm>
            <a:off x="3580069" y="4879970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F4451327-6A7E-7295-09E3-6EB2308F348D}"/>
              </a:ext>
            </a:extLst>
          </p:cNvPr>
          <p:cNvCxnSpPr/>
          <p:nvPr/>
        </p:nvCxnSpPr>
        <p:spPr>
          <a:xfrm>
            <a:off x="5996171" y="4870511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upo 37">
            <a:extLst>
              <a:ext uri="{FF2B5EF4-FFF2-40B4-BE49-F238E27FC236}">
                <a16:creationId xmlns:a16="http://schemas.microsoft.com/office/drawing/2014/main" id="{54954D6D-CC84-C3E6-C3FC-2052C45EA298}"/>
              </a:ext>
            </a:extLst>
          </p:cNvPr>
          <p:cNvGrpSpPr/>
          <p:nvPr/>
        </p:nvGrpSpPr>
        <p:grpSpPr>
          <a:xfrm>
            <a:off x="490115" y="5194218"/>
            <a:ext cx="1253448" cy="1101128"/>
            <a:chOff x="424663" y="4976843"/>
            <a:chExt cx="1253448" cy="1101128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180F0F17-A1B8-2181-B547-1C10414558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49729" y="5048875"/>
              <a:ext cx="431954" cy="432000"/>
            </a:xfrm>
            <a:prstGeom prst="rect">
              <a:avLst/>
            </a:prstGeom>
            <a:pattFill prst="wdUpDiag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77DD0DD3-F02E-B575-9564-FE09A1A55317}"/>
                </a:ext>
              </a:extLst>
            </p:cNvPr>
            <p:cNvCxnSpPr/>
            <p:nvPr/>
          </p:nvCxnSpPr>
          <p:spPr>
            <a:xfrm>
              <a:off x="1149729" y="5640390"/>
              <a:ext cx="0" cy="18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E601BA6D-2052-749B-8E4C-285F80AFBB27}"/>
                </a:ext>
              </a:extLst>
            </p:cNvPr>
            <p:cNvCxnSpPr>
              <a:cxnSpLocks/>
            </p:cNvCxnSpPr>
            <p:nvPr/>
          </p:nvCxnSpPr>
          <p:spPr>
            <a:xfrm>
              <a:off x="1042821" y="5733256"/>
              <a:ext cx="63529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B0EC4A1B-117F-9ECA-4D5F-076E5A7F455E}"/>
                    </a:ext>
                  </a:extLst>
                </p:cNvPr>
                <p:cNvSpPr txBox="1"/>
                <p:nvPr/>
              </p:nvSpPr>
              <p:spPr>
                <a:xfrm>
                  <a:off x="1110400" y="5893305"/>
                  <a:ext cx="47128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𝟑𝟎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𝒄𝒎</m:t>
                        </m:r>
                      </m:oMath>
                    </m:oMathPara>
                  </a14:m>
                  <a:endParaRPr lang="es-PE" sz="1200" b="1" i="1" dirty="0"/>
                </a:p>
              </p:txBody>
            </p:sp>
          </mc:Choice>
          <mc:Fallback xmlns=""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B0EC4A1B-117F-9ECA-4D5F-076E5A7F45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400" y="5893305"/>
                  <a:ext cx="471283" cy="184666"/>
                </a:xfrm>
                <a:prstGeom prst="rect">
                  <a:avLst/>
                </a:prstGeom>
                <a:blipFill>
                  <a:blip r:embed="rId2"/>
                  <a:stretch>
                    <a:fillRect l="-7792" r="-5195" b="-3226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0256719A-02F0-50D3-CDD6-92586642DA3D}"/>
                </a:ext>
              </a:extLst>
            </p:cNvPr>
            <p:cNvCxnSpPr>
              <a:cxnSpLocks/>
            </p:cNvCxnSpPr>
            <p:nvPr/>
          </p:nvCxnSpPr>
          <p:spPr>
            <a:xfrm>
              <a:off x="918571" y="4976843"/>
              <a:ext cx="0" cy="6127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46561584-17C2-B301-B7C0-CBDE41AFEA25}"/>
                </a:ext>
              </a:extLst>
            </p:cNvPr>
            <p:cNvCxnSpPr/>
            <p:nvPr/>
          </p:nvCxnSpPr>
          <p:spPr>
            <a:xfrm>
              <a:off x="801276" y="5042849"/>
              <a:ext cx="21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47B61D6A-9196-506A-46BB-F468D4B44EB0}"/>
                </a:ext>
              </a:extLst>
            </p:cNvPr>
            <p:cNvCxnSpPr/>
            <p:nvPr/>
          </p:nvCxnSpPr>
          <p:spPr>
            <a:xfrm>
              <a:off x="814039" y="5462158"/>
              <a:ext cx="21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311EC56E-9699-0352-1A25-6133DAA12D25}"/>
                </a:ext>
              </a:extLst>
            </p:cNvPr>
            <p:cNvCxnSpPr/>
            <p:nvPr/>
          </p:nvCxnSpPr>
          <p:spPr>
            <a:xfrm>
              <a:off x="1576430" y="5659132"/>
              <a:ext cx="0" cy="18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CuadroTexto 36">
                  <a:extLst>
                    <a:ext uri="{FF2B5EF4-FFF2-40B4-BE49-F238E27FC236}">
                      <a16:creationId xmlns:a16="http://schemas.microsoft.com/office/drawing/2014/main" id="{F470CAC1-752B-AA49-8BE2-E46BC72E6187}"/>
                    </a:ext>
                  </a:extLst>
                </p:cNvPr>
                <p:cNvSpPr txBox="1"/>
                <p:nvPr/>
              </p:nvSpPr>
              <p:spPr>
                <a:xfrm>
                  <a:off x="424663" y="5148731"/>
                  <a:ext cx="47128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𝟑𝟎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𝒄𝒎</m:t>
                        </m:r>
                      </m:oMath>
                    </m:oMathPara>
                  </a14:m>
                  <a:endParaRPr lang="es-PE" sz="1200" b="1" i="1" dirty="0"/>
                </a:p>
              </p:txBody>
            </p:sp>
          </mc:Choice>
          <mc:Fallback xmlns="">
            <p:sp>
              <p:nvSpPr>
                <p:cNvPr id="37" name="CuadroTexto 36">
                  <a:extLst>
                    <a:ext uri="{FF2B5EF4-FFF2-40B4-BE49-F238E27FC236}">
                      <a16:creationId xmlns:a16="http://schemas.microsoft.com/office/drawing/2014/main" id="{F470CAC1-752B-AA49-8BE2-E46BC72E61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663" y="5148731"/>
                  <a:ext cx="471283" cy="184666"/>
                </a:xfrm>
                <a:prstGeom prst="rect">
                  <a:avLst/>
                </a:prstGeom>
                <a:blipFill>
                  <a:blip r:embed="rId3"/>
                  <a:stretch>
                    <a:fillRect l="-7692" r="-5128" b="-3226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9396947E-B5B7-9FEA-496A-C485D416760A}"/>
              </a:ext>
            </a:extLst>
          </p:cNvPr>
          <p:cNvGrpSpPr/>
          <p:nvPr/>
        </p:nvGrpSpPr>
        <p:grpSpPr>
          <a:xfrm>
            <a:off x="2655003" y="5305356"/>
            <a:ext cx="1253448" cy="1101128"/>
            <a:chOff x="424663" y="4976843"/>
            <a:chExt cx="1253448" cy="1101128"/>
          </a:xfrm>
        </p:grpSpPr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FACC5F9A-5E29-3251-8BED-F66BE3F1BC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49729" y="5048875"/>
              <a:ext cx="504000" cy="432000"/>
            </a:xfrm>
            <a:prstGeom prst="rect">
              <a:avLst/>
            </a:prstGeom>
            <a:pattFill prst="wdUpDiag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1476BF03-4976-F2D7-B69D-5B12963ABB3F}"/>
                </a:ext>
              </a:extLst>
            </p:cNvPr>
            <p:cNvCxnSpPr/>
            <p:nvPr/>
          </p:nvCxnSpPr>
          <p:spPr>
            <a:xfrm>
              <a:off x="1149729" y="5640390"/>
              <a:ext cx="0" cy="18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3801204E-C8EB-2857-D435-F98093810063}"/>
                </a:ext>
              </a:extLst>
            </p:cNvPr>
            <p:cNvCxnSpPr>
              <a:cxnSpLocks/>
            </p:cNvCxnSpPr>
            <p:nvPr/>
          </p:nvCxnSpPr>
          <p:spPr>
            <a:xfrm>
              <a:off x="1042821" y="5733256"/>
              <a:ext cx="63529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CuadroTexto 42">
                  <a:extLst>
                    <a:ext uri="{FF2B5EF4-FFF2-40B4-BE49-F238E27FC236}">
                      <a16:creationId xmlns:a16="http://schemas.microsoft.com/office/drawing/2014/main" id="{E2A07CE4-A1D6-A3B8-3CE5-E7E8C0D38395}"/>
                    </a:ext>
                  </a:extLst>
                </p:cNvPr>
                <p:cNvSpPr txBox="1"/>
                <p:nvPr/>
              </p:nvSpPr>
              <p:spPr>
                <a:xfrm>
                  <a:off x="1110400" y="5893305"/>
                  <a:ext cx="47128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𝟑𝟓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𝒄𝒎</m:t>
                        </m:r>
                      </m:oMath>
                    </m:oMathPara>
                  </a14:m>
                  <a:endParaRPr lang="es-PE" sz="1200" b="1" i="1" dirty="0"/>
                </a:p>
              </p:txBody>
            </p:sp>
          </mc:Choice>
          <mc:Fallback xmlns="">
            <p:sp>
              <p:nvSpPr>
                <p:cNvPr id="43" name="CuadroTexto 42">
                  <a:extLst>
                    <a:ext uri="{FF2B5EF4-FFF2-40B4-BE49-F238E27FC236}">
                      <a16:creationId xmlns:a16="http://schemas.microsoft.com/office/drawing/2014/main" id="{E2A07CE4-A1D6-A3B8-3CE5-E7E8C0D383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400" y="5893305"/>
                  <a:ext cx="471283" cy="184666"/>
                </a:xfrm>
                <a:prstGeom prst="rect">
                  <a:avLst/>
                </a:prstGeom>
                <a:blipFill>
                  <a:blip r:embed="rId4"/>
                  <a:stretch>
                    <a:fillRect l="-7792" r="-6494" b="-6667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0097B614-9D4E-F932-40D6-22DEB0A2B7FD}"/>
                </a:ext>
              </a:extLst>
            </p:cNvPr>
            <p:cNvCxnSpPr>
              <a:cxnSpLocks/>
            </p:cNvCxnSpPr>
            <p:nvPr/>
          </p:nvCxnSpPr>
          <p:spPr>
            <a:xfrm>
              <a:off x="918571" y="4976843"/>
              <a:ext cx="0" cy="6127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71E37251-F13A-8BFB-D581-124A8965E6E4}"/>
                </a:ext>
              </a:extLst>
            </p:cNvPr>
            <p:cNvCxnSpPr/>
            <p:nvPr/>
          </p:nvCxnSpPr>
          <p:spPr>
            <a:xfrm>
              <a:off x="801276" y="5042849"/>
              <a:ext cx="21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540A507A-D001-AF41-662B-1259C0648680}"/>
                </a:ext>
              </a:extLst>
            </p:cNvPr>
            <p:cNvCxnSpPr/>
            <p:nvPr/>
          </p:nvCxnSpPr>
          <p:spPr>
            <a:xfrm>
              <a:off x="814039" y="5462158"/>
              <a:ext cx="21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755B1E69-4C28-B938-BBB9-9CD1E12C14D0}"/>
                </a:ext>
              </a:extLst>
            </p:cNvPr>
            <p:cNvCxnSpPr/>
            <p:nvPr/>
          </p:nvCxnSpPr>
          <p:spPr>
            <a:xfrm>
              <a:off x="1644166" y="5650665"/>
              <a:ext cx="0" cy="18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CuadroTexto 47">
                  <a:extLst>
                    <a:ext uri="{FF2B5EF4-FFF2-40B4-BE49-F238E27FC236}">
                      <a16:creationId xmlns:a16="http://schemas.microsoft.com/office/drawing/2014/main" id="{90F36EC7-41DC-5C3A-3CBC-B706C5961235}"/>
                    </a:ext>
                  </a:extLst>
                </p:cNvPr>
                <p:cNvSpPr txBox="1"/>
                <p:nvPr/>
              </p:nvSpPr>
              <p:spPr>
                <a:xfrm>
                  <a:off x="424663" y="5148731"/>
                  <a:ext cx="47128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𝟑𝟎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𝒄𝒎</m:t>
                        </m:r>
                      </m:oMath>
                    </m:oMathPara>
                  </a14:m>
                  <a:endParaRPr lang="es-PE" sz="1200" b="1" i="1" dirty="0"/>
                </a:p>
              </p:txBody>
            </p:sp>
          </mc:Choice>
          <mc:Fallback xmlns="">
            <p:sp>
              <p:nvSpPr>
                <p:cNvPr id="48" name="CuadroTexto 47">
                  <a:extLst>
                    <a:ext uri="{FF2B5EF4-FFF2-40B4-BE49-F238E27FC236}">
                      <a16:creationId xmlns:a16="http://schemas.microsoft.com/office/drawing/2014/main" id="{90F36EC7-41DC-5C3A-3CBC-B706C59612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663" y="5148731"/>
                  <a:ext cx="471283" cy="184666"/>
                </a:xfrm>
                <a:prstGeom prst="rect">
                  <a:avLst/>
                </a:prstGeom>
                <a:blipFill>
                  <a:blip r:embed="rId5"/>
                  <a:stretch>
                    <a:fillRect l="-7792" r="-5195" b="-3226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upo 48">
            <a:extLst>
              <a:ext uri="{FF2B5EF4-FFF2-40B4-BE49-F238E27FC236}">
                <a16:creationId xmlns:a16="http://schemas.microsoft.com/office/drawing/2014/main" id="{B304BAF0-437D-3B6A-76B7-8A8CCA3E28B7}"/>
              </a:ext>
            </a:extLst>
          </p:cNvPr>
          <p:cNvGrpSpPr/>
          <p:nvPr/>
        </p:nvGrpSpPr>
        <p:grpSpPr>
          <a:xfrm>
            <a:off x="4975081" y="5325943"/>
            <a:ext cx="1301066" cy="1101128"/>
            <a:chOff x="424663" y="4976843"/>
            <a:chExt cx="1301066" cy="1101128"/>
          </a:xfrm>
        </p:grpSpPr>
        <p:sp>
          <p:nvSpPr>
            <p:cNvPr id="50" name="Rectángulo 49">
              <a:extLst>
                <a:ext uri="{FF2B5EF4-FFF2-40B4-BE49-F238E27FC236}">
                  <a16:creationId xmlns:a16="http://schemas.microsoft.com/office/drawing/2014/main" id="{41443029-9884-E4A1-0E69-4B2EE5B676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49729" y="5048875"/>
              <a:ext cx="576000" cy="432000"/>
            </a:xfrm>
            <a:prstGeom prst="rect">
              <a:avLst/>
            </a:prstGeom>
            <a:pattFill prst="wdUpDiag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847F684D-3233-EB67-C7AC-DDF841C4EC1C}"/>
                </a:ext>
              </a:extLst>
            </p:cNvPr>
            <p:cNvCxnSpPr/>
            <p:nvPr/>
          </p:nvCxnSpPr>
          <p:spPr>
            <a:xfrm>
              <a:off x="1149729" y="5640390"/>
              <a:ext cx="0" cy="18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F474D313-96D9-D812-2B99-899F3F55AE84}"/>
                </a:ext>
              </a:extLst>
            </p:cNvPr>
            <p:cNvCxnSpPr>
              <a:cxnSpLocks/>
            </p:cNvCxnSpPr>
            <p:nvPr/>
          </p:nvCxnSpPr>
          <p:spPr>
            <a:xfrm>
              <a:off x="1042821" y="5733256"/>
              <a:ext cx="63529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CuadroTexto 52">
                  <a:extLst>
                    <a:ext uri="{FF2B5EF4-FFF2-40B4-BE49-F238E27FC236}">
                      <a16:creationId xmlns:a16="http://schemas.microsoft.com/office/drawing/2014/main" id="{447BFE75-5D67-A0C0-EA78-3BC57F2FB6D9}"/>
                    </a:ext>
                  </a:extLst>
                </p:cNvPr>
                <p:cNvSpPr txBox="1"/>
                <p:nvPr/>
              </p:nvSpPr>
              <p:spPr>
                <a:xfrm>
                  <a:off x="1110400" y="5893305"/>
                  <a:ext cx="47128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𝟒𝟓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𝒄𝒎</m:t>
                        </m:r>
                      </m:oMath>
                    </m:oMathPara>
                  </a14:m>
                  <a:endParaRPr lang="es-PE" sz="1200" b="1" i="1" dirty="0"/>
                </a:p>
              </p:txBody>
            </p:sp>
          </mc:Choice>
          <mc:Fallback xmlns="">
            <p:sp>
              <p:nvSpPr>
                <p:cNvPr id="53" name="CuadroTexto 52">
                  <a:extLst>
                    <a:ext uri="{FF2B5EF4-FFF2-40B4-BE49-F238E27FC236}">
                      <a16:creationId xmlns:a16="http://schemas.microsoft.com/office/drawing/2014/main" id="{447BFE75-5D67-A0C0-EA78-3BC57F2FB6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400" y="5893305"/>
                  <a:ext cx="471283" cy="184666"/>
                </a:xfrm>
                <a:prstGeom prst="rect">
                  <a:avLst/>
                </a:prstGeom>
                <a:blipFill>
                  <a:blip r:embed="rId6"/>
                  <a:stretch>
                    <a:fillRect l="-9091" r="-5195" b="-10000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071A0967-D1A8-C4A1-A860-44CD3C803799}"/>
                </a:ext>
              </a:extLst>
            </p:cNvPr>
            <p:cNvCxnSpPr>
              <a:cxnSpLocks/>
            </p:cNvCxnSpPr>
            <p:nvPr/>
          </p:nvCxnSpPr>
          <p:spPr>
            <a:xfrm>
              <a:off x="918571" y="4976843"/>
              <a:ext cx="0" cy="6127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7984E6A3-28E1-13A8-7A7E-ABBA2E2FA532}"/>
                </a:ext>
              </a:extLst>
            </p:cNvPr>
            <p:cNvCxnSpPr/>
            <p:nvPr/>
          </p:nvCxnSpPr>
          <p:spPr>
            <a:xfrm>
              <a:off x="801276" y="5042849"/>
              <a:ext cx="21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55">
              <a:extLst>
                <a:ext uri="{FF2B5EF4-FFF2-40B4-BE49-F238E27FC236}">
                  <a16:creationId xmlns:a16="http://schemas.microsoft.com/office/drawing/2014/main" id="{FDCA4726-4C9F-A280-ED7F-3595283ED598}"/>
                </a:ext>
              </a:extLst>
            </p:cNvPr>
            <p:cNvCxnSpPr/>
            <p:nvPr/>
          </p:nvCxnSpPr>
          <p:spPr>
            <a:xfrm>
              <a:off x="814039" y="5462158"/>
              <a:ext cx="21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cto 56">
              <a:extLst>
                <a:ext uri="{FF2B5EF4-FFF2-40B4-BE49-F238E27FC236}">
                  <a16:creationId xmlns:a16="http://schemas.microsoft.com/office/drawing/2014/main" id="{0F093772-58C3-4601-298C-BE4744DC27D8}"/>
                </a:ext>
              </a:extLst>
            </p:cNvPr>
            <p:cNvCxnSpPr/>
            <p:nvPr/>
          </p:nvCxnSpPr>
          <p:spPr>
            <a:xfrm>
              <a:off x="1644166" y="5650665"/>
              <a:ext cx="0" cy="18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CuadroTexto 57">
                  <a:extLst>
                    <a:ext uri="{FF2B5EF4-FFF2-40B4-BE49-F238E27FC236}">
                      <a16:creationId xmlns:a16="http://schemas.microsoft.com/office/drawing/2014/main" id="{4D8B660E-C570-7404-E61F-DCA0B963694D}"/>
                    </a:ext>
                  </a:extLst>
                </p:cNvPr>
                <p:cNvSpPr txBox="1"/>
                <p:nvPr/>
              </p:nvSpPr>
              <p:spPr>
                <a:xfrm>
                  <a:off x="424663" y="5148731"/>
                  <a:ext cx="47128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𝟑𝟎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𝒄𝒎</m:t>
                        </m:r>
                      </m:oMath>
                    </m:oMathPara>
                  </a14:m>
                  <a:endParaRPr lang="es-PE" sz="1200" b="1" i="1" dirty="0"/>
                </a:p>
              </p:txBody>
            </p:sp>
          </mc:Choice>
          <mc:Fallback xmlns="">
            <p:sp>
              <p:nvSpPr>
                <p:cNvPr id="58" name="CuadroTexto 57">
                  <a:extLst>
                    <a:ext uri="{FF2B5EF4-FFF2-40B4-BE49-F238E27FC236}">
                      <a16:creationId xmlns:a16="http://schemas.microsoft.com/office/drawing/2014/main" id="{4D8B660E-C570-7404-E61F-DCA0B96369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663" y="5148731"/>
                  <a:ext cx="471283" cy="184666"/>
                </a:xfrm>
                <a:prstGeom prst="rect">
                  <a:avLst/>
                </a:prstGeom>
                <a:blipFill>
                  <a:blip r:embed="rId3"/>
                  <a:stretch>
                    <a:fillRect l="-7792" r="-6494" b="-6667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E2548BE-8736-3C1C-1412-D142E5CB5AA9}"/>
                  </a:ext>
                </a:extLst>
              </p:cNvPr>
              <p:cNvSpPr txBox="1"/>
              <p:nvPr/>
            </p:nvSpPr>
            <p:spPr>
              <a:xfrm>
                <a:off x="2153356" y="4737942"/>
                <a:ext cx="72827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𝟖𝟎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E2548BE-8736-3C1C-1412-D142E5CB5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356" y="4737942"/>
                <a:ext cx="728276" cy="246221"/>
              </a:xfrm>
              <a:prstGeom prst="rect">
                <a:avLst/>
              </a:prstGeom>
              <a:blipFill>
                <a:blip r:embed="rId7"/>
                <a:stretch>
                  <a:fillRect l="-5833" r="-3333" b="-487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897EB06-9331-951B-3FA0-633C5451AA96}"/>
                  </a:ext>
                </a:extLst>
              </p:cNvPr>
              <p:cNvSpPr txBox="1"/>
              <p:nvPr/>
            </p:nvSpPr>
            <p:spPr>
              <a:xfrm>
                <a:off x="4409760" y="4690953"/>
                <a:ext cx="60484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897EB06-9331-951B-3FA0-633C5451A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9760" y="4690953"/>
                <a:ext cx="604846" cy="246221"/>
              </a:xfrm>
              <a:prstGeom prst="rect">
                <a:avLst/>
              </a:prstGeom>
              <a:blipFill>
                <a:blip r:embed="rId8"/>
                <a:stretch>
                  <a:fillRect l="-7000" r="-4000" b="-50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ipse 4">
            <a:extLst>
              <a:ext uri="{FF2B5EF4-FFF2-40B4-BE49-F238E27FC236}">
                <a16:creationId xmlns:a16="http://schemas.microsoft.com/office/drawing/2014/main" id="{71B2BDE7-C9C8-1BED-8078-A58807BFF3AD}"/>
              </a:ext>
            </a:extLst>
          </p:cNvPr>
          <p:cNvSpPr>
            <a:spLocks noChangeAspect="1"/>
          </p:cNvSpPr>
          <p:nvPr/>
        </p:nvSpPr>
        <p:spPr>
          <a:xfrm>
            <a:off x="1536719" y="4370969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91EA0B83-AE74-3852-B5DE-2A88ED9C8D49}"/>
              </a:ext>
            </a:extLst>
          </p:cNvPr>
          <p:cNvSpPr>
            <a:spLocks noChangeAspect="1"/>
          </p:cNvSpPr>
          <p:nvPr/>
        </p:nvSpPr>
        <p:spPr>
          <a:xfrm>
            <a:off x="1040764" y="2262536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8CF205D0-BB5C-249A-21B2-90553ED05323}"/>
              </a:ext>
            </a:extLst>
          </p:cNvPr>
          <p:cNvSpPr>
            <a:spLocks noChangeAspect="1"/>
          </p:cNvSpPr>
          <p:nvPr/>
        </p:nvSpPr>
        <p:spPr>
          <a:xfrm>
            <a:off x="3798510" y="4363243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0DCD015F-3008-5DAA-FF83-E516465B02F3}"/>
              </a:ext>
            </a:extLst>
          </p:cNvPr>
          <p:cNvSpPr>
            <a:spLocks noChangeAspect="1"/>
          </p:cNvSpPr>
          <p:nvPr/>
        </p:nvSpPr>
        <p:spPr>
          <a:xfrm>
            <a:off x="3485327" y="2215889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23E3FAD5-0E44-F8FA-6C75-9759F86A9B52}"/>
              </a:ext>
            </a:extLst>
          </p:cNvPr>
          <p:cNvSpPr>
            <a:spLocks noChangeAspect="1"/>
          </p:cNvSpPr>
          <p:nvPr/>
        </p:nvSpPr>
        <p:spPr>
          <a:xfrm>
            <a:off x="6184597" y="4353799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90569800-D23B-D80A-037D-F6F07D328839}"/>
              </a:ext>
            </a:extLst>
          </p:cNvPr>
          <p:cNvSpPr>
            <a:spLocks noChangeAspect="1"/>
          </p:cNvSpPr>
          <p:nvPr/>
        </p:nvSpPr>
        <p:spPr>
          <a:xfrm>
            <a:off x="6129946" y="2277126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9" name="Flecha: a la derecha 58">
            <a:extLst>
              <a:ext uri="{FF2B5EF4-FFF2-40B4-BE49-F238E27FC236}">
                <a16:creationId xmlns:a16="http://schemas.microsoft.com/office/drawing/2014/main" id="{69BEB91E-DEBE-0CD8-D13B-D6C832AE0230}"/>
              </a:ext>
            </a:extLst>
          </p:cNvPr>
          <p:cNvSpPr/>
          <p:nvPr/>
        </p:nvSpPr>
        <p:spPr>
          <a:xfrm>
            <a:off x="218767" y="2495133"/>
            <a:ext cx="1070050" cy="252000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1FECD988-59F4-D49F-8DC4-32F71982A27A}"/>
              </a:ext>
            </a:extLst>
          </p:cNvPr>
          <p:cNvSpPr txBox="1"/>
          <p:nvPr/>
        </p:nvSpPr>
        <p:spPr>
          <a:xfrm>
            <a:off x="58237" y="2151359"/>
            <a:ext cx="1106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>
                <a:solidFill>
                  <a:srgbClr val="0070C0"/>
                </a:solidFill>
              </a:rPr>
              <a:t>6500 Kgf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CuadroTexto 60">
                <a:extLst>
                  <a:ext uri="{FF2B5EF4-FFF2-40B4-BE49-F238E27FC236}">
                    <a16:creationId xmlns:a16="http://schemas.microsoft.com/office/drawing/2014/main" id="{9F8112A7-5C06-E6D6-DD85-1FA4FF9F8D47}"/>
                  </a:ext>
                </a:extLst>
              </p:cNvPr>
              <p:cNvSpPr txBox="1"/>
              <p:nvPr/>
            </p:nvSpPr>
            <p:spPr>
              <a:xfrm>
                <a:off x="1592371" y="3559033"/>
                <a:ext cx="9666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𝟏𝟖𝟓𝟕</m:t>
                      </m:r>
                      <m:r>
                        <a:rPr lang="es-PE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𝟏𝟒</m:t>
                      </m:r>
                    </m:oMath>
                  </m:oMathPara>
                </a14:m>
                <a:endParaRPr lang="es-PE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1" name="CuadroTexto 60">
                <a:extLst>
                  <a:ext uri="{FF2B5EF4-FFF2-40B4-BE49-F238E27FC236}">
                    <a16:creationId xmlns:a16="http://schemas.microsoft.com/office/drawing/2014/main" id="{9F8112A7-5C06-E6D6-DD85-1FA4FF9F8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371" y="3559033"/>
                <a:ext cx="966611" cy="276999"/>
              </a:xfrm>
              <a:prstGeom prst="rect">
                <a:avLst/>
              </a:prstGeom>
              <a:blipFill>
                <a:blip r:embed="rId9"/>
                <a:stretch>
                  <a:fillRect l="-5660" r="-5660" b="-8889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4DE5B025-94AA-D277-F6B1-882C27E4A2AC}"/>
              </a:ext>
            </a:extLst>
          </p:cNvPr>
          <p:cNvCxnSpPr/>
          <p:nvPr/>
        </p:nvCxnSpPr>
        <p:spPr>
          <a:xfrm flipH="1">
            <a:off x="1082728" y="3490725"/>
            <a:ext cx="62914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200EFEFA-AB29-DC9D-55B0-6763216B9531}"/>
                  </a:ext>
                </a:extLst>
              </p:cNvPr>
              <p:cNvSpPr txBox="1"/>
              <p:nvPr/>
            </p:nvSpPr>
            <p:spPr>
              <a:xfrm>
                <a:off x="3711092" y="3553332"/>
                <a:ext cx="9666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𝟐𝟕𝟖𝟓</m:t>
                      </m:r>
                      <m:r>
                        <a:rPr lang="es-PE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𝟕𝟏</m:t>
                      </m:r>
                    </m:oMath>
                  </m:oMathPara>
                </a14:m>
                <a:endParaRPr lang="es-PE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200EFEFA-AB29-DC9D-55B0-6763216B9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1092" y="3553332"/>
                <a:ext cx="966611" cy="276999"/>
              </a:xfrm>
              <a:prstGeom prst="rect">
                <a:avLst/>
              </a:prstGeom>
              <a:blipFill>
                <a:blip r:embed="rId10"/>
                <a:stretch>
                  <a:fillRect l="-5696" r="-5696" b="-8889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3779330C-1BD3-3B6B-F29B-FEB7615B158B}"/>
              </a:ext>
            </a:extLst>
          </p:cNvPr>
          <p:cNvCxnSpPr/>
          <p:nvPr/>
        </p:nvCxnSpPr>
        <p:spPr>
          <a:xfrm flipH="1">
            <a:off x="3231062" y="3425711"/>
            <a:ext cx="62914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CuadroTexto 65">
                <a:extLst>
                  <a:ext uri="{FF2B5EF4-FFF2-40B4-BE49-F238E27FC236}">
                    <a16:creationId xmlns:a16="http://schemas.microsoft.com/office/drawing/2014/main" id="{6245DBB8-AB8B-765D-2D62-B98C73BBC2DE}"/>
                  </a:ext>
                </a:extLst>
              </p:cNvPr>
              <p:cNvSpPr txBox="1"/>
              <p:nvPr/>
            </p:nvSpPr>
            <p:spPr>
              <a:xfrm>
                <a:off x="6117457" y="3536721"/>
                <a:ext cx="9666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𝟏𝟖𝟕𝟓</m:t>
                      </m:r>
                      <m:r>
                        <a:rPr lang="es-PE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𝟏𝟒</m:t>
                      </m:r>
                    </m:oMath>
                  </m:oMathPara>
                </a14:m>
                <a:endParaRPr lang="es-PE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6" name="CuadroTexto 65">
                <a:extLst>
                  <a:ext uri="{FF2B5EF4-FFF2-40B4-BE49-F238E27FC236}">
                    <a16:creationId xmlns:a16="http://schemas.microsoft.com/office/drawing/2014/main" id="{6245DBB8-AB8B-765D-2D62-B98C73BBC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7457" y="3536721"/>
                <a:ext cx="966611" cy="276999"/>
              </a:xfrm>
              <a:prstGeom prst="rect">
                <a:avLst/>
              </a:prstGeom>
              <a:blipFill>
                <a:blip r:embed="rId11"/>
                <a:stretch>
                  <a:fillRect l="-5696" r="-5696" b="-6522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CB27B7F3-5BAF-24FD-0A51-1C8100E2C814}"/>
              </a:ext>
            </a:extLst>
          </p:cNvPr>
          <p:cNvCxnSpPr/>
          <p:nvPr/>
        </p:nvCxnSpPr>
        <p:spPr>
          <a:xfrm flipH="1">
            <a:off x="5781182" y="3429702"/>
            <a:ext cx="62914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F2D1CFF5-E0E5-E952-3A51-F1C3B5EC7D81}"/>
              </a:ext>
            </a:extLst>
          </p:cNvPr>
          <p:cNvCxnSpPr/>
          <p:nvPr/>
        </p:nvCxnSpPr>
        <p:spPr>
          <a:xfrm>
            <a:off x="635507" y="3469246"/>
            <a:ext cx="3603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5131A68A-4E15-A37F-2D7B-22C5261A7365}"/>
                  </a:ext>
                </a:extLst>
              </p:cNvPr>
              <p:cNvSpPr txBox="1"/>
              <p:nvPr/>
            </p:nvSpPr>
            <p:spPr>
              <a:xfrm>
                <a:off x="151215" y="3957806"/>
                <a:ext cx="72827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𝟔𝟖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5131A68A-4E15-A37F-2D7B-22C5261A7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15" y="3957806"/>
                <a:ext cx="728276" cy="246221"/>
              </a:xfrm>
              <a:prstGeom prst="rect">
                <a:avLst/>
              </a:prstGeom>
              <a:blipFill>
                <a:blip r:embed="rId12"/>
                <a:stretch>
                  <a:fillRect l="-6723" r="-3361" b="-487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8A5B59A5-1D49-4103-9DF8-603B76D73E85}"/>
                  </a:ext>
                </a:extLst>
              </p:cNvPr>
              <p:cNvSpPr txBox="1"/>
              <p:nvPr/>
            </p:nvSpPr>
            <p:spPr>
              <a:xfrm>
                <a:off x="106650" y="3002307"/>
                <a:ext cx="72827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8A5B59A5-1D49-4103-9DF8-603B76D73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50" y="3002307"/>
                <a:ext cx="728276" cy="246221"/>
              </a:xfrm>
              <a:prstGeom prst="rect">
                <a:avLst/>
              </a:prstGeom>
              <a:blipFill>
                <a:blip r:embed="rId13"/>
                <a:stretch>
                  <a:fillRect l="-5833" r="-3333" b="-50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DC2A7CFE-17A9-55DC-DC60-3F1A8A509C1E}"/>
                  </a:ext>
                </a:extLst>
              </p:cNvPr>
              <p:cNvSpPr txBox="1"/>
              <p:nvPr/>
            </p:nvSpPr>
            <p:spPr>
              <a:xfrm>
                <a:off x="7234237" y="2704091"/>
                <a:ext cx="39864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1.68</m:t>
                          </m:r>
                        </m:e>
                      </m:d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1857.14</m:t>
                          </m:r>
                        </m:e>
                      </m:d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=3120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DC2A7CFE-17A9-55DC-DC60-3F1A8A509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4237" y="2704091"/>
                <a:ext cx="3986476" cy="276999"/>
              </a:xfrm>
              <a:prstGeom prst="rect">
                <a:avLst/>
              </a:prstGeom>
              <a:blipFill>
                <a:blip r:embed="rId14"/>
                <a:stretch>
                  <a:fillRect l="-1070" t="-4444" r="-306" b="-35556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CuadroTexto 73">
                <a:extLst>
                  <a:ext uri="{FF2B5EF4-FFF2-40B4-BE49-F238E27FC236}">
                    <a16:creationId xmlns:a16="http://schemas.microsoft.com/office/drawing/2014/main" id="{08BD77D7-448A-0C5A-3998-7BA9A681AB9E}"/>
                  </a:ext>
                </a:extLst>
              </p:cNvPr>
              <p:cNvSpPr txBox="1"/>
              <p:nvPr/>
            </p:nvSpPr>
            <p:spPr>
              <a:xfrm>
                <a:off x="7234237" y="3110028"/>
                <a:ext cx="39951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𝐵𝐴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1.12</m:t>
                          </m:r>
                        </m:e>
                      </m:d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1857.14</m:t>
                          </m:r>
                        </m:e>
                      </m:d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=2080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74" name="CuadroTexto 73">
                <a:extLst>
                  <a:ext uri="{FF2B5EF4-FFF2-40B4-BE49-F238E27FC236}">
                    <a16:creationId xmlns:a16="http://schemas.microsoft.com/office/drawing/2014/main" id="{08BD77D7-448A-0C5A-3998-7BA9A681AB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4237" y="3110028"/>
                <a:ext cx="3995133" cy="276999"/>
              </a:xfrm>
              <a:prstGeom prst="rect">
                <a:avLst/>
              </a:prstGeom>
              <a:blipFill>
                <a:blip r:embed="rId15"/>
                <a:stretch>
                  <a:fillRect l="-1069" t="-2174" r="-458" b="-32609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CuadroTexto 75">
                <a:extLst>
                  <a:ext uri="{FF2B5EF4-FFF2-40B4-BE49-F238E27FC236}">
                    <a16:creationId xmlns:a16="http://schemas.microsoft.com/office/drawing/2014/main" id="{ED58D004-F8F8-27BF-5551-AFDF1BBFA048}"/>
                  </a:ext>
                </a:extLst>
              </p:cNvPr>
              <p:cNvSpPr txBox="1"/>
              <p:nvPr/>
            </p:nvSpPr>
            <p:spPr>
              <a:xfrm>
                <a:off x="7261225" y="3819306"/>
                <a:ext cx="39943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𝐶𝐷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1.68</m:t>
                          </m:r>
                        </m:e>
                      </m:d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2785.71</m:t>
                          </m:r>
                        </m:e>
                      </m:d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=4680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76" name="CuadroTexto 75">
                <a:extLst>
                  <a:ext uri="{FF2B5EF4-FFF2-40B4-BE49-F238E27FC236}">
                    <a16:creationId xmlns:a16="http://schemas.microsoft.com/office/drawing/2014/main" id="{ED58D004-F8F8-27BF-5551-AFDF1BBFA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225" y="3819306"/>
                <a:ext cx="3994363" cy="276999"/>
              </a:xfrm>
              <a:prstGeom prst="rect">
                <a:avLst/>
              </a:prstGeom>
              <a:blipFill>
                <a:blip r:embed="rId16"/>
                <a:stretch>
                  <a:fillRect l="-916" t="-4444" r="-458" b="-35556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CuadroTexto 76">
                <a:extLst>
                  <a:ext uri="{FF2B5EF4-FFF2-40B4-BE49-F238E27FC236}">
                    <a16:creationId xmlns:a16="http://schemas.microsoft.com/office/drawing/2014/main" id="{F8D7C09E-423A-C794-258E-08F34551E8AB}"/>
                  </a:ext>
                </a:extLst>
              </p:cNvPr>
              <p:cNvSpPr txBox="1"/>
              <p:nvPr/>
            </p:nvSpPr>
            <p:spPr>
              <a:xfrm>
                <a:off x="7279815" y="4304956"/>
                <a:ext cx="39976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𝐷𝐶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1.12</m:t>
                          </m:r>
                        </m:e>
                      </m:d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2785.71</m:t>
                          </m:r>
                        </m:e>
                      </m:d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=3120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77" name="CuadroTexto 76">
                <a:extLst>
                  <a:ext uri="{FF2B5EF4-FFF2-40B4-BE49-F238E27FC236}">
                    <a16:creationId xmlns:a16="http://schemas.microsoft.com/office/drawing/2014/main" id="{F8D7C09E-423A-C794-258E-08F34551E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9815" y="4304956"/>
                <a:ext cx="3997633" cy="276999"/>
              </a:xfrm>
              <a:prstGeom prst="rect">
                <a:avLst/>
              </a:prstGeom>
              <a:blipFill>
                <a:blip r:embed="rId17"/>
                <a:stretch>
                  <a:fillRect l="-915" t="-2174" r="-305" b="-32609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41032DD2-5D07-11F7-4335-A3CA13B56818}"/>
                  </a:ext>
                </a:extLst>
              </p:cNvPr>
              <p:cNvSpPr txBox="1"/>
              <p:nvPr/>
            </p:nvSpPr>
            <p:spPr>
              <a:xfrm>
                <a:off x="7271912" y="4932807"/>
                <a:ext cx="40989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𝐸𝐹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1.68</m:t>
                          </m:r>
                        </m:e>
                      </m:d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1857.14</m:t>
                          </m:r>
                        </m:e>
                      </m:d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=3120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41032DD2-5D07-11F7-4335-A3CA13B56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1912" y="4932807"/>
                <a:ext cx="4098943" cy="276999"/>
              </a:xfrm>
              <a:prstGeom prst="rect">
                <a:avLst/>
              </a:prstGeom>
              <a:blipFill>
                <a:blip r:embed="rId18"/>
                <a:stretch>
                  <a:fillRect t="-2174" b="-32609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CuadroTexto 80">
                <a:extLst>
                  <a:ext uri="{FF2B5EF4-FFF2-40B4-BE49-F238E27FC236}">
                    <a16:creationId xmlns:a16="http://schemas.microsoft.com/office/drawing/2014/main" id="{B56815D2-ECF7-9D57-EF64-47F57F609D19}"/>
                  </a:ext>
                </a:extLst>
              </p:cNvPr>
              <p:cNvSpPr txBox="1"/>
              <p:nvPr/>
            </p:nvSpPr>
            <p:spPr>
              <a:xfrm>
                <a:off x="7271912" y="5338744"/>
                <a:ext cx="39951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𝐹𝐸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1.12</m:t>
                          </m:r>
                        </m:e>
                      </m:d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1857.14</m:t>
                          </m:r>
                        </m:e>
                      </m:d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=2080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81" name="CuadroTexto 80">
                <a:extLst>
                  <a:ext uri="{FF2B5EF4-FFF2-40B4-BE49-F238E27FC236}">
                    <a16:creationId xmlns:a16="http://schemas.microsoft.com/office/drawing/2014/main" id="{B56815D2-ECF7-9D57-EF64-47F57F609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1912" y="5338744"/>
                <a:ext cx="3995133" cy="276999"/>
              </a:xfrm>
              <a:prstGeom prst="rect">
                <a:avLst/>
              </a:prstGeom>
              <a:blipFill>
                <a:blip r:embed="rId19"/>
                <a:stretch>
                  <a:fillRect l="-916" t="-2222" r="-305" b="-35556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1147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D4B30-9B7A-4FF3-9506-6E2F889CB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3° Determinar los momentos en el pie y cabeza de las columnas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3903A5C6-AB62-8217-6604-553267E4BC12}"/>
              </a:ext>
            </a:extLst>
          </p:cNvPr>
          <p:cNvGrpSpPr/>
          <p:nvPr/>
        </p:nvGrpSpPr>
        <p:grpSpPr>
          <a:xfrm>
            <a:off x="1156230" y="2493924"/>
            <a:ext cx="5149238" cy="2304901"/>
            <a:chOff x="802746" y="2708275"/>
            <a:chExt cx="4673826" cy="1950578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F092B829-0F0C-F37E-7FB0-DF0011828F6E}"/>
                </a:ext>
              </a:extLst>
            </p:cNvPr>
            <p:cNvSpPr/>
            <p:nvPr/>
          </p:nvSpPr>
          <p:spPr>
            <a:xfrm>
              <a:off x="802746" y="4508726"/>
              <a:ext cx="499090" cy="150127"/>
            </a:xfrm>
            <a:prstGeom prst="rect">
              <a:avLst/>
            </a:prstGeom>
            <a:pattFill prst="wdUpDiag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26E44751-1FBE-FDF6-F5DB-F916D18BA2C2}"/>
                </a:ext>
              </a:extLst>
            </p:cNvPr>
            <p:cNvSpPr/>
            <p:nvPr/>
          </p:nvSpPr>
          <p:spPr>
            <a:xfrm>
              <a:off x="948234" y="2708501"/>
              <a:ext cx="144000" cy="180000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3BF99385-421A-A497-46F6-F625D68D10BB}"/>
                </a:ext>
              </a:extLst>
            </p:cNvPr>
            <p:cNvSpPr/>
            <p:nvPr/>
          </p:nvSpPr>
          <p:spPr>
            <a:xfrm>
              <a:off x="948234" y="2708275"/>
              <a:ext cx="4320224" cy="21625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1DD7C29E-220A-039C-4872-C5A9D7FD0E8A}"/>
                </a:ext>
              </a:extLst>
            </p:cNvPr>
            <p:cNvSpPr/>
            <p:nvPr/>
          </p:nvSpPr>
          <p:spPr>
            <a:xfrm>
              <a:off x="2785313" y="4508500"/>
              <a:ext cx="499090" cy="150127"/>
            </a:xfrm>
            <a:prstGeom prst="rect">
              <a:avLst/>
            </a:prstGeom>
            <a:pattFill prst="wdUpDiag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35D9AF8B-3376-4798-8978-A804452CFF04}"/>
                </a:ext>
              </a:extLst>
            </p:cNvPr>
            <p:cNvSpPr/>
            <p:nvPr/>
          </p:nvSpPr>
          <p:spPr>
            <a:xfrm>
              <a:off x="2930801" y="2708275"/>
              <a:ext cx="144000" cy="180000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15C6AAFD-A84E-784F-31DB-BA14CF663C50}"/>
                </a:ext>
              </a:extLst>
            </p:cNvPr>
            <p:cNvSpPr/>
            <p:nvPr/>
          </p:nvSpPr>
          <p:spPr>
            <a:xfrm>
              <a:off x="4977482" y="4508500"/>
              <a:ext cx="499090" cy="150127"/>
            </a:xfrm>
            <a:prstGeom prst="rect">
              <a:avLst/>
            </a:prstGeom>
            <a:pattFill prst="wdUpDiag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DD95B2B8-AE41-91C8-8890-DCFAA99B3C61}"/>
                </a:ext>
              </a:extLst>
            </p:cNvPr>
            <p:cNvSpPr/>
            <p:nvPr/>
          </p:nvSpPr>
          <p:spPr>
            <a:xfrm>
              <a:off x="5122970" y="2708275"/>
              <a:ext cx="144000" cy="180000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CFDC01DB-0147-3DB8-4328-BA956B91C19E}"/>
              </a:ext>
            </a:extLst>
          </p:cNvPr>
          <p:cNvCxnSpPr/>
          <p:nvPr/>
        </p:nvCxnSpPr>
        <p:spPr>
          <a:xfrm>
            <a:off x="797406" y="2494247"/>
            <a:ext cx="0" cy="22319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52F30F76-FB31-DB33-88D7-2FA65898AD1E}"/>
              </a:ext>
            </a:extLst>
          </p:cNvPr>
          <p:cNvCxnSpPr/>
          <p:nvPr/>
        </p:nvCxnSpPr>
        <p:spPr>
          <a:xfrm>
            <a:off x="653068" y="2638263"/>
            <a:ext cx="3603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3DDD77F7-59B6-616E-21DF-6C8373369C01}"/>
              </a:ext>
            </a:extLst>
          </p:cNvPr>
          <p:cNvCxnSpPr/>
          <p:nvPr/>
        </p:nvCxnSpPr>
        <p:spPr>
          <a:xfrm>
            <a:off x="652382" y="4620315"/>
            <a:ext cx="3603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B4797FC6-1517-692D-2E56-B48C5032DCD5}"/>
              </a:ext>
            </a:extLst>
          </p:cNvPr>
          <p:cNvCxnSpPr>
            <a:cxnSpLocks/>
          </p:cNvCxnSpPr>
          <p:nvPr/>
        </p:nvCxnSpPr>
        <p:spPr>
          <a:xfrm>
            <a:off x="1120892" y="5445224"/>
            <a:ext cx="515525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5AB85D76-1E13-A5EB-42FD-B6D5C1988733}"/>
              </a:ext>
            </a:extLst>
          </p:cNvPr>
          <p:cNvCxnSpPr/>
          <p:nvPr/>
        </p:nvCxnSpPr>
        <p:spPr>
          <a:xfrm>
            <a:off x="1395840" y="5310667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E790FB11-125F-3F72-E8F5-2AB051658AFD}"/>
              </a:ext>
            </a:extLst>
          </p:cNvPr>
          <p:cNvCxnSpPr/>
          <p:nvPr/>
        </p:nvCxnSpPr>
        <p:spPr>
          <a:xfrm>
            <a:off x="3580069" y="5310667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F4451327-6A7E-7295-09E3-6EB2308F348D}"/>
              </a:ext>
            </a:extLst>
          </p:cNvPr>
          <p:cNvCxnSpPr/>
          <p:nvPr/>
        </p:nvCxnSpPr>
        <p:spPr>
          <a:xfrm>
            <a:off x="5996171" y="5301208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E2548BE-8736-3C1C-1412-D142E5CB5AA9}"/>
                  </a:ext>
                </a:extLst>
              </p:cNvPr>
              <p:cNvSpPr txBox="1"/>
              <p:nvPr/>
            </p:nvSpPr>
            <p:spPr>
              <a:xfrm>
                <a:off x="2153356" y="5487035"/>
                <a:ext cx="72827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𝟖𝟎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E2548BE-8736-3C1C-1412-D142E5CB5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356" y="5487035"/>
                <a:ext cx="728276" cy="246221"/>
              </a:xfrm>
              <a:prstGeom prst="rect">
                <a:avLst/>
              </a:prstGeom>
              <a:blipFill>
                <a:blip r:embed="rId2"/>
                <a:stretch>
                  <a:fillRect l="-5833" r="-3333" b="-75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897EB06-9331-951B-3FA0-633C5451AA96}"/>
                  </a:ext>
                </a:extLst>
              </p:cNvPr>
              <p:cNvSpPr txBox="1"/>
              <p:nvPr/>
            </p:nvSpPr>
            <p:spPr>
              <a:xfrm>
                <a:off x="4409760" y="5440046"/>
                <a:ext cx="60484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897EB06-9331-951B-3FA0-633C5451A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9760" y="5440046"/>
                <a:ext cx="604846" cy="246221"/>
              </a:xfrm>
              <a:prstGeom prst="rect">
                <a:avLst/>
              </a:prstGeom>
              <a:blipFill>
                <a:blip r:embed="rId3"/>
                <a:stretch>
                  <a:fillRect l="-7000" r="-4000" b="-487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ipse 4">
            <a:extLst>
              <a:ext uri="{FF2B5EF4-FFF2-40B4-BE49-F238E27FC236}">
                <a16:creationId xmlns:a16="http://schemas.microsoft.com/office/drawing/2014/main" id="{71B2BDE7-C9C8-1BED-8078-A58807BFF3AD}"/>
              </a:ext>
            </a:extLst>
          </p:cNvPr>
          <p:cNvSpPr>
            <a:spLocks noChangeAspect="1"/>
          </p:cNvSpPr>
          <p:nvPr/>
        </p:nvSpPr>
        <p:spPr>
          <a:xfrm>
            <a:off x="1536719" y="4370969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91EA0B83-AE74-3852-B5DE-2A88ED9C8D49}"/>
              </a:ext>
            </a:extLst>
          </p:cNvPr>
          <p:cNvSpPr>
            <a:spLocks noChangeAspect="1"/>
          </p:cNvSpPr>
          <p:nvPr/>
        </p:nvSpPr>
        <p:spPr>
          <a:xfrm>
            <a:off x="1040764" y="2262536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8CF205D0-BB5C-249A-21B2-90553ED05323}"/>
              </a:ext>
            </a:extLst>
          </p:cNvPr>
          <p:cNvSpPr>
            <a:spLocks noChangeAspect="1"/>
          </p:cNvSpPr>
          <p:nvPr/>
        </p:nvSpPr>
        <p:spPr>
          <a:xfrm>
            <a:off x="3798510" y="4363243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0DCD015F-3008-5DAA-FF83-E516465B02F3}"/>
              </a:ext>
            </a:extLst>
          </p:cNvPr>
          <p:cNvSpPr>
            <a:spLocks noChangeAspect="1"/>
          </p:cNvSpPr>
          <p:nvPr/>
        </p:nvSpPr>
        <p:spPr>
          <a:xfrm>
            <a:off x="3485327" y="2215889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23E3FAD5-0E44-F8FA-6C75-9759F86A9B52}"/>
              </a:ext>
            </a:extLst>
          </p:cNvPr>
          <p:cNvSpPr>
            <a:spLocks noChangeAspect="1"/>
          </p:cNvSpPr>
          <p:nvPr/>
        </p:nvSpPr>
        <p:spPr>
          <a:xfrm>
            <a:off x="6184597" y="4353799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90569800-D23B-D80A-037D-F6F07D328839}"/>
              </a:ext>
            </a:extLst>
          </p:cNvPr>
          <p:cNvSpPr>
            <a:spLocks noChangeAspect="1"/>
          </p:cNvSpPr>
          <p:nvPr/>
        </p:nvSpPr>
        <p:spPr>
          <a:xfrm>
            <a:off x="6129946" y="2277126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F2D1CFF5-E0E5-E952-3A51-F1C3B5EC7D81}"/>
              </a:ext>
            </a:extLst>
          </p:cNvPr>
          <p:cNvCxnSpPr/>
          <p:nvPr/>
        </p:nvCxnSpPr>
        <p:spPr>
          <a:xfrm>
            <a:off x="635507" y="3469246"/>
            <a:ext cx="3603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5131A68A-4E15-A37F-2D7B-22C5261A7365}"/>
                  </a:ext>
                </a:extLst>
              </p:cNvPr>
              <p:cNvSpPr txBox="1"/>
              <p:nvPr/>
            </p:nvSpPr>
            <p:spPr>
              <a:xfrm>
                <a:off x="151215" y="3957806"/>
                <a:ext cx="72827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𝟔𝟖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5131A68A-4E15-A37F-2D7B-22C5261A7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15" y="3957806"/>
                <a:ext cx="728276" cy="246221"/>
              </a:xfrm>
              <a:prstGeom prst="rect">
                <a:avLst/>
              </a:prstGeom>
              <a:blipFill>
                <a:blip r:embed="rId4"/>
                <a:stretch>
                  <a:fillRect l="-6723" r="-3361" b="-487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8A5B59A5-1D49-4103-9DF8-603B76D73E85}"/>
                  </a:ext>
                </a:extLst>
              </p:cNvPr>
              <p:cNvSpPr txBox="1"/>
              <p:nvPr/>
            </p:nvSpPr>
            <p:spPr>
              <a:xfrm>
                <a:off x="106650" y="3002307"/>
                <a:ext cx="72827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8A5B59A5-1D49-4103-9DF8-603B76D73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50" y="3002307"/>
                <a:ext cx="728276" cy="246221"/>
              </a:xfrm>
              <a:prstGeom prst="rect">
                <a:avLst/>
              </a:prstGeom>
              <a:blipFill>
                <a:blip r:embed="rId5"/>
                <a:stretch>
                  <a:fillRect l="-5833" r="-3333" b="-50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DC2A7CFE-17A9-55DC-DC60-3F1A8A509C1E}"/>
                  </a:ext>
                </a:extLst>
              </p:cNvPr>
              <p:cNvSpPr txBox="1"/>
              <p:nvPr/>
            </p:nvSpPr>
            <p:spPr>
              <a:xfrm>
                <a:off x="7234237" y="2704091"/>
                <a:ext cx="39864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1.68</m:t>
                          </m:r>
                        </m:e>
                      </m:d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1857.14</m:t>
                          </m:r>
                        </m:e>
                      </m:d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=3120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DC2A7CFE-17A9-55DC-DC60-3F1A8A509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4237" y="2704091"/>
                <a:ext cx="3986476" cy="276999"/>
              </a:xfrm>
              <a:prstGeom prst="rect">
                <a:avLst/>
              </a:prstGeom>
              <a:blipFill>
                <a:blip r:embed="rId6"/>
                <a:stretch>
                  <a:fillRect l="-1070" t="-4444" r="-306" b="-35556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CuadroTexto 73">
                <a:extLst>
                  <a:ext uri="{FF2B5EF4-FFF2-40B4-BE49-F238E27FC236}">
                    <a16:creationId xmlns:a16="http://schemas.microsoft.com/office/drawing/2014/main" id="{08BD77D7-448A-0C5A-3998-7BA9A681AB9E}"/>
                  </a:ext>
                </a:extLst>
              </p:cNvPr>
              <p:cNvSpPr txBox="1"/>
              <p:nvPr/>
            </p:nvSpPr>
            <p:spPr>
              <a:xfrm>
                <a:off x="7234237" y="3110028"/>
                <a:ext cx="39951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𝐵𝐴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1.12</m:t>
                          </m:r>
                        </m:e>
                      </m:d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1857.14</m:t>
                          </m:r>
                        </m:e>
                      </m:d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=2080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74" name="CuadroTexto 73">
                <a:extLst>
                  <a:ext uri="{FF2B5EF4-FFF2-40B4-BE49-F238E27FC236}">
                    <a16:creationId xmlns:a16="http://schemas.microsoft.com/office/drawing/2014/main" id="{08BD77D7-448A-0C5A-3998-7BA9A681AB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4237" y="3110028"/>
                <a:ext cx="3995133" cy="276999"/>
              </a:xfrm>
              <a:prstGeom prst="rect">
                <a:avLst/>
              </a:prstGeom>
              <a:blipFill>
                <a:blip r:embed="rId7"/>
                <a:stretch>
                  <a:fillRect l="-1069" t="-2174" r="-458" b="-32609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CuadroTexto 75">
                <a:extLst>
                  <a:ext uri="{FF2B5EF4-FFF2-40B4-BE49-F238E27FC236}">
                    <a16:creationId xmlns:a16="http://schemas.microsoft.com/office/drawing/2014/main" id="{ED58D004-F8F8-27BF-5551-AFDF1BBFA048}"/>
                  </a:ext>
                </a:extLst>
              </p:cNvPr>
              <p:cNvSpPr txBox="1"/>
              <p:nvPr/>
            </p:nvSpPr>
            <p:spPr>
              <a:xfrm>
                <a:off x="7261225" y="3819306"/>
                <a:ext cx="39943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𝐶𝐷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1.68</m:t>
                          </m:r>
                        </m:e>
                      </m:d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2785.71</m:t>
                          </m:r>
                        </m:e>
                      </m:d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=4680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76" name="CuadroTexto 75">
                <a:extLst>
                  <a:ext uri="{FF2B5EF4-FFF2-40B4-BE49-F238E27FC236}">
                    <a16:creationId xmlns:a16="http://schemas.microsoft.com/office/drawing/2014/main" id="{ED58D004-F8F8-27BF-5551-AFDF1BBFA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225" y="3819306"/>
                <a:ext cx="3994363" cy="276999"/>
              </a:xfrm>
              <a:prstGeom prst="rect">
                <a:avLst/>
              </a:prstGeom>
              <a:blipFill>
                <a:blip r:embed="rId8"/>
                <a:stretch>
                  <a:fillRect l="-916" t="-4444" r="-458" b="-35556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CuadroTexto 76">
                <a:extLst>
                  <a:ext uri="{FF2B5EF4-FFF2-40B4-BE49-F238E27FC236}">
                    <a16:creationId xmlns:a16="http://schemas.microsoft.com/office/drawing/2014/main" id="{F8D7C09E-423A-C794-258E-08F34551E8AB}"/>
                  </a:ext>
                </a:extLst>
              </p:cNvPr>
              <p:cNvSpPr txBox="1"/>
              <p:nvPr/>
            </p:nvSpPr>
            <p:spPr>
              <a:xfrm>
                <a:off x="7279815" y="4304956"/>
                <a:ext cx="39976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𝐷𝐶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1.12</m:t>
                          </m:r>
                        </m:e>
                      </m:d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2785.71</m:t>
                          </m:r>
                        </m:e>
                      </m:d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=3120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77" name="CuadroTexto 76">
                <a:extLst>
                  <a:ext uri="{FF2B5EF4-FFF2-40B4-BE49-F238E27FC236}">
                    <a16:creationId xmlns:a16="http://schemas.microsoft.com/office/drawing/2014/main" id="{F8D7C09E-423A-C794-258E-08F34551E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9815" y="4304956"/>
                <a:ext cx="3997633" cy="276999"/>
              </a:xfrm>
              <a:prstGeom prst="rect">
                <a:avLst/>
              </a:prstGeom>
              <a:blipFill>
                <a:blip r:embed="rId9"/>
                <a:stretch>
                  <a:fillRect l="-915" t="-2174" r="-305" b="-32609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41032DD2-5D07-11F7-4335-A3CA13B56818}"/>
                  </a:ext>
                </a:extLst>
              </p:cNvPr>
              <p:cNvSpPr txBox="1"/>
              <p:nvPr/>
            </p:nvSpPr>
            <p:spPr>
              <a:xfrm>
                <a:off x="7271912" y="4932807"/>
                <a:ext cx="40989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𝐸𝐹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1.68</m:t>
                          </m:r>
                        </m:e>
                      </m:d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1857.14</m:t>
                          </m:r>
                        </m:e>
                      </m:d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=3120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41032DD2-5D07-11F7-4335-A3CA13B56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1912" y="4932807"/>
                <a:ext cx="4098943" cy="276999"/>
              </a:xfrm>
              <a:prstGeom prst="rect">
                <a:avLst/>
              </a:prstGeom>
              <a:blipFill>
                <a:blip r:embed="rId10"/>
                <a:stretch>
                  <a:fillRect t="-2174" b="-32609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CuadroTexto 80">
                <a:extLst>
                  <a:ext uri="{FF2B5EF4-FFF2-40B4-BE49-F238E27FC236}">
                    <a16:creationId xmlns:a16="http://schemas.microsoft.com/office/drawing/2014/main" id="{B56815D2-ECF7-9D57-EF64-47F57F609D19}"/>
                  </a:ext>
                </a:extLst>
              </p:cNvPr>
              <p:cNvSpPr txBox="1"/>
              <p:nvPr/>
            </p:nvSpPr>
            <p:spPr>
              <a:xfrm>
                <a:off x="7271912" y="5338744"/>
                <a:ext cx="39951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𝐹𝐸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1.12</m:t>
                          </m:r>
                        </m:e>
                      </m:d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1857.14</m:t>
                          </m:r>
                        </m:e>
                      </m:d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=2080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81" name="CuadroTexto 80">
                <a:extLst>
                  <a:ext uri="{FF2B5EF4-FFF2-40B4-BE49-F238E27FC236}">
                    <a16:creationId xmlns:a16="http://schemas.microsoft.com/office/drawing/2014/main" id="{B56815D2-ECF7-9D57-EF64-47F57F609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1912" y="5338744"/>
                <a:ext cx="3995133" cy="276999"/>
              </a:xfrm>
              <a:prstGeom prst="rect">
                <a:avLst/>
              </a:prstGeom>
              <a:blipFill>
                <a:blip r:embed="rId11"/>
                <a:stretch>
                  <a:fillRect l="-916" t="-2222" r="-305" b="-35556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9B7976F3-7F1C-8FFA-6850-46824C326D4C}"/>
              </a:ext>
            </a:extLst>
          </p:cNvPr>
          <p:cNvCxnSpPr>
            <a:cxnSpLocks/>
          </p:cNvCxnSpPr>
          <p:nvPr/>
        </p:nvCxnSpPr>
        <p:spPr>
          <a:xfrm flipH="1">
            <a:off x="695325" y="2638263"/>
            <a:ext cx="1152203" cy="205269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6097755D-8963-33A2-3E3F-FE0BCBB5599A}"/>
              </a:ext>
            </a:extLst>
          </p:cNvPr>
          <p:cNvCxnSpPr>
            <a:cxnSpLocks/>
          </p:cNvCxnSpPr>
          <p:nvPr/>
        </p:nvCxnSpPr>
        <p:spPr>
          <a:xfrm>
            <a:off x="1395840" y="2616714"/>
            <a:ext cx="45168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81">
            <a:extLst>
              <a:ext uri="{FF2B5EF4-FFF2-40B4-BE49-F238E27FC236}">
                <a16:creationId xmlns:a16="http://schemas.microsoft.com/office/drawing/2014/main" id="{F0BCC61E-B9E4-8FCB-2662-C993669D7006}"/>
              </a:ext>
            </a:extLst>
          </p:cNvPr>
          <p:cNvCxnSpPr>
            <a:cxnSpLocks/>
            <a:endCxn id="7" idx="2"/>
          </p:cNvCxnSpPr>
          <p:nvPr/>
        </p:nvCxnSpPr>
        <p:spPr>
          <a:xfrm flipH="1">
            <a:off x="1395841" y="2616714"/>
            <a:ext cx="20209" cy="200444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84">
            <a:extLst>
              <a:ext uri="{FF2B5EF4-FFF2-40B4-BE49-F238E27FC236}">
                <a16:creationId xmlns:a16="http://schemas.microsoft.com/office/drawing/2014/main" id="{B135BB4F-F6EE-26CE-5670-36E5C5CCB9D2}"/>
              </a:ext>
            </a:extLst>
          </p:cNvPr>
          <p:cNvCxnSpPr>
            <a:cxnSpLocks/>
            <a:endCxn id="6" idx="0"/>
          </p:cNvCxnSpPr>
          <p:nvPr/>
        </p:nvCxnSpPr>
        <p:spPr>
          <a:xfrm flipV="1">
            <a:off x="704542" y="4621427"/>
            <a:ext cx="726616" cy="154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CuadroTexto 86">
            <a:extLst>
              <a:ext uri="{FF2B5EF4-FFF2-40B4-BE49-F238E27FC236}">
                <a16:creationId xmlns:a16="http://schemas.microsoft.com/office/drawing/2014/main" id="{34B2696B-DB5B-015C-E4BB-263E7D552E2F}"/>
              </a:ext>
            </a:extLst>
          </p:cNvPr>
          <p:cNvSpPr txBox="1"/>
          <p:nvPr/>
        </p:nvSpPr>
        <p:spPr>
          <a:xfrm>
            <a:off x="1660717" y="2884013"/>
            <a:ext cx="1013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b="1" dirty="0">
                <a:solidFill>
                  <a:srgbClr val="FF0000"/>
                </a:solidFill>
              </a:rPr>
              <a:t>2080 Kgf.m</a:t>
            </a: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682A9AF6-E47D-D655-A167-A28E008B5EBD}"/>
              </a:ext>
            </a:extLst>
          </p:cNvPr>
          <p:cNvSpPr txBox="1"/>
          <p:nvPr/>
        </p:nvSpPr>
        <p:spPr>
          <a:xfrm>
            <a:off x="91827" y="4747219"/>
            <a:ext cx="1013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b="1" dirty="0">
                <a:solidFill>
                  <a:srgbClr val="FF0000"/>
                </a:solidFill>
              </a:rPr>
              <a:t>3120 Kgf.m</a:t>
            </a:r>
          </a:p>
        </p:txBody>
      </p: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72ECC4B8-A30F-CD54-7205-F3715AB9389E}"/>
              </a:ext>
            </a:extLst>
          </p:cNvPr>
          <p:cNvCxnSpPr>
            <a:cxnSpLocks/>
          </p:cNvCxnSpPr>
          <p:nvPr/>
        </p:nvCxnSpPr>
        <p:spPr>
          <a:xfrm flipH="1">
            <a:off x="2881882" y="2638263"/>
            <a:ext cx="1152203" cy="205269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89">
            <a:extLst>
              <a:ext uri="{FF2B5EF4-FFF2-40B4-BE49-F238E27FC236}">
                <a16:creationId xmlns:a16="http://schemas.microsoft.com/office/drawing/2014/main" id="{158806BF-4501-AB92-54B8-1ADD0519C045}"/>
              </a:ext>
            </a:extLst>
          </p:cNvPr>
          <p:cNvCxnSpPr>
            <a:cxnSpLocks/>
          </p:cNvCxnSpPr>
          <p:nvPr/>
        </p:nvCxnSpPr>
        <p:spPr>
          <a:xfrm>
            <a:off x="3582397" y="2616714"/>
            <a:ext cx="45168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cto 90">
            <a:extLst>
              <a:ext uri="{FF2B5EF4-FFF2-40B4-BE49-F238E27FC236}">
                <a16:creationId xmlns:a16="http://schemas.microsoft.com/office/drawing/2014/main" id="{998E5073-C605-6C59-C425-61B59FCA829C}"/>
              </a:ext>
            </a:extLst>
          </p:cNvPr>
          <p:cNvCxnSpPr>
            <a:cxnSpLocks/>
          </p:cNvCxnSpPr>
          <p:nvPr/>
        </p:nvCxnSpPr>
        <p:spPr>
          <a:xfrm flipH="1">
            <a:off x="3582398" y="2616714"/>
            <a:ext cx="20209" cy="200444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91">
            <a:extLst>
              <a:ext uri="{FF2B5EF4-FFF2-40B4-BE49-F238E27FC236}">
                <a16:creationId xmlns:a16="http://schemas.microsoft.com/office/drawing/2014/main" id="{A44F7A51-2FEC-30BA-80E7-8643AFC2F31F}"/>
              </a:ext>
            </a:extLst>
          </p:cNvPr>
          <p:cNvCxnSpPr>
            <a:cxnSpLocks/>
          </p:cNvCxnSpPr>
          <p:nvPr/>
        </p:nvCxnSpPr>
        <p:spPr>
          <a:xfrm flipV="1">
            <a:off x="2891099" y="4621427"/>
            <a:ext cx="726616" cy="154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CuadroTexto 92">
            <a:extLst>
              <a:ext uri="{FF2B5EF4-FFF2-40B4-BE49-F238E27FC236}">
                <a16:creationId xmlns:a16="http://schemas.microsoft.com/office/drawing/2014/main" id="{0E7467A5-8FAC-8268-FEAF-B85976B1C3AB}"/>
              </a:ext>
            </a:extLst>
          </p:cNvPr>
          <p:cNvSpPr txBox="1"/>
          <p:nvPr/>
        </p:nvSpPr>
        <p:spPr>
          <a:xfrm>
            <a:off x="3847274" y="2884013"/>
            <a:ext cx="1013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b="1" dirty="0">
                <a:solidFill>
                  <a:srgbClr val="FF0000"/>
                </a:solidFill>
              </a:rPr>
              <a:t>3120 Kgf.m</a:t>
            </a:r>
          </a:p>
        </p:txBody>
      </p:sp>
      <p:sp>
        <p:nvSpPr>
          <p:cNvPr id="94" name="CuadroTexto 93">
            <a:extLst>
              <a:ext uri="{FF2B5EF4-FFF2-40B4-BE49-F238E27FC236}">
                <a16:creationId xmlns:a16="http://schemas.microsoft.com/office/drawing/2014/main" id="{6E098C09-8711-8B8F-6BE7-3551656CB72D}"/>
              </a:ext>
            </a:extLst>
          </p:cNvPr>
          <p:cNvSpPr txBox="1"/>
          <p:nvPr/>
        </p:nvSpPr>
        <p:spPr>
          <a:xfrm>
            <a:off x="2278384" y="4747219"/>
            <a:ext cx="1013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b="1" dirty="0">
                <a:solidFill>
                  <a:srgbClr val="FF0000"/>
                </a:solidFill>
              </a:rPr>
              <a:t>4680 Kgf.m</a:t>
            </a:r>
          </a:p>
        </p:txBody>
      </p:sp>
      <p:cxnSp>
        <p:nvCxnSpPr>
          <p:cNvPr id="95" name="Conector recto 94">
            <a:extLst>
              <a:ext uri="{FF2B5EF4-FFF2-40B4-BE49-F238E27FC236}">
                <a16:creationId xmlns:a16="http://schemas.microsoft.com/office/drawing/2014/main" id="{B5CA43DD-3D8D-774A-BBFD-C0DF4DD348DA}"/>
              </a:ext>
            </a:extLst>
          </p:cNvPr>
          <p:cNvCxnSpPr>
            <a:cxnSpLocks/>
          </p:cNvCxnSpPr>
          <p:nvPr/>
        </p:nvCxnSpPr>
        <p:spPr>
          <a:xfrm flipH="1">
            <a:off x="5283483" y="2603032"/>
            <a:ext cx="1152203" cy="205269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cto 95">
            <a:extLst>
              <a:ext uri="{FF2B5EF4-FFF2-40B4-BE49-F238E27FC236}">
                <a16:creationId xmlns:a16="http://schemas.microsoft.com/office/drawing/2014/main" id="{E6D7D1AC-E86B-FF3C-25BC-961E6BC10D4D}"/>
              </a:ext>
            </a:extLst>
          </p:cNvPr>
          <p:cNvCxnSpPr>
            <a:cxnSpLocks/>
          </p:cNvCxnSpPr>
          <p:nvPr/>
        </p:nvCxnSpPr>
        <p:spPr>
          <a:xfrm>
            <a:off x="5983998" y="2581483"/>
            <a:ext cx="45168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cto 96">
            <a:extLst>
              <a:ext uri="{FF2B5EF4-FFF2-40B4-BE49-F238E27FC236}">
                <a16:creationId xmlns:a16="http://schemas.microsoft.com/office/drawing/2014/main" id="{A4C0D986-FFE4-A459-63DF-34A5393FF09E}"/>
              </a:ext>
            </a:extLst>
          </p:cNvPr>
          <p:cNvCxnSpPr>
            <a:cxnSpLocks/>
          </p:cNvCxnSpPr>
          <p:nvPr/>
        </p:nvCxnSpPr>
        <p:spPr>
          <a:xfrm flipH="1">
            <a:off x="5983999" y="2581483"/>
            <a:ext cx="20209" cy="200444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cto 97">
            <a:extLst>
              <a:ext uri="{FF2B5EF4-FFF2-40B4-BE49-F238E27FC236}">
                <a16:creationId xmlns:a16="http://schemas.microsoft.com/office/drawing/2014/main" id="{60168D9B-3BE6-3C2F-536B-CAC5C8C0BD09}"/>
              </a:ext>
            </a:extLst>
          </p:cNvPr>
          <p:cNvCxnSpPr>
            <a:cxnSpLocks/>
          </p:cNvCxnSpPr>
          <p:nvPr/>
        </p:nvCxnSpPr>
        <p:spPr>
          <a:xfrm flipV="1">
            <a:off x="5292700" y="4586196"/>
            <a:ext cx="726616" cy="154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CuadroTexto 98">
            <a:extLst>
              <a:ext uri="{FF2B5EF4-FFF2-40B4-BE49-F238E27FC236}">
                <a16:creationId xmlns:a16="http://schemas.microsoft.com/office/drawing/2014/main" id="{484FE0FD-E6B0-ACF1-0E35-7CBADE59F5C7}"/>
              </a:ext>
            </a:extLst>
          </p:cNvPr>
          <p:cNvSpPr txBox="1"/>
          <p:nvPr/>
        </p:nvSpPr>
        <p:spPr>
          <a:xfrm>
            <a:off x="6248875" y="2848782"/>
            <a:ext cx="1013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b="1" dirty="0">
                <a:solidFill>
                  <a:srgbClr val="FF0000"/>
                </a:solidFill>
              </a:rPr>
              <a:t>2080 Kgf.m</a:t>
            </a:r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F56EAD99-1FFF-B475-C51B-296D0AF5BAA9}"/>
              </a:ext>
            </a:extLst>
          </p:cNvPr>
          <p:cNvSpPr txBox="1"/>
          <p:nvPr/>
        </p:nvSpPr>
        <p:spPr>
          <a:xfrm>
            <a:off x="4679985" y="4711988"/>
            <a:ext cx="1013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b="1" dirty="0">
                <a:solidFill>
                  <a:srgbClr val="FF0000"/>
                </a:solidFill>
              </a:rPr>
              <a:t>3120 Kgf.m</a:t>
            </a:r>
          </a:p>
        </p:txBody>
      </p:sp>
    </p:spTree>
    <p:extLst>
      <p:ext uri="{BB962C8B-B14F-4D97-AF65-F5344CB8AC3E}">
        <p14:creationId xmlns:p14="http://schemas.microsoft.com/office/powerpoint/2010/main" val="823109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D4B30-9B7A-4FF3-9506-6E2F889CB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4° Determinar los momentos en las vigas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3903A5C6-AB62-8217-6604-553267E4BC12}"/>
              </a:ext>
            </a:extLst>
          </p:cNvPr>
          <p:cNvGrpSpPr/>
          <p:nvPr/>
        </p:nvGrpSpPr>
        <p:grpSpPr>
          <a:xfrm>
            <a:off x="1156230" y="2493924"/>
            <a:ext cx="5149238" cy="2304901"/>
            <a:chOff x="802746" y="2708275"/>
            <a:chExt cx="4673826" cy="1950578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F092B829-0F0C-F37E-7FB0-DF0011828F6E}"/>
                </a:ext>
              </a:extLst>
            </p:cNvPr>
            <p:cNvSpPr/>
            <p:nvPr/>
          </p:nvSpPr>
          <p:spPr>
            <a:xfrm>
              <a:off x="802746" y="4508726"/>
              <a:ext cx="499090" cy="150127"/>
            </a:xfrm>
            <a:prstGeom prst="rect">
              <a:avLst/>
            </a:prstGeom>
            <a:pattFill prst="wdUpDiag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26E44751-1FBE-FDF6-F5DB-F916D18BA2C2}"/>
                </a:ext>
              </a:extLst>
            </p:cNvPr>
            <p:cNvSpPr/>
            <p:nvPr/>
          </p:nvSpPr>
          <p:spPr>
            <a:xfrm>
              <a:off x="948234" y="2708501"/>
              <a:ext cx="144000" cy="180000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3BF99385-421A-A497-46F6-F625D68D10BB}"/>
                </a:ext>
              </a:extLst>
            </p:cNvPr>
            <p:cNvSpPr/>
            <p:nvPr/>
          </p:nvSpPr>
          <p:spPr>
            <a:xfrm>
              <a:off x="948234" y="2708275"/>
              <a:ext cx="4320224" cy="21625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1DD7C29E-220A-039C-4872-C5A9D7FD0E8A}"/>
                </a:ext>
              </a:extLst>
            </p:cNvPr>
            <p:cNvSpPr/>
            <p:nvPr/>
          </p:nvSpPr>
          <p:spPr>
            <a:xfrm>
              <a:off x="2785313" y="4508500"/>
              <a:ext cx="499090" cy="150127"/>
            </a:xfrm>
            <a:prstGeom prst="rect">
              <a:avLst/>
            </a:prstGeom>
            <a:pattFill prst="wdUpDiag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35D9AF8B-3376-4798-8978-A804452CFF04}"/>
                </a:ext>
              </a:extLst>
            </p:cNvPr>
            <p:cNvSpPr/>
            <p:nvPr/>
          </p:nvSpPr>
          <p:spPr>
            <a:xfrm>
              <a:off x="2930801" y="2708275"/>
              <a:ext cx="144000" cy="180000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15C6AAFD-A84E-784F-31DB-BA14CF663C50}"/>
                </a:ext>
              </a:extLst>
            </p:cNvPr>
            <p:cNvSpPr/>
            <p:nvPr/>
          </p:nvSpPr>
          <p:spPr>
            <a:xfrm>
              <a:off x="4977482" y="4508500"/>
              <a:ext cx="499090" cy="150127"/>
            </a:xfrm>
            <a:prstGeom prst="rect">
              <a:avLst/>
            </a:prstGeom>
            <a:pattFill prst="wdUpDiag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DD95B2B8-AE41-91C8-8890-DCFAA99B3C61}"/>
                </a:ext>
              </a:extLst>
            </p:cNvPr>
            <p:cNvSpPr/>
            <p:nvPr/>
          </p:nvSpPr>
          <p:spPr>
            <a:xfrm>
              <a:off x="5122970" y="2708275"/>
              <a:ext cx="144000" cy="180000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CFDC01DB-0147-3DB8-4328-BA956B91C19E}"/>
              </a:ext>
            </a:extLst>
          </p:cNvPr>
          <p:cNvCxnSpPr/>
          <p:nvPr/>
        </p:nvCxnSpPr>
        <p:spPr>
          <a:xfrm>
            <a:off x="797406" y="2494247"/>
            <a:ext cx="0" cy="22319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52F30F76-FB31-DB33-88D7-2FA65898AD1E}"/>
              </a:ext>
            </a:extLst>
          </p:cNvPr>
          <p:cNvCxnSpPr/>
          <p:nvPr/>
        </p:nvCxnSpPr>
        <p:spPr>
          <a:xfrm>
            <a:off x="653068" y="2638263"/>
            <a:ext cx="3603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3DDD77F7-59B6-616E-21DF-6C8373369C01}"/>
              </a:ext>
            </a:extLst>
          </p:cNvPr>
          <p:cNvCxnSpPr/>
          <p:nvPr/>
        </p:nvCxnSpPr>
        <p:spPr>
          <a:xfrm>
            <a:off x="652382" y="4620315"/>
            <a:ext cx="3603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B4797FC6-1517-692D-2E56-B48C5032DCD5}"/>
              </a:ext>
            </a:extLst>
          </p:cNvPr>
          <p:cNvCxnSpPr>
            <a:cxnSpLocks/>
          </p:cNvCxnSpPr>
          <p:nvPr/>
        </p:nvCxnSpPr>
        <p:spPr>
          <a:xfrm>
            <a:off x="1120892" y="5445224"/>
            <a:ext cx="515525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5AB85D76-1E13-A5EB-42FD-B6D5C1988733}"/>
              </a:ext>
            </a:extLst>
          </p:cNvPr>
          <p:cNvCxnSpPr/>
          <p:nvPr/>
        </p:nvCxnSpPr>
        <p:spPr>
          <a:xfrm>
            <a:off x="1395840" y="5310667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E790FB11-125F-3F72-E8F5-2AB051658AFD}"/>
              </a:ext>
            </a:extLst>
          </p:cNvPr>
          <p:cNvCxnSpPr/>
          <p:nvPr/>
        </p:nvCxnSpPr>
        <p:spPr>
          <a:xfrm>
            <a:off x="3580069" y="5310667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F4451327-6A7E-7295-09E3-6EB2308F348D}"/>
              </a:ext>
            </a:extLst>
          </p:cNvPr>
          <p:cNvCxnSpPr/>
          <p:nvPr/>
        </p:nvCxnSpPr>
        <p:spPr>
          <a:xfrm>
            <a:off x="5996171" y="5301208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E2548BE-8736-3C1C-1412-D142E5CB5AA9}"/>
                  </a:ext>
                </a:extLst>
              </p:cNvPr>
              <p:cNvSpPr txBox="1"/>
              <p:nvPr/>
            </p:nvSpPr>
            <p:spPr>
              <a:xfrm>
                <a:off x="2153356" y="5487035"/>
                <a:ext cx="72827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𝟖𝟎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E2548BE-8736-3C1C-1412-D142E5CB5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356" y="5487035"/>
                <a:ext cx="728276" cy="246221"/>
              </a:xfrm>
              <a:prstGeom prst="rect">
                <a:avLst/>
              </a:prstGeom>
              <a:blipFill>
                <a:blip r:embed="rId2"/>
                <a:stretch>
                  <a:fillRect l="-5833" r="-3333" b="-75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897EB06-9331-951B-3FA0-633C5451AA96}"/>
                  </a:ext>
                </a:extLst>
              </p:cNvPr>
              <p:cNvSpPr txBox="1"/>
              <p:nvPr/>
            </p:nvSpPr>
            <p:spPr>
              <a:xfrm>
                <a:off x="4409760" y="5440046"/>
                <a:ext cx="60484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897EB06-9331-951B-3FA0-633C5451A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9760" y="5440046"/>
                <a:ext cx="604846" cy="246221"/>
              </a:xfrm>
              <a:prstGeom prst="rect">
                <a:avLst/>
              </a:prstGeom>
              <a:blipFill>
                <a:blip r:embed="rId3"/>
                <a:stretch>
                  <a:fillRect l="-7000" r="-4000" b="-487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ipse 4">
            <a:extLst>
              <a:ext uri="{FF2B5EF4-FFF2-40B4-BE49-F238E27FC236}">
                <a16:creationId xmlns:a16="http://schemas.microsoft.com/office/drawing/2014/main" id="{71B2BDE7-C9C8-1BED-8078-A58807BFF3AD}"/>
              </a:ext>
            </a:extLst>
          </p:cNvPr>
          <p:cNvSpPr>
            <a:spLocks noChangeAspect="1"/>
          </p:cNvSpPr>
          <p:nvPr/>
        </p:nvSpPr>
        <p:spPr>
          <a:xfrm>
            <a:off x="1536719" y="4370969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91EA0B83-AE74-3852-B5DE-2A88ED9C8D49}"/>
              </a:ext>
            </a:extLst>
          </p:cNvPr>
          <p:cNvSpPr>
            <a:spLocks noChangeAspect="1"/>
          </p:cNvSpPr>
          <p:nvPr/>
        </p:nvSpPr>
        <p:spPr>
          <a:xfrm>
            <a:off x="1040764" y="2262536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8CF205D0-BB5C-249A-21B2-90553ED05323}"/>
              </a:ext>
            </a:extLst>
          </p:cNvPr>
          <p:cNvSpPr>
            <a:spLocks noChangeAspect="1"/>
          </p:cNvSpPr>
          <p:nvPr/>
        </p:nvSpPr>
        <p:spPr>
          <a:xfrm>
            <a:off x="3798510" y="4363243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0DCD015F-3008-5DAA-FF83-E516465B02F3}"/>
              </a:ext>
            </a:extLst>
          </p:cNvPr>
          <p:cNvSpPr>
            <a:spLocks noChangeAspect="1"/>
          </p:cNvSpPr>
          <p:nvPr/>
        </p:nvSpPr>
        <p:spPr>
          <a:xfrm>
            <a:off x="3485327" y="2215889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23E3FAD5-0E44-F8FA-6C75-9759F86A9B52}"/>
              </a:ext>
            </a:extLst>
          </p:cNvPr>
          <p:cNvSpPr>
            <a:spLocks noChangeAspect="1"/>
          </p:cNvSpPr>
          <p:nvPr/>
        </p:nvSpPr>
        <p:spPr>
          <a:xfrm>
            <a:off x="6184597" y="4353799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90569800-D23B-D80A-037D-F6F07D328839}"/>
              </a:ext>
            </a:extLst>
          </p:cNvPr>
          <p:cNvSpPr>
            <a:spLocks noChangeAspect="1"/>
          </p:cNvSpPr>
          <p:nvPr/>
        </p:nvSpPr>
        <p:spPr>
          <a:xfrm>
            <a:off x="6129946" y="2277126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F2D1CFF5-E0E5-E952-3A51-F1C3B5EC7D81}"/>
              </a:ext>
            </a:extLst>
          </p:cNvPr>
          <p:cNvCxnSpPr/>
          <p:nvPr/>
        </p:nvCxnSpPr>
        <p:spPr>
          <a:xfrm>
            <a:off x="635507" y="3469246"/>
            <a:ext cx="3603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5131A68A-4E15-A37F-2D7B-22C5261A7365}"/>
                  </a:ext>
                </a:extLst>
              </p:cNvPr>
              <p:cNvSpPr txBox="1"/>
              <p:nvPr/>
            </p:nvSpPr>
            <p:spPr>
              <a:xfrm>
                <a:off x="151215" y="3957806"/>
                <a:ext cx="72827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𝟔𝟖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5131A68A-4E15-A37F-2D7B-22C5261A7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15" y="3957806"/>
                <a:ext cx="728276" cy="246221"/>
              </a:xfrm>
              <a:prstGeom prst="rect">
                <a:avLst/>
              </a:prstGeom>
              <a:blipFill>
                <a:blip r:embed="rId4"/>
                <a:stretch>
                  <a:fillRect l="-6723" r="-3361" b="-487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8A5B59A5-1D49-4103-9DF8-603B76D73E85}"/>
                  </a:ext>
                </a:extLst>
              </p:cNvPr>
              <p:cNvSpPr txBox="1"/>
              <p:nvPr/>
            </p:nvSpPr>
            <p:spPr>
              <a:xfrm>
                <a:off x="106650" y="3002307"/>
                <a:ext cx="72827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8A5B59A5-1D49-4103-9DF8-603B76D73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50" y="3002307"/>
                <a:ext cx="728276" cy="246221"/>
              </a:xfrm>
              <a:prstGeom prst="rect">
                <a:avLst/>
              </a:prstGeom>
              <a:blipFill>
                <a:blip r:embed="rId5"/>
                <a:stretch>
                  <a:fillRect l="-5833" r="-3333" b="-50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DC2A7CFE-17A9-55DC-DC60-3F1A8A509C1E}"/>
                  </a:ext>
                </a:extLst>
              </p:cNvPr>
              <p:cNvSpPr txBox="1"/>
              <p:nvPr/>
            </p:nvSpPr>
            <p:spPr>
              <a:xfrm>
                <a:off x="7234237" y="2704091"/>
                <a:ext cx="27929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𝐵𝐴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𝐵𝐷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=2080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DC2A7CFE-17A9-55DC-DC60-3F1A8A509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4237" y="2704091"/>
                <a:ext cx="2792944" cy="276999"/>
              </a:xfrm>
              <a:prstGeom prst="rect">
                <a:avLst/>
              </a:prstGeom>
              <a:blipFill>
                <a:blip r:embed="rId6"/>
                <a:stretch>
                  <a:fillRect l="-1747" t="-4444" r="-655" b="-35556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CuadroTexto 75">
                <a:extLst>
                  <a:ext uri="{FF2B5EF4-FFF2-40B4-BE49-F238E27FC236}">
                    <a16:creationId xmlns:a16="http://schemas.microsoft.com/office/drawing/2014/main" id="{ED58D004-F8F8-27BF-5551-AFDF1BBFA048}"/>
                  </a:ext>
                </a:extLst>
              </p:cNvPr>
              <p:cNvSpPr txBox="1"/>
              <p:nvPr/>
            </p:nvSpPr>
            <p:spPr>
              <a:xfrm>
                <a:off x="7261225" y="4298760"/>
                <a:ext cx="4123436" cy="9250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𝐷𝐵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=3120</m:t>
                      </m:r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es-P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P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PE" b="0" i="1" smtClean="0">
                                      <a:latin typeface="Cambria Math" panose="02040503050406030204" pitchFamily="18" charset="0"/>
                                    </a:rPr>
                                    <m:t>3.8</m:t>
                                  </m:r>
                                </m:den>
                              </m:f>
                            </m:num>
                            <m:den>
                              <m:f>
                                <m:fPr>
                                  <m:ctrlPr>
                                    <a:rPr lang="es-P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P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PE" b="0" i="1" smtClean="0">
                                      <a:latin typeface="Cambria Math" panose="02040503050406030204" pitchFamily="18" charset="0"/>
                                    </a:rPr>
                                    <m:t>3.8</m:t>
                                  </m:r>
                                </m:den>
                              </m:f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s-P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P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PE" b="0" i="1" smtClean="0">
                                      <a:latin typeface="Cambria Math" panose="02040503050406030204" pitchFamily="18" charset="0"/>
                                    </a:rPr>
                                    <m:t>4.2</m:t>
                                  </m:r>
                                </m:den>
                              </m:f>
                            </m:den>
                          </m:f>
                        </m:e>
                      </m:d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=1638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76" name="CuadroTexto 75">
                <a:extLst>
                  <a:ext uri="{FF2B5EF4-FFF2-40B4-BE49-F238E27FC236}">
                    <a16:creationId xmlns:a16="http://schemas.microsoft.com/office/drawing/2014/main" id="{ED58D004-F8F8-27BF-5551-AFDF1BBFA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225" y="4298760"/>
                <a:ext cx="4123436" cy="92506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CuadroTexto 76">
                <a:extLst>
                  <a:ext uri="{FF2B5EF4-FFF2-40B4-BE49-F238E27FC236}">
                    <a16:creationId xmlns:a16="http://schemas.microsoft.com/office/drawing/2014/main" id="{F8D7C09E-423A-C794-258E-08F34551E8AB}"/>
                  </a:ext>
                </a:extLst>
              </p:cNvPr>
              <p:cNvSpPr txBox="1"/>
              <p:nvPr/>
            </p:nvSpPr>
            <p:spPr>
              <a:xfrm>
                <a:off x="7257712" y="5311171"/>
                <a:ext cx="4116704" cy="9232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𝐷𝐹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PE" i="1">
                          <a:latin typeface="Cambria Math" panose="02040503050406030204" pitchFamily="18" charset="0"/>
                        </a:rPr>
                        <m:t>3120</m:t>
                      </m:r>
                      <m:d>
                        <m:dPr>
                          <m:ctrlPr>
                            <a:rPr lang="es-P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P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es-P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PE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PE" b="0" i="1" smtClean="0">
                                      <a:latin typeface="Cambria Math" panose="02040503050406030204" pitchFamily="18" charset="0"/>
                                    </a:rPr>
                                    <m:t>4.2</m:t>
                                  </m:r>
                                </m:den>
                              </m:f>
                            </m:num>
                            <m:den>
                              <m:f>
                                <m:fPr>
                                  <m:ctrlPr>
                                    <a:rPr lang="es-P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PE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PE" i="1">
                                      <a:latin typeface="Cambria Math" panose="02040503050406030204" pitchFamily="18" charset="0"/>
                                    </a:rPr>
                                    <m:t>3.8</m:t>
                                  </m:r>
                                </m:den>
                              </m:f>
                              <m:r>
                                <a:rPr lang="es-PE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s-P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PE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PE" i="1">
                                      <a:latin typeface="Cambria Math" panose="02040503050406030204" pitchFamily="18" charset="0"/>
                                    </a:rPr>
                                    <m:t>4.2</m:t>
                                  </m:r>
                                </m:den>
                              </m:f>
                            </m:den>
                          </m:f>
                        </m:e>
                      </m:d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=1482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77" name="CuadroTexto 76">
                <a:extLst>
                  <a:ext uri="{FF2B5EF4-FFF2-40B4-BE49-F238E27FC236}">
                    <a16:creationId xmlns:a16="http://schemas.microsoft.com/office/drawing/2014/main" id="{F8D7C09E-423A-C794-258E-08F34551E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7712" y="5311171"/>
                <a:ext cx="4116704" cy="92326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CuadroTexto 80">
                <a:extLst>
                  <a:ext uri="{FF2B5EF4-FFF2-40B4-BE49-F238E27FC236}">
                    <a16:creationId xmlns:a16="http://schemas.microsoft.com/office/drawing/2014/main" id="{B56815D2-ECF7-9D57-EF64-47F57F609D19}"/>
                  </a:ext>
                </a:extLst>
              </p:cNvPr>
              <p:cNvSpPr txBox="1"/>
              <p:nvPr/>
            </p:nvSpPr>
            <p:spPr>
              <a:xfrm>
                <a:off x="7261225" y="3109888"/>
                <a:ext cx="27769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𝐹𝐸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𝐹𝐷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=2080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81" name="CuadroTexto 80">
                <a:extLst>
                  <a:ext uri="{FF2B5EF4-FFF2-40B4-BE49-F238E27FC236}">
                    <a16:creationId xmlns:a16="http://schemas.microsoft.com/office/drawing/2014/main" id="{B56815D2-ECF7-9D57-EF64-47F57F609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225" y="3109888"/>
                <a:ext cx="2776978" cy="276999"/>
              </a:xfrm>
              <a:prstGeom prst="rect">
                <a:avLst/>
              </a:prstGeom>
              <a:blipFill>
                <a:blip r:embed="rId9"/>
                <a:stretch>
                  <a:fillRect l="-1535" t="-2174" r="-658" b="-32609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9B7976F3-7F1C-8FFA-6850-46824C326D4C}"/>
              </a:ext>
            </a:extLst>
          </p:cNvPr>
          <p:cNvCxnSpPr>
            <a:cxnSpLocks/>
          </p:cNvCxnSpPr>
          <p:nvPr/>
        </p:nvCxnSpPr>
        <p:spPr>
          <a:xfrm flipH="1">
            <a:off x="695325" y="2638263"/>
            <a:ext cx="1152203" cy="205269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6097755D-8963-33A2-3E3F-FE0BCBB5599A}"/>
              </a:ext>
            </a:extLst>
          </p:cNvPr>
          <p:cNvCxnSpPr>
            <a:cxnSpLocks/>
          </p:cNvCxnSpPr>
          <p:nvPr/>
        </p:nvCxnSpPr>
        <p:spPr>
          <a:xfrm>
            <a:off x="1395840" y="2616714"/>
            <a:ext cx="45168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81">
            <a:extLst>
              <a:ext uri="{FF2B5EF4-FFF2-40B4-BE49-F238E27FC236}">
                <a16:creationId xmlns:a16="http://schemas.microsoft.com/office/drawing/2014/main" id="{F0BCC61E-B9E4-8FCB-2662-C993669D7006}"/>
              </a:ext>
            </a:extLst>
          </p:cNvPr>
          <p:cNvCxnSpPr>
            <a:cxnSpLocks/>
            <a:endCxn id="7" idx="2"/>
          </p:cNvCxnSpPr>
          <p:nvPr/>
        </p:nvCxnSpPr>
        <p:spPr>
          <a:xfrm flipH="1">
            <a:off x="1395841" y="2616714"/>
            <a:ext cx="20209" cy="200444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84">
            <a:extLst>
              <a:ext uri="{FF2B5EF4-FFF2-40B4-BE49-F238E27FC236}">
                <a16:creationId xmlns:a16="http://schemas.microsoft.com/office/drawing/2014/main" id="{B135BB4F-F6EE-26CE-5670-36E5C5CCB9D2}"/>
              </a:ext>
            </a:extLst>
          </p:cNvPr>
          <p:cNvCxnSpPr>
            <a:cxnSpLocks/>
            <a:endCxn id="6" idx="0"/>
          </p:cNvCxnSpPr>
          <p:nvPr/>
        </p:nvCxnSpPr>
        <p:spPr>
          <a:xfrm flipV="1">
            <a:off x="704542" y="4621427"/>
            <a:ext cx="726616" cy="154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CuadroTexto 86">
            <a:extLst>
              <a:ext uri="{FF2B5EF4-FFF2-40B4-BE49-F238E27FC236}">
                <a16:creationId xmlns:a16="http://schemas.microsoft.com/office/drawing/2014/main" id="{34B2696B-DB5B-015C-E4BB-263E7D552E2F}"/>
              </a:ext>
            </a:extLst>
          </p:cNvPr>
          <p:cNvSpPr txBox="1"/>
          <p:nvPr/>
        </p:nvSpPr>
        <p:spPr>
          <a:xfrm>
            <a:off x="1660717" y="2884013"/>
            <a:ext cx="1013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b="1" dirty="0">
                <a:solidFill>
                  <a:srgbClr val="FF0000"/>
                </a:solidFill>
              </a:rPr>
              <a:t>2080 Kgf.m</a:t>
            </a: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682A9AF6-E47D-D655-A167-A28E008B5EBD}"/>
              </a:ext>
            </a:extLst>
          </p:cNvPr>
          <p:cNvSpPr txBox="1"/>
          <p:nvPr/>
        </p:nvSpPr>
        <p:spPr>
          <a:xfrm>
            <a:off x="91827" y="4747219"/>
            <a:ext cx="1013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b="1" dirty="0">
                <a:solidFill>
                  <a:srgbClr val="FF0000"/>
                </a:solidFill>
              </a:rPr>
              <a:t>3120 Kgf.m</a:t>
            </a:r>
          </a:p>
        </p:txBody>
      </p: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72ECC4B8-A30F-CD54-7205-F3715AB9389E}"/>
              </a:ext>
            </a:extLst>
          </p:cNvPr>
          <p:cNvCxnSpPr>
            <a:cxnSpLocks/>
          </p:cNvCxnSpPr>
          <p:nvPr/>
        </p:nvCxnSpPr>
        <p:spPr>
          <a:xfrm flipH="1">
            <a:off x="2881882" y="2638263"/>
            <a:ext cx="1152203" cy="205269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89">
            <a:extLst>
              <a:ext uri="{FF2B5EF4-FFF2-40B4-BE49-F238E27FC236}">
                <a16:creationId xmlns:a16="http://schemas.microsoft.com/office/drawing/2014/main" id="{158806BF-4501-AB92-54B8-1ADD0519C045}"/>
              </a:ext>
            </a:extLst>
          </p:cNvPr>
          <p:cNvCxnSpPr>
            <a:cxnSpLocks/>
          </p:cNvCxnSpPr>
          <p:nvPr/>
        </p:nvCxnSpPr>
        <p:spPr>
          <a:xfrm>
            <a:off x="3582397" y="2616714"/>
            <a:ext cx="45168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cto 90">
            <a:extLst>
              <a:ext uri="{FF2B5EF4-FFF2-40B4-BE49-F238E27FC236}">
                <a16:creationId xmlns:a16="http://schemas.microsoft.com/office/drawing/2014/main" id="{998E5073-C605-6C59-C425-61B59FCA829C}"/>
              </a:ext>
            </a:extLst>
          </p:cNvPr>
          <p:cNvCxnSpPr>
            <a:cxnSpLocks/>
          </p:cNvCxnSpPr>
          <p:nvPr/>
        </p:nvCxnSpPr>
        <p:spPr>
          <a:xfrm flipH="1">
            <a:off x="3582398" y="2616714"/>
            <a:ext cx="20209" cy="200444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91">
            <a:extLst>
              <a:ext uri="{FF2B5EF4-FFF2-40B4-BE49-F238E27FC236}">
                <a16:creationId xmlns:a16="http://schemas.microsoft.com/office/drawing/2014/main" id="{A44F7A51-2FEC-30BA-80E7-8643AFC2F31F}"/>
              </a:ext>
            </a:extLst>
          </p:cNvPr>
          <p:cNvCxnSpPr>
            <a:cxnSpLocks/>
          </p:cNvCxnSpPr>
          <p:nvPr/>
        </p:nvCxnSpPr>
        <p:spPr>
          <a:xfrm flipV="1">
            <a:off x="2891099" y="4621427"/>
            <a:ext cx="726616" cy="154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CuadroTexto 92">
            <a:extLst>
              <a:ext uri="{FF2B5EF4-FFF2-40B4-BE49-F238E27FC236}">
                <a16:creationId xmlns:a16="http://schemas.microsoft.com/office/drawing/2014/main" id="{0E7467A5-8FAC-8268-FEAF-B85976B1C3AB}"/>
              </a:ext>
            </a:extLst>
          </p:cNvPr>
          <p:cNvSpPr txBox="1"/>
          <p:nvPr/>
        </p:nvSpPr>
        <p:spPr>
          <a:xfrm>
            <a:off x="3847274" y="2884013"/>
            <a:ext cx="1013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b="1" dirty="0">
                <a:solidFill>
                  <a:srgbClr val="FF0000"/>
                </a:solidFill>
              </a:rPr>
              <a:t>3120 Kgf.m</a:t>
            </a:r>
          </a:p>
        </p:txBody>
      </p:sp>
      <p:sp>
        <p:nvSpPr>
          <p:cNvPr id="94" name="CuadroTexto 93">
            <a:extLst>
              <a:ext uri="{FF2B5EF4-FFF2-40B4-BE49-F238E27FC236}">
                <a16:creationId xmlns:a16="http://schemas.microsoft.com/office/drawing/2014/main" id="{6E098C09-8711-8B8F-6BE7-3551656CB72D}"/>
              </a:ext>
            </a:extLst>
          </p:cNvPr>
          <p:cNvSpPr txBox="1"/>
          <p:nvPr/>
        </p:nvSpPr>
        <p:spPr>
          <a:xfrm>
            <a:off x="2278384" y="4747219"/>
            <a:ext cx="1013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b="1" dirty="0">
                <a:solidFill>
                  <a:srgbClr val="FF0000"/>
                </a:solidFill>
              </a:rPr>
              <a:t>4680 Kgf.m</a:t>
            </a:r>
          </a:p>
        </p:txBody>
      </p:sp>
      <p:cxnSp>
        <p:nvCxnSpPr>
          <p:cNvPr id="95" name="Conector recto 94">
            <a:extLst>
              <a:ext uri="{FF2B5EF4-FFF2-40B4-BE49-F238E27FC236}">
                <a16:creationId xmlns:a16="http://schemas.microsoft.com/office/drawing/2014/main" id="{B5CA43DD-3D8D-774A-BBFD-C0DF4DD348DA}"/>
              </a:ext>
            </a:extLst>
          </p:cNvPr>
          <p:cNvCxnSpPr>
            <a:cxnSpLocks/>
          </p:cNvCxnSpPr>
          <p:nvPr/>
        </p:nvCxnSpPr>
        <p:spPr>
          <a:xfrm flipH="1">
            <a:off x="5283483" y="2603032"/>
            <a:ext cx="1152203" cy="205269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cto 95">
            <a:extLst>
              <a:ext uri="{FF2B5EF4-FFF2-40B4-BE49-F238E27FC236}">
                <a16:creationId xmlns:a16="http://schemas.microsoft.com/office/drawing/2014/main" id="{E6D7D1AC-E86B-FF3C-25BC-961E6BC10D4D}"/>
              </a:ext>
            </a:extLst>
          </p:cNvPr>
          <p:cNvCxnSpPr>
            <a:cxnSpLocks/>
          </p:cNvCxnSpPr>
          <p:nvPr/>
        </p:nvCxnSpPr>
        <p:spPr>
          <a:xfrm>
            <a:off x="5983998" y="2581483"/>
            <a:ext cx="45168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cto 96">
            <a:extLst>
              <a:ext uri="{FF2B5EF4-FFF2-40B4-BE49-F238E27FC236}">
                <a16:creationId xmlns:a16="http://schemas.microsoft.com/office/drawing/2014/main" id="{A4C0D986-FFE4-A459-63DF-34A5393FF09E}"/>
              </a:ext>
            </a:extLst>
          </p:cNvPr>
          <p:cNvCxnSpPr>
            <a:cxnSpLocks/>
          </p:cNvCxnSpPr>
          <p:nvPr/>
        </p:nvCxnSpPr>
        <p:spPr>
          <a:xfrm flipH="1">
            <a:off x="5983999" y="2581483"/>
            <a:ext cx="20209" cy="200444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cto 97">
            <a:extLst>
              <a:ext uri="{FF2B5EF4-FFF2-40B4-BE49-F238E27FC236}">
                <a16:creationId xmlns:a16="http://schemas.microsoft.com/office/drawing/2014/main" id="{60168D9B-3BE6-3C2F-536B-CAC5C8C0BD09}"/>
              </a:ext>
            </a:extLst>
          </p:cNvPr>
          <p:cNvCxnSpPr>
            <a:cxnSpLocks/>
          </p:cNvCxnSpPr>
          <p:nvPr/>
        </p:nvCxnSpPr>
        <p:spPr>
          <a:xfrm flipV="1">
            <a:off x="5292700" y="4586196"/>
            <a:ext cx="726616" cy="154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CuadroTexto 98">
            <a:extLst>
              <a:ext uri="{FF2B5EF4-FFF2-40B4-BE49-F238E27FC236}">
                <a16:creationId xmlns:a16="http://schemas.microsoft.com/office/drawing/2014/main" id="{484FE0FD-E6B0-ACF1-0E35-7CBADE59F5C7}"/>
              </a:ext>
            </a:extLst>
          </p:cNvPr>
          <p:cNvSpPr txBox="1"/>
          <p:nvPr/>
        </p:nvSpPr>
        <p:spPr>
          <a:xfrm>
            <a:off x="6248875" y="2848782"/>
            <a:ext cx="1013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b="1" dirty="0">
                <a:solidFill>
                  <a:srgbClr val="FF0000"/>
                </a:solidFill>
              </a:rPr>
              <a:t>2080 Kgf.m</a:t>
            </a:r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F56EAD99-1FFF-B475-C51B-296D0AF5BAA9}"/>
              </a:ext>
            </a:extLst>
          </p:cNvPr>
          <p:cNvSpPr txBox="1"/>
          <p:nvPr/>
        </p:nvSpPr>
        <p:spPr>
          <a:xfrm>
            <a:off x="4679985" y="4711988"/>
            <a:ext cx="1013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b="1" dirty="0">
                <a:solidFill>
                  <a:srgbClr val="FF0000"/>
                </a:solidFill>
              </a:rPr>
              <a:t>3120 Kgf.m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30404BF7-BC3A-271C-D1A6-D6D1F746138F}"/>
                  </a:ext>
                </a:extLst>
              </p:cNvPr>
              <p:cNvSpPr txBox="1"/>
              <p:nvPr/>
            </p:nvSpPr>
            <p:spPr>
              <a:xfrm>
                <a:off x="7267574" y="3612687"/>
                <a:ext cx="1319657" cy="3619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𝐵𝐷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type m:val="skw"/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3.8</m:t>
                          </m:r>
                        </m:den>
                      </m:f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30404BF7-BC3A-271C-D1A6-D6D1F7461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7574" y="3612687"/>
                <a:ext cx="1319657" cy="361959"/>
              </a:xfrm>
              <a:prstGeom prst="rect">
                <a:avLst/>
              </a:prstGeom>
              <a:blipFill>
                <a:blip r:embed="rId10"/>
                <a:stretch>
                  <a:fillRect l="-3687" t="-164407" r="-43318" b="-24745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681B779F-9E24-EFC2-5FE4-54F537227E93}"/>
                  </a:ext>
                </a:extLst>
              </p:cNvPr>
              <p:cNvSpPr txBox="1"/>
              <p:nvPr/>
            </p:nvSpPr>
            <p:spPr>
              <a:xfrm>
                <a:off x="9103867" y="3599808"/>
                <a:ext cx="1313308" cy="3601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𝐷𝐹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type m:val="skw"/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4.2</m:t>
                          </m:r>
                        </m:den>
                      </m:f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681B779F-9E24-EFC2-5FE4-54F537227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3867" y="3599808"/>
                <a:ext cx="1313308" cy="360163"/>
              </a:xfrm>
              <a:prstGeom prst="rect">
                <a:avLst/>
              </a:prstGeom>
              <a:blipFill>
                <a:blip r:embed="rId11"/>
                <a:stretch>
                  <a:fillRect l="-3704" t="-164407" r="-43519" b="-24745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05205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D4B30-9B7A-4FF3-9506-6E2F889CB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4° Determinar los momentos en las vigas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3903A5C6-AB62-8217-6604-553267E4BC12}"/>
              </a:ext>
            </a:extLst>
          </p:cNvPr>
          <p:cNvGrpSpPr/>
          <p:nvPr/>
        </p:nvGrpSpPr>
        <p:grpSpPr>
          <a:xfrm>
            <a:off x="1156230" y="2493924"/>
            <a:ext cx="5149238" cy="2304901"/>
            <a:chOff x="802746" y="2708275"/>
            <a:chExt cx="4673826" cy="1950578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F092B829-0F0C-F37E-7FB0-DF0011828F6E}"/>
                </a:ext>
              </a:extLst>
            </p:cNvPr>
            <p:cNvSpPr/>
            <p:nvPr/>
          </p:nvSpPr>
          <p:spPr>
            <a:xfrm>
              <a:off x="802746" y="4508726"/>
              <a:ext cx="499090" cy="150127"/>
            </a:xfrm>
            <a:prstGeom prst="rect">
              <a:avLst/>
            </a:prstGeom>
            <a:pattFill prst="wdUpDiag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26E44751-1FBE-FDF6-F5DB-F916D18BA2C2}"/>
                </a:ext>
              </a:extLst>
            </p:cNvPr>
            <p:cNvSpPr/>
            <p:nvPr/>
          </p:nvSpPr>
          <p:spPr>
            <a:xfrm>
              <a:off x="948234" y="2708501"/>
              <a:ext cx="144000" cy="180000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3BF99385-421A-A497-46F6-F625D68D10BB}"/>
                </a:ext>
              </a:extLst>
            </p:cNvPr>
            <p:cNvSpPr/>
            <p:nvPr/>
          </p:nvSpPr>
          <p:spPr>
            <a:xfrm>
              <a:off x="948234" y="2708275"/>
              <a:ext cx="4320224" cy="21625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1DD7C29E-220A-039C-4872-C5A9D7FD0E8A}"/>
                </a:ext>
              </a:extLst>
            </p:cNvPr>
            <p:cNvSpPr/>
            <p:nvPr/>
          </p:nvSpPr>
          <p:spPr>
            <a:xfrm>
              <a:off x="2785313" y="4508500"/>
              <a:ext cx="499090" cy="150127"/>
            </a:xfrm>
            <a:prstGeom prst="rect">
              <a:avLst/>
            </a:prstGeom>
            <a:pattFill prst="wdUpDiag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35D9AF8B-3376-4798-8978-A804452CFF04}"/>
                </a:ext>
              </a:extLst>
            </p:cNvPr>
            <p:cNvSpPr/>
            <p:nvPr/>
          </p:nvSpPr>
          <p:spPr>
            <a:xfrm>
              <a:off x="2930801" y="2708275"/>
              <a:ext cx="144000" cy="180000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15C6AAFD-A84E-784F-31DB-BA14CF663C50}"/>
                </a:ext>
              </a:extLst>
            </p:cNvPr>
            <p:cNvSpPr/>
            <p:nvPr/>
          </p:nvSpPr>
          <p:spPr>
            <a:xfrm>
              <a:off x="4977482" y="4508500"/>
              <a:ext cx="499090" cy="150127"/>
            </a:xfrm>
            <a:prstGeom prst="rect">
              <a:avLst/>
            </a:prstGeom>
            <a:pattFill prst="wdUpDiag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DD95B2B8-AE41-91C8-8890-DCFAA99B3C61}"/>
                </a:ext>
              </a:extLst>
            </p:cNvPr>
            <p:cNvSpPr/>
            <p:nvPr/>
          </p:nvSpPr>
          <p:spPr>
            <a:xfrm>
              <a:off x="5122970" y="2708275"/>
              <a:ext cx="144000" cy="180000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CFDC01DB-0147-3DB8-4328-BA956B91C19E}"/>
              </a:ext>
            </a:extLst>
          </p:cNvPr>
          <p:cNvCxnSpPr/>
          <p:nvPr/>
        </p:nvCxnSpPr>
        <p:spPr>
          <a:xfrm>
            <a:off x="797406" y="2494247"/>
            <a:ext cx="0" cy="22319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52F30F76-FB31-DB33-88D7-2FA65898AD1E}"/>
              </a:ext>
            </a:extLst>
          </p:cNvPr>
          <p:cNvCxnSpPr/>
          <p:nvPr/>
        </p:nvCxnSpPr>
        <p:spPr>
          <a:xfrm>
            <a:off x="653068" y="2638263"/>
            <a:ext cx="3603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3DDD77F7-59B6-616E-21DF-6C8373369C01}"/>
              </a:ext>
            </a:extLst>
          </p:cNvPr>
          <p:cNvCxnSpPr/>
          <p:nvPr/>
        </p:nvCxnSpPr>
        <p:spPr>
          <a:xfrm>
            <a:off x="652382" y="4620315"/>
            <a:ext cx="3603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B4797FC6-1517-692D-2E56-B48C5032DCD5}"/>
              </a:ext>
            </a:extLst>
          </p:cNvPr>
          <p:cNvCxnSpPr>
            <a:cxnSpLocks/>
          </p:cNvCxnSpPr>
          <p:nvPr/>
        </p:nvCxnSpPr>
        <p:spPr>
          <a:xfrm>
            <a:off x="1120892" y="5445224"/>
            <a:ext cx="515525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5AB85D76-1E13-A5EB-42FD-B6D5C1988733}"/>
              </a:ext>
            </a:extLst>
          </p:cNvPr>
          <p:cNvCxnSpPr/>
          <p:nvPr/>
        </p:nvCxnSpPr>
        <p:spPr>
          <a:xfrm>
            <a:off x="1395840" y="5310667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E790FB11-125F-3F72-E8F5-2AB051658AFD}"/>
              </a:ext>
            </a:extLst>
          </p:cNvPr>
          <p:cNvCxnSpPr/>
          <p:nvPr/>
        </p:nvCxnSpPr>
        <p:spPr>
          <a:xfrm>
            <a:off x="3580069" y="5310667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F4451327-6A7E-7295-09E3-6EB2308F348D}"/>
              </a:ext>
            </a:extLst>
          </p:cNvPr>
          <p:cNvCxnSpPr/>
          <p:nvPr/>
        </p:nvCxnSpPr>
        <p:spPr>
          <a:xfrm>
            <a:off x="5996171" y="5301208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E2548BE-8736-3C1C-1412-D142E5CB5AA9}"/>
                  </a:ext>
                </a:extLst>
              </p:cNvPr>
              <p:cNvSpPr txBox="1"/>
              <p:nvPr/>
            </p:nvSpPr>
            <p:spPr>
              <a:xfrm>
                <a:off x="2153356" y="5487035"/>
                <a:ext cx="72827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𝟖𝟎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E2548BE-8736-3C1C-1412-D142E5CB5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356" y="5487035"/>
                <a:ext cx="728276" cy="246221"/>
              </a:xfrm>
              <a:prstGeom prst="rect">
                <a:avLst/>
              </a:prstGeom>
              <a:blipFill>
                <a:blip r:embed="rId2"/>
                <a:stretch>
                  <a:fillRect l="-5833" r="-3333" b="-75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897EB06-9331-951B-3FA0-633C5451AA96}"/>
                  </a:ext>
                </a:extLst>
              </p:cNvPr>
              <p:cNvSpPr txBox="1"/>
              <p:nvPr/>
            </p:nvSpPr>
            <p:spPr>
              <a:xfrm>
                <a:off x="4409760" y="5440046"/>
                <a:ext cx="60484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897EB06-9331-951B-3FA0-633C5451A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9760" y="5440046"/>
                <a:ext cx="604846" cy="246221"/>
              </a:xfrm>
              <a:prstGeom prst="rect">
                <a:avLst/>
              </a:prstGeom>
              <a:blipFill>
                <a:blip r:embed="rId3"/>
                <a:stretch>
                  <a:fillRect l="-7000" r="-4000" b="-487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ipse 4">
            <a:extLst>
              <a:ext uri="{FF2B5EF4-FFF2-40B4-BE49-F238E27FC236}">
                <a16:creationId xmlns:a16="http://schemas.microsoft.com/office/drawing/2014/main" id="{71B2BDE7-C9C8-1BED-8078-A58807BFF3AD}"/>
              </a:ext>
            </a:extLst>
          </p:cNvPr>
          <p:cNvSpPr>
            <a:spLocks noChangeAspect="1"/>
          </p:cNvSpPr>
          <p:nvPr/>
        </p:nvSpPr>
        <p:spPr>
          <a:xfrm>
            <a:off x="1536719" y="4370969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91EA0B83-AE74-3852-B5DE-2A88ED9C8D49}"/>
              </a:ext>
            </a:extLst>
          </p:cNvPr>
          <p:cNvSpPr>
            <a:spLocks noChangeAspect="1"/>
          </p:cNvSpPr>
          <p:nvPr/>
        </p:nvSpPr>
        <p:spPr>
          <a:xfrm>
            <a:off x="1040764" y="2262536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8CF205D0-BB5C-249A-21B2-90553ED05323}"/>
              </a:ext>
            </a:extLst>
          </p:cNvPr>
          <p:cNvSpPr>
            <a:spLocks noChangeAspect="1"/>
          </p:cNvSpPr>
          <p:nvPr/>
        </p:nvSpPr>
        <p:spPr>
          <a:xfrm>
            <a:off x="3798510" y="4363243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0DCD015F-3008-5DAA-FF83-E516465B02F3}"/>
              </a:ext>
            </a:extLst>
          </p:cNvPr>
          <p:cNvSpPr>
            <a:spLocks noChangeAspect="1"/>
          </p:cNvSpPr>
          <p:nvPr/>
        </p:nvSpPr>
        <p:spPr>
          <a:xfrm>
            <a:off x="3303101" y="2644361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23E3FAD5-0E44-F8FA-6C75-9759F86A9B52}"/>
              </a:ext>
            </a:extLst>
          </p:cNvPr>
          <p:cNvSpPr>
            <a:spLocks noChangeAspect="1"/>
          </p:cNvSpPr>
          <p:nvPr/>
        </p:nvSpPr>
        <p:spPr>
          <a:xfrm>
            <a:off x="6184597" y="4353799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90569800-D23B-D80A-037D-F6F07D328839}"/>
              </a:ext>
            </a:extLst>
          </p:cNvPr>
          <p:cNvSpPr>
            <a:spLocks noChangeAspect="1"/>
          </p:cNvSpPr>
          <p:nvPr/>
        </p:nvSpPr>
        <p:spPr>
          <a:xfrm>
            <a:off x="6129946" y="2277126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F2D1CFF5-E0E5-E952-3A51-F1C3B5EC7D81}"/>
              </a:ext>
            </a:extLst>
          </p:cNvPr>
          <p:cNvCxnSpPr/>
          <p:nvPr/>
        </p:nvCxnSpPr>
        <p:spPr>
          <a:xfrm>
            <a:off x="635507" y="3469246"/>
            <a:ext cx="3603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5131A68A-4E15-A37F-2D7B-22C5261A7365}"/>
                  </a:ext>
                </a:extLst>
              </p:cNvPr>
              <p:cNvSpPr txBox="1"/>
              <p:nvPr/>
            </p:nvSpPr>
            <p:spPr>
              <a:xfrm>
                <a:off x="151215" y="3957806"/>
                <a:ext cx="72827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𝟔𝟖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5131A68A-4E15-A37F-2D7B-22C5261A7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15" y="3957806"/>
                <a:ext cx="728276" cy="246221"/>
              </a:xfrm>
              <a:prstGeom prst="rect">
                <a:avLst/>
              </a:prstGeom>
              <a:blipFill>
                <a:blip r:embed="rId4"/>
                <a:stretch>
                  <a:fillRect l="-6723" r="-3361" b="-487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8A5B59A5-1D49-4103-9DF8-603B76D73E85}"/>
                  </a:ext>
                </a:extLst>
              </p:cNvPr>
              <p:cNvSpPr txBox="1"/>
              <p:nvPr/>
            </p:nvSpPr>
            <p:spPr>
              <a:xfrm>
                <a:off x="106650" y="3002307"/>
                <a:ext cx="72827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8A5B59A5-1D49-4103-9DF8-603B76D73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50" y="3002307"/>
                <a:ext cx="728276" cy="246221"/>
              </a:xfrm>
              <a:prstGeom prst="rect">
                <a:avLst/>
              </a:prstGeom>
              <a:blipFill>
                <a:blip r:embed="rId5"/>
                <a:stretch>
                  <a:fillRect l="-5833" r="-3333" b="-50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DC2A7CFE-17A9-55DC-DC60-3F1A8A509C1E}"/>
                  </a:ext>
                </a:extLst>
              </p:cNvPr>
              <p:cNvSpPr txBox="1"/>
              <p:nvPr/>
            </p:nvSpPr>
            <p:spPr>
              <a:xfrm>
                <a:off x="7234237" y="2704091"/>
                <a:ext cx="27929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𝐵𝐴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𝐵𝐷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=2080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DC2A7CFE-17A9-55DC-DC60-3F1A8A509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4237" y="2704091"/>
                <a:ext cx="2792944" cy="276999"/>
              </a:xfrm>
              <a:prstGeom prst="rect">
                <a:avLst/>
              </a:prstGeom>
              <a:blipFill>
                <a:blip r:embed="rId6"/>
                <a:stretch>
                  <a:fillRect l="-1747" t="-4444" r="-655" b="-35556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CuadroTexto 75">
                <a:extLst>
                  <a:ext uri="{FF2B5EF4-FFF2-40B4-BE49-F238E27FC236}">
                    <a16:creationId xmlns:a16="http://schemas.microsoft.com/office/drawing/2014/main" id="{ED58D004-F8F8-27BF-5551-AFDF1BBFA048}"/>
                  </a:ext>
                </a:extLst>
              </p:cNvPr>
              <p:cNvSpPr txBox="1"/>
              <p:nvPr/>
            </p:nvSpPr>
            <p:spPr>
              <a:xfrm>
                <a:off x="7261225" y="4298760"/>
                <a:ext cx="4123436" cy="9250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𝐷𝐵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=3120</m:t>
                      </m:r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es-P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P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PE" b="0" i="1" smtClean="0">
                                      <a:latin typeface="Cambria Math" panose="02040503050406030204" pitchFamily="18" charset="0"/>
                                    </a:rPr>
                                    <m:t>3.8</m:t>
                                  </m:r>
                                </m:den>
                              </m:f>
                            </m:num>
                            <m:den>
                              <m:f>
                                <m:fPr>
                                  <m:ctrlPr>
                                    <a:rPr lang="es-P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P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PE" b="0" i="1" smtClean="0">
                                      <a:latin typeface="Cambria Math" panose="02040503050406030204" pitchFamily="18" charset="0"/>
                                    </a:rPr>
                                    <m:t>3.8</m:t>
                                  </m:r>
                                </m:den>
                              </m:f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s-P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P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PE" b="0" i="1" smtClean="0">
                                      <a:latin typeface="Cambria Math" panose="02040503050406030204" pitchFamily="18" charset="0"/>
                                    </a:rPr>
                                    <m:t>4.2</m:t>
                                  </m:r>
                                </m:den>
                              </m:f>
                            </m:den>
                          </m:f>
                        </m:e>
                      </m:d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=1638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76" name="CuadroTexto 75">
                <a:extLst>
                  <a:ext uri="{FF2B5EF4-FFF2-40B4-BE49-F238E27FC236}">
                    <a16:creationId xmlns:a16="http://schemas.microsoft.com/office/drawing/2014/main" id="{ED58D004-F8F8-27BF-5551-AFDF1BBFA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225" y="4298760"/>
                <a:ext cx="4123436" cy="92506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CuadroTexto 76">
                <a:extLst>
                  <a:ext uri="{FF2B5EF4-FFF2-40B4-BE49-F238E27FC236}">
                    <a16:creationId xmlns:a16="http://schemas.microsoft.com/office/drawing/2014/main" id="{F8D7C09E-423A-C794-258E-08F34551E8AB}"/>
                  </a:ext>
                </a:extLst>
              </p:cNvPr>
              <p:cNvSpPr txBox="1"/>
              <p:nvPr/>
            </p:nvSpPr>
            <p:spPr>
              <a:xfrm>
                <a:off x="7257712" y="5311171"/>
                <a:ext cx="4116704" cy="9232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𝐷𝐹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PE" i="1">
                          <a:latin typeface="Cambria Math" panose="02040503050406030204" pitchFamily="18" charset="0"/>
                        </a:rPr>
                        <m:t>3120</m:t>
                      </m:r>
                      <m:d>
                        <m:dPr>
                          <m:ctrlPr>
                            <a:rPr lang="es-P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P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es-P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PE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PE" b="0" i="1" smtClean="0">
                                      <a:latin typeface="Cambria Math" panose="02040503050406030204" pitchFamily="18" charset="0"/>
                                    </a:rPr>
                                    <m:t>4.2</m:t>
                                  </m:r>
                                </m:den>
                              </m:f>
                            </m:num>
                            <m:den>
                              <m:f>
                                <m:fPr>
                                  <m:ctrlPr>
                                    <a:rPr lang="es-P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PE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PE" i="1">
                                      <a:latin typeface="Cambria Math" panose="02040503050406030204" pitchFamily="18" charset="0"/>
                                    </a:rPr>
                                    <m:t>3.8</m:t>
                                  </m:r>
                                </m:den>
                              </m:f>
                              <m:r>
                                <a:rPr lang="es-PE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s-P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PE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PE" i="1">
                                      <a:latin typeface="Cambria Math" panose="02040503050406030204" pitchFamily="18" charset="0"/>
                                    </a:rPr>
                                    <m:t>4.2</m:t>
                                  </m:r>
                                </m:den>
                              </m:f>
                            </m:den>
                          </m:f>
                        </m:e>
                      </m:d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=1482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77" name="CuadroTexto 76">
                <a:extLst>
                  <a:ext uri="{FF2B5EF4-FFF2-40B4-BE49-F238E27FC236}">
                    <a16:creationId xmlns:a16="http://schemas.microsoft.com/office/drawing/2014/main" id="{F8D7C09E-423A-C794-258E-08F34551E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7712" y="5311171"/>
                <a:ext cx="4116704" cy="92326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CuadroTexto 80">
                <a:extLst>
                  <a:ext uri="{FF2B5EF4-FFF2-40B4-BE49-F238E27FC236}">
                    <a16:creationId xmlns:a16="http://schemas.microsoft.com/office/drawing/2014/main" id="{B56815D2-ECF7-9D57-EF64-47F57F609D19}"/>
                  </a:ext>
                </a:extLst>
              </p:cNvPr>
              <p:cNvSpPr txBox="1"/>
              <p:nvPr/>
            </p:nvSpPr>
            <p:spPr>
              <a:xfrm>
                <a:off x="7261225" y="3109888"/>
                <a:ext cx="27769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𝐹𝐸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𝐹𝐷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=2080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81" name="CuadroTexto 80">
                <a:extLst>
                  <a:ext uri="{FF2B5EF4-FFF2-40B4-BE49-F238E27FC236}">
                    <a16:creationId xmlns:a16="http://schemas.microsoft.com/office/drawing/2014/main" id="{B56815D2-ECF7-9D57-EF64-47F57F609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225" y="3109888"/>
                <a:ext cx="2776978" cy="276999"/>
              </a:xfrm>
              <a:prstGeom prst="rect">
                <a:avLst/>
              </a:prstGeom>
              <a:blipFill>
                <a:blip r:embed="rId9"/>
                <a:stretch>
                  <a:fillRect l="-1535" t="-2174" r="-658" b="-32609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9B7976F3-7F1C-8FFA-6850-46824C326D4C}"/>
              </a:ext>
            </a:extLst>
          </p:cNvPr>
          <p:cNvCxnSpPr>
            <a:cxnSpLocks/>
          </p:cNvCxnSpPr>
          <p:nvPr/>
        </p:nvCxnSpPr>
        <p:spPr>
          <a:xfrm flipH="1">
            <a:off x="695325" y="2638263"/>
            <a:ext cx="1152203" cy="205269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6097755D-8963-33A2-3E3F-FE0BCBB5599A}"/>
              </a:ext>
            </a:extLst>
          </p:cNvPr>
          <p:cNvCxnSpPr>
            <a:cxnSpLocks/>
          </p:cNvCxnSpPr>
          <p:nvPr/>
        </p:nvCxnSpPr>
        <p:spPr>
          <a:xfrm>
            <a:off x="1395840" y="2616714"/>
            <a:ext cx="45168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81">
            <a:extLst>
              <a:ext uri="{FF2B5EF4-FFF2-40B4-BE49-F238E27FC236}">
                <a16:creationId xmlns:a16="http://schemas.microsoft.com/office/drawing/2014/main" id="{F0BCC61E-B9E4-8FCB-2662-C993669D7006}"/>
              </a:ext>
            </a:extLst>
          </p:cNvPr>
          <p:cNvCxnSpPr>
            <a:cxnSpLocks/>
            <a:endCxn id="7" idx="2"/>
          </p:cNvCxnSpPr>
          <p:nvPr/>
        </p:nvCxnSpPr>
        <p:spPr>
          <a:xfrm flipH="1">
            <a:off x="1395841" y="2616714"/>
            <a:ext cx="20209" cy="200444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84">
            <a:extLst>
              <a:ext uri="{FF2B5EF4-FFF2-40B4-BE49-F238E27FC236}">
                <a16:creationId xmlns:a16="http://schemas.microsoft.com/office/drawing/2014/main" id="{B135BB4F-F6EE-26CE-5670-36E5C5CCB9D2}"/>
              </a:ext>
            </a:extLst>
          </p:cNvPr>
          <p:cNvCxnSpPr>
            <a:cxnSpLocks/>
            <a:endCxn id="6" idx="0"/>
          </p:cNvCxnSpPr>
          <p:nvPr/>
        </p:nvCxnSpPr>
        <p:spPr>
          <a:xfrm flipV="1">
            <a:off x="704542" y="4621427"/>
            <a:ext cx="726616" cy="154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CuadroTexto 86">
            <a:extLst>
              <a:ext uri="{FF2B5EF4-FFF2-40B4-BE49-F238E27FC236}">
                <a16:creationId xmlns:a16="http://schemas.microsoft.com/office/drawing/2014/main" id="{34B2696B-DB5B-015C-E4BB-263E7D552E2F}"/>
              </a:ext>
            </a:extLst>
          </p:cNvPr>
          <p:cNvSpPr txBox="1"/>
          <p:nvPr/>
        </p:nvSpPr>
        <p:spPr>
          <a:xfrm>
            <a:off x="1660717" y="2884013"/>
            <a:ext cx="848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100" b="1" dirty="0">
                <a:solidFill>
                  <a:srgbClr val="FF0000"/>
                </a:solidFill>
              </a:rPr>
              <a:t>2080 Kgf.m</a:t>
            </a: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682A9AF6-E47D-D655-A167-A28E008B5EBD}"/>
              </a:ext>
            </a:extLst>
          </p:cNvPr>
          <p:cNvSpPr txBox="1"/>
          <p:nvPr/>
        </p:nvSpPr>
        <p:spPr>
          <a:xfrm>
            <a:off x="91827" y="4747219"/>
            <a:ext cx="848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100" b="1" dirty="0">
                <a:solidFill>
                  <a:srgbClr val="FF0000"/>
                </a:solidFill>
              </a:rPr>
              <a:t>3120 Kgf.m</a:t>
            </a:r>
          </a:p>
        </p:txBody>
      </p: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72ECC4B8-A30F-CD54-7205-F3715AB9389E}"/>
              </a:ext>
            </a:extLst>
          </p:cNvPr>
          <p:cNvCxnSpPr>
            <a:cxnSpLocks/>
          </p:cNvCxnSpPr>
          <p:nvPr/>
        </p:nvCxnSpPr>
        <p:spPr>
          <a:xfrm flipH="1">
            <a:off x="2881882" y="2638263"/>
            <a:ext cx="1152203" cy="205269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89">
            <a:extLst>
              <a:ext uri="{FF2B5EF4-FFF2-40B4-BE49-F238E27FC236}">
                <a16:creationId xmlns:a16="http://schemas.microsoft.com/office/drawing/2014/main" id="{158806BF-4501-AB92-54B8-1ADD0519C045}"/>
              </a:ext>
            </a:extLst>
          </p:cNvPr>
          <p:cNvCxnSpPr>
            <a:cxnSpLocks/>
          </p:cNvCxnSpPr>
          <p:nvPr/>
        </p:nvCxnSpPr>
        <p:spPr>
          <a:xfrm>
            <a:off x="3582397" y="2616714"/>
            <a:ext cx="45168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cto 90">
            <a:extLst>
              <a:ext uri="{FF2B5EF4-FFF2-40B4-BE49-F238E27FC236}">
                <a16:creationId xmlns:a16="http://schemas.microsoft.com/office/drawing/2014/main" id="{998E5073-C605-6C59-C425-61B59FCA829C}"/>
              </a:ext>
            </a:extLst>
          </p:cNvPr>
          <p:cNvCxnSpPr>
            <a:cxnSpLocks/>
          </p:cNvCxnSpPr>
          <p:nvPr/>
        </p:nvCxnSpPr>
        <p:spPr>
          <a:xfrm flipH="1">
            <a:off x="3582398" y="2616714"/>
            <a:ext cx="20209" cy="200444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91">
            <a:extLst>
              <a:ext uri="{FF2B5EF4-FFF2-40B4-BE49-F238E27FC236}">
                <a16:creationId xmlns:a16="http://schemas.microsoft.com/office/drawing/2014/main" id="{A44F7A51-2FEC-30BA-80E7-8643AFC2F31F}"/>
              </a:ext>
            </a:extLst>
          </p:cNvPr>
          <p:cNvCxnSpPr>
            <a:cxnSpLocks/>
          </p:cNvCxnSpPr>
          <p:nvPr/>
        </p:nvCxnSpPr>
        <p:spPr>
          <a:xfrm flipV="1">
            <a:off x="2891099" y="4621427"/>
            <a:ext cx="726616" cy="154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CuadroTexto 92">
            <a:extLst>
              <a:ext uri="{FF2B5EF4-FFF2-40B4-BE49-F238E27FC236}">
                <a16:creationId xmlns:a16="http://schemas.microsoft.com/office/drawing/2014/main" id="{0E7467A5-8FAC-8268-FEAF-B85976B1C3AB}"/>
              </a:ext>
            </a:extLst>
          </p:cNvPr>
          <p:cNvSpPr txBox="1"/>
          <p:nvPr/>
        </p:nvSpPr>
        <p:spPr>
          <a:xfrm>
            <a:off x="3847274" y="2884013"/>
            <a:ext cx="848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100" b="1" dirty="0">
                <a:solidFill>
                  <a:srgbClr val="FF0000"/>
                </a:solidFill>
              </a:rPr>
              <a:t>3120 Kgf.m</a:t>
            </a:r>
          </a:p>
        </p:txBody>
      </p:sp>
      <p:sp>
        <p:nvSpPr>
          <p:cNvPr id="94" name="CuadroTexto 93">
            <a:extLst>
              <a:ext uri="{FF2B5EF4-FFF2-40B4-BE49-F238E27FC236}">
                <a16:creationId xmlns:a16="http://schemas.microsoft.com/office/drawing/2014/main" id="{6E098C09-8711-8B8F-6BE7-3551656CB72D}"/>
              </a:ext>
            </a:extLst>
          </p:cNvPr>
          <p:cNvSpPr txBox="1"/>
          <p:nvPr/>
        </p:nvSpPr>
        <p:spPr>
          <a:xfrm>
            <a:off x="2278384" y="4747219"/>
            <a:ext cx="848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100" b="1" dirty="0">
                <a:solidFill>
                  <a:srgbClr val="FF0000"/>
                </a:solidFill>
              </a:rPr>
              <a:t>4680 Kgf.m</a:t>
            </a:r>
          </a:p>
        </p:txBody>
      </p:sp>
      <p:cxnSp>
        <p:nvCxnSpPr>
          <p:cNvPr id="95" name="Conector recto 94">
            <a:extLst>
              <a:ext uri="{FF2B5EF4-FFF2-40B4-BE49-F238E27FC236}">
                <a16:creationId xmlns:a16="http://schemas.microsoft.com/office/drawing/2014/main" id="{B5CA43DD-3D8D-774A-BBFD-C0DF4DD348DA}"/>
              </a:ext>
            </a:extLst>
          </p:cNvPr>
          <p:cNvCxnSpPr>
            <a:cxnSpLocks/>
          </p:cNvCxnSpPr>
          <p:nvPr/>
        </p:nvCxnSpPr>
        <p:spPr>
          <a:xfrm flipH="1">
            <a:off x="5283483" y="2603032"/>
            <a:ext cx="1152203" cy="205269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cto 95">
            <a:extLst>
              <a:ext uri="{FF2B5EF4-FFF2-40B4-BE49-F238E27FC236}">
                <a16:creationId xmlns:a16="http://schemas.microsoft.com/office/drawing/2014/main" id="{E6D7D1AC-E86B-FF3C-25BC-961E6BC10D4D}"/>
              </a:ext>
            </a:extLst>
          </p:cNvPr>
          <p:cNvCxnSpPr>
            <a:cxnSpLocks/>
          </p:cNvCxnSpPr>
          <p:nvPr/>
        </p:nvCxnSpPr>
        <p:spPr>
          <a:xfrm>
            <a:off x="5983998" y="2581483"/>
            <a:ext cx="45168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cto 96">
            <a:extLst>
              <a:ext uri="{FF2B5EF4-FFF2-40B4-BE49-F238E27FC236}">
                <a16:creationId xmlns:a16="http://schemas.microsoft.com/office/drawing/2014/main" id="{A4C0D986-FFE4-A459-63DF-34A5393FF09E}"/>
              </a:ext>
            </a:extLst>
          </p:cNvPr>
          <p:cNvCxnSpPr>
            <a:cxnSpLocks/>
          </p:cNvCxnSpPr>
          <p:nvPr/>
        </p:nvCxnSpPr>
        <p:spPr>
          <a:xfrm flipH="1">
            <a:off x="5983999" y="2581483"/>
            <a:ext cx="20209" cy="200444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cto 97">
            <a:extLst>
              <a:ext uri="{FF2B5EF4-FFF2-40B4-BE49-F238E27FC236}">
                <a16:creationId xmlns:a16="http://schemas.microsoft.com/office/drawing/2014/main" id="{60168D9B-3BE6-3C2F-536B-CAC5C8C0BD09}"/>
              </a:ext>
            </a:extLst>
          </p:cNvPr>
          <p:cNvCxnSpPr>
            <a:cxnSpLocks/>
          </p:cNvCxnSpPr>
          <p:nvPr/>
        </p:nvCxnSpPr>
        <p:spPr>
          <a:xfrm flipV="1">
            <a:off x="5292700" y="4586196"/>
            <a:ext cx="726616" cy="154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CuadroTexto 98">
            <a:extLst>
              <a:ext uri="{FF2B5EF4-FFF2-40B4-BE49-F238E27FC236}">
                <a16:creationId xmlns:a16="http://schemas.microsoft.com/office/drawing/2014/main" id="{484FE0FD-E6B0-ACF1-0E35-7CBADE59F5C7}"/>
              </a:ext>
            </a:extLst>
          </p:cNvPr>
          <p:cNvSpPr txBox="1"/>
          <p:nvPr/>
        </p:nvSpPr>
        <p:spPr>
          <a:xfrm>
            <a:off x="6248875" y="2848782"/>
            <a:ext cx="848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100" b="1" dirty="0">
                <a:solidFill>
                  <a:srgbClr val="FF0000"/>
                </a:solidFill>
              </a:rPr>
              <a:t>2080 Kgf.m</a:t>
            </a:r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F56EAD99-1FFF-B475-C51B-296D0AF5BAA9}"/>
              </a:ext>
            </a:extLst>
          </p:cNvPr>
          <p:cNvSpPr txBox="1"/>
          <p:nvPr/>
        </p:nvSpPr>
        <p:spPr>
          <a:xfrm>
            <a:off x="4679985" y="4711988"/>
            <a:ext cx="848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100" b="1" dirty="0">
                <a:solidFill>
                  <a:srgbClr val="FF0000"/>
                </a:solidFill>
              </a:rPr>
              <a:t>3120 Kgf.m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30404BF7-BC3A-271C-D1A6-D6D1F746138F}"/>
                  </a:ext>
                </a:extLst>
              </p:cNvPr>
              <p:cNvSpPr txBox="1"/>
              <p:nvPr/>
            </p:nvSpPr>
            <p:spPr>
              <a:xfrm>
                <a:off x="7267574" y="3612687"/>
                <a:ext cx="1319657" cy="3619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𝐵𝐷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type m:val="skw"/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3.8</m:t>
                          </m:r>
                        </m:den>
                      </m:f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30404BF7-BC3A-271C-D1A6-D6D1F7461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7574" y="3612687"/>
                <a:ext cx="1319657" cy="361959"/>
              </a:xfrm>
              <a:prstGeom prst="rect">
                <a:avLst/>
              </a:prstGeom>
              <a:blipFill>
                <a:blip r:embed="rId10"/>
                <a:stretch>
                  <a:fillRect l="-3687" t="-164407" r="-43318" b="-24745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681B779F-9E24-EFC2-5FE4-54F537227E93}"/>
                  </a:ext>
                </a:extLst>
              </p:cNvPr>
              <p:cNvSpPr txBox="1"/>
              <p:nvPr/>
            </p:nvSpPr>
            <p:spPr>
              <a:xfrm>
                <a:off x="9103867" y="3599808"/>
                <a:ext cx="1313308" cy="3601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𝐷𝐹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type m:val="skw"/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4.2</m:t>
                          </m:r>
                        </m:den>
                      </m:f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681B779F-9E24-EFC2-5FE4-54F537227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3867" y="3599808"/>
                <a:ext cx="1313308" cy="360163"/>
              </a:xfrm>
              <a:prstGeom prst="rect">
                <a:avLst/>
              </a:prstGeom>
              <a:blipFill>
                <a:blip r:embed="rId11"/>
                <a:stretch>
                  <a:fillRect l="-3704" t="-164407" r="-43519" b="-24745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23BDEF9-2D3A-E237-C910-B423D9E393BC}"/>
              </a:ext>
            </a:extLst>
          </p:cNvPr>
          <p:cNvCxnSpPr>
            <a:cxnSpLocks/>
          </p:cNvCxnSpPr>
          <p:nvPr/>
        </p:nvCxnSpPr>
        <p:spPr>
          <a:xfrm>
            <a:off x="1395840" y="2564904"/>
            <a:ext cx="4588158" cy="3600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AFC02B9B-4E8A-6452-7854-9014DE56FF6F}"/>
              </a:ext>
            </a:extLst>
          </p:cNvPr>
          <p:cNvCxnSpPr>
            <a:cxnSpLocks/>
          </p:cNvCxnSpPr>
          <p:nvPr/>
        </p:nvCxnSpPr>
        <p:spPr>
          <a:xfrm flipV="1">
            <a:off x="1416050" y="2209317"/>
            <a:ext cx="2199116" cy="77177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2A8A0D91-ABE1-8514-1030-F4DD2AD333C8}"/>
              </a:ext>
            </a:extLst>
          </p:cNvPr>
          <p:cNvCxnSpPr>
            <a:cxnSpLocks/>
          </p:cNvCxnSpPr>
          <p:nvPr/>
        </p:nvCxnSpPr>
        <p:spPr>
          <a:xfrm flipV="1">
            <a:off x="3570938" y="2191255"/>
            <a:ext cx="2423165" cy="75683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043B1081-D374-2FA2-44B1-C3BD638B374E}"/>
              </a:ext>
            </a:extLst>
          </p:cNvPr>
          <p:cNvCxnSpPr/>
          <p:nvPr/>
        </p:nvCxnSpPr>
        <p:spPr>
          <a:xfrm>
            <a:off x="1415480" y="2581483"/>
            <a:ext cx="0" cy="36809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5706ADE6-3EC0-264D-18EA-75829538FCED}"/>
              </a:ext>
            </a:extLst>
          </p:cNvPr>
          <p:cNvSpPr txBox="1"/>
          <p:nvPr/>
        </p:nvSpPr>
        <p:spPr>
          <a:xfrm rot="5400000">
            <a:off x="815328" y="2863918"/>
            <a:ext cx="848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100" b="1" dirty="0">
                <a:solidFill>
                  <a:srgbClr val="0070C0"/>
                </a:solidFill>
              </a:rPr>
              <a:t>2080 Kgf.m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EBDE413F-3B70-08E2-EE56-8BAD50D2C787}"/>
              </a:ext>
            </a:extLst>
          </p:cNvPr>
          <p:cNvSpPr txBox="1"/>
          <p:nvPr/>
        </p:nvSpPr>
        <p:spPr>
          <a:xfrm rot="5400000">
            <a:off x="3543996" y="2092302"/>
            <a:ext cx="848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100" b="1" dirty="0">
                <a:solidFill>
                  <a:srgbClr val="0070C0"/>
                </a:solidFill>
              </a:rPr>
              <a:t>1638 Kgf.m</a:t>
            </a:r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52C4683A-1DF7-02C4-7460-2E677B0AF6E5}"/>
              </a:ext>
            </a:extLst>
          </p:cNvPr>
          <p:cNvCxnSpPr/>
          <p:nvPr/>
        </p:nvCxnSpPr>
        <p:spPr>
          <a:xfrm>
            <a:off x="6004208" y="2209317"/>
            <a:ext cx="0" cy="36809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14DE82D1-E031-A4E8-78CA-EABC47969448}"/>
              </a:ext>
            </a:extLst>
          </p:cNvPr>
          <p:cNvCxnSpPr>
            <a:cxnSpLocks/>
          </p:cNvCxnSpPr>
          <p:nvPr/>
        </p:nvCxnSpPr>
        <p:spPr>
          <a:xfrm flipH="1">
            <a:off x="3570938" y="2209317"/>
            <a:ext cx="4782" cy="68704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C2D3F383-902F-FB8E-1FF5-133E9C4013CA}"/>
              </a:ext>
            </a:extLst>
          </p:cNvPr>
          <p:cNvSpPr txBox="1"/>
          <p:nvPr/>
        </p:nvSpPr>
        <p:spPr>
          <a:xfrm rot="5400000">
            <a:off x="2888465" y="3090229"/>
            <a:ext cx="848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100" b="1" dirty="0">
                <a:solidFill>
                  <a:srgbClr val="0070C0"/>
                </a:solidFill>
              </a:rPr>
              <a:t>1482 Kgf.m</a:t>
            </a:r>
          </a:p>
        </p:txBody>
      </p:sp>
    </p:spTree>
    <p:extLst>
      <p:ext uri="{BB962C8B-B14F-4D97-AF65-F5344CB8AC3E}">
        <p14:creationId xmlns:p14="http://schemas.microsoft.com/office/powerpoint/2010/main" val="1973881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D4B30-9B7A-4FF3-9506-6E2F889CB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5° Determinar las cortantes en las vigas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3903A5C6-AB62-8217-6604-553267E4BC12}"/>
              </a:ext>
            </a:extLst>
          </p:cNvPr>
          <p:cNvGrpSpPr/>
          <p:nvPr/>
        </p:nvGrpSpPr>
        <p:grpSpPr>
          <a:xfrm>
            <a:off x="1156230" y="2493924"/>
            <a:ext cx="5149238" cy="2304901"/>
            <a:chOff x="802746" y="2708275"/>
            <a:chExt cx="4673826" cy="1950578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F092B829-0F0C-F37E-7FB0-DF0011828F6E}"/>
                </a:ext>
              </a:extLst>
            </p:cNvPr>
            <p:cNvSpPr/>
            <p:nvPr/>
          </p:nvSpPr>
          <p:spPr>
            <a:xfrm>
              <a:off x="802746" y="4508726"/>
              <a:ext cx="499090" cy="150127"/>
            </a:xfrm>
            <a:prstGeom prst="rect">
              <a:avLst/>
            </a:prstGeom>
            <a:pattFill prst="wdUpDiag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26E44751-1FBE-FDF6-F5DB-F916D18BA2C2}"/>
                </a:ext>
              </a:extLst>
            </p:cNvPr>
            <p:cNvSpPr/>
            <p:nvPr/>
          </p:nvSpPr>
          <p:spPr>
            <a:xfrm>
              <a:off x="948234" y="2708501"/>
              <a:ext cx="144000" cy="180000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3BF99385-421A-A497-46F6-F625D68D10BB}"/>
                </a:ext>
              </a:extLst>
            </p:cNvPr>
            <p:cNvSpPr/>
            <p:nvPr/>
          </p:nvSpPr>
          <p:spPr>
            <a:xfrm>
              <a:off x="948234" y="2708275"/>
              <a:ext cx="4320224" cy="21625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1DD7C29E-220A-039C-4872-C5A9D7FD0E8A}"/>
                </a:ext>
              </a:extLst>
            </p:cNvPr>
            <p:cNvSpPr/>
            <p:nvPr/>
          </p:nvSpPr>
          <p:spPr>
            <a:xfrm>
              <a:off x="2785313" y="4508500"/>
              <a:ext cx="499090" cy="150127"/>
            </a:xfrm>
            <a:prstGeom prst="rect">
              <a:avLst/>
            </a:prstGeom>
            <a:pattFill prst="wdUpDiag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35D9AF8B-3376-4798-8978-A804452CFF04}"/>
                </a:ext>
              </a:extLst>
            </p:cNvPr>
            <p:cNvSpPr/>
            <p:nvPr/>
          </p:nvSpPr>
          <p:spPr>
            <a:xfrm>
              <a:off x="2930801" y="2708275"/>
              <a:ext cx="144000" cy="180000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15C6AAFD-A84E-784F-31DB-BA14CF663C50}"/>
                </a:ext>
              </a:extLst>
            </p:cNvPr>
            <p:cNvSpPr/>
            <p:nvPr/>
          </p:nvSpPr>
          <p:spPr>
            <a:xfrm>
              <a:off x="4977482" y="4508500"/>
              <a:ext cx="499090" cy="150127"/>
            </a:xfrm>
            <a:prstGeom prst="rect">
              <a:avLst/>
            </a:prstGeom>
            <a:pattFill prst="wdUpDiag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DD95B2B8-AE41-91C8-8890-DCFAA99B3C61}"/>
                </a:ext>
              </a:extLst>
            </p:cNvPr>
            <p:cNvSpPr/>
            <p:nvPr/>
          </p:nvSpPr>
          <p:spPr>
            <a:xfrm>
              <a:off x="5122970" y="2708275"/>
              <a:ext cx="144000" cy="180000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CFDC01DB-0147-3DB8-4328-BA956B91C19E}"/>
              </a:ext>
            </a:extLst>
          </p:cNvPr>
          <p:cNvCxnSpPr/>
          <p:nvPr/>
        </p:nvCxnSpPr>
        <p:spPr>
          <a:xfrm>
            <a:off x="797406" y="2494247"/>
            <a:ext cx="0" cy="22319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52F30F76-FB31-DB33-88D7-2FA65898AD1E}"/>
              </a:ext>
            </a:extLst>
          </p:cNvPr>
          <p:cNvCxnSpPr/>
          <p:nvPr/>
        </p:nvCxnSpPr>
        <p:spPr>
          <a:xfrm>
            <a:off x="653068" y="2638263"/>
            <a:ext cx="3603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3DDD77F7-59B6-616E-21DF-6C8373369C01}"/>
              </a:ext>
            </a:extLst>
          </p:cNvPr>
          <p:cNvCxnSpPr/>
          <p:nvPr/>
        </p:nvCxnSpPr>
        <p:spPr>
          <a:xfrm>
            <a:off x="652382" y="4620315"/>
            <a:ext cx="3603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B4797FC6-1517-692D-2E56-B48C5032DCD5}"/>
              </a:ext>
            </a:extLst>
          </p:cNvPr>
          <p:cNvCxnSpPr>
            <a:cxnSpLocks/>
          </p:cNvCxnSpPr>
          <p:nvPr/>
        </p:nvCxnSpPr>
        <p:spPr>
          <a:xfrm>
            <a:off x="1120892" y="5445224"/>
            <a:ext cx="515525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5AB85D76-1E13-A5EB-42FD-B6D5C1988733}"/>
              </a:ext>
            </a:extLst>
          </p:cNvPr>
          <p:cNvCxnSpPr/>
          <p:nvPr/>
        </p:nvCxnSpPr>
        <p:spPr>
          <a:xfrm>
            <a:off x="1395840" y="5310667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E790FB11-125F-3F72-E8F5-2AB051658AFD}"/>
              </a:ext>
            </a:extLst>
          </p:cNvPr>
          <p:cNvCxnSpPr/>
          <p:nvPr/>
        </p:nvCxnSpPr>
        <p:spPr>
          <a:xfrm>
            <a:off x="3580069" y="5310667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F4451327-6A7E-7295-09E3-6EB2308F348D}"/>
              </a:ext>
            </a:extLst>
          </p:cNvPr>
          <p:cNvCxnSpPr/>
          <p:nvPr/>
        </p:nvCxnSpPr>
        <p:spPr>
          <a:xfrm>
            <a:off x="5996171" y="5301208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E2548BE-8736-3C1C-1412-D142E5CB5AA9}"/>
                  </a:ext>
                </a:extLst>
              </p:cNvPr>
              <p:cNvSpPr txBox="1"/>
              <p:nvPr/>
            </p:nvSpPr>
            <p:spPr>
              <a:xfrm>
                <a:off x="2153356" y="5487035"/>
                <a:ext cx="72827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𝟖𝟎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E2548BE-8736-3C1C-1412-D142E5CB5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356" y="5487035"/>
                <a:ext cx="728276" cy="246221"/>
              </a:xfrm>
              <a:prstGeom prst="rect">
                <a:avLst/>
              </a:prstGeom>
              <a:blipFill>
                <a:blip r:embed="rId2"/>
                <a:stretch>
                  <a:fillRect l="-5833" r="-3333" b="-75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897EB06-9331-951B-3FA0-633C5451AA96}"/>
                  </a:ext>
                </a:extLst>
              </p:cNvPr>
              <p:cNvSpPr txBox="1"/>
              <p:nvPr/>
            </p:nvSpPr>
            <p:spPr>
              <a:xfrm>
                <a:off x="4409760" y="5440046"/>
                <a:ext cx="60484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897EB06-9331-951B-3FA0-633C5451A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9760" y="5440046"/>
                <a:ext cx="604846" cy="246221"/>
              </a:xfrm>
              <a:prstGeom prst="rect">
                <a:avLst/>
              </a:prstGeom>
              <a:blipFill>
                <a:blip r:embed="rId3"/>
                <a:stretch>
                  <a:fillRect l="-7000" r="-4000" b="-487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ipse 4">
            <a:extLst>
              <a:ext uri="{FF2B5EF4-FFF2-40B4-BE49-F238E27FC236}">
                <a16:creationId xmlns:a16="http://schemas.microsoft.com/office/drawing/2014/main" id="{71B2BDE7-C9C8-1BED-8078-A58807BFF3AD}"/>
              </a:ext>
            </a:extLst>
          </p:cNvPr>
          <p:cNvSpPr>
            <a:spLocks noChangeAspect="1"/>
          </p:cNvSpPr>
          <p:nvPr/>
        </p:nvSpPr>
        <p:spPr>
          <a:xfrm>
            <a:off x="1536719" y="4370969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91EA0B83-AE74-3852-B5DE-2A88ED9C8D49}"/>
              </a:ext>
            </a:extLst>
          </p:cNvPr>
          <p:cNvSpPr>
            <a:spLocks noChangeAspect="1"/>
          </p:cNvSpPr>
          <p:nvPr/>
        </p:nvSpPr>
        <p:spPr>
          <a:xfrm>
            <a:off x="1040764" y="2262536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8CF205D0-BB5C-249A-21B2-90553ED05323}"/>
              </a:ext>
            </a:extLst>
          </p:cNvPr>
          <p:cNvSpPr>
            <a:spLocks noChangeAspect="1"/>
          </p:cNvSpPr>
          <p:nvPr/>
        </p:nvSpPr>
        <p:spPr>
          <a:xfrm>
            <a:off x="3798510" y="4363243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0DCD015F-3008-5DAA-FF83-E516465B02F3}"/>
              </a:ext>
            </a:extLst>
          </p:cNvPr>
          <p:cNvSpPr>
            <a:spLocks noChangeAspect="1"/>
          </p:cNvSpPr>
          <p:nvPr/>
        </p:nvSpPr>
        <p:spPr>
          <a:xfrm>
            <a:off x="3303101" y="2644361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23E3FAD5-0E44-F8FA-6C75-9759F86A9B52}"/>
              </a:ext>
            </a:extLst>
          </p:cNvPr>
          <p:cNvSpPr>
            <a:spLocks noChangeAspect="1"/>
          </p:cNvSpPr>
          <p:nvPr/>
        </p:nvSpPr>
        <p:spPr>
          <a:xfrm>
            <a:off x="6184597" y="4353799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90569800-D23B-D80A-037D-F6F07D328839}"/>
              </a:ext>
            </a:extLst>
          </p:cNvPr>
          <p:cNvSpPr>
            <a:spLocks noChangeAspect="1"/>
          </p:cNvSpPr>
          <p:nvPr/>
        </p:nvSpPr>
        <p:spPr>
          <a:xfrm>
            <a:off x="6129946" y="2277126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F2D1CFF5-E0E5-E952-3A51-F1C3B5EC7D81}"/>
              </a:ext>
            </a:extLst>
          </p:cNvPr>
          <p:cNvCxnSpPr/>
          <p:nvPr/>
        </p:nvCxnSpPr>
        <p:spPr>
          <a:xfrm>
            <a:off x="635507" y="3469246"/>
            <a:ext cx="3603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5131A68A-4E15-A37F-2D7B-22C5261A7365}"/>
                  </a:ext>
                </a:extLst>
              </p:cNvPr>
              <p:cNvSpPr txBox="1"/>
              <p:nvPr/>
            </p:nvSpPr>
            <p:spPr>
              <a:xfrm>
                <a:off x="151215" y="3957806"/>
                <a:ext cx="72827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𝟔𝟖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5131A68A-4E15-A37F-2D7B-22C5261A7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15" y="3957806"/>
                <a:ext cx="728276" cy="246221"/>
              </a:xfrm>
              <a:prstGeom prst="rect">
                <a:avLst/>
              </a:prstGeom>
              <a:blipFill>
                <a:blip r:embed="rId4"/>
                <a:stretch>
                  <a:fillRect l="-6723" r="-3361" b="-487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8A5B59A5-1D49-4103-9DF8-603B76D73E85}"/>
                  </a:ext>
                </a:extLst>
              </p:cNvPr>
              <p:cNvSpPr txBox="1"/>
              <p:nvPr/>
            </p:nvSpPr>
            <p:spPr>
              <a:xfrm>
                <a:off x="106650" y="3002307"/>
                <a:ext cx="72827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8A5B59A5-1D49-4103-9DF8-603B76D73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50" y="3002307"/>
                <a:ext cx="728276" cy="246221"/>
              </a:xfrm>
              <a:prstGeom prst="rect">
                <a:avLst/>
              </a:prstGeom>
              <a:blipFill>
                <a:blip r:embed="rId5"/>
                <a:stretch>
                  <a:fillRect l="-5833" r="-3333" b="-50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DC2A7CFE-17A9-55DC-DC60-3F1A8A509C1E}"/>
                  </a:ext>
                </a:extLst>
              </p:cNvPr>
              <p:cNvSpPr txBox="1"/>
              <p:nvPr/>
            </p:nvSpPr>
            <p:spPr>
              <a:xfrm>
                <a:off x="7440857" y="3051599"/>
                <a:ext cx="3790461" cy="527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𝐵𝐷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(2080+1638)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3.8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=978.42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DC2A7CFE-17A9-55DC-DC60-3F1A8A509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0857" y="3051599"/>
                <a:ext cx="3790461" cy="5275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9B7976F3-7F1C-8FFA-6850-46824C326D4C}"/>
              </a:ext>
            </a:extLst>
          </p:cNvPr>
          <p:cNvCxnSpPr>
            <a:cxnSpLocks/>
          </p:cNvCxnSpPr>
          <p:nvPr/>
        </p:nvCxnSpPr>
        <p:spPr>
          <a:xfrm flipH="1">
            <a:off x="695325" y="2638263"/>
            <a:ext cx="1152203" cy="205269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6097755D-8963-33A2-3E3F-FE0BCBB5599A}"/>
              </a:ext>
            </a:extLst>
          </p:cNvPr>
          <p:cNvCxnSpPr>
            <a:cxnSpLocks/>
          </p:cNvCxnSpPr>
          <p:nvPr/>
        </p:nvCxnSpPr>
        <p:spPr>
          <a:xfrm>
            <a:off x="1395840" y="2616714"/>
            <a:ext cx="45168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81">
            <a:extLst>
              <a:ext uri="{FF2B5EF4-FFF2-40B4-BE49-F238E27FC236}">
                <a16:creationId xmlns:a16="http://schemas.microsoft.com/office/drawing/2014/main" id="{F0BCC61E-B9E4-8FCB-2662-C993669D7006}"/>
              </a:ext>
            </a:extLst>
          </p:cNvPr>
          <p:cNvCxnSpPr>
            <a:cxnSpLocks/>
            <a:endCxn id="7" idx="2"/>
          </p:cNvCxnSpPr>
          <p:nvPr/>
        </p:nvCxnSpPr>
        <p:spPr>
          <a:xfrm flipH="1">
            <a:off x="1395841" y="2616714"/>
            <a:ext cx="20209" cy="200444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84">
            <a:extLst>
              <a:ext uri="{FF2B5EF4-FFF2-40B4-BE49-F238E27FC236}">
                <a16:creationId xmlns:a16="http://schemas.microsoft.com/office/drawing/2014/main" id="{B135BB4F-F6EE-26CE-5670-36E5C5CCB9D2}"/>
              </a:ext>
            </a:extLst>
          </p:cNvPr>
          <p:cNvCxnSpPr>
            <a:cxnSpLocks/>
            <a:endCxn id="6" idx="0"/>
          </p:cNvCxnSpPr>
          <p:nvPr/>
        </p:nvCxnSpPr>
        <p:spPr>
          <a:xfrm flipV="1">
            <a:off x="704542" y="4621427"/>
            <a:ext cx="726616" cy="154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CuadroTexto 86">
            <a:extLst>
              <a:ext uri="{FF2B5EF4-FFF2-40B4-BE49-F238E27FC236}">
                <a16:creationId xmlns:a16="http://schemas.microsoft.com/office/drawing/2014/main" id="{34B2696B-DB5B-015C-E4BB-263E7D552E2F}"/>
              </a:ext>
            </a:extLst>
          </p:cNvPr>
          <p:cNvSpPr txBox="1"/>
          <p:nvPr/>
        </p:nvSpPr>
        <p:spPr>
          <a:xfrm>
            <a:off x="1660717" y="2884013"/>
            <a:ext cx="848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100" b="1" dirty="0">
                <a:solidFill>
                  <a:srgbClr val="FF0000"/>
                </a:solidFill>
              </a:rPr>
              <a:t>2080 Kgf.m</a:t>
            </a: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682A9AF6-E47D-D655-A167-A28E008B5EBD}"/>
              </a:ext>
            </a:extLst>
          </p:cNvPr>
          <p:cNvSpPr txBox="1"/>
          <p:nvPr/>
        </p:nvSpPr>
        <p:spPr>
          <a:xfrm>
            <a:off x="91827" y="4747219"/>
            <a:ext cx="848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100" b="1" dirty="0">
                <a:solidFill>
                  <a:srgbClr val="FF0000"/>
                </a:solidFill>
              </a:rPr>
              <a:t>3120 Kgf.m</a:t>
            </a:r>
          </a:p>
        </p:txBody>
      </p: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72ECC4B8-A30F-CD54-7205-F3715AB9389E}"/>
              </a:ext>
            </a:extLst>
          </p:cNvPr>
          <p:cNvCxnSpPr>
            <a:cxnSpLocks/>
          </p:cNvCxnSpPr>
          <p:nvPr/>
        </p:nvCxnSpPr>
        <p:spPr>
          <a:xfrm flipH="1">
            <a:off x="2881882" y="2638263"/>
            <a:ext cx="1152203" cy="205269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89">
            <a:extLst>
              <a:ext uri="{FF2B5EF4-FFF2-40B4-BE49-F238E27FC236}">
                <a16:creationId xmlns:a16="http://schemas.microsoft.com/office/drawing/2014/main" id="{158806BF-4501-AB92-54B8-1ADD0519C045}"/>
              </a:ext>
            </a:extLst>
          </p:cNvPr>
          <p:cNvCxnSpPr>
            <a:cxnSpLocks/>
          </p:cNvCxnSpPr>
          <p:nvPr/>
        </p:nvCxnSpPr>
        <p:spPr>
          <a:xfrm>
            <a:off x="3582397" y="2616714"/>
            <a:ext cx="45168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cto 90">
            <a:extLst>
              <a:ext uri="{FF2B5EF4-FFF2-40B4-BE49-F238E27FC236}">
                <a16:creationId xmlns:a16="http://schemas.microsoft.com/office/drawing/2014/main" id="{998E5073-C605-6C59-C425-61B59FCA829C}"/>
              </a:ext>
            </a:extLst>
          </p:cNvPr>
          <p:cNvCxnSpPr>
            <a:cxnSpLocks/>
          </p:cNvCxnSpPr>
          <p:nvPr/>
        </p:nvCxnSpPr>
        <p:spPr>
          <a:xfrm flipH="1">
            <a:off x="3582398" y="2616714"/>
            <a:ext cx="20209" cy="200444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91">
            <a:extLst>
              <a:ext uri="{FF2B5EF4-FFF2-40B4-BE49-F238E27FC236}">
                <a16:creationId xmlns:a16="http://schemas.microsoft.com/office/drawing/2014/main" id="{A44F7A51-2FEC-30BA-80E7-8643AFC2F31F}"/>
              </a:ext>
            </a:extLst>
          </p:cNvPr>
          <p:cNvCxnSpPr>
            <a:cxnSpLocks/>
          </p:cNvCxnSpPr>
          <p:nvPr/>
        </p:nvCxnSpPr>
        <p:spPr>
          <a:xfrm flipV="1">
            <a:off x="2891099" y="4621427"/>
            <a:ext cx="726616" cy="154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CuadroTexto 92">
            <a:extLst>
              <a:ext uri="{FF2B5EF4-FFF2-40B4-BE49-F238E27FC236}">
                <a16:creationId xmlns:a16="http://schemas.microsoft.com/office/drawing/2014/main" id="{0E7467A5-8FAC-8268-FEAF-B85976B1C3AB}"/>
              </a:ext>
            </a:extLst>
          </p:cNvPr>
          <p:cNvSpPr txBox="1"/>
          <p:nvPr/>
        </p:nvSpPr>
        <p:spPr>
          <a:xfrm>
            <a:off x="3847274" y="2884013"/>
            <a:ext cx="848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100" b="1" dirty="0">
                <a:solidFill>
                  <a:srgbClr val="FF0000"/>
                </a:solidFill>
              </a:rPr>
              <a:t>3120 Kgf.m</a:t>
            </a:r>
          </a:p>
        </p:txBody>
      </p:sp>
      <p:sp>
        <p:nvSpPr>
          <p:cNvPr id="94" name="CuadroTexto 93">
            <a:extLst>
              <a:ext uri="{FF2B5EF4-FFF2-40B4-BE49-F238E27FC236}">
                <a16:creationId xmlns:a16="http://schemas.microsoft.com/office/drawing/2014/main" id="{6E098C09-8711-8B8F-6BE7-3551656CB72D}"/>
              </a:ext>
            </a:extLst>
          </p:cNvPr>
          <p:cNvSpPr txBox="1"/>
          <p:nvPr/>
        </p:nvSpPr>
        <p:spPr>
          <a:xfrm>
            <a:off x="2278384" y="4747219"/>
            <a:ext cx="848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100" b="1" dirty="0">
                <a:solidFill>
                  <a:srgbClr val="FF0000"/>
                </a:solidFill>
              </a:rPr>
              <a:t>4680 Kgf.m</a:t>
            </a:r>
          </a:p>
        </p:txBody>
      </p:sp>
      <p:cxnSp>
        <p:nvCxnSpPr>
          <p:cNvPr id="95" name="Conector recto 94">
            <a:extLst>
              <a:ext uri="{FF2B5EF4-FFF2-40B4-BE49-F238E27FC236}">
                <a16:creationId xmlns:a16="http://schemas.microsoft.com/office/drawing/2014/main" id="{B5CA43DD-3D8D-774A-BBFD-C0DF4DD348DA}"/>
              </a:ext>
            </a:extLst>
          </p:cNvPr>
          <p:cNvCxnSpPr>
            <a:cxnSpLocks/>
          </p:cNvCxnSpPr>
          <p:nvPr/>
        </p:nvCxnSpPr>
        <p:spPr>
          <a:xfrm flipH="1">
            <a:off x="5283483" y="2603032"/>
            <a:ext cx="1152203" cy="205269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cto 95">
            <a:extLst>
              <a:ext uri="{FF2B5EF4-FFF2-40B4-BE49-F238E27FC236}">
                <a16:creationId xmlns:a16="http://schemas.microsoft.com/office/drawing/2014/main" id="{E6D7D1AC-E86B-FF3C-25BC-961E6BC10D4D}"/>
              </a:ext>
            </a:extLst>
          </p:cNvPr>
          <p:cNvCxnSpPr>
            <a:cxnSpLocks/>
          </p:cNvCxnSpPr>
          <p:nvPr/>
        </p:nvCxnSpPr>
        <p:spPr>
          <a:xfrm>
            <a:off x="5983998" y="2581483"/>
            <a:ext cx="45168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cto 96">
            <a:extLst>
              <a:ext uri="{FF2B5EF4-FFF2-40B4-BE49-F238E27FC236}">
                <a16:creationId xmlns:a16="http://schemas.microsoft.com/office/drawing/2014/main" id="{A4C0D986-FFE4-A459-63DF-34A5393FF09E}"/>
              </a:ext>
            </a:extLst>
          </p:cNvPr>
          <p:cNvCxnSpPr>
            <a:cxnSpLocks/>
          </p:cNvCxnSpPr>
          <p:nvPr/>
        </p:nvCxnSpPr>
        <p:spPr>
          <a:xfrm flipH="1">
            <a:off x="5983999" y="2581483"/>
            <a:ext cx="20209" cy="200444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cto 97">
            <a:extLst>
              <a:ext uri="{FF2B5EF4-FFF2-40B4-BE49-F238E27FC236}">
                <a16:creationId xmlns:a16="http://schemas.microsoft.com/office/drawing/2014/main" id="{60168D9B-3BE6-3C2F-536B-CAC5C8C0BD09}"/>
              </a:ext>
            </a:extLst>
          </p:cNvPr>
          <p:cNvCxnSpPr>
            <a:cxnSpLocks/>
          </p:cNvCxnSpPr>
          <p:nvPr/>
        </p:nvCxnSpPr>
        <p:spPr>
          <a:xfrm flipV="1">
            <a:off x="5292700" y="4586196"/>
            <a:ext cx="726616" cy="154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CuadroTexto 98">
            <a:extLst>
              <a:ext uri="{FF2B5EF4-FFF2-40B4-BE49-F238E27FC236}">
                <a16:creationId xmlns:a16="http://schemas.microsoft.com/office/drawing/2014/main" id="{484FE0FD-E6B0-ACF1-0E35-7CBADE59F5C7}"/>
              </a:ext>
            </a:extLst>
          </p:cNvPr>
          <p:cNvSpPr txBox="1"/>
          <p:nvPr/>
        </p:nvSpPr>
        <p:spPr>
          <a:xfrm>
            <a:off x="6248875" y="2848782"/>
            <a:ext cx="848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100" b="1" dirty="0">
                <a:solidFill>
                  <a:srgbClr val="FF0000"/>
                </a:solidFill>
              </a:rPr>
              <a:t>2080 Kgf.m</a:t>
            </a:r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F56EAD99-1FFF-B475-C51B-296D0AF5BAA9}"/>
              </a:ext>
            </a:extLst>
          </p:cNvPr>
          <p:cNvSpPr txBox="1"/>
          <p:nvPr/>
        </p:nvSpPr>
        <p:spPr>
          <a:xfrm>
            <a:off x="4679985" y="4711988"/>
            <a:ext cx="848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100" b="1" dirty="0">
                <a:solidFill>
                  <a:srgbClr val="FF0000"/>
                </a:solidFill>
              </a:rPr>
              <a:t>3120 Kgf.m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23BDEF9-2D3A-E237-C910-B423D9E393BC}"/>
              </a:ext>
            </a:extLst>
          </p:cNvPr>
          <p:cNvCxnSpPr>
            <a:cxnSpLocks/>
          </p:cNvCxnSpPr>
          <p:nvPr/>
        </p:nvCxnSpPr>
        <p:spPr>
          <a:xfrm>
            <a:off x="1395840" y="2564904"/>
            <a:ext cx="4588158" cy="3600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AFC02B9B-4E8A-6452-7854-9014DE56FF6F}"/>
              </a:ext>
            </a:extLst>
          </p:cNvPr>
          <p:cNvCxnSpPr>
            <a:cxnSpLocks/>
          </p:cNvCxnSpPr>
          <p:nvPr/>
        </p:nvCxnSpPr>
        <p:spPr>
          <a:xfrm flipV="1">
            <a:off x="1416050" y="2209317"/>
            <a:ext cx="2199116" cy="77177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2A8A0D91-ABE1-8514-1030-F4DD2AD333C8}"/>
              </a:ext>
            </a:extLst>
          </p:cNvPr>
          <p:cNvCxnSpPr>
            <a:cxnSpLocks/>
          </p:cNvCxnSpPr>
          <p:nvPr/>
        </p:nvCxnSpPr>
        <p:spPr>
          <a:xfrm flipV="1">
            <a:off x="3570938" y="2191255"/>
            <a:ext cx="2423165" cy="75683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043B1081-D374-2FA2-44B1-C3BD638B374E}"/>
              </a:ext>
            </a:extLst>
          </p:cNvPr>
          <p:cNvCxnSpPr/>
          <p:nvPr/>
        </p:nvCxnSpPr>
        <p:spPr>
          <a:xfrm>
            <a:off x="1415480" y="2581483"/>
            <a:ext cx="0" cy="36809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5706ADE6-3EC0-264D-18EA-75829538FCED}"/>
              </a:ext>
            </a:extLst>
          </p:cNvPr>
          <p:cNvSpPr txBox="1"/>
          <p:nvPr/>
        </p:nvSpPr>
        <p:spPr>
          <a:xfrm rot="5400000">
            <a:off x="815328" y="2863918"/>
            <a:ext cx="848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100" b="1" dirty="0">
                <a:solidFill>
                  <a:srgbClr val="0070C0"/>
                </a:solidFill>
              </a:rPr>
              <a:t>2080 Kgf.m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EBDE413F-3B70-08E2-EE56-8BAD50D2C787}"/>
              </a:ext>
            </a:extLst>
          </p:cNvPr>
          <p:cNvSpPr txBox="1"/>
          <p:nvPr/>
        </p:nvSpPr>
        <p:spPr>
          <a:xfrm rot="5400000">
            <a:off x="3543996" y="2092302"/>
            <a:ext cx="848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100" b="1" dirty="0">
                <a:solidFill>
                  <a:srgbClr val="0070C0"/>
                </a:solidFill>
              </a:rPr>
              <a:t>1638 Kgf.m</a:t>
            </a:r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52C4683A-1DF7-02C4-7460-2E677B0AF6E5}"/>
              </a:ext>
            </a:extLst>
          </p:cNvPr>
          <p:cNvCxnSpPr/>
          <p:nvPr/>
        </p:nvCxnSpPr>
        <p:spPr>
          <a:xfrm>
            <a:off x="6004208" y="2209317"/>
            <a:ext cx="0" cy="36809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14DE82D1-E031-A4E8-78CA-EABC47969448}"/>
              </a:ext>
            </a:extLst>
          </p:cNvPr>
          <p:cNvCxnSpPr>
            <a:cxnSpLocks/>
          </p:cNvCxnSpPr>
          <p:nvPr/>
        </p:nvCxnSpPr>
        <p:spPr>
          <a:xfrm flipH="1">
            <a:off x="3570938" y="2209317"/>
            <a:ext cx="4782" cy="68704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C2D3F383-902F-FB8E-1FF5-133E9C4013CA}"/>
              </a:ext>
            </a:extLst>
          </p:cNvPr>
          <p:cNvSpPr txBox="1"/>
          <p:nvPr/>
        </p:nvSpPr>
        <p:spPr>
          <a:xfrm rot="5400000">
            <a:off x="2888465" y="3090229"/>
            <a:ext cx="848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100" b="1" dirty="0">
                <a:solidFill>
                  <a:srgbClr val="0070C0"/>
                </a:solidFill>
              </a:rPr>
              <a:t>1482 Kgf.m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BF6EC6A6-0C3E-4FF4-F5A6-582CF9FBE5ED}"/>
                  </a:ext>
                </a:extLst>
              </p:cNvPr>
              <p:cNvSpPr txBox="1"/>
              <p:nvPr/>
            </p:nvSpPr>
            <p:spPr>
              <a:xfrm>
                <a:off x="7448828" y="4163373"/>
                <a:ext cx="3784113" cy="5257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𝐷𝐹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(1482+2080)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4.2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=848.10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BF6EC6A6-0C3E-4FF4-F5A6-582CF9FBE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8828" y="4163373"/>
                <a:ext cx="3784113" cy="5257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4074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D4B30-9B7A-4FF3-9506-6E2F889CB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6° Determinar las axiales en columnas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3903A5C6-AB62-8217-6604-553267E4BC12}"/>
              </a:ext>
            </a:extLst>
          </p:cNvPr>
          <p:cNvGrpSpPr/>
          <p:nvPr/>
        </p:nvGrpSpPr>
        <p:grpSpPr>
          <a:xfrm>
            <a:off x="1156230" y="2493924"/>
            <a:ext cx="5149238" cy="2304901"/>
            <a:chOff x="802746" y="2708275"/>
            <a:chExt cx="4673826" cy="1950578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F092B829-0F0C-F37E-7FB0-DF0011828F6E}"/>
                </a:ext>
              </a:extLst>
            </p:cNvPr>
            <p:cNvSpPr/>
            <p:nvPr/>
          </p:nvSpPr>
          <p:spPr>
            <a:xfrm>
              <a:off x="802746" y="4508726"/>
              <a:ext cx="499090" cy="150127"/>
            </a:xfrm>
            <a:prstGeom prst="rect">
              <a:avLst/>
            </a:prstGeom>
            <a:pattFill prst="wdUpDiag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26E44751-1FBE-FDF6-F5DB-F916D18BA2C2}"/>
                </a:ext>
              </a:extLst>
            </p:cNvPr>
            <p:cNvSpPr/>
            <p:nvPr/>
          </p:nvSpPr>
          <p:spPr>
            <a:xfrm>
              <a:off x="948234" y="2708501"/>
              <a:ext cx="144000" cy="180000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3BF99385-421A-A497-46F6-F625D68D10BB}"/>
                </a:ext>
              </a:extLst>
            </p:cNvPr>
            <p:cNvSpPr/>
            <p:nvPr/>
          </p:nvSpPr>
          <p:spPr>
            <a:xfrm>
              <a:off x="948234" y="2708275"/>
              <a:ext cx="4320224" cy="21625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1DD7C29E-220A-039C-4872-C5A9D7FD0E8A}"/>
                </a:ext>
              </a:extLst>
            </p:cNvPr>
            <p:cNvSpPr/>
            <p:nvPr/>
          </p:nvSpPr>
          <p:spPr>
            <a:xfrm>
              <a:off x="2785313" y="4508500"/>
              <a:ext cx="499090" cy="150127"/>
            </a:xfrm>
            <a:prstGeom prst="rect">
              <a:avLst/>
            </a:prstGeom>
            <a:pattFill prst="wdUpDiag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35D9AF8B-3376-4798-8978-A804452CFF04}"/>
                </a:ext>
              </a:extLst>
            </p:cNvPr>
            <p:cNvSpPr/>
            <p:nvPr/>
          </p:nvSpPr>
          <p:spPr>
            <a:xfrm>
              <a:off x="2930801" y="2708275"/>
              <a:ext cx="144000" cy="180000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15C6AAFD-A84E-784F-31DB-BA14CF663C50}"/>
                </a:ext>
              </a:extLst>
            </p:cNvPr>
            <p:cNvSpPr/>
            <p:nvPr/>
          </p:nvSpPr>
          <p:spPr>
            <a:xfrm>
              <a:off x="4977482" y="4508500"/>
              <a:ext cx="499090" cy="150127"/>
            </a:xfrm>
            <a:prstGeom prst="rect">
              <a:avLst/>
            </a:prstGeom>
            <a:pattFill prst="wdUpDiag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DD95B2B8-AE41-91C8-8890-DCFAA99B3C61}"/>
                </a:ext>
              </a:extLst>
            </p:cNvPr>
            <p:cNvSpPr/>
            <p:nvPr/>
          </p:nvSpPr>
          <p:spPr>
            <a:xfrm>
              <a:off x="5122970" y="2708275"/>
              <a:ext cx="144000" cy="180000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CFDC01DB-0147-3DB8-4328-BA956B91C19E}"/>
              </a:ext>
            </a:extLst>
          </p:cNvPr>
          <p:cNvCxnSpPr/>
          <p:nvPr/>
        </p:nvCxnSpPr>
        <p:spPr>
          <a:xfrm>
            <a:off x="797406" y="2494247"/>
            <a:ext cx="0" cy="22319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52F30F76-FB31-DB33-88D7-2FA65898AD1E}"/>
              </a:ext>
            </a:extLst>
          </p:cNvPr>
          <p:cNvCxnSpPr/>
          <p:nvPr/>
        </p:nvCxnSpPr>
        <p:spPr>
          <a:xfrm>
            <a:off x="653068" y="2638263"/>
            <a:ext cx="3603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3DDD77F7-59B6-616E-21DF-6C8373369C01}"/>
              </a:ext>
            </a:extLst>
          </p:cNvPr>
          <p:cNvCxnSpPr/>
          <p:nvPr/>
        </p:nvCxnSpPr>
        <p:spPr>
          <a:xfrm>
            <a:off x="652382" y="4620315"/>
            <a:ext cx="3603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B4797FC6-1517-692D-2E56-B48C5032DCD5}"/>
              </a:ext>
            </a:extLst>
          </p:cNvPr>
          <p:cNvCxnSpPr>
            <a:cxnSpLocks/>
          </p:cNvCxnSpPr>
          <p:nvPr/>
        </p:nvCxnSpPr>
        <p:spPr>
          <a:xfrm>
            <a:off x="1120892" y="5445224"/>
            <a:ext cx="515525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5AB85D76-1E13-A5EB-42FD-B6D5C1988733}"/>
              </a:ext>
            </a:extLst>
          </p:cNvPr>
          <p:cNvCxnSpPr/>
          <p:nvPr/>
        </p:nvCxnSpPr>
        <p:spPr>
          <a:xfrm>
            <a:off x="1395840" y="5310667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E790FB11-125F-3F72-E8F5-2AB051658AFD}"/>
              </a:ext>
            </a:extLst>
          </p:cNvPr>
          <p:cNvCxnSpPr/>
          <p:nvPr/>
        </p:nvCxnSpPr>
        <p:spPr>
          <a:xfrm>
            <a:off x="3580069" y="5310667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F4451327-6A7E-7295-09E3-6EB2308F348D}"/>
              </a:ext>
            </a:extLst>
          </p:cNvPr>
          <p:cNvCxnSpPr/>
          <p:nvPr/>
        </p:nvCxnSpPr>
        <p:spPr>
          <a:xfrm>
            <a:off x="5996171" y="5301208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E2548BE-8736-3C1C-1412-D142E5CB5AA9}"/>
                  </a:ext>
                </a:extLst>
              </p:cNvPr>
              <p:cNvSpPr txBox="1"/>
              <p:nvPr/>
            </p:nvSpPr>
            <p:spPr>
              <a:xfrm>
                <a:off x="2153356" y="5487035"/>
                <a:ext cx="72827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𝟖𝟎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E2548BE-8736-3C1C-1412-D142E5CB5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356" y="5487035"/>
                <a:ext cx="728276" cy="246221"/>
              </a:xfrm>
              <a:prstGeom prst="rect">
                <a:avLst/>
              </a:prstGeom>
              <a:blipFill>
                <a:blip r:embed="rId2"/>
                <a:stretch>
                  <a:fillRect l="-5833" r="-3333" b="-75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897EB06-9331-951B-3FA0-633C5451AA96}"/>
                  </a:ext>
                </a:extLst>
              </p:cNvPr>
              <p:cNvSpPr txBox="1"/>
              <p:nvPr/>
            </p:nvSpPr>
            <p:spPr>
              <a:xfrm>
                <a:off x="4409760" y="5440046"/>
                <a:ext cx="60484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897EB06-9331-951B-3FA0-633C5451A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9760" y="5440046"/>
                <a:ext cx="604846" cy="246221"/>
              </a:xfrm>
              <a:prstGeom prst="rect">
                <a:avLst/>
              </a:prstGeom>
              <a:blipFill>
                <a:blip r:embed="rId3"/>
                <a:stretch>
                  <a:fillRect l="-7000" r="-4000" b="-487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ipse 4">
            <a:extLst>
              <a:ext uri="{FF2B5EF4-FFF2-40B4-BE49-F238E27FC236}">
                <a16:creationId xmlns:a16="http://schemas.microsoft.com/office/drawing/2014/main" id="{71B2BDE7-C9C8-1BED-8078-A58807BFF3AD}"/>
              </a:ext>
            </a:extLst>
          </p:cNvPr>
          <p:cNvSpPr>
            <a:spLocks noChangeAspect="1"/>
          </p:cNvSpPr>
          <p:nvPr/>
        </p:nvSpPr>
        <p:spPr>
          <a:xfrm>
            <a:off x="1536719" y="4370969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91EA0B83-AE74-3852-B5DE-2A88ED9C8D49}"/>
              </a:ext>
            </a:extLst>
          </p:cNvPr>
          <p:cNvSpPr>
            <a:spLocks noChangeAspect="1"/>
          </p:cNvSpPr>
          <p:nvPr/>
        </p:nvSpPr>
        <p:spPr>
          <a:xfrm>
            <a:off x="1040764" y="2262536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8CF205D0-BB5C-249A-21B2-90553ED05323}"/>
              </a:ext>
            </a:extLst>
          </p:cNvPr>
          <p:cNvSpPr>
            <a:spLocks noChangeAspect="1"/>
          </p:cNvSpPr>
          <p:nvPr/>
        </p:nvSpPr>
        <p:spPr>
          <a:xfrm>
            <a:off x="3798510" y="4363243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0DCD015F-3008-5DAA-FF83-E516465B02F3}"/>
              </a:ext>
            </a:extLst>
          </p:cNvPr>
          <p:cNvSpPr>
            <a:spLocks noChangeAspect="1"/>
          </p:cNvSpPr>
          <p:nvPr/>
        </p:nvSpPr>
        <p:spPr>
          <a:xfrm>
            <a:off x="3303101" y="2644361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23E3FAD5-0E44-F8FA-6C75-9759F86A9B52}"/>
              </a:ext>
            </a:extLst>
          </p:cNvPr>
          <p:cNvSpPr>
            <a:spLocks noChangeAspect="1"/>
          </p:cNvSpPr>
          <p:nvPr/>
        </p:nvSpPr>
        <p:spPr>
          <a:xfrm>
            <a:off x="6184597" y="4353799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90569800-D23B-D80A-037D-F6F07D328839}"/>
              </a:ext>
            </a:extLst>
          </p:cNvPr>
          <p:cNvSpPr>
            <a:spLocks noChangeAspect="1"/>
          </p:cNvSpPr>
          <p:nvPr/>
        </p:nvSpPr>
        <p:spPr>
          <a:xfrm>
            <a:off x="6129946" y="2277126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F2D1CFF5-E0E5-E952-3A51-F1C3B5EC7D81}"/>
              </a:ext>
            </a:extLst>
          </p:cNvPr>
          <p:cNvCxnSpPr/>
          <p:nvPr/>
        </p:nvCxnSpPr>
        <p:spPr>
          <a:xfrm>
            <a:off x="635507" y="3469246"/>
            <a:ext cx="3603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5131A68A-4E15-A37F-2D7B-22C5261A7365}"/>
                  </a:ext>
                </a:extLst>
              </p:cNvPr>
              <p:cNvSpPr txBox="1"/>
              <p:nvPr/>
            </p:nvSpPr>
            <p:spPr>
              <a:xfrm>
                <a:off x="151215" y="3957806"/>
                <a:ext cx="72827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𝟔𝟖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5131A68A-4E15-A37F-2D7B-22C5261A7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15" y="3957806"/>
                <a:ext cx="728276" cy="246221"/>
              </a:xfrm>
              <a:prstGeom prst="rect">
                <a:avLst/>
              </a:prstGeom>
              <a:blipFill>
                <a:blip r:embed="rId4"/>
                <a:stretch>
                  <a:fillRect l="-6723" r="-3361" b="-487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8A5B59A5-1D49-4103-9DF8-603B76D73E85}"/>
                  </a:ext>
                </a:extLst>
              </p:cNvPr>
              <p:cNvSpPr txBox="1"/>
              <p:nvPr/>
            </p:nvSpPr>
            <p:spPr>
              <a:xfrm>
                <a:off x="106650" y="3002307"/>
                <a:ext cx="72827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8A5B59A5-1D49-4103-9DF8-603B76D73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50" y="3002307"/>
                <a:ext cx="728276" cy="246221"/>
              </a:xfrm>
              <a:prstGeom prst="rect">
                <a:avLst/>
              </a:prstGeom>
              <a:blipFill>
                <a:blip r:embed="rId5"/>
                <a:stretch>
                  <a:fillRect l="-5833" r="-3333" b="-50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DC2A7CFE-17A9-55DC-DC60-3F1A8A509C1E}"/>
                  </a:ext>
                </a:extLst>
              </p:cNvPr>
              <p:cNvSpPr txBox="1"/>
              <p:nvPr/>
            </p:nvSpPr>
            <p:spPr>
              <a:xfrm>
                <a:off x="7433932" y="2658379"/>
                <a:ext cx="20168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𝐵𝐴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=978.42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DC2A7CFE-17A9-55DC-DC60-3F1A8A509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3932" y="2658379"/>
                <a:ext cx="2016899" cy="276999"/>
              </a:xfrm>
              <a:prstGeom prst="rect">
                <a:avLst/>
              </a:prstGeom>
              <a:blipFill>
                <a:blip r:embed="rId6"/>
                <a:stretch>
                  <a:fillRect l="-2115" t="-2174" b="-32609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9B7976F3-7F1C-8FFA-6850-46824C326D4C}"/>
              </a:ext>
            </a:extLst>
          </p:cNvPr>
          <p:cNvCxnSpPr>
            <a:cxnSpLocks/>
          </p:cNvCxnSpPr>
          <p:nvPr/>
        </p:nvCxnSpPr>
        <p:spPr>
          <a:xfrm flipH="1">
            <a:off x="695325" y="2638263"/>
            <a:ext cx="1152203" cy="205269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6097755D-8963-33A2-3E3F-FE0BCBB5599A}"/>
              </a:ext>
            </a:extLst>
          </p:cNvPr>
          <p:cNvCxnSpPr>
            <a:cxnSpLocks/>
          </p:cNvCxnSpPr>
          <p:nvPr/>
        </p:nvCxnSpPr>
        <p:spPr>
          <a:xfrm>
            <a:off x="1395840" y="2616714"/>
            <a:ext cx="45168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81">
            <a:extLst>
              <a:ext uri="{FF2B5EF4-FFF2-40B4-BE49-F238E27FC236}">
                <a16:creationId xmlns:a16="http://schemas.microsoft.com/office/drawing/2014/main" id="{F0BCC61E-B9E4-8FCB-2662-C993669D7006}"/>
              </a:ext>
            </a:extLst>
          </p:cNvPr>
          <p:cNvCxnSpPr>
            <a:cxnSpLocks/>
            <a:endCxn id="7" idx="2"/>
          </p:cNvCxnSpPr>
          <p:nvPr/>
        </p:nvCxnSpPr>
        <p:spPr>
          <a:xfrm flipH="1">
            <a:off x="1395841" y="2616714"/>
            <a:ext cx="20209" cy="200444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84">
            <a:extLst>
              <a:ext uri="{FF2B5EF4-FFF2-40B4-BE49-F238E27FC236}">
                <a16:creationId xmlns:a16="http://schemas.microsoft.com/office/drawing/2014/main" id="{B135BB4F-F6EE-26CE-5670-36E5C5CCB9D2}"/>
              </a:ext>
            </a:extLst>
          </p:cNvPr>
          <p:cNvCxnSpPr>
            <a:cxnSpLocks/>
            <a:endCxn id="6" idx="0"/>
          </p:cNvCxnSpPr>
          <p:nvPr/>
        </p:nvCxnSpPr>
        <p:spPr>
          <a:xfrm flipV="1">
            <a:off x="704542" y="4621427"/>
            <a:ext cx="726616" cy="154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CuadroTexto 86">
            <a:extLst>
              <a:ext uri="{FF2B5EF4-FFF2-40B4-BE49-F238E27FC236}">
                <a16:creationId xmlns:a16="http://schemas.microsoft.com/office/drawing/2014/main" id="{34B2696B-DB5B-015C-E4BB-263E7D552E2F}"/>
              </a:ext>
            </a:extLst>
          </p:cNvPr>
          <p:cNvSpPr txBox="1"/>
          <p:nvPr/>
        </p:nvSpPr>
        <p:spPr>
          <a:xfrm>
            <a:off x="1660717" y="2884013"/>
            <a:ext cx="848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100" b="1" dirty="0">
                <a:solidFill>
                  <a:srgbClr val="FF0000"/>
                </a:solidFill>
              </a:rPr>
              <a:t>2080 Kgf.m</a:t>
            </a: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682A9AF6-E47D-D655-A167-A28E008B5EBD}"/>
              </a:ext>
            </a:extLst>
          </p:cNvPr>
          <p:cNvSpPr txBox="1"/>
          <p:nvPr/>
        </p:nvSpPr>
        <p:spPr>
          <a:xfrm>
            <a:off x="91827" y="4747219"/>
            <a:ext cx="848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100" b="1" dirty="0">
                <a:solidFill>
                  <a:srgbClr val="FF0000"/>
                </a:solidFill>
              </a:rPr>
              <a:t>3120 Kgf.m</a:t>
            </a:r>
          </a:p>
        </p:txBody>
      </p: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72ECC4B8-A30F-CD54-7205-F3715AB9389E}"/>
              </a:ext>
            </a:extLst>
          </p:cNvPr>
          <p:cNvCxnSpPr>
            <a:cxnSpLocks/>
          </p:cNvCxnSpPr>
          <p:nvPr/>
        </p:nvCxnSpPr>
        <p:spPr>
          <a:xfrm flipH="1">
            <a:off x="2881882" y="2638263"/>
            <a:ext cx="1152203" cy="205269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89">
            <a:extLst>
              <a:ext uri="{FF2B5EF4-FFF2-40B4-BE49-F238E27FC236}">
                <a16:creationId xmlns:a16="http://schemas.microsoft.com/office/drawing/2014/main" id="{158806BF-4501-AB92-54B8-1ADD0519C045}"/>
              </a:ext>
            </a:extLst>
          </p:cNvPr>
          <p:cNvCxnSpPr>
            <a:cxnSpLocks/>
          </p:cNvCxnSpPr>
          <p:nvPr/>
        </p:nvCxnSpPr>
        <p:spPr>
          <a:xfrm>
            <a:off x="3582397" y="2616714"/>
            <a:ext cx="45168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cto 90">
            <a:extLst>
              <a:ext uri="{FF2B5EF4-FFF2-40B4-BE49-F238E27FC236}">
                <a16:creationId xmlns:a16="http://schemas.microsoft.com/office/drawing/2014/main" id="{998E5073-C605-6C59-C425-61B59FCA829C}"/>
              </a:ext>
            </a:extLst>
          </p:cNvPr>
          <p:cNvCxnSpPr>
            <a:cxnSpLocks/>
          </p:cNvCxnSpPr>
          <p:nvPr/>
        </p:nvCxnSpPr>
        <p:spPr>
          <a:xfrm flipH="1">
            <a:off x="3582398" y="2616714"/>
            <a:ext cx="20209" cy="200444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91">
            <a:extLst>
              <a:ext uri="{FF2B5EF4-FFF2-40B4-BE49-F238E27FC236}">
                <a16:creationId xmlns:a16="http://schemas.microsoft.com/office/drawing/2014/main" id="{A44F7A51-2FEC-30BA-80E7-8643AFC2F31F}"/>
              </a:ext>
            </a:extLst>
          </p:cNvPr>
          <p:cNvCxnSpPr>
            <a:cxnSpLocks/>
          </p:cNvCxnSpPr>
          <p:nvPr/>
        </p:nvCxnSpPr>
        <p:spPr>
          <a:xfrm flipV="1">
            <a:off x="2891099" y="4621427"/>
            <a:ext cx="726616" cy="154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CuadroTexto 92">
            <a:extLst>
              <a:ext uri="{FF2B5EF4-FFF2-40B4-BE49-F238E27FC236}">
                <a16:creationId xmlns:a16="http://schemas.microsoft.com/office/drawing/2014/main" id="{0E7467A5-8FAC-8268-FEAF-B85976B1C3AB}"/>
              </a:ext>
            </a:extLst>
          </p:cNvPr>
          <p:cNvSpPr txBox="1"/>
          <p:nvPr/>
        </p:nvSpPr>
        <p:spPr>
          <a:xfrm>
            <a:off x="3847274" y="2884013"/>
            <a:ext cx="848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100" b="1" dirty="0">
                <a:solidFill>
                  <a:srgbClr val="FF0000"/>
                </a:solidFill>
              </a:rPr>
              <a:t>3120 Kgf.m</a:t>
            </a:r>
          </a:p>
        </p:txBody>
      </p:sp>
      <p:sp>
        <p:nvSpPr>
          <p:cNvPr id="94" name="CuadroTexto 93">
            <a:extLst>
              <a:ext uri="{FF2B5EF4-FFF2-40B4-BE49-F238E27FC236}">
                <a16:creationId xmlns:a16="http://schemas.microsoft.com/office/drawing/2014/main" id="{6E098C09-8711-8B8F-6BE7-3551656CB72D}"/>
              </a:ext>
            </a:extLst>
          </p:cNvPr>
          <p:cNvSpPr txBox="1"/>
          <p:nvPr/>
        </p:nvSpPr>
        <p:spPr>
          <a:xfrm>
            <a:off x="2278384" y="4747219"/>
            <a:ext cx="848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100" b="1" dirty="0">
                <a:solidFill>
                  <a:srgbClr val="FF0000"/>
                </a:solidFill>
              </a:rPr>
              <a:t>4680 Kgf.m</a:t>
            </a:r>
          </a:p>
        </p:txBody>
      </p:sp>
      <p:cxnSp>
        <p:nvCxnSpPr>
          <p:cNvPr id="95" name="Conector recto 94">
            <a:extLst>
              <a:ext uri="{FF2B5EF4-FFF2-40B4-BE49-F238E27FC236}">
                <a16:creationId xmlns:a16="http://schemas.microsoft.com/office/drawing/2014/main" id="{B5CA43DD-3D8D-774A-BBFD-C0DF4DD348DA}"/>
              </a:ext>
            </a:extLst>
          </p:cNvPr>
          <p:cNvCxnSpPr>
            <a:cxnSpLocks/>
          </p:cNvCxnSpPr>
          <p:nvPr/>
        </p:nvCxnSpPr>
        <p:spPr>
          <a:xfrm flipH="1">
            <a:off x="5283483" y="2603032"/>
            <a:ext cx="1152203" cy="205269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cto 95">
            <a:extLst>
              <a:ext uri="{FF2B5EF4-FFF2-40B4-BE49-F238E27FC236}">
                <a16:creationId xmlns:a16="http://schemas.microsoft.com/office/drawing/2014/main" id="{E6D7D1AC-E86B-FF3C-25BC-961E6BC10D4D}"/>
              </a:ext>
            </a:extLst>
          </p:cNvPr>
          <p:cNvCxnSpPr>
            <a:cxnSpLocks/>
          </p:cNvCxnSpPr>
          <p:nvPr/>
        </p:nvCxnSpPr>
        <p:spPr>
          <a:xfrm>
            <a:off x="5983998" y="2581483"/>
            <a:ext cx="45168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cto 96">
            <a:extLst>
              <a:ext uri="{FF2B5EF4-FFF2-40B4-BE49-F238E27FC236}">
                <a16:creationId xmlns:a16="http://schemas.microsoft.com/office/drawing/2014/main" id="{A4C0D986-FFE4-A459-63DF-34A5393FF09E}"/>
              </a:ext>
            </a:extLst>
          </p:cNvPr>
          <p:cNvCxnSpPr>
            <a:cxnSpLocks/>
          </p:cNvCxnSpPr>
          <p:nvPr/>
        </p:nvCxnSpPr>
        <p:spPr>
          <a:xfrm flipH="1">
            <a:off x="5983999" y="2581483"/>
            <a:ext cx="20209" cy="200444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cto 97">
            <a:extLst>
              <a:ext uri="{FF2B5EF4-FFF2-40B4-BE49-F238E27FC236}">
                <a16:creationId xmlns:a16="http://schemas.microsoft.com/office/drawing/2014/main" id="{60168D9B-3BE6-3C2F-536B-CAC5C8C0BD09}"/>
              </a:ext>
            </a:extLst>
          </p:cNvPr>
          <p:cNvCxnSpPr>
            <a:cxnSpLocks/>
          </p:cNvCxnSpPr>
          <p:nvPr/>
        </p:nvCxnSpPr>
        <p:spPr>
          <a:xfrm flipV="1">
            <a:off x="5292700" y="4586196"/>
            <a:ext cx="726616" cy="154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CuadroTexto 98">
            <a:extLst>
              <a:ext uri="{FF2B5EF4-FFF2-40B4-BE49-F238E27FC236}">
                <a16:creationId xmlns:a16="http://schemas.microsoft.com/office/drawing/2014/main" id="{484FE0FD-E6B0-ACF1-0E35-7CBADE59F5C7}"/>
              </a:ext>
            </a:extLst>
          </p:cNvPr>
          <p:cNvSpPr txBox="1"/>
          <p:nvPr/>
        </p:nvSpPr>
        <p:spPr>
          <a:xfrm>
            <a:off x="6248875" y="2848782"/>
            <a:ext cx="848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100" b="1" dirty="0">
                <a:solidFill>
                  <a:srgbClr val="FF0000"/>
                </a:solidFill>
              </a:rPr>
              <a:t>2080 Kgf.m</a:t>
            </a:r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F56EAD99-1FFF-B475-C51B-296D0AF5BAA9}"/>
              </a:ext>
            </a:extLst>
          </p:cNvPr>
          <p:cNvSpPr txBox="1"/>
          <p:nvPr/>
        </p:nvSpPr>
        <p:spPr>
          <a:xfrm>
            <a:off x="4679985" y="4711988"/>
            <a:ext cx="848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100" b="1" dirty="0">
                <a:solidFill>
                  <a:srgbClr val="FF0000"/>
                </a:solidFill>
              </a:rPr>
              <a:t>3120 Kgf.m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23BDEF9-2D3A-E237-C910-B423D9E393BC}"/>
              </a:ext>
            </a:extLst>
          </p:cNvPr>
          <p:cNvCxnSpPr>
            <a:cxnSpLocks/>
          </p:cNvCxnSpPr>
          <p:nvPr/>
        </p:nvCxnSpPr>
        <p:spPr>
          <a:xfrm>
            <a:off x="1395840" y="2564904"/>
            <a:ext cx="4588158" cy="3600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AFC02B9B-4E8A-6452-7854-9014DE56FF6F}"/>
              </a:ext>
            </a:extLst>
          </p:cNvPr>
          <p:cNvCxnSpPr>
            <a:cxnSpLocks/>
          </p:cNvCxnSpPr>
          <p:nvPr/>
        </p:nvCxnSpPr>
        <p:spPr>
          <a:xfrm flipV="1">
            <a:off x="1416050" y="2209317"/>
            <a:ext cx="2199116" cy="77177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2A8A0D91-ABE1-8514-1030-F4DD2AD333C8}"/>
              </a:ext>
            </a:extLst>
          </p:cNvPr>
          <p:cNvCxnSpPr>
            <a:cxnSpLocks/>
          </p:cNvCxnSpPr>
          <p:nvPr/>
        </p:nvCxnSpPr>
        <p:spPr>
          <a:xfrm flipV="1">
            <a:off x="3570938" y="2191255"/>
            <a:ext cx="2423165" cy="75683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043B1081-D374-2FA2-44B1-C3BD638B374E}"/>
              </a:ext>
            </a:extLst>
          </p:cNvPr>
          <p:cNvCxnSpPr/>
          <p:nvPr/>
        </p:nvCxnSpPr>
        <p:spPr>
          <a:xfrm>
            <a:off x="1415480" y="2581483"/>
            <a:ext cx="0" cy="36809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5706ADE6-3EC0-264D-18EA-75829538FCED}"/>
              </a:ext>
            </a:extLst>
          </p:cNvPr>
          <p:cNvSpPr txBox="1"/>
          <p:nvPr/>
        </p:nvSpPr>
        <p:spPr>
          <a:xfrm rot="5400000">
            <a:off x="815328" y="2863918"/>
            <a:ext cx="848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100" b="1" dirty="0">
                <a:solidFill>
                  <a:srgbClr val="0070C0"/>
                </a:solidFill>
              </a:rPr>
              <a:t>2080 Kgf.m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EBDE413F-3B70-08E2-EE56-8BAD50D2C787}"/>
              </a:ext>
            </a:extLst>
          </p:cNvPr>
          <p:cNvSpPr txBox="1"/>
          <p:nvPr/>
        </p:nvSpPr>
        <p:spPr>
          <a:xfrm rot="5400000">
            <a:off x="3543996" y="2092302"/>
            <a:ext cx="848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100" b="1" dirty="0">
                <a:solidFill>
                  <a:srgbClr val="0070C0"/>
                </a:solidFill>
              </a:rPr>
              <a:t>1638 Kgf.m</a:t>
            </a:r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52C4683A-1DF7-02C4-7460-2E677B0AF6E5}"/>
              </a:ext>
            </a:extLst>
          </p:cNvPr>
          <p:cNvCxnSpPr/>
          <p:nvPr/>
        </p:nvCxnSpPr>
        <p:spPr>
          <a:xfrm>
            <a:off x="6004208" y="2209317"/>
            <a:ext cx="0" cy="36809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14DE82D1-E031-A4E8-78CA-EABC47969448}"/>
              </a:ext>
            </a:extLst>
          </p:cNvPr>
          <p:cNvCxnSpPr>
            <a:cxnSpLocks/>
          </p:cNvCxnSpPr>
          <p:nvPr/>
        </p:nvCxnSpPr>
        <p:spPr>
          <a:xfrm flipH="1">
            <a:off x="3570938" y="2209317"/>
            <a:ext cx="4782" cy="68704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C2D3F383-902F-FB8E-1FF5-133E9C4013CA}"/>
              </a:ext>
            </a:extLst>
          </p:cNvPr>
          <p:cNvSpPr txBox="1"/>
          <p:nvPr/>
        </p:nvSpPr>
        <p:spPr>
          <a:xfrm rot="5400000">
            <a:off x="2888465" y="3090229"/>
            <a:ext cx="848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100" b="1" dirty="0">
                <a:solidFill>
                  <a:srgbClr val="0070C0"/>
                </a:solidFill>
              </a:rPr>
              <a:t>1482 Kgf.m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BF6EC6A6-0C3E-4FF4-F5A6-582CF9FBE5ED}"/>
                  </a:ext>
                </a:extLst>
              </p:cNvPr>
              <p:cNvSpPr txBox="1"/>
              <p:nvPr/>
            </p:nvSpPr>
            <p:spPr>
              <a:xfrm>
                <a:off x="7433932" y="4139487"/>
                <a:ext cx="20089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𝐹𝐸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=848.10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BF6EC6A6-0C3E-4FF4-F5A6-582CF9FBE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3932" y="4139487"/>
                <a:ext cx="2008948" cy="276999"/>
              </a:xfrm>
              <a:prstGeom prst="rect">
                <a:avLst/>
              </a:prstGeom>
              <a:blipFill>
                <a:blip r:embed="rId7"/>
                <a:stretch>
                  <a:fillRect l="-2121" t="-2222" b="-35556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64E34B17-666D-2925-740B-6B047FAB03B4}"/>
                  </a:ext>
                </a:extLst>
              </p:cNvPr>
              <p:cNvSpPr txBox="1"/>
              <p:nvPr/>
            </p:nvSpPr>
            <p:spPr>
              <a:xfrm>
                <a:off x="7411051" y="3396474"/>
                <a:ext cx="41033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𝐷𝐶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=978.42+848.10=1826.52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64E34B17-666D-2925-740B-6B047FAB0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1051" y="3396474"/>
                <a:ext cx="4103303" cy="276999"/>
              </a:xfrm>
              <a:prstGeom prst="rect">
                <a:avLst/>
              </a:prstGeom>
              <a:blipFill>
                <a:blip r:embed="rId8"/>
                <a:stretch>
                  <a:fillRect l="-1040" t="-2174" b="-32609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90227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Somos IC - Instituto Continental">
            <a:extLst>
              <a:ext uri="{FF2B5EF4-FFF2-40B4-BE49-F238E27FC236}">
                <a16:creationId xmlns:a16="http://schemas.microsoft.com/office/drawing/2014/main" id="{D0C5F21D-3A2E-57E8-BEEA-FF1CFA9E8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37780" y="1289910"/>
            <a:ext cx="7791355" cy="3778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93842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Solicita Más Información - Escuela Posgrado Universidad Continental">
            <a:extLst>
              <a:ext uri="{FF2B5EF4-FFF2-40B4-BE49-F238E27FC236}">
                <a16:creationId xmlns:a16="http://schemas.microsoft.com/office/drawing/2014/main" id="{A856985D-9CDB-77A4-27B1-A586C2F77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577" y="1517020"/>
            <a:ext cx="5039340" cy="3268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75434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3303</TotalTime>
  <Words>1009</Words>
  <Application>Microsoft Office PowerPoint</Application>
  <PresentationFormat>Panorámica</PresentationFormat>
  <Paragraphs>258</Paragraphs>
  <Slides>20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Century Gothic</vt:lpstr>
      <vt:lpstr>Tema de Office</vt:lpstr>
      <vt:lpstr>Métodos aproximados de cálculo estructural: Método del Portal</vt:lpstr>
      <vt:lpstr>Presentación de PowerPoint</vt:lpstr>
      <vt:lpstr>Puntos de inflexión de momentos por el Método del Portal</vt:lpstr>
      <vt:lpstr>Procedimiento de cálculo del Método del Portal</vt:lpstr>
      <vt:lpstr>Procedimiento de cálculo del Método del Portal</vt:lpstr>
      <vt:lpstr>Procedimiento de cálculo del Método del Portal</vt:lpstr>
      <vt:lpstr>Procedimiento de cálculo del Método del Portal</vt:lpstr>
      <vt:lpstr>Procedimiento de cálculo del Método del Portal</vt:lpstr>
      <vt:lpstr>Procedimiento de cálculo del Método del Portal</vt:lpstr>
      <vt:lpstr>Ejemplo: Resolver el pórtico usando el Método del Portal</vt:lpstr>
      <vt:lpstr>1° Determinar los puntos de inflexión</vt:lpstr>
      <vt:lpstr>2° Determinar la cortante asumida por cada columna</vt:lpstr>
      <vt:lpstr>3° Determinar los momentos en el pie y cabeza de las columnas</vt:lpstr>
      <vt:lpstr>3° Determinar los momentos en el pie y cabeza de las columnas</vt:lpstr>
      <vt:lpstr>4° Determinar los momentos en las vigas</vt:lpstr>
      <vt:lpstr>4° Determinar los momentos en las vigas</vt:lpstr>
      <vt:lpstr>5° Determinar las cortantes en las vigas</vt:lpstr>
      <vt:lpstr>6° Determinar las axiales en columnas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Resolución de evaluación diagnóstica</dc:title>
  <dc:creator>Alain Elvis Alanoca Aragón</dc:creator>
  <cp:lastModifiedBy>Alain Elvis Alanoca Aragón</cp:lastModifiedBy>
  <cp:revision>10</cp:revision>
  <cp:lastPrinted>2023-08-28T04:21:04Z</cp:lastPrinted>
  <dcterms:created xsi:type="dcterms:W3CDTF">2023-08-14T06:59:41Z</dcterms:created>
  <dcterms:modified xsi:type="dcterms:W3CDTF">2024-09-09T17:06:03Z</dcterms:modified>
</cp:coreProperties>
</file>