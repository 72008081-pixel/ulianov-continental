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1" r:id="rId3"/>
    <p:sldId id="346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273" r:id="rId14"/>
    <p:sldId id="256" r:id="rId15"/>
  </p:sldIdLst>
  <p:sldSz cx="12192000" cy="6858000"/>
  <p:notesSz cx="7315200" cy="9601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5428" userDrawn="1">
          <p15:clr>
            <a:srgbClr val="A4A3A4"/>
          </p15:clr>
        </p15:guide>
        <p15:guide id="6" pos="4747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pos="6108" userDrawn="1">
          <p15:clr>
            <a:srgbClr val="A4A3A4"/>
          </p15:clr>
        </p15:guide>
        <p15:guide id="9" pos="6335" userDrawn="1">
          <p15:clr>
            <a:srgbClr val="A4A3A4"/>
          </p15:clr>
        </p15:guide>
        <p15:guide id="10" pos="6562" userDrawn="1">
          <p15:clr>
            <a:srgbClr val="A4A3A4"/>
          </p15:clr>
        </p15:guide>
        <p15:guide id="11" pos="7469" userDrawn="1">
          <p15:clr>
            <a:srgbClr val="A4A3A4"/>
          </p15:clr>
        </p15:guide>
        <p15:guide id="12" pos="7242" userDrawn="1">
          <p15:clr>
            <a:srgbClr val="A4A3A4"/>
          </p15:clr>
        </p15:guide>
        <p15:guide id="13" pos="7015" userDrawn="1">
          <p15:clr>
            <a:srgbClr val="A4A3A4"/>
          </p15:clr>
        </p15:guide>
        <p15:guide id="14" pos="6788" userDrawn="1">
          <p15:clr>
            <a:srgbClr val="A4A3A4"/>
          </p15:clr>
        </p15:guide>
        <p15:guide id="15" pos="4974" userDrawn="1">
          <p15:clr>
            <a:srgbClr val="A4A3A4"/>
          </p15:clr>
        </p15:guide>
        <p15:guide id="16" pos="5654" userDrawn="1">
          <p15:clr>
            <a:srgbClr val="A4A3A4"/>
          </p15:clr>
        </p15:guide>
        <p15:guide id="17" pos="5201" userDrawn="1">
          <p15:clr>
            <a:srgbClr val="A4A3A4"/>
          </p15:clr>
        </p15:guide>
        <p15:guide id="18" pos="665" userDrawn="1">
          <p15:clr>
            <a:srgbClr val="A4A3A4"/>
          </p15:clr>
        </p15:guide>
        <p15:guide id="19" pos="4520" userDrawn="1">
          <p15:clr>
            <a:srgbClr val="A4A3A4"/>
          </p15:clr>
        </p15:guide>
        <p15:guide id="20" pos="4294" userDrawn="1">
          <p15:clr>
            <a:srgbClr val="A4A3A4"/>
          </p15:clr>
        </p15:guide>
        <p15:guide id="21" pos="4067" userDrawn="1">
          <p15:clr>
            <a:srgbClr val="A4A3A4"/>
          </p15:clr>
        </p15:guide>
        <p15:guide id="22" pos="3613" userDrawn="1">
          <p15:clr>
            <a:srgbClr val="A4A3A4"/>
          </p15:clr>
        </p15:guide>
        <p15:guide id="23" pos="3386" userDrawn="1">
          <p15:clr>
            <a:srgbClr val="A4A3A4"/>
          </p15:clr>
        </p15:guide>
        <p15:guide id="24" pos="3160" userDrawn="1">
          <p15:clr>
            <a:srgbClr val="A4A3A4"/>
          </p15:clr>
        </p15:guide>
        <p15:guide id="25" pos="2933" userDrawn="1">
          <p15:clr>
            <a:srgbClr val="A4A3A4"/>
          </p15:clr>
        </p15:guide>
        <p15:guide id="26" pos="2706" userDrawn="1">
          <p15:clr>
            <a:srgbClr val="A4A3A4"/>
          </p15:clr>
        </p15:guide>
        <p15:guide id="27" pos="2479" userDrawn="1">
          <p15:clr>
            <a:srgbClr val="A4A3A4"/>
          </p15:clr>
        </p15:guide>
        <p15:guide id="28" pos="2252" userDrawn="1">
          <p15:clr>
            <a:srgbClr val="A4A3A4"/>
          </p15:clr>
        </p15:guide>
        <p15:guide id="29" pos="2026" userDrawn="1">
          <p15:clr>
            <a:srgbClr val="A4A3A4"/>
          </p15:clr>
        </p15:guide>
        <p15:guide id="30" pos="1799" userDrawn="1">
          <p15:clr>
            <a:srgbClr val="A4A3A4"/>
          </p15:clr>
        </p15:guide>
        <p15:guide id="31" pos="1572" userDrawn="1">
          <p15:clr>
            <a:srgbClr val="A4A3A4"/>
          </p15:clr>
        </p15:guide>
        <p15:guide id="32" pos="1345" userDrawn="1">
          <p15:clr>
            <a:srgbClr val="A4A3A4"/>
          </p15:clr>
        </p15:guide>
        <p15:guide id="33" pos="1118" userDrawn="1">
          <p15:clr>
            <a:srgbClr val="A4A3A4"/>
          </p15:clr>
        </p15:guide>
        <p15:guide id="34" pos="892" userDrawn="1">
          <p15:clr>
            <a:srgbClr val="A4A3A4"/>
          </p15:clr>
        </p15:guide>
        <p15:guide id="35" pos="438" userDrawn="1">
          <p15:clr>
            <a:srgbClr val="A4A3A4"/>
          </p15:clr>
        </p15:guide>
        <p15:guide id="36" orient="horz" pos="5" userDrawn="1">
          <p15:clr>
            <a:srgbClr val="A4A3A4"/>
          </p15:clr>
        </p15:guide>
        <p15:guide id="37" orient="horz" pos="2614" userDrawn="1">
          <p15:clr>
            <a:srgbClr val="A4A3A4"/>
          </p15:clr>
        </p15:guide>
        <p15:guide id="38" orient="horz" pos="346" userDrawn="1">
          <p15:clr>
            <a:srgbClr val="A4A3A4"/>
          </p15:clr>
        </p15:guide>
        <p15:guide id="39" orient="horz" pos="572" userDrawn="1">
          <p15:clr>
            <a:srgbClr val="A4A3A4"/>
          </p15:clr>
        </p15:guide>
        <p15:guide id="40" orient="horz" pos="799" userDrawn="1">
          <p15:clr>
            <a:srgbClr val="A4A3A4"/>
          </p15:clr>
        </p15:guide>
        <p15:guide id="41" orient="horz" pos="1026" userDrawn="1">
          <p15:clr>
            <a:srgbClr val="A4A3A4"/>
          </p15:clr>
        </p15:guide>
        <p15:guide id="42" orient="horz" pos="1253" userDrawn="1">
          <p15:clr>
            <a:srgbClr val="A4A3A4"/>
          </p15:clr>
        </p15:guide>
        <p15:guide id="43" orient="horz" pos="1480" userDrawn="1">
          <p15:clr>
            <a:srgbClr val="A4A3A4"/>
          </p15:clr>
        </p15:guide>
        <p15:guide id="44" orient="horz" pos="1706" userDrawn="1">
          <p15:clr>
            <a:srgbClr val="A4A3A4"/>
          </p15:clr>
        </p15:guide>
        <p15:guide id="45" orient="horz" pos="1933" userDrawn="1">
          <p15:clr>
            <a:srgbClr val="A4A3A4"/>
          </p15:clr>
        </p15:guide>
        <p15:guide id="46" orient="horz" pos="2387" userDrawn="1">
          <p15:clr>
            <a:srgbClr val="A4A3A4"/>
          </p15:clr>
        </p15:guide>
        <p15:guide id="47" orient="horz" pos="2840" userDrawn="1">
          <p15:clr>
            <a:srgbClr val="A4A3A4"/>
          </p15:clr>
        </p15:guide>
        <p15:guide id="48" orient="horz" pos="3067" userDrawn="1">
          <p15:clr>
            <a:srgbClr val="A4A3A4"/>
          </p15:clr>
        </p15:guide>
        <p15:guide id="49" orient="horz" pos="3294" userDrawn="1">
          <p15:clr>
            <a:srgbClr val="A4A3A4"/>
          </p15:clr>
        </p15:guide>
        <p15:guide id="50" orient="horz" pos="3521" userDrawn="1">
          <p15:clr>
            <a:srgbClr val="A4A3A4"/>
          </p15:clr>
        </p15:guide>
        <p15:guide id="51" orient="horz" pos="3748" userDrawn="1">
          <p15:clr>
            <a:srgbClr val="A4A3A4"/>
          </p15:clr>
        </p15:guide>
        <p15:guide id="52" orient="horz" pos="3974" userDrawn="1">
          <p15:clr>
            <a:srgbClr val="A4A3A4"/>
          </p15:clr>
        </p15:guide>
        <p15:guide id="53" orient="horz" pos="42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CBC2B-DACA-4CB8-ABED-0AC4E8A14BCF}" v="1" dt="2024-01-27T09:58:30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>
        <p:scale>
          <a:sx n="90" d="100"/>
          <a:sy n="90" d="100"/>
        </p:scale>
        <p:origin x="326" y="-182"/>
      </p:cViewPr>
      <p:guideLst>
        <p:guide orient="horz" pos="119"/>
        <p:guide pos="3840"/>
        <p:guide pos="211"/>
        <p:guide pos="5428"/>
        <p:guide pos="4747"/>
        <p:guide pos="5881"/>
        <p:guide pos="6108"/>
        <p:guide pos="6335"/>
        <p:guide pos="6562"/>
        <p:guide pos="7469"/>
        <p:guide pos="7242"/>
        <p:guide pos="7015"/>
        <p:guide pos="6788"/>
        <p:guide pos="4974"/>
        <p:guide pos="5654"/>
        <p:guide pos="5201"/>
        <p:guide pos="665"/>
        <p:guide pos="4520"/>
        <p:guide pos="4294"/>
        <p:guide pos="4067"/>
        <p:guide pos="3613"/>
        <p:guide pos="3386"/>
        <p:guide pos="3160"/>
        <p:guide pos="2933"/>
        <p:guide pos="2706"/>
        <p:guide pos="2479"/>
        <p:guide pos="2252"/>
        <p:guide pos="2026"/>
        <p:guide pos="1799"/>
        <p:guide pos="1572"/>
        <p:guide pos="1345"/>
        <p:guide pos="1118"/>
        <p:guide pos="892"/>
        <p:guide pos="438"/>
        <p:guide orient="horz" pos="5"/>
        <p:guide orient="horz" pos="2614"/>
        <p:guide orient="horz" pos="346"/>
        <p:guide orient="horz" pos="572"/>
        <p:guide orient="horz" pos="799"/>
        <p:guide orient="horz" pos="1026"/>
        <p:guide orient="horz" pos="1253"/>
        <p:guide orient="horz" pos="1480"/>
        <p:guide orient="horz" pos="1706"/>
        <p:guide orient="horz" pos="1933"/>
        <p:guide orient="horz" pos="2387"/>
        <p:guide orient="horz" pos="2840"/>
        <p:guide orient="horz" pos="3067"/>
        <p:guide orient="horz" pos="3294"/>
        <p:guide orient="horz" pos="3521"/>
        <p:guide orient="horz" pos="3748"/>
        <p:guide orient="horz" pos="3974"/>
        <p:guide orient="horz" pos="42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5655" tIns="47828" rIns="95655" bIns="47828" rtlCol="0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5655" tIns="47828" rIns="95655" bIns="47828" rtlCol="0"/>
          <a:lstStyle>
            <a:lvl1pPr algn="r">
              <a:defRPr sz="1300"/>
            </a:lvl1pPr>
          </a:lstStyle>
          <a:p>
            <a:fld id="{8F9F2EB7-7EC7-4FCB-83E2-4677445F6DE8}" type="datetimeFigureOut">
              <a:rPr lang="es-PE" smtClean="0"/>
              <a:t>28/01/2024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55" tIns="47828" rIns="95655" bIns="47828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2"/>
          </a:xfrm>
          <a:prstGeom prst="rect">
            <a:avLst/>
          </a:prstGeom>
        </p:spPr>
        <p:txBody>
          <a:bodyPr vert="horz" lIns="95655" tIns="47828" rIns="95655" bIns="47828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5655" tIns="47828" rIns="95655" bIns="47828" rtlCol="0" anchor="b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5655" tIns="47828" rIns="95655" bIns="47828" rtlCol="0" anchor="b"/>
          <a:lstStyle>
            <a:lvl1pPr algn="r">
              <a:defRPr sz="1300"/>
            </a:lvl1pPr>
          </a:lstStyle>
          <a:p>
            <a:fld id="{199CD500-B539-4C30-9544-63E73D17B3C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918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F6D55-E685-5045-81EF-E560A26E1A2E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843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E0F8551-E8AB-22F0-9C91-5444710AF087}"/>
              </a:ext>
            </a:extLst>
          </p:cNvPr>
          <p:cNvSpPr/>
          <p:nvPr userDrawn="1"/>
        </p:nvSpPr>
        <p:spPr>
          <a:xfrm>
            <a:off x="1" y="0"/>
            <a:ext cx="12191999" cy="60007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79A041-06B6-39B8-7620-0A683B76D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EF9CB-1080-4171-A6E0-3C483967D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3641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1DE21-5E74-2630-8537-8F43F1F9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16E5ED-550B-AD90-7976-E71159B30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47F2F20-FB0D-A164-9283-E033423C4832}"/>
              </a:ext>
            </a:extLst>
          </p:cNvPr>
          <p:cNvCxnSpPr>
            <a:cxnSpLocks/>
          </p:cNvCxnSpPr>
          <p:nvPr userDrawn="1"/>
        </p:nvCxnSpPr>
        <p:spPr>
          <a:xfrm>
            <a:off x="838200" y="1747838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2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A8BBB-F571-DBB7-599A-80BCA28E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7F1619-0393-268B-FA68-660877FF6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2331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050B6-B9DB-D06D-3E9A-6F867C7A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E07955-5649-5E79-BB53-3597AEE3A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AD9898-DDD9-B3DB-DE69-8365D6C28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4100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21DE6-4B87-65F7-9F25-ECC6BBD3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AAD6BA-9F2F-D96A-6ACF-5BA8F8495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719DC5-4712-ED49-1000-3E4804AC3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3D0DD-2A96-A712-4F32-16255C818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4F14AA-9B2C-1135-8D86-2DD94E109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4729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64DF6-C7DC-E63F-FA64-71449046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330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580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9724B-2DAE-FBC4-308B-75219454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257AD-2B79-8F51-13AB-CFC28B98D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A6A07C-DB6A-CA29-B615-E9958C36F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6349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1048B-80DA-3BB5-6A58-56052235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92FEB4-2E00-4023-538B-30A5921BE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233CF5-B6B4-10E4-478C-6DDB9A5BF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620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1C037-CF07-6EDE-5256-F107A130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3734DB-7F38-40C2-DB07-056D9F4AA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104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123563-8A2E-E7C1-DFA6-CB09318F5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D9FDEA-5F7A-CB4B-4948-5699F2A9D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199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14CD5C-D3B7-1E9F-C66A-18DE20BF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72C051-8D8B-69DD-E8F6-57E8B88F6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A48894-C322-ABC8-4D7E-DDA280DC9E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63352" y="6492875"/>
            <a:ext cx="1504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.png"/><Relationship Id="rId5" Type="http://schemas.openxmlformats.org/officeDocument/2006/relationships/image" Target="../media/image36.png"/><Relationship Id="rId10" Type="http://schemas.openxmlformats.org/officeDocument/2006/relationships/image" Target="../media/image3.png"/><Relationship Id="rId4" Type="http://schemas.openxmlformats.org/officeDocument/2006/relationships/image" Target="../media/image35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1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10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29.png"/><Relationship Id="rId12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4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29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40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45.png"/><Relationship Id="rId5" Type="http://schemas.openxmlformats.org/officeDocument/2006/relationships/image" Target="../media/image27.png"/><Relationship Id="rId15" Type="http://schemas.openxmlformats.org/officeDocument/2006/relationships/image" Target="../media/image49.png"/><Relationship Id="rId10" Type="http://schemas.openxmlformats.org/officeDocument/2006/relationships/image" Target="../media/image23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Relationship Id="rId1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1.png"/><Relationship Id="rId7" Type="http://schemas.openxmlformats.org/officeDocument/2006/relationships/image" Target="../media/image29.png"/><Relationship Id="rId12" Type="http://schemas.openxmlformats.org/officeDocument/2006/relationships/image" Target="../media/image4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480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0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5788" y="2579391"/>
            <a:ext cx="10560424" cy="1842526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r>
              <a:rPr lang="es-ES" sz="4800" b="1" dirty="0">
                <a:latin typeface="Century Gothic" charset="0"/>
                <a:ea typeface="Century Gothic" charset="0"/>
                <a:cs typeface="Century Gothic" charset="0"/>
              </a:rPr>
              <a:t>Métodos aproximados de cálculo estructural: Método de Muto</a:t>
            </a:r>
            <a:endParaRPr lang="es-ES_tradnl" sz="4800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46901" y="4724459"/>
            <a:ext cx="10560424" cy="719050"/>
          </a:xfr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algn="r"/>
            <a:r>
              <a:rPr lang="es-ES" sz="2600" dirty="0">
                <a:solidFill>
                  <a:schemeClr val="bg1">
                    <a:lumMod val="75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Análisis Estructural II</a:t>
            </a:r>
          </a:p>
          <a:p>
            <a:pPr algn="r"/>
            <a:r>
              <a:rPr lang="es-ES" sz="2600" dirty="0">
                <a:solidFill>
                  <a:schemeClr val="bg1">
                    <a:lumMod val="75000"/>
                  </a:schemeClr>
                </a:solidFill>
                <a:latin typeface="Century Gothic" charset="0"/>
                <a:ea typeface="Century Gothic" charset="0"/>
                <a:cs typeface="Century Gothic" charset="0"/>
              </a:rPr>
              <a:t>Ing° Alaín Elvis Alanoca Aragón</a:t>
            </a:r>
          </a:p>
          <a:p>
            <a:endParaRPr lang="es-ES_tradnl" dirty="0"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7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0636ED9-A587-4E08-845C-8F78B36D1894}"/>
              </a:ext>
            </a:extLst>
          </p:cNvPr>
          <p:cNvSpPr txBox="1"/>
          <p:nvPr/>
        </p:nvSpPr>
        <p:spPr>
          <a:xfrm>
            <a:off x="1792224" y="560832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latin typeface="Century Gothic" panose="020B0502020202020204" pitchFamily="34" charset="0"/>
              </a:rPr>
              <a:t>Propósito</a:t>
            </a:r>
            <a:endParaRPr lang="es-PE" sz="4000" b="1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DA2B63-B3D3-45E3-8599-3962FEEF0244}"/>
              </a:ext>
            </a:extLst>
          </p:cNvPr>
          <p:cNvSpPr txBox="1"/>
          <p:nvPr/>
        </p:nvSpPr>
        <p:spPr>
          <a:xfrm>
            <a:off x="597408" y="2387084"/>
            <a:ext cx="10997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3200" dirty="0">
                <a:latin typeface="Century Gothic" panose="020B0502020202020204" pitchFamily="34" charset="0"/>
              </a:rPr>
              <a:t>Conocer el procedimiento de análisis estructural de pórticos en el plano bajo el efecto de cargas laterales por el Método de Muto.</a:t>
            </a:r>
          </a:p>
        </p:txBody>
      </p:sp>
    </p:spTree>
    <p:extLst>
      <p:ext uri="{BB962C8B-B14F-4D97-AF65-F5344CB8AC3E}">
        <p14:creationId xmlns:p14="http://schemas.microsoft.com/office/powerpoint/2010/main" val="92773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Ejemplo: Elaborar el diagrama de fuerzas cortantes y momentos flectores del pórtico usando el Método Muto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2746987" y="2358621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2388163" y="2358944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2243825" y="2502960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2243139" y="4485012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1810073" y="3247765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073" y="3247765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8081" r="-404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2711649" y="4879224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2986597" y="4744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5170826" y="4744667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7586928" y="4735208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4954D6D-CC84-C3E6-C3FC-2052C45EA298}"/>
              </a:ext>
            </a:extLst>
          </p:cNvPr>
          <p:cNvGrpSpPr/>
          <p:nvPr/>
        </p:nvGrpSpPr>
        <p:grpSpPr>
          <a:xfrm>
            <a:off x="2080872" y="5058915"/>
            <a:ext cx="1253448" cy="1101128"/>
            <a:chOff x="424663" y="4976843"/>
            <a:chExt cx="1253448" cy="1101128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80F0F17-A1B8-2181-B547-1C1041455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431954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7DD0DD3-F02E-B575-9564-FE09A1A55317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601BA6D-2052-749B-8E4C-285F80AFBB27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B0EC4A1B-117F-9ECA-4D5F-076E5A7F4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7792" r="-5195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56719A-02F0-50D3-CDD6-92586642DA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6561584-17C2-B301-B7C0-CBDE41AFEA25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7B61D6A-9196-506A-46BB-F468D4B44EB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11EC56E-9699-0352-1A25-6133DAA12D25}"/>
                </a:ext>
              </a:extLst>
            </p:cNvPr>
            <p:cNvCxnSpPr/>
            <p:nvPr/>
          </p:nvCxnSpPr>
          <p:spPr>
            <a:xfrm>
              <a:off x="1576430" y="5659132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F470CAC1-752B-AA49-8BE2-E46BC72E6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5128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396947E-B5B7-9FEA-496A-C485D416760A}"/>
              </a:ext>
            </a:extLst>
          </p:cNvPr>
          <p:cNvGrpSpPr/>
          <p:nvPr/>
        </p:nvGrpSpPr>
        <p:grpSpPr>
          <a:xfrm>
            <a:off x="4245760" y="5170053"/>
            <a:ext cx="1253448" cy="1101128"/>
            <a:chOff x="424663" y="4976843"/>
            <a:chExt cx="1253448" cy="1101128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ACC5F9A-5E29-3251-8BED-F66BE3F1B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04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476BF03-4976-F2D7-B69D-5B12963ABB3F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801204E-C8EB-2857-D435-F98093810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E2A07CE4-A1D6-A3B8-3CE5-E7E8C0D38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9091" r="-5195" b="-6452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0097B614-9D4E-F932-40D6-22DEB0A2B7FD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71E37251-F13A-8BFB-D581-124A8965E6E4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40A507A-D001-AF41-662B-1259C0648680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55B1E69-4C28-B938-BBB9-9CD1E12C14D0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0F36EC7-41DC-5C3A-3CBC-B706C59612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7692" r="-5128" b="-3226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304BAF0-437D-3B6A-76B7-8A8CCA3E28B7}"/>
              </a:ext>
            </a:extLst>
          </p:cNvPr>
          <p:cNvGrpSpPr/>
          <p:nvPr/>
        </p:nvGrpSpPr>
        <p:grpSpPr>
          <a:xfrm>
            <a:off x="6565838" y="5190640"/>
            <a:ext cx="1301066" cy="1101128"/>
            <a:chOff x="424663" y="4976843"/>
            <a:chExt cx="1301066" cy="11011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41443029-9884-E4A1-0E69-4B2EE5B67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576000" cy="432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47F684D-3233-EB67-C7AC-DDF841C4EC1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74D313-96D9-D812-2B99-899F3F55A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1" y="5733256"/>
              <a:ext cx="6352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447BFE75-5D67-A0C0-EA78-3BC57F2FB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091" r="-5195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71A0967-D1A8-C4A1-A860-44CD3C803799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76843"/>
              <a:ext cx="0" cy="6127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984E6A3-28E1-13A8-7A7E-ABBA2E2FA532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DCA4726-4C9F-A280-ED7F-3595283ED598}"/>
                </a:ext>
              </a:extLst>
            </p:cNvPr>
            <p:cNvCxnSpPr/>
            <p:nvPr/>
          </p:nvCxnSpPr>
          <p:spPr>
            <a:xfrm>
              <a:off x="814039" y="5462158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093772-58C3-4601-298C-BE4744DC27D8}"/>
                </a:ext>
              </a:extLst>
            </p:cNvPr>
            <p:cNvCxnSpPr/>
            <p:nvPr/>
          </p:nvCxnSpPr>
          <p:spPr>
            <a:xfrm>
              <a:off x="1644166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/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4D8B660E-C570-7404-E61F-DCA0B9636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3" y="5148731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792" r="-6494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B9D0E3A8-D1D0-2B0D-B28C-4B4A300D8206}"/>
              </a:ext>
            </a:extLst>
          </p:cNvPr>
          <p:cNvGrpSpPr/>
          <p:nvPr/>
        </p:nvGrpSpPr>
        <p:grpSpPr>
          <a:xfrm>
            <a:off x="9232675" y="2614153"/>
            <a:ext cx="1155667" cy="1137101"/>
            <a:chOff x="426016" y="4940870"/>
            <a:chExt cx="1155667" cy="113710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8A559CAF-DBDB-9BFD-557A-9CB0D9E00E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29" y="5048875"/>
              <a:ext cx="324000" cy="540000"/>
            </a:xfrm>
            <a:prstGeom prst="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30A144B4-A2B8-5233-FB46-84C03CA4553C}"/>
                </a:ext>
              </a:extLst>
            </p:cNvPr>
            <p:cNvCxnSpPr/>
            <p:nvPr/>
          </p:nvCxnSpPr>
          <p:spPr>
            <a:xfrm>
              <a:off x="1149729" y="5640390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4214798-2537-4986-DD4F-A5E5C413666E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2" y="5733256"/>
              <a:ext cx="46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6EBC0F68-DE55-F623-80C0-592EC4574729}"/>
                    </a:ext>
                  </a:extLst>
                </p:cNvPr>
                <p:cNvSpPr txBox="1"/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6EBC0F68-DE55-F623-80C0-592EC4574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00" y="5893305"/>
                  <a:ext cx="471283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7692" r="-5128"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BC7A24C7-DD4D-87DE-C72B-CF2B74C449BE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1" y="4940870"/>
              <a:ext cx="0" cy="72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CE1FA22-E1BE-8A39-F1D4-668589BD633C}"/>
                </a:ext>
              </a:extLst>
            </p:cNvPr>
            <p:cNvCxnSpPr/>
            <p:nvPr/>
          </p:nvCxnSpPr>
          <p:spPr>
            <a:xfrm>
              <a:off x="801276" y="504284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51EAE19B-15B6-F643-596C-47AA44D7E0A6}"/>
                </a:ext>
              </a:extLst>
            </p:cNvPr>
            <p:cNvCxnSpPr/>
            <p:nvPr/>
          </p:nvCxnSpPr>
          <p:spPr>
            <a:xfrm>
              <a:off x="814039" y="5572229"/>
              <a:ext cx="21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E52223AB-855C-4DE8-6042-A187D31A64F9}"/>
                </a:ext>
              </a:extLst>
            </p:cNvPr>
            <p:cNvCxnSpPr/>
            <p:nvPr/>
          </p:nvCxnSpPr>
          <p:spPr>
            <a:xfrm>
              <a:off x="1500229" y="5650665"/>
              <a:ext cx="0" cy="18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BFB130B-B08B-2AFC-8A1E-7126928B240E}"/>
                    </a:ext>
                  </a:extLst>
                </p:cNvPr>
                <p:cNvSpPr txBox="1"/>
                <p:nvPr/>
              </p:nvSpPr>
              <p:spPr>
                <a:xfrm>
                  <a:off x="426016" y="5231081"/>
                  <a:ext cx="47128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es-PE" sz="1200" b="1" i="1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BFB130B-B08B-2AFC-8A1E-7126928B2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16" y="5231081"/>
                  <a:ext cx="471283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7792" r="-6494" b="-10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F52E15BC-D1B4-36D4-705D-21DFAC84EC13}"/>
                  </a:ext>
                </a:extLst>
              </p:cNvPr>
              <p:cNvSpPr txBox="1"/>
              <p:nvPr/>
            </p:nvSpPr>
            <p:spPr>
              <a:xfrm>
                <a:off x="9456839" y="3870771"/>
                <a:ext cx="2084866" cy="10172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𝐴𝑠𝑢𝑚𝑖𝑒𝑛𝑑𝑜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s-P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=210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sSup>
                            <m:sSup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b="0" dirty="0"/>
              </a:p>
              <a:p>
                <a:r>
                  <a:rPr lang="es-PE" dirty="0"/>
                  <a:t> </a:t>
                </a: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F52E15BC-D1B4-36D4-705D-21DFAC84E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839" y="3870771"/>
                <a:ext cx="2084866" cy="1017266"/>
              </a:xfrm>
              <a:prstGeom prst="rect">
                <a:avLst/>
              </a:prstGeom>
              <a:blipFill>
                <a:blip r:embed="rId9"/>
                <a:stretch>
                  <a:fillRect l="-409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Elipse 70">
            <a:extLst>
              <a:ext uri="{FF2B5EF4-FFF2-40B4-BE49-F238E27FC236}">
                <a16:creationId xmlns:a16="http://schemas.microsoft.com/office/drawing/2014/main" id="{5797D301-E54F-7E4D-6053-EEA2CA4CA610}"/>
              </a:ext>
            </a:extLst>
          </p:cNvPr>
          <p:cNvSpPr>
            <a:spLocks noChangeAspect="1"/>
          </p:cNvSpPr>
          <p:nvPr/>
        </p:nvSpPr>
        <p:spPr>
          <a:xfrm>
            <a:off x="3113484" y="423301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7D2F143-2B14-C132-AC59-40180FF1CE6C}"/>
              </a:ext>
            </a:extLst>
          </p:cNvPr>
          <p:cNvSpPr>
            <a:spLocks noChangeAspect="1"/>
          </p:cNvSpPr>
          <p:nvPr/>
        </p:nvSpPr>
        <p:spPr>
          <a:xfrm>
            <a:off x="2617529" y="212457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9EC7B562-B335-1DED-E25C-D5CC2A67D10F}"/>
              </a:ext>
            </a:extLst>
          </p:cNvPr>
          <p:cNvSpPr>
            <a:spLocks noChangeAspect="1"/>
          </p:cNvSpPr>
          <p:nvPr/>
        </p:nvSpPr>
        <p:spPr>
          <a:xfrm>
            <a:off x="5375275" y="422528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79329118-C02E-7578-1B67-CC7345185D06}"/>
              </a:ext>
            </a:extLst>
          </p:cNvPr>
          <p:cNvSpPr>
            <a:spLocks noChangeAspect="1"/>
          </p:cNvSpPr>
          <p:nvPr/>
        </p:nvSpPr>
        <p:spPr>
          <a:xfrm>
            <a:off x="5062092" y="207793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1988DA50-0592-E658-0DC0-7F89F4A7D8C2}"/>
              </a:ext>
            </a:extLst>
          </p:cNvPr>
          <p:cNvSpPr>
            <a:spLocks noChangeAspect="1"/>
          </p:cNvSpPr>
          <p:nvPr/>
        </p:nvSpPr>
        <p:spPr>
          <a:xfrm>
            <a:off x="7761362" y="421584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A889275-A79C-3D1E-0941-98D89C3F79C6}"/>
              </a:ext>
            </a:extLst>
          </p:cNvPr>
          <p:cNvSpPr>
            <a:spLocks noChangeAspect="1"/>
          </p:cNvSpPr>
          <p:nvPr/>
        </p:nvSpPr>
        <p:spPr>
          <a:xfrm>
            <a:off x="7706711" y="21391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20FCD5DC-AE44-284F-97BE-13919C0A9524}"/>
              </a:ext>
            </a:extLst>
          </p:cNvPr>
          <p:cNvSpPr/>
          <p:nvPr/>
        </p:nvSpPr>
        <p:spPr>
          <a:xfrm>
            <a:off x="1119116" y="2368297"/>
            <a:ext cx="1762808" cy="24622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340638-E49B-9015-9B23-DE0868FB14D6}"/>
              </a:ext>
            </a:extLst>
          </p:cNvPr>
          <p:cNvSpPr txBox="1"/>
          <p:nvPr/>
        </p:nvSpPr>
        <p:spPr>
          <a:xfrm>
            <a:off x="843257" y="2065114"/>
            <a:ext cx="1106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B01404D-5CE6-BD6D-7275-FB72B80A7E52}"/>
                  </a:ext>
                </a:extLst>
              </p:cNvPr>
              <p:cNvSpPr txBox="1"/>
              <p:nvPr/>
            </p:nvSpPr>
            <p:spPr>
              <a:xfrm>
                <a:off x="3763600" y="4595641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B01404D-5CE6-BD6D-7275-FB72B80A7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600" y="4595641"/>
                <a:ext cx="728276" cy="246221"/>
              </a:xfrm>
              <a:prstGeom prst="rect">
                <a:avLst/>
              </a:prstGeom>
              <a:blipFill>
                <a:blip r:embed="rId10"/>
                <a:stretch>
                  <a:fillRect l="-5833" r="-3333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A51F764-8ED1-FA7E-4C9B-EF6F85ECA102}"/>
                  </a:ext>
                </a:extLst>
              </p:cNvPr>
              <p:cNvSpPr txBox="1"/>
              <p:nvPr/>
            </p:nvSpPr>
            <p:spPr>
              <a:xfrm>
                <a:off x="6020004" y="4548652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A51F764-8ED1-FA7E-4C9B-EF6F85ECA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04" y="4548652"/>
                <a:ext cx="604846" cy="246221"/>
              </a:xfrm>
              <a:prstGeom prst="rect">
                <a:avLst/>
              </a:prstGeom>
              <a:blipFill>
                <a:blip r:embed="rId11"/>
                <a:stretch>
                  <a:fillRect l="-8081" r="-404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20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1° Determinando el  factor de distribución del cortante en cada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918795" y="245780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559971" y="245812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415633" y="260214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414947" y="458419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-18119" y="3346948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119" y="3346948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7071" r="-5051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883457" y="4978407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158405" y="484385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342634" y="484385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758736" y="483439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1915921" y="4701822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921" y="4701822"/>
                <a:ext cx="728276" cy="246221"/>
              </a:xfrm>
              <a:prstGeom prst="rect">
                <a:avLst/>
              </a:prstGeom>
              <a:blipFill>
                <a:blip r:embed="rId3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172325" y="4654833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25" y="4654833"/>
                <a:ext cx="604846" cy="246221"/>
              </a:xfrm>
              <a:prstGeom prst="rect">
                <a:avLst/>
              </a:prstGeom>
              <a:blipFill>
                <a:blip r:embed="rId4"/>
                <a:stretch>
                  <a:fillRect l="-7000" r="-400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299284" y="433484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803329" y="222641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561075" y="432712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247892" y="21797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5947162" y="431767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5892511" y="224100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46ACAB6-5936-978D-E15F-C1E24F5D00E0}"/>
                  </a:ext>
                </a:extLst>
              </p:cNvPr>
              <p:cNvSpPr txBox="1"/>
              <p:nvPr/>
            </p:nvSpPr>
            <p:spPr>
              <a:xfrm>
                <a:off x="414947" y="5167951"/>
                <a:ext cx="1728165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 =5836.03 </m:t>
                      </m:r>
                      <m:f>
                        <m:fPr>
                          <m:type m:val="skw"/>
                          <m:ctrlPr>
                            <a:rPr lang="es-P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sz="120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46ACAB6-5936-978D-E15F-C1E24F5D0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47" y="5167951"/>
                <a:ext cx="1728165" cy="248466"/>
              </a:xfrm>
              <a:prstGeom prst="rect">
                <a:avLst/>
              </a:prstGeom>
              <a:blipFill>
                <a:blip r:embed="rId5"/>
                <a:stretch>
                  <a:fillRect l="-1761" t="-151220" r="-20423" b="-22926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66E3C699-D37E-4635-63D1-42C3CCB5C2FF}"/>
                  </a:ext>
                </a:extLst>
              </p:cNvPr>
              <p:cNvSpPr txBox="1"/>
              <p:nvPr/>
            </p:nvSpPr>
            <p:spPr>
              <a:xfrm>
                <a:off x="2823793" y="5212871"/>
                <a:ext cx="1726563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>
                          <a:latin typeface="Cambria Math" panose="02040503050406030204" pitchFamily="18" charset="0"/>
                        </a:rPr>
                        <m:t> =9664.44 </m:t>
                      </m:r>
                      <m:f>
                        <m:fPr>
                          <m:type m:val="skw"/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66E3C699-D37E-4635-63D1-42C3CCB5C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793" y="5212871"/>
                <a:ext cx="1726563" cy="248466"/>
              </a:xfrm>
              <a:prstGeom prst="rect">
                <a:avLst/>
              </a:prstGeom>
              <a:blipFill>
                <a:blip r:embed="rId6"/>
                <a:stretch>
                  <a:fillRect l="-1767" t="-146341" r="-20848" b="-23414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C9CF4E0A-0B8F-844A-58BE-6A6FDB3EE5C3}"/>
                  </a:ext>
                </a:extLst>
              </p:cNvPr>
              <p:cNvSpPr txBox="1"/>
              <p:nvPr/>
            </p:nvSpPr>
            <p:spPr>
              <a:xfrm>
                <a:off x="5024570" y="5253459"/>
                <a:ext cx="1845184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>
                          <a:latin typeface="Cambria Math" panose="02040503050406030204" pitchFamily="18" charset="0"/>
                        </a:rPr>
                        <m:t> =13 225.42 </m:t>
                      </m:r>
                      <m:f>
                        <m:fPr>
                          <m:type m:val="skw"/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C9CF4E0A-0B8F-844A-58BE-6A6FDB3EE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570" y="5253459"/>
                <a:ext cx="1845184" cy="248466"/>
              </a:xfrm>
              <a:prstGeom prst="rect">
                <a:avLst/>
              </a:prstGeom>
              <a:blipFill>
                <a:blip r:embed="rId7"/>
                <a:stretch>
                  <a:fillRect l="-1650" t="-148780" r="-19142" b="-23170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Flecha: a la derecha 70">
            <a:extLst>
              <a:ext uri="{FF2B5EF4-FFF2-40B4-BE49-F238E27FC236}">
                <a16:creationId xmlns:a16="http://schemas.microsoft.com/office/drawing/2014/main" id="{1C5846F7-8210-05B0-CE21-6EE2BF53686B}"/>
              </a:ext>
            </a:extLst>
          </p:cNvPr>
          <p:cNvSpPr/>
          <p:nvPr/>
        </p:nvSpPr>
        <p:spPr>
          <a:xfrm>
            <a:off x="53890" y="2479433"/>
            <a:ext cx="1014935" cy="24622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88D1E6E-18F3-9188-8E13-33A4F2CAB7DF}"/>
              </a:ext>
            </a:extLst>
          </p:cNvPr>
          <p:cNvSpPr txBox="1"/>
          <p:nvPr/>
        </p:nvSpPr>
        <p:spPr>
          <a:xfrm>
            <a:off x="22899" y="2224789"/>
            <a:ext cx="14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/>
              <p:nvPr/>
            </p:nvSpPr>
            <p:spPr>
              <a:xfrm>
                <a:off x="6327455" y="2132856"/>
                <a:ext cx="1341072" cy="651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𝑃𝐸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455" y="2132856"/>
                <a:ext cx="1341072" cy="6513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D7DF1CCD-34EF-B934-FEA4-133F60E69D40}"/>
                  </a:ext>
                </a:extLst>
              </p:cNvPr>
              <p:cNvSpPr txBox="1"/>
              <p:nvPr/>
            </p:nvSpPr>
            <p:spPr>
              <a:xfrm>
                <a:off x="6334109" y="2976544"/>
                <a:ext cx="5954579" cy="6342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𝑃𝐸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6500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5836.03</m:t>
                              </m:r>
                            </m:num>
                            <m:den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5836.03+9664.44+13225.42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D7DF1CCD-34EF-B934-FEA4-133F60E69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09" y="2976544"/>
                <a:ext cx="5954579" cy="6342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0F337D90-C642-7CF6-BF2D-C45E86F66A8A}"/>
                  </a:ext>
                </a:extLst>
              </p:cNvPr>
              <p:cNvSpPr txBox="1"/>
              <p:nvPr/>
            </p:nvSpPr>
            <p:spPr>
              <a:xfrm>
                <a:off x="6354892" y="4101311"/>
                <a:ext cx="5944384" cy="645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sub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𝑃𝐸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6500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9664.44</m:t>
                              </m:r>
                            </m:num>
                            <m:den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5836.03+9664.44+13225.42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0F337D90-C642-7CF6-BF2D-C45E86F66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92" y="4101311"/>
                <a:ext cx="5944384" cy="6456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3FDB5DA1-0658-0E9C-D4E0-9E180311E0F9}"/>
                  </a:ext>
                </a:extLst>
              </p:cNvPr>
              <p:cNvSpPr txBox="1"/>
              <p:nvPr/>
            </p:nvSpPr>
            <p:spPr>
              <a:xfrm>
                <a:off x="6375082" y="5461337"/>
                <a:ext cx="5944384" cy="645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𝐸𝐹</m:t>
                              </m:r>
                            </m:sub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𝑃𝐸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PE" i="1">
                                      <a:latin typeface="Cambria Math" panose="02040503050406030204" pitchFamily="18" charset="0"/>
                                    </a:rPr>
                                    <m:t>𝑃𝐸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6500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13225.42</m:t>
                              </m:r>
                            </m:num>
                            <m:den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5836.03+9664.44+13225.42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3FDB5DA1-0658-0E9C-D4E0-9E180311E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082" y="5461337"/>
                <a:ext cx="5944384" cy="6456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0A6D18-E839-6416-BD8A-53AE87691F63}"/>
                  </a:ext>
                </a:extLst>
              </p:cNvPr>
              <p:cNvSpPr txBox="1"/>
              <p:nvPr/>
            </p:nvSpPr>
            <p:spPr>
              <a:xfrm>
                <a:off x="6327447" y="3709583"/>
                <a:ext cx="20016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=1319.19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E0A6D18-E839-6416-BD8A-53AE87691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447" y="3709583"/>
                <a:ext cx="2001638" cy="276999"/>
              </a:xfrm>
              <a:prstGeom prst="rect">
                <a:avLst/>
              </a:prstGeom>
              <a:blipFill>
                <a:blip r:embed="rId12"/>
                <a:stretch>
                  <a:fillRect l="-4268" t="-4444" r="-1829" b="-3555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209DC5F9-6C1A-AD39-3AA6-63AECC52BF6B}"/>
                  </a:ext>
                </a:extLst>
              </p:cNvPr>
              <p:cNvSpPr txBox="1"/>
              <p:nvPr/>
            </p:nvSpPr>
            <p:spPr>
              <a:xfrm>
                <a:off x="6375082" y="4769315"/>
                <a:ext cx="20608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=2184.56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209DC5F9-6C1A-AD39-3AA6-63AECC52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082" y="4769315"/>
                <a:ext cx="2060821" cy="276999"/>
              </a:xfrm>
              <a:prstGeom prst="rect">
                <a:avLst/>
              </a:prstGeom>
              <a:blipFill>
                <a:blip r:embed="rId13"/>
                <a:stretch>
                  <a:fillRect l="-4142" t="-2174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4A0B06CA-A165-82D8-8714-8833BB8677BC}"/>
                  </a:ext>
                </a:extLst>
              </p:cNvPr>
              <p:cNvSpPr txBox="1"/>
              <p:nvPr/>
            </p:nvSpPr>
            <p:spPr>
              <a:xfrm>
                <a:off x="6459167" y="6218792"/>
                <a:ext cx="2001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=2996.26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4A0B06CA-A165-82D8-8714-8833BB867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167" y="6218792"/>
                <a:ext cx="2001574" cy="276999"/>
              </a:xfrm>
              <a:prstGeom prst="rect">
                <a:avLst/>
              </a:prstGeom>
              <a:blipFill>
                <a:blip r:embed="rId14"/>
                <a:stretch>
                  <a:fillRect l="-4268" t="-2174" r="-1829" b="-326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05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2° Determinando la rigidez relativa por cada columna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903A5C6-AB62-8217-6604-553267E4BC12}"/>
              </a:ext>
            </a:extLst>
          </p:cNvPr>
          <p:cNvGrpSpPr/>
          <p:nvPr/>
        </p:nvGrpSpPr>
        <p:grpSpPr>
          <a:xfrm>
            <a:off x="918795" y="2457804"/>
            <a:ext cx="5149238" cy="2304901"/>
            <a:chOff x="802746" y="2708275"/>
            <a:chExt cx="4673826" cy="195057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92B829-0F0C-F37E-7FB0-DF0011828F6E}"/>
                </a:ext>
              </a:extLst>
            </p:cNvPr>
            <p:cNvSpPr/>
            <p:nvPr/>
          </p:nvSpPr>
          <p:spPr>
            <a:xfrm>
              <a:off x="802746" y="4508726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6E44751-1FBE-FDF6-F5DB-F916D18BA2C2}"/>
                </a:ext>
              </a:extLst>
            </p:cNvPr>
            <p:cNvSpPr/>
            <p:nvPr/>
          </p:nvSpPr>
          <p:spPr>
            <a:xfrm>
              <a:off x="948234" y="2708501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BF99385-421A-A497-46F6-F625D68D10BB}"/>
                </a:ext>
              </a:extLst>
            </p:cNvPr>
            <p:cNvSpPr/>
            <p:nvPr/>
          </p:nvSpPr>
          <p:spPr>
            <a:xfrm>
              <a:off x="948234" y="2708275"/>
              <a:ext cx="4320224" cy="21625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DD7C29E-220A-039C-4872-C5A9D7FD0E8A}"/>
                </a:ext>
              </a:extLst>
            </p:cNvPr>
            <p:cNvSpPr/>
            <p:nvPr/>
          </p:nvSpPr>
          <p:spPr>
            <a:xfrm>
              <a:off x="2785313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5D9AF8B-3376-4798-8978-A804452CFF04}"/>
                </a:ext>
              </a:extLst>
            </p:cNvPr>
            <p:cNvSpPr/>
            <p:nvPr/>
          </p:nvSpPr>
          <p:spPr>
            <a:xfrm>
              <a:off x="2930801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5C6AAFD-A84E-784F-31DB-BA14CF663C50}"/>
                </a:ext>
              </a:extLst>
            </p:cNvPr>
            <p:cNvSpPr/>
            <p:nvPr/>
          </p:nvSpPr>
          <p:spPr>
            <a:xfrm>
              <a:off x="4977482" y="4508500"/>
              <a:ext cx="499090" cy="150127"/>
            </a:xfrm>
            <a:prstGeom prst="rect">
              <a:avLst/>
            </a:prstGeom>
            <a:pattFill prst="wdUpDiag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95B2B8-AE41-91C8-8890-DCFAA99B3C61}"/>
                </a:ext>
              </a:extLst>
            </p:cNvPr>
            <p:cNvSpPr/>
            <p:nvPr/>
          </p:nvSpPr>
          <p:spPr>
            <a:xfrm>
              <a:off x="5122970" y="2708275"/>
              <a:ext cx="144000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DC01DB-0147-3DB8-4328-BA956B91C19E}"/>
              </a:ext>
            </a:extLst>
          </p:cNvPr>
          <p:cNvCxnSpPr/>
          <p:nvPr/>
        </p:nvCxnSpPr>
        <p:spPr>
          <a:xfrm>
            <a:off x="559971" y="2458127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2F30F76-FB31-DB33-88D7-2FA65898AD1E}"/>
              </a:ext>
            </a:extLst>
          </p:cNvPr>
          <p:cNvCxnSpPr/>
          <p:nvPr/>
        </p:nvCxnSpPr>
        <p:spPr>
          <a:xfrm>
            <a:off x="415633" y="2602143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DDD77F7-59B6-616E-21DF-6C8373369C01}"/>
              </a:ext>
            </a:extLst>
          </p:cNvPr>
          <p:cNvCxnSpPr/>
          <p:nvPr/>
        </p:nvCxnSpPr>
        <p:spPr>
          <a:xfrm>
            <a:off x="414947" y="4584195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/>
              <p:nvPr/>
            </p:nvSpPr>
            <p:spPr>
              <a:xfrm>
                <a:off x="-18119" y="3346948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36189C6-ED21-2C89-17B8-BEB84760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119" y="3346948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7071" r="-5051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797FC6-1517-692D-2E56-B48C5032DCD5}"/>
              </a:ext>
            </a:extLst>
          </p:cNvPr>
          <p:cNvCxnSpPr>
            <a:cxnSpLocks/>
          </p:cNvCxnSpPr>
          <p:nvPr/>
        </p:nvCxnSpPr>
        <p:spPr>
          <a:xfrm>
            <a:off x="883457" y="4978407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AB85D76-1E13-A5EB-42FD-B6D5C1988733}"/>
              </a:ext>
            </a:extLst>
          </p:cNvPr>
          <p:cNvCxnSpPr/>
          <p:nvPr/>
        </p:nvCxnSpPr>
        <p:spPr>
          <a:xfrm>
            <a:off x="1158405" y="484385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90FB11-125F-3F72-E8F5-2AB051658AFD}"/>
              </a:ext>
            </a:extLst>
          </p:cNvPr>
          <p:cNvCxnSpPr/>
          <p:nvPr/>
        </p:nvCxnSpPr>
        <p:spPr>
          <a:xfrm>
            <a:off x="3342634" y="4843850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4451327-6A7E-7295-09E3-6EB2308F348D}"/>
              </a:ext>
            </a:extLst>
          </p:cNvPr>
          <p:cNvCxnSpPr/>
          <p:nvPr/>
        </p:nvCxnSpPr>
        <p:spPr>
          <a:xfrm>
            <a:off x="5758736" y="4834391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/>
              <p:nvPr/>
            </p:nvSpPr>
            <p:spPr>
              <a:xfrm>
                <a:off x="1915921" y="4701822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2548BE-8736-3C1C-1412-D142E5CB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921" y="4701822"/>
                <a:ext cx="728276" cy="246221"/>
              </a:xfrm>
              <a:prstGeom prst="rect">
                <a:avLst/>
              </a:prstGeom>
              <a:blipFill>
                <a:blip r:embed="rId3"/>
                <a:stretch>
                  <a:fillRect l="-5833" r="-3333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/>
              <p:nvPr/>
            </p:nvSpPr>
            <p:spPr>
              <a:xfrm>
                <a:off x="4172325" y="4654833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897EB06-9331-951B-3FA0-633C5451A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25" y="4654833"/>
                <a:ext cx="604846" cy="246221"/>
              </a:xfrm>
              <a:prstGeom prst="rect">
                <a:avLst/>
              </a:prstGeom>
              <a:blipFill>
                <a:blip r:embed="rId4"/>
                <a:stretch>
                  <a:fillRect l="-7000" r="-4000" b="-5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71B2BDE7-C9C8-1BED-8078-A58807BFF3AD}"/>
              </a:ext>
            </a:extLst>
          </p:cNvPr>
          <p:cNvSpPr>
            <a:spLocks noChangeAspect="1"/>
          </p:cNvSpPr>
          <p:nvPr/>
        </p:nvSpPr>
        <p:spPr>
          <a:xfrm>
            <a:off x="1299284" y="433484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1EA0B83-AE74-3852-B5DE-2A88ED9C8D49}"/>
              </a:ext>
            </a:extLst>
          </p:cNvPr>
          <p:cNvSpPr>
            <a:spLocks noChangeAspect="1"/>
          </p:cNvSpPr>
          <p:nvPr/>
        </p:nvSpPr>
        <p:spPr>
          <a:xfrm>
            <a:off x="803329" y="222641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F205D0-BB5C-249A-21B2-90553ED05323}"/>
              </a:ext>
            </a:extLst>
          </p:cNvPr>
          <p:cNvSpPr>
            <a:spLocks noChangeAspect="1"/>
          </p:cNvSpPr>
          <p:nvPr/>
        </p:nvSpPr>
        <p:spPr>
          <a:xfrm>
            <a:off x="3561075" y="4327123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CD015F-3008-5DAA-FF83-E516465B02F3}"/>
              </a:ext>
            </a:extLst>
          </p:cNvPr>
          <p:cNvSpPr>
            <a:spLocks noChangeAspect="1"/>
          </p:cNvSpPr>
          <p:nvPr/>
        </p:nvSpPr>
        <p:spPr>
          <a:xfrm>
            <a:off x="3247892" y="217976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E3FAD5-0E44-F8FA-6C75-9759F86A9B52}"/>
              </a:ext>
            </a:extLst>
          </p:cNvPr>
          <p:cNvSpPr>
            <a:spLocks noChangeAspect="1"/>
          </p:cNvSpPr>
          <p:nvPr/>
        </p:nvSpPr>
        <p:spPr>
          <a:xfrm>
            <a:off x="5947162" y="431767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90569800-D23B-D80A-037D-F6F07D328839}"/>
              </a:ext>
            </a:extLst>
          </p:cNvPr>
          <p:cNvSpPr>
            <a:spLocks noChangeAspect="1"/>
          </p:cNvSpPr>
          <p:nvPr/>
        </p:nvSpPr>
        <p:spPr>
          <a:xfrm>
            <a:off x="5892511" y="224100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46ACAB6-5936-978D-E15F-C1E24F5D00E0}"/>
                  </a:ext>
                </a:extLst>
              </p:cNvPr>
              <p:cNvSpPr txBox="1"/>
              <p:nvPr/>
            </p:nvSpPr>
            <p:spPr>
              <a:xfrm>
                <a:off x="414947" y="5167951"/>
                <a:ext cx="1728165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 =5836.03 </m:t>
                      </m:r>
                      <m:f>
                        <m:fPr>
                          <m:type m:val="skw"/>
                          <m:ctrlPr>
                            <a:rPr lang="es-P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 sz="12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sz="120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546ACAB6-5936-978D-E15F-C1E24F5D0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47" y="5167951"/>
                <a:ext cx="1728165" cy="248466"/>
              </a:xfrm>
              <a:prstGeom prst="rect">
                <a:avLst/>
              </a:prstGeom>
              <a:blipFill>
                <a:blip r:embed="rId5"/>
                <a:stretch>
                  <a:fillRect l="-1761" t="-151220" r="-20423" b="-22926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66E3C699-D37E-4635-63D1-42C3CCB5C2FF}"/>
                  </a:ext>
                </a:extLst>
              </p:cNvPr>
              <p:cNvSpPr txBox="1"/>
              <p:nvPr/>
            </p:nvSpPr>
            <p:spPr>
              <a:xfrm>
                <a:off x="2823793" y="5212871"/>
                <a:ext cx="1726563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>
                          <a:latin typeface="Cambria Math" panose="02040503050406030204" pitchFamily="18" charset="0"/>
                        </a:rPr>
                        <m:t> =9664.44 </m:t>
                      </m:r>
                      <m:f>
                        <m:fPr>
                          <m:type m:val="skw"/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66E3C699-D37E-4635-63D1-42C3CCB5C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793" y="5212871"/>
                <a:ext cx="1726563" cy="248466"/>
              </a:xfrm>
              <a:prstGeom prst="rect">
                <a:avLst/>
              </a:prstGeom>
              <a:blipFill>
                <a:blip r:embed="rId6"/>
                <a:stretch>
                  <a:fillRect l="-1767" t="-146341" r="-20848" b="-23414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C9CF4E0A-0B8F-844A-58BE-6A6FDB3EE5C3}"/>
                  </a:ext>
                </a:extLst>
              </p:cNvPr>
              <p:cNvSpPr txBox="1"/>
              <p:nvPr/>
            </p:nvSpPr>
            <p:spPr>
              <a:xfrm>
                <a:off x="5024570" y="5253459"/>
                <a:ext cx="1845184" cy="24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PE"/>
                </a:defPPr>
                <a:lvl1pPr>
                  <a:defRPr sz="12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>
                          <a:latin typeface="Cambria Math" panose="02040503050406030204" pitchFamily="18" charset="0"/>
                        </a:rPr>
                        <m:t> =13 225.42 </m:t>
                      </m:r>
                      <m:f>
                        <m:fPr>
                          <m:type m:val="skw"/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C9CF4E0A-0B8F-844A-58BE-6A6FDB3EE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570" y="5253459"/>
                <a:ext cx="1845184" cy="248466"/>
              </a:xfrm>
              <a:prstGeom prst="rect">
                <a:avLst/>
              </a:prstGeom>
              <a:blipFill>
                <a:blip r:embed="rId7"/>
                <a:stretch>
                  <a:fillRect l="-1650" t="-148780" r="-19142" b="-23170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Flecha: a la derecha 70">
            <a:extLst>
              <a:ext uri="{FF2B5EF4-FFF2-40B4-BE49-F238E27FC236}">
                <a16:creationId xmlns:a16="http://schemas.microsoft.com/office/drawing/2014/main" id="{1C5846F7-8210-05B0-CE21-6EE2BF53686B}"/>
              </a:ext>
            </a:extLst>
          </p:cNvPr>
          <p:cNvSpPr/>
          <p:nvPr/>
        </p:nvSpPr>
        <p:spPr>
          <a:xfrm>
            <a:off x="53890" y="2479433"/>
            <a:ext cx="1014935" cy="24622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88D1E6E-18F3-9188-8E13-33A4F2CAB7DF}"/>
              </a:ext>
            </a:extLst>
          </p:cNvPr>
          <p:cNvSpPr txBox="1"/>
          <p:nvPr/>
        </p:nvSpPr>
        <p:spPr>
          <a:xfrm>
            <a:off x="22899" y="2224789"/>
            <a:ext cx="14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solidFill>
                  <a:srgbClr val="0070C0"/>
                </a:solidFill>
              </a:rPr>
              <a:t>6500 Kgf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/>
              <p:nvPr/>
            </p:nvSpPr>
            <p:spPr>
              <a:xfrm>
                <a:off x="6459167" y="2614584"/>
                <a:ext cx="2549544" cy="383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=5836.03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167" y="2614584"/>
                <a:ext cx="2549544" cy="3831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55B715B9-E531-BE8E-77BC-77506843B1BA}"/>
              </a:ext>
            </a:extLst>
          </p:cNvPr>
          <p:cNvSpPr txBox="1"/>
          <p:nvPr/>
        </p:nvSpPr>
        <p:spPr>
          <a:xfrm>
            <a:off x="6198272" y="1912233"/>
            <a:ext cx="4896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/>
              <a:t>Determinamos el menor valor de las rigideces laterales de las columnas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86833AD-0430-D7F4-1135-CD230AE7CC4F}"/>
                  </a:ext>
                </a:extLst>
              </p:cNvPr>
              <p:cNvSpPr txBox="1"/>
              <p:nvPr/>
            </p:nvSpPr>
            <p:spPr>
              <a:xfrm>
                <a:off x="6471638" y="3207037"/>
                <a:ext cx="1973425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5836.03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5836.03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86833AD-0430-D7F4-1135-CD230AE7C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38" y="3207037"/>
                <a:ext cx="1973425" cy="526041"/>
              </a:xfrm>
              <a:prstGeom prst="rect">
                <a:avLst/>
              </a:prstGeom>
              <a:blipFill>
                <a:blip r:embed="rId9"/>
                <a:stretch>
                  <a:fillRect l="-31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30FE7FD-272C-DD44-A7E5-5E6FE312EC88}"/>
                  </a:ext>
                </a:extLst>
              </p:cNvPr>
              <p:cNvSpPr txBox="1"/>
              <p:nvPr/>
            </p:nvSpPr>
            <p:spPr>
              <a:xfrm>
                <a:off x="6471638" y="3829406"/>
                <a:ext cx="2157642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sub>
                          </m:sSub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9664.03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5836.03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30FE7FD-272C-DD44-A7E5-5E6FE312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38" y="3829406"/>
                <a:ext cx="2157642" cy="520463"/>
              </a:xfrm>
              <a:prstGeom prst="rect">
                <a:avLst/>
              </a:prstGeom>
              <a:blipFill>
                <a:blip r:embed="rId10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D255E7D3-EFFD-283F-BFE9-280CF00077D8}"/>
                  </a:ext>
                </a:extLst>
              </p:cNvPr>
              <p:cNvSpPr txBox="1"/>
              <p:nvPr/>
            </p:nvSpPr>
            <p:spPr>
              <a:xfrm>
                <a:off x="6479158" y="4448273"/>
                <a:ext cx="2285882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sub>
                          </m:sSub>
                        </m:e>
                      </m:acc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13225.42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5836.03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D255E7D3-EFFD-283F-BFE9-280CF0007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58" y="4448273"/>
                <a:ext cx="2285882" cy="526041"/>
              </a:xfrm>
              <a:prstGeom prst="rect">
                <a:avLst/>
              </a:prstGeom>
              <a:blipFill>
                <a:blip r:embed="rId11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60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3° Determinando el coeficiente Yo y el punto de inflexión en cada columna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/>
              <p:nvPr/>
            </p:nvSpPr>
            <p:spPr>
              <a:xfrm>
                <a:off x="930330" y="3643283"/>
                <a:ext cx="2549544" cy="383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  <m:sup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𝑃𝐸</m:t>
                          </m:r>
                        </m:sup>
                      </m:sSub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=5836.03 </m:t>
                      </m:r>
                      <m:f>
                        <m:fPr>
                          <m:type m:val="skw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𝐾𝑔𝑓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7E7D31D-F693-E9E6-8BF5-292F6012B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30" y="3643283"/>
                <a:ext cx="2549544" cy="383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55B715B9-E531-BE8E-77BC-77506843B1BA}"/>
              </a:ext>
            </a:extLst>
          </p:cNvPr>
          <p:cNvSpPr txBox="1"/>
          <p:nvPr/>
        </p:nvSpPr>
        <p:spPr>
          <a:xfrm>
            <a:off x="767965" y="2996952"/>
            <a:ext cx="4896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/>
              <a:t>Determinamos el menor valor de las rigideces laterales de las columnas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B44FBC-7004-5449-D7A8-2198FEFAC4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257"/>
          <a:stretch/>
        </p:blipFill>
        <p:spPr>
          <a:xfrm>
            <a:off x="1727200" y="2068042"/>
            <a:ext cx="7330440" cy="537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DD427143-4931-32BD-925D-1F22866AF8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5869252"/>
                  </p:ext>
                </p:extLst>
              </p:nvPr>
            </p:nvGraphicFramePr>
            <p:xfrm>
              <a:off x="872594" y="4184501"/>
              <a:ext cx="7599670" cy="202952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415094">
                      <a:extLst>
                        <a:ext uri="{9D8B030D-6E8A-4147-A177-3AD203B41FA5}">
                          <a16:colId xmlns:a16="http://schemas.microsoft.com/office/drawing/2014/main" val="1221704435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774442318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3789619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Rigidez relativa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Yo(h)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526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s-PE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5836.03</m:t>
                                    </m:r>
                                  </m:num>
                                  <m:den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5836.03</m:t>
                                    </m:r>
                                  </m:den>
                                </m:f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𝑂𝐴𝐵</m:t>
                                    </m:r>
                                  </m:sub>
                                </m:sSub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𝑂𝐴𝐵</m:t>
                                    </m:r>
                                  </m:sub>
                                </m:sSub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0.55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280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6147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s-PE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𝐶𝐷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9664.03</m:t>
                                    </m:r>
                                  </m:num>
                                  <m:den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5836.03</m:t>
                                    </m:r>
                                  </m:den>
                                </m:f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=1.7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𝑂𝐶𝐷</m:t>
                                    </m:r>
                                  </m:sub>
                                </m:sSub>
                                <m:r>
                                  <a:rPr kumimoji="0" lang="es-PE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kumimoji="0" lang="es-PE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𝑂𝐶𝐷</m:t>
                                    </m:r>
                                  </m:sub>
                                </m:sSub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0.55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280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6434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s-PE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s-PE" sz="1600" b="0" i="1" smtClean="0">
                                            <a:latin typeface="Cambria Math" panose="02040503050406030204" pitchFamily="18" charset="0"/>
                                          </a:rPr>
                                          <m:t>𝐸𝐹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13225.42</m:t>
                                    </m:r>
                                  </m:num>
                                  <m:den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5836.03</m:t>
                                    </m:r>
                                  </m:den>
                                </m:f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=2.3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0" lang="es-PE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𝑂𝐸𝐹</m:t>
                                    </m:r>
                                  </m:sub>
                                </m:sSub>
                                <m:r>
                                  <a:rPr kumimoji="0" lang="es-PE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kumimoji="0" lang="es-PE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𝑂𝐸𝐹</m:t>
                                    </m:r>
                                  </m:sub>
                                </m:sSub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0.55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600" b="0" i="1" smtClean="0">
                                        <a:latin typeface="Cambria Math" panose="02040503050406030204" pitchFamily="18" charset="0"/>
                                      </a:rPr>
                                      <m:t>280</m:t>
                                    </m:r>
                                  </m:e>
                                </m:d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6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69334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DD427143-4931-32BD-925D-1F22866AF8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5869252"/>
                  </p:ext>
                </p:extLst>
              </p:nvPr>
            </p:nvGraphicFramePr>
            <p:xfrm>
              <a:off x="872594" y="4184501"/>
              <a:ext cx="7599670" cy="202952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415094">
                      <a:extLst>
                        <a:ext uri="{9D8B030D-6E8A-4147-A177-3AD203B41FA5}">
                          <a16:colId xmlns:a16="http://schemas.microsoft.com/office/drawing/2014/main" val="1221704435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2774442318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3789619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Rigidez relativa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Yo(h)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526859"/>
                      </a:ext>
                    </a:extLst>
                  </a:tr>
                  <a:tr h="554546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3" t="-72527" r="-215404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0081" t="-72527" r="-243952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965" t="-72527" r="-332" b="-2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147859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3" t="-172527" r="-215404" b="-1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0081" t="-172527" r="-243952" b="-1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965" t="-172527" r="-332" b="-1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434265"/>
                      </a:ext>
                    </a:extLst>
                  </a:tr>
                  <a:tr h="554546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3" t="-272527" r="-215404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0081" t="-272527" r="-243952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965" t="-272527" r="-332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69334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280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4° Determinando los momentos en las columnas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D52CDF67-6413-5BFF-EF25-6A347A2346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680146"/>
                  </p:ext>
                </p:extLst>
              </p:nvPr>
            </p:nvGraphicFramePr>
            <p:xfrm>
              <a:off x="189680" y="2969309"/>
              <a:ext cx="11810976" cy="17526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7943">
                      <a:extLst>
                        <a:ext uri="{9D8B030D-6E8A-4147-A177-3AD203B41FA5}">
                          <a16:colId xmlns:a16="http://schemas.microsoft.com/office/drawing/2014/main" val="2774442318"/>
                        </a:ext>
                      </a:extLst>
                    </a:gridCol>
                    <a:gridCol w="2021959">
                      <a:extLst>
                        <a:ext uri="{9D8B030D-6E8A-4147-A177-3AD203B41FA5}">
                          <a16:colId xmlns:a16="http://schemas.microsoft.com/office/drawing/2014/main" val="3789619516"/>
                        </a:ext>
                      </a:extLst>
                    </a:gridCol>
                    <a:gridCol w="1989784">
                      <a:extLst>
                        <a:ext uri="{9D8B030D-6E8A-4147-A177-3AD203B41FA5}">
                          <a16:colId xmlns:a16="http://schemas.microsoft.com/office/drawing/2014/main" val="1030176219"/>
                        </a:ext>
                      </a:extLst>
                    </a:gridCol>
                    <a:gridCol w="3180930">
                      <a:extLst>
                        <a:ext uri="{9D8B030D-6E8A-4147-A177-3AD203B41FA5}">
                          <a16:colId xmlns:a16="http://schemas.microsoft.com/office/drawing/2014/main" val="471673794"/>
                        </a:ext>
                      </a:extLst>
                    </a:gridCol>
                    <a:gridCol w="3240360">
                      <a:extLst>
                        <a:ext uri="{9D8B030D-6E8A-4147-A177-3AD203B41FA5}">
                          <a16:colId xmlns:a16="http://schemas.microsoft.com/office/drawing/2014/main" val="37475375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Yo(h)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Cortante en la columna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Momento en el pie de la columna (Kgf.cm)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Momento en la cabeza de la columna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526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𝑂𝐴𝐵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𝑂𝐴𝐵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=1319.19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𝐾𝑔𝑓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𝐴𝐵𝑝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1319.19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=203155.26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𝐴𝐵𝑐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1319.19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</a:rPr>
                                      <m:t>126</m:t>
                                    </m:r>
                                  </m:e>
                                </m:d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=166217.94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86147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𝑂𝐶𝐷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𝑂𝐶𝐷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=2184.56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𝐾𝑔𝑓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𝐶𝐷𝑝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2184.56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154</m:t>
                                    </m:r>
                                  </m:e>
                                </m:d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=336422.24 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𝐶𝐷𝑐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2184.56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MX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126</m:t>
                                    </m:r>
                                  </m:e>
                                </m:d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=275254.54 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6434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𝑂𝐸𝐹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=0.55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𝑂𝐸𝐹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d>
                                  <m:dPr>
                                    <m:ctrlP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=154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PE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s-PE" sz="1400" b="0" i="1" smtClean="0">
                                        <a:latin typeface="Cambria Math" panose="02040503050406030204" pitchFamily="18" charset="0"/>
                                      </a:rPr>
                                      <m:t>𝐸𝐹</m:t>
                                    </m:r>
                                  </m:sub>
                                </m:sSub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=2996.26 </m:t>
                                </m:r>
                                <m:r>
                                  <a:rPr lang="es-PE" sz="1400" b="0" i="1" smtClean="0">
                                    <a:latin typeface="Cambria Math" panose="02040503050406030204" pitchFamily="18" charset="0"/>
                                  </a:rPr>
                                  <m:t>𝐾𝑔𝑓</m:t>
                                </m:r>
                              </m:oMath>
                            </m:oMathPara>
                          </a14:m>
                          <a:endParaRPr lang="es-PE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𝐸𝐹𝑝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2996.26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154</m:t>
                                    </m:r>
                                  </m:e>
                                </m:d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=461424.04 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𝐸𝐹𝑐</m:t>
                                    </m:r>
                                  </m:sub>
                                </m:sSub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2996.26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kumimoji="0" lang="es-PE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s-MX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126</m:t>
                                    </m:r>
                                  </m:e>
                                </m:d>
                                <m:r>
                                  <a:rPr kumimoji="0" lang="es-PE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=377528.76</m:t>
                                </m:r>
                              </m:oMath>
                            </m:oMathPara>
                          </a14:m>
                          <a:endParaRPr kumimoji="0" lang="es-PE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69334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D52CDF67-6413-5BFF-EF25-6A347A2346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680146"/>
                  </p:ext>
                </p:extLst>
              </p:nvPr>
            </p:nvGraphicFramePr>
            <p:xfrm>
              <a:off x="189680" y="2969309"/>
              <a:ext cx="11810976" cy="17526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7943">
                      <a:extLst>
                        <a:ext uri="{9D8B030D-6E8A-4147-A177-3AD203B41FA5}">
                          <a16:colId xmlns:a16="http://schemas.microsoft.com/office/drawing/2014/main" val="2774442318"/>
                        </a:ext>
                      </a:extLst>
                    </a:gridCol>
                    <a:gridCol w="2021959">
                      <a:extLst>
                        <a:ext uri="{9D8B030D-6E8A-4147-A177-3AD203B41FA5}">
                          <a16:colId xmlns:a16="http://schemas.microsoft.com/office/drawing/2014/main" val="3789619516"/>
                        </a:ext>
                      </a:extLst>
                    </a:gridCol>
                    <a:gridCol w="1989784">
                      <a:extLst>
                        <a:ext uri="{9D8B030D-6E8A-4147-A177-3AD203B41FA5}">
                          <a16:colId xmlns:a16="http://schemas.microsoft.com/office/drawing/2014/main" val="1030176219"/>
                        </a:ext>
                      </a:extLst>
                    </a:gridCol>
                    <a:gridCol w="3180930">
                      <a:extLst>
                        <a:ext uri="{9D8B030D-6E8A-4147-A177-3AD203B41FA5}">
                          <a16:colId xmlns:a16="http://schemas.microsoft.com/office/drawing/2014/main" val="471673794"/>
                        </a:ext>
                      </a:extLst>
                    </a:gridCol>
                    <a:gridCol w="3240360">
                      <a:extLst>
                        <a:ext uri="{9D8B030D-6E8A-4147-A177-3AD203B41FA5}">
                          <a16:colId xmlns:a16="http://schemas.microsoft.com/office/drawing/2014/main" val="37475375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Yo(h)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Cortante en la columna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Momento en el pie de la columna (Kgf.cm)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PE" dirty="0">
                              <a:solidFill>
                                <a:schemeClr val="tx1"/>
                              </a:solidFill>
                            </a:rPr>
                            <a:t>Momento en la cabeza de la columna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2526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42" t="-180328" r="-75840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373" t="-180328" r="-416265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1472" t="-180328" r="-32392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40" t="-180328" r="-10229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74" t="-180328" r="-376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147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42" t="-280328" r="-75840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373" t="-280328" r="-41626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1472" t="-280328" r="-32392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40" t="-280328" r="-10229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74" t="-280328" r="-376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434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42" t="-380328" r="-75840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373" t="-380328" r="-41626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1472" t="-380328" r="-32392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40" t="-380328" r="-1022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P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74" t="-380328" r="-376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69334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849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4° Determinando los momentos en las columnas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CA78886-A7FD-AE02-37F7-0C0CCF0C2F59}"/>
              </a:ext>
            </a:extLst>
          </p:cNvPr>
          <p:cNvGrpSpPr/>
          <p:nvPr/>
        </p:nvGrpSpPr>
        <p:grpSpPr>
          <a:xfrm>
            <a:off x="3089190" y="2563963"/>
            <a:ext cx="4765331" cy="2127238"/>
            <a:chOff x="948234" y="2708275"/>
            <a:chExt cx="4325364" cy="1800226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591A557-A5F7-4CBA-09FE-71FBD690CEFF}"/>
                </a:ext>
              </a:extLst>
            </p:cNvPr>
            <p:cNvSpPr/>
            <p:nvPr/>
          </p:nvSpPr>
          <p:spPr>
            <a:xfrm>
              <a:off x="948234" y="2708501"/>
              <a:ext cx="32676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A928123-7E5F-1221-BD2E-0CC0AD02845C}"/>
                </a:ext>
              </a:extLst>
            </p:cNvPr>
            <p:cNvSpPr/>
            <p:nvPr/>
          </p:nvSpPr>
          <p:spPr>
            <a:xfrm>
              <a:off x="948234" y="2708275"/>
              <a:ext cx="4320224" cy="30466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623EEFD-2E34-4DAB-F0D2-7F9659A7AB1F}"/>
                </a:ext>
              </a:extLst>
            </p:cNvPr>
            <p:cNvSpPr/>
            <p:nvPr/>
          </p:nvSpPr>
          <p:spPr>
            <a:xfrm>
              <a:off x="2930801" y="2708275"/>
              <a:ext cx="32676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3E2F262-4429-D3CA-EF33-DAC02D70E59F}"/>
                </a:ext>
              </a:extLst>
            </p:cNvPr>
            <p:cNvSpPr/>
            <p:nvPr/>
          </p:nvSpPr>
          <p:spPr>
            <a:xfrm>
              <a:off x="5240922" y="2708275"/>
              <a:ext cx="32676" cy="1800000"/>
            </a:xfrm>
            <a:prstGeom prst="rect">
              <a:avLst/>
            </a:prstGeom>
            <a:pattFill prst="lgConfetti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80CC27A-86D5-4C04-1E41-D2BCC4820248}"/>
              </a:ext>
            </a:extLst>
          </p:cNvPr>
          <p:cNvCxnSpPr/>
          <p:nvPr/>
        </p:nvCxnSpPr>
        <p:spPr>
          <a:xfrm>
            <a:off x="553410" y="2557253"/>
            <a:ext cx="0" cy="22319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AD104A9-4090-C7F4-AE3C-AB94C762D079}"/>
              </a:ext>
            </a:extLst>
          </p:cNvPr>
          <p:cNvCxnSpPr/>
          <p:nvPr/>
        </p:nvCxnSpPr>
        <p:spPr>
          <a:xfrm>
            <a:off x="409072" y="2628964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5620940-E85C-7353-9024-79B21A1D0765}"/>
              </a:ext>
            </a:extLst>
          </p:cNvPr>
          <p:cNvCxnSpPr/>
          <p:nvPr/>
        </p:nvCxnSpPr>
        <p:spPr>
          <a:xfrm>
            <a:off x="408386" y="4683321"/>
            <a:ext cx="3603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4CE2AAD-27CD-0669-CB13-3520B9641B5B}"/>
                  </a:ext>
                </a:extLst>
              </p:cNvPr>
              <p:cNvSpPr txBox="1"/>
              <p:nvPr/>
            </p:nvSpPr>
            <p:spPr>
              <a:xfrm>
                <a:off x="-24680" y="3446074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4CE2AAD-27CD-0669-CB13-3520B9641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80" y="3446074"/>
                <a:ext cx="604846" cy="246221"/>
              </a:xfrm>
              <a:prstGeom prst="rect">
                <a:avLst/>
              </a:prstGeom>
              <a:blipFill>
                <a:blip r:embed="rId2"/>
                <a:stretch>
                  <a:fillRect l="-8081" r="-404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71B9F33-7E7E-BC5A-8DA9-FB99C93E4277}"/>
              </a:ext>
            </a:extLst>
          </p:cNvPr>
          <p:cNvCxnSpPr>
            <a:cxnSpLocks/>
          </p:cNvCxnSpPr>
          <p:nvPr/>
        </p:nvCxnSpPr>
        <p:spPr>
          <a:xfrm>
            <a:off x="2812953" y="6299861"/>
            <a:ext cx="5155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03F4C13-E5AE-5166-7972-8F3EEFC4CAFF}"/>
              </a:ext>
            </a:extLst>
          </p:cNvPr>
          <p:cNvCxnSpPr/>
          <p:nvPr/>
        </p:nvCxnSpPr>
        <p:spPr>
          <a:xfrm>
            <a:off x="3087901" y="6165304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56D5FBA-A5F6-DB75-488F-61E4A7C34C5B}"/>
              </a:ext>
            </a:extLst>
          </p:cNvPr>
          <p:cNvCxnSpPr/>
          <p:nvPr/>
        </p:nvCxnSpPr>
        <p:spPr>
          <a:xfrm>
            <a:off x="5272130" y="6165304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39E69DF-9D75-EEEC-D411-99A4169FAFD4}"/>
              </a:ext>
            </a:extLst>
          </p:cNvPr>
          <p:cNvCxnSpPr/>
          <p:nvPr/>
        </p:nvCxnSpPr>
        <p:spPr>
          <a:xfrm>
            <a:off x="7688232" y="6155845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1178952-9857-724F-9E8F-D44B6C8C9AC1}"/>
                  </a:ext>
                </a:extLst>
              </p:cNvPr>
              <p:cNvSpPr txBox="1"/>
              <p:nvPr/>
            </p:nvSpPr>
            <p:spPr>
              <a:xfrm>
                <a:off x="3845417" y="6023276"/>
                <a:ext cx="72827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1178952-9857-724F-9E8F-D44B6C8C9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417" y="6023276"/>
                <a:ext cx="728276" cy="246221"/>
              </a:xfrm>
              <a:prstGeom prst="rect">
                <a:avLst/>
              </a:prstGeom>
              <a:blipFill>
                <a:blip r:embed="rId3"/>
                <a:stretch>
                  <a:fillRect l="-6723" r="-3361" b="-75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444697-E614-FACA-5D9D-D753E2610F28}"/>
                  </a:ext>
                </a:extLst>
              </p:cNvPr>
              <p:cNvSpPr txBox="1"/>
              <p:nvPr/>
            </p:nvSpPr>
            <p:spPr>
              <a:xfrm>
                <a:off x="6101821" y="5976287"/>
                <a:ext cx="60484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6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s-PE" sz="1600" b="1" i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0444697-E614-FACA-5D9D-D753E2610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821" y="5976287"/>
                <a:ext cx="604846" cy="246221"/>
              </a:xfrm>
              <a:prstGeom prst="rect">
                <a:avLst/>
              </a:prstGeom>
              <a:blipFill>
                <a:blip r:embed="rId4"/>
                <a:stretch>
                  <a:fillRect l="-8081" r="-4040" b="-48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>
            <a:extLst>
              <a:ext uri="{FF2B5EF4-FFF2-40B4-BE49-F238E27FC236}">
                <a16:creationId xmlns:a16="http://schemas.microsoft.com/office/drawing/2014/main" id="{29E1037D-DCF4-742C-C10D-881E88F8B2DE}"/>
              </a:ext>
            </a:extLst>
          </p:cNvPr>
          <p:cNvSpPr>
            <a:spLocks noChangeAspect="1"/>
          </p:cNvSpPr>
          <p:nvPr/>
        </p:nvSpPr>
        <p:spPr>
          <a:xfrm>
            <a:off x="3334841" y="4542925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7C7CF34-97C2-813A-BB7D-EABD96DB7187}"/>
              </a:ext>
            </a:extLst>
          </p:cNvPr>
          <p:cNvSpPr>
            <a:spLocks noChangeAspect="1"/>
          </p:cNvSpPr>
          <p:nvPr/>
        </p:nvSpPr>
        <p:spPr>
          <a:xfrm>
            <a:off x="2838886" y="2434492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85EE7E3-F028-D8DB-C0BE-62440AB9F883}"/>
              </a:ext>
            </a:extLst>
          </p:cNvPr>
          <p:cNvSpPr>
            <a:spLocks noChangeAspect="1"/>
          </p:cNvSpPr>
          <p:nvPr/>
        </p:nvSpPr>
        <p:spPr>
          <a:xfrm>
            <a:off x="5596632" y="4535199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A73A97-3354-E3D6-23C5-C7940126A5DB}"/>
              </a:ext>
            </a:extLst>
          </p:cNvPr>
          <p:cNvSpPr>
            <a:spLocks noChangeAspect="1"/>
          </p:cNvSpPr>
          <p:nvPr/>
        </p:nvSpPr>
        <p:spPr>
          <a:xfrm>
            <a:off x="5283449" y="2387845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6FCFD26-C402-F391-79FC-13868355DA45}"/>
              </a:ext>
            </a:extLst>
          </p:cNvPr>
          <p:cNvSpPr>
            <a:spLocks noChangeAspect="1"/>
          </p:cNvSpPr>
          <p:nvPr/>
        </p:nvSpPr>
        <p:spPr>
          <a:xfrm>
            <a:off x="7982719" y="4525755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0BC8338-C695-F666-253B-4B45DE02AFB6}"/>
              </a:ext>
            </a:extLst>
          </p:cNvPr>
          <p:cNvSpPr>
            <a:spLocks noChangeAspect="1"/>
          </p:cNvSpPr>
          <p:nvPr/>
        </p:nvSpPr>
        <p:spPr>
          <a:xfrm>
            <a:off x="7971602" y="2182166"/>
            <a:ext cx="252000" cy="252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E6B0A61-FBA9-8435-CCFC-7D1DF30D318B}"/>
              </a:ext>
            </a:extLst>
          </p:cNvPr>
          <p:cNvCxnSpPr/>
          <p:nvPr/>
        </p:nvCxnSpPr>
        <p:spPr>
          <a:xfrm flipH="1">
            <a:off x="2495550" y="2575082"/>
            <a:ext cx="1224186" cy="210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86C4D31-E84F-CC7F-C215-2EEC9940BC73}"/>
              </a:ext>
            </a:extLst>
          </p:cNvPr>
          <p:cNvCxnSpPr/>
          <p:nvPr/>
        </p:nvCxnSpPr>
        <p:spPr>
          <a:xfrm flipH="1">
            <a:off x="4707062" y="2616794"/>
            <a:ext cx="1224186" cy="210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B22FD53-A877-E83E-ECD4-DB72550C6E5A}"/>
              </a:ext>
            </a:extLst>
          </p:cNvPr>
          <p:cNvCxnSpPr/>
          <p:nvPr/>
        </p:nvCxnSpPr>
        <p:spPr>
          <a:xfrm flipH="1">
            <a:off x="7278073" y="2598885"/>
            <a:ext cx="1224186" cy="210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D9A6174-D9E8-4413-8A54-50F8F22E9E73}"/>
                  </a:ext>
                </a:extLst>
              </p:cNvPr>
              <p:cNvSpPr txBox="1"/>
              <p:nvPr/>
            </p:nvSpPr>
            <p:spPr>
              <a:xfrm>
                <a:off x="2035074" y="4864920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203155.26 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D9A6174-D9E8-4413-8A54-50F8F22E9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074" y="4864920"/>
                <a:ext cx="1787658" cy="276999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814B5C0C-67C4-1FC2-443D-D8A2BD967CA4}"/>
                  </a:ext>
                </a:extLst>
              </p:cNvPr>
              <p:cNvSpPr txBox="1"/>
              <p:nvPr/>
            </p:nvSpPr>
            <p:spPr>
              <a:xfrm>
                <a:off x="4425326" y="4881032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336422.24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814B5C0C-67C4-1FC2-443D-D8A2BD967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326" y="4881032"/>
                <a:ext cx="1787658" cy="276999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2822E8C-9AC3-8B9A-9221-95FA9A4A4AA9}"/>
                  </a:ext>
                </a:extLst>
              </p:cNvPr>
              <p:cNvSpPr txBox="1"/>
              <p:nvPr/>
            </p:nvSpPr>
            <p:spPr>
              <a:xfrm>
                <a:off x="6996337" y="4912312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461424.04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2822E8C-9AC3-8B9A-9221-95FA9A4A4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337" y="4912312"/>
                <a:ext cx="1787658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D7A3A1D-3465-D7A9-F1A5-99E0FB3552B2}"/>
              </a:ext>
            </a:extLst>
          </p:cNvPr>
          <p:cNvCxnSpPr>
            <a:endCxn id="6" idx="2"/>
          </p:cNvCxnSpPr>
          <p:nvPr/>
        </p:nvCxnSpPr>
        <p:spPr>
          <a:xfrm>
            <a:off x="2495550" y="4683321"/>
            <a:ext cx="611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EEE5A52-27F4-0200-813A-FEB0E2ABF184}"/>
              </a:ext>
            </a:extLst>
          </p:cNvPr>
          <p:cNvCxnSpPr/>
          <p:nvPr/>
        </p:nvCxnSpPr>
        <p:spPr>
          <a:xfrm>
            <a:off x="4688149" y="4695471"/>
            <a:ext cx="611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393CF8A-29B9-648D-62AC-BFB07C87D32D}"/>
              </a:ext>
            </a:extLst>
          </p:cNvPr>
          <p:cNvCxnSpPr/>
          <p:nvPr/>
        </p:nvCxnSpPr>
        <p:spPr>
          <a:xfrm>
            <a:off x="7297218" y="4703185"/>
            <a:ext cx="611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FA9132F-6F7E-23C4-14E5-33D6C2F1F350}"/>
              </a:ext>
            </a:extLst>
          </p:cNvPr>
          <p:cNvCxnSpPr/>
          <p:nvPr/>
        </p:nvCxnSpPr>
        <p:spPr>
          <a:xfrm>
            <a:off x="7890166" y="2599366"/>
            <a:ext cx="611640" cy="7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E0E3688-58E1-EDB6-AAA4-4745C1A40FFE}"/>
                  </a:ext>
                </a:extLst>
              </p:cNvPr>
              <p:cNvSpPr txBox="1"/>
              <p:nvPr/>
            </p:nvSpPr>
            <p:spPr>
              <a:xfrm>
                <a:off x="3345386" y="2231859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i="1" smtClean="0">
                          <a:latin typeface="Cambria Math" panose="02040503050406030204" pitchFamily="18" charset="0"/>
                        </a:rPr>
                        <m:t>166217.94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i="1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i="1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E0E3688-58E1-EDB6-AAA4-4745C1A40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386" y="2231859"/>
                <a:ext cx="1787658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3693069B-0675-BF0E-1384-D6DACBDC8E3E}"/>
                  </a:ext>
                </a:extLst>
              </p:cNvPr>
              <p:cNvSpPr txBox="1"/>
              <p:nvPr/>
            </p:nvSpPr>
            <p:spPr>
              <a:xfrm>
                <a:off x="5735638" y="2247971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275254.54</m:t>
                      </m:r>
                      <m:r>
                        <a:rPr lang="es-PE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3693069B-0675-BF0E-1384-D6DACBDC8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638" y="2247971"/>
                <a:ext cx="1787658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26EB41C-E84C-7AB0-9113-C535F2D2C7B6}"/>
                  </a:ext>
                </a:extLst>
              </p:cNvPr>
              <p:cNvSpPr txBox="1"/>
              <p:nvPr/>
            </p:nvSpPr>
            <p:spPr>
              <a:xfrm>
                <a:off x="8306649" y="2279251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377528.76</m:t>
                      </m:r>
                      <m:r>
                        <a:rPr lang="es-PE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P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26EB41C-E84C-7AB0-9113-C535F2D2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6649" y="2279251"/>
                <a:ext cx="1787658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82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5° Determinando los momentos en las vigas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87812BD-D3B2-09CE-8F5D-F11E0F89BFF8}"/>
              </a:ext>
            </a:extLst>
          </p:cNvPr>
          <p:cNvGrpSpPr/>
          <p:nvPr/>
        </p:nvGrpSpPr>
        <p:grpSpPr>
          <a:xfrm>
            <a:off x="169448" y="2072754"/>
            <a:ext cx="8973379" cy="3433217"/>
            <a:chOff x="1120928" y="2182166"/>
            <a:chExt cx="8973379" cy="3433217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9CA78886-A7FD-AE02-37F7-0C0CCF0C2F59}"/>
                </a:ext>
              </a:extLst>
            </p:cNvPr>
            <p:cNvGrpSpPr/>
            <p:nvPr/>
          </p:nvGrpSpPr>
          <p:grpSpPr>
            <a:xfrm>
              <a:off x="3089190" y="2563963"/>
              <a:ext cx="4765331" cy="2127238"/>
              <a:chOff x="948234" y="2708275"/>
              <a:chExt cx="4325364" cy="180022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591A557-A5F7-4CBA-09FE-71FBD690CEFF}"/>
                  </a:ext>
                </a:extLst>
              </p:cNvPr>
              <p:cNvSpPr/>
              <p:nvPr/>
            </p:nvSpPr>
            <p:spPr>
              <a:xfrm>
                <a:off x="948234" y="2708501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A928123-7E5F-1221-BD2E-0CC0AD02845C}"/>
                  </a:ext>
                </a:extLst>
              </p:cNvPr>
              <p:cNvSpPr/>
              <p:nvPr/>
            </p:nvSpPr>
            <p:spPr>
              <a:xfrm>
                <a:off x="948234" y="2708275"/>
                <a:ext cx="4320224" cy="30466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7623EEFD-2E34-4DAB-F0D2-7F9659A7AB1F}"/>
                  </a:ext>
                </a:extLst>
              </p:cNvPr>
              <p:cNvSpPr/>
              <p:nvPr/>
            </p:nvSpPr>
            <p:spPr>
              <a:xfrm>
                <a:off x="2930801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93E2F262-4429-D3CA-EF33-DAC02D70E59F}"/>
                  </a:ext>
                </a:extLst>
              </p:cNvPr>
              <p:cNvSpPr/>
              <p:nvPr/>
            </p:nvSpPr>
            <p:spPr>
              <a:xfrm>
                <a:off x="5240922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</p:grp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080CC27A-86D5-4C04-1E41-D2BCC4820248}"/>
                </a:ext>
              </a:extLst>
            </p:cNvPr>
            <p:cNvCxnSpPr/>
            <p:nvPr/>
          </p:nvCxnSpPr>
          <p:spPr>
            <a:xfrm>
              <a:off x="1699018" y="2545804"/>
              <a:ext cx="0" cy="22319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AD104A9-4090-C7F4-AE3C-AB94C762D079}"/>
                </a:ext>
              </a:extLst>
            </p:cNvPr>
            <p:cNvCxnSpPr/>
            <p:nvPr/>
          </p:nvCxnSpPr>
          <p:spPr>
            <a:xfrm>
              <a:off x="1554680" y="2617515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5620940-E85C-7353-9024-79B21A1D0765}"/>
                </a:ext>
              </a:extLst>
            </p:cNvPr>
            <p:cNvCxnSpPr/>
            <p:nvPr/>
          </p:nvCxnSpPr>
          <p:spPr>
            <a:xfrm>
              <a:off x="1553994" y="4671872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/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8081" r="-4040" b="-487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71B9F33-7E7E-BC5A-8DA9-FB99C93E4277}"/>
                </a:ext>
              </a:extLst>
            </p:cNvPr>
            <p:cNvCxnSpPr>
              <a:cxnSpLocks/>
            </p:cNvCxnSpPr>
            <p:nvPr/>
          </p:nvCxnSpPr>
          <p:spPr>
            <a:xfrm>
              <a:off x="2905367" y="5461908"/>
              <a:ext cx="5155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3F4C13-E5AE-5166-7972-8F3EEFC4CAFF}"/>
                </a:ext>
              </a:extLst>
            </p:cNvPr>
            <p:cNvCxnSpPr/>
            <p:nvPr/>
          </p:nvCxnSpPr>
          <p:spPr>
            <a:xfrm>
              <a:off x="3180315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56D5FBA-A5F6-DB75-488F-61E4A7C34C5B}"/>
                </a:ext>
              </a:extLst>
            </p:cNvPr>
            <p:cNvCxnSpPr/>
            <p:nvPr/>
          </p:nvCxnSpPr>
          <p:spPr>
            <a:xfrm>
              <a:off x="5364544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39E69DF-9D75-EEEC-D411-99A4169FAFD4}"/>
                </a:ext>
              </a:extLst>
            </p:cNvPr>
            <p:cNvCxnSpPr/>
            <p:nvPr/>
          </p:nvCxnSpPr>
          <p:spPr>
            <a:xfrm>
              <a:off x="7780646" y="5317892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/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𝟖𝟎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6723" r="-336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/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7071" r="-505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9E1037D-DCF4-742C-C10D-881E88F8B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4841" y="454292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7C7CF34-97C2-813A-BB7D-EABD96DB7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8886" y="243449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85EE7E3-F028-D8DB-C0BE-62440AB9F8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6632" y="4535199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0A73A97-3354-E3D6-23C5-C7940126A5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83449" y="238784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A6FCFD26-C402-F391-79FC-13868355D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82719" y="452575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E0BC8338-C695-F666-253B-4B45DE02A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71602" y="2182166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E6B0A61-FBA9-8435-CCFC-7D1DF30D318B}"/>
                </a:ext>
              </a:extLst>
            </p:cNvPr>
            <p:cNvCxnSpPr/>
            <p:nvPr/>
          </p:nvCxnSpPr>
          <p:spPr>
            <a:xfrm flipH="1">
              <a:off x="2495550" y="2575082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86C4D31-E84F-CC7F-C215-2EEC9940BC73}"/>
                </a:ext>
              </a:extLst>
            </p:cNvPr>
            <p:cNvCxnSpPr/>
            <p:nvPr/>
          </p:nvCxnSpPr>
          <p:spPr>
            <a:xfrm flipH="1">
              <a:off x="4707062" y="2616794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B22FD53-A877-E83E-ECD4-DB72550C6E5A}"/>
                </a:ext>
              </a:extLst>
            </p:cNvPr>
            <p:cNvCxnSpPr/>
            <p:nvPr/>
          </p:nvCxnSpPr>
          <p:spPr>
            <a:xfrm flipH="1">
              <a:off x="7278073" y="2598885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/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203155.26 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/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336422.24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/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461424.04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D7A3A1D-3465-D7A9-F1A5-99E0FB3552B2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2495550" y="468332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EEE5A52-27F4-0200-813A-FEB0E2ABF184}"/>
                </a:ext>
              </a:extLst>
            </p:cNvPr>
            <p:cNvCxnSpPr/>
            <p:nvPr/>
          </p:nvCxnSpPr>
          <p:spPr>
            <a:xfrm>
              <a:off x="4688149" y="469547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393CF8A-29B9-648D-62AC-BFB07C87D32D}"/>
                </a:ext>
              </a:extLst>
            </p:cNvPr>
            <p:cNvCxnSpPr/>
            <p:nvPr/>
          </p:nvCxnSpPr>
          <p:spPr>
            <a:xfrm>
              <a:off x="7297218" y="4703185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FA9132F-6F7E-23C4-14E5-33D6C2F1F350}"/>
                </a:ext>
              </a:extLst>
            </p:cNvPr>
            <p:cNvCxnSpPr/>
            <p:nvPr/>
          </p:nvCxnSpPr>
          <p:spPr>
            <a:xfrm>
              <a:off x="7890166" y="2599366"/>
              <a:ext cx="611640" cy="7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/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latin typeface="Cambria Math" panose="02040503050406030204" pitchFamily="18" charset="0"/>
                          </a:rPr>
                          <m:t>166217.94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/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275254.54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/>
                <p:nvPr/>
              </p:nvSpPr>
              <p:spPr>
                <a:xfrm>
                  <a:off x="8306649" y="2279251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377528.76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6649" y="2279251"/>
                  <a:ext cx="178765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8B01C196-2B02-F968-6CF2-C66FEE2B3A87}"/>
              </a:ext>
            </a:extLst>
          </p:cNvPr>
          <p:cNvSpPr/>
          <p:nvPr/>
        </p:nvSpPr>
        <p:spPr>
          <a:xfrm>
            <a:off x="8699869" y="4108701"/>
            <a:ext cx="36000" cy="129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364595-C568-22A9-3697-2307CC996DBD}"/>
              </a:ext>
            </a:extLst>
          </p:cNvPr>
          <p:cNvSpPr/>
          <p:nvPr/>
        </p:nvSpPr>
        <p:spPr>
          <a:xfrm>
            <a:off x="9053470" y="3753363"/>
            <a:ext cx="2196000" cy="3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Flecha: curvada hacia la izquierda 9">
            <a:extLst>
              <a:ext uri="{FF2B5EF4-FFF2-40B4-BE49-F238E27FC236}">
                <a16:creationId xmlns:a16="http://schemas.microsoft.com/office/drawing/2014/main" id="{9034D55D-3409-17DB-8AB0-03CF1DA3FF1D}"/>
              </a:ext>
            </a:extLst>
          </p:cNvPr>
          <p:cNvSpPr/>
          <p:nvPr/>
        </p:nvSpPr>
        <p:spPr>
          <a:xfrm rot="16200000">
            <a:off x="8618194" y="3840196"/>
            <a:ext cx="296652" cy="637085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8" name="Flecha: curvada hacia la izquierda 27">
            <a:extLst>
              <a:ext uri="{FF2B5EF4-FFF2-40B4-BE49-F238E27FC236}">
                <a16:creationId xmlns:a16="http://schemas.microsoft.com/office/drawing/2014/main" id="{372DC335-4309-670E-3218-B50D890A5D88}"/>
              </a:ext>
            </a:extLst>
          </p:cNvPr>
          <p:cNvSpPr/>
          <p:nvPr/>
        </p:nvSpPr>
        <p:spPr>
          <a:xfrm flipH="1">
            <a:off x="8901692" y="3565647"/>
            <a:ext cx="322617" cy="492032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ABEE691-72B4-860D-6C22-1BBD84AEA537}"/>
              </a:ext>
            </a:extLst>
          </p:cNvPr>
          <p:cNvSpPr txBox="1"/>
          <p:nvPr/>
        </p:nvSpPr>
        <p:spPr>
          <a:xfrm>
            <a:off x="8248998" y="2725934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Nudo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/>
              <p:nvPr/>
            </p:nvSpPr>
            <p:spPr>
              <a:xfrm>
                <a:off x="8780611" y="4301880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𝟏𝟔𝟔𝟐𝟏𝟕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𝟗𝟒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611" y="4301880"/>
                <a:ext cx="1787658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076B2B4-65DE-94BD-8DBC-7D6604DA9B5A}"/>
                  </a:ext>
                </a:extLst>
              </p:cNvPr>
              <p:cNvSpPr txBox="1"/>
              <p:nvPr/>
            </p:nvSpPr>
            <p:spPr>
              <a:xfrm>
                <a:off x="8699869" y="3255315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𝟏𝟔𝟔𝟐𝟏𝟕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𝟗𝟒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076B2B4-65DE-94BD-8DBC-7D6604DA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869" y="3255315"/>
                <a:ext cx="1787658" cy="276999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39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5° Determinando los momentos en las vigas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87812BD-D3B2-09CE-8F5D-F11E0F89BFF8}"/>
              </a:ext>
            </a:extLst>
          </p:cNvPr>
          <p:cNvGrpSpPr/>
          <p:nvPr/>
        </p:nvGrpSpPr>
        <p:grpSpPr>
          <a:xfrm>
            <a:off x="169448" y="2122447"/>
            <a:ext cx="8685440" cy="3383524"/>
            <a:chOff x="1120928" y="2231859"/>
            <a:chExt cx="8685440" cy="3383524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9CA78886-A7FD-AE02-37F7-0C0CCF0C2F59}"/>
                </a:ext>
              </a:extLst>
            </p:cNvPr>
            <p:cNvGrpSpPr/>
            <p:nvPr/>
          </p:nvGrpSpPr>
          <p:grpSpPr>
            <a:xfrm>
              <a:off x="3089190" y="2563963"/>
              <a:ext cx="4765331" cy="2127238"/>
              <a:chOff x="948234" y="2708275"/>
              <a:chExt cx="4325364" cy="180022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591A557-A5F7-4CBA-09FE-71FBD690CEFF}"/>
                  </a:ext>
                </a:extLst>
              </p:cNvPr>
              <p:cNvSpPr/>
              <p:nvPr/>
            </p:nvSpPr>
            <p:spPr>
              <a:xfrm>
                <a:off x="948234" y="2708501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A928123-7E5F-1221-BD2E-0CC0AD02845C}"/>
                  </a:ext>
                </a:extLst>
              </p:cNvPr>
              <p:cNvSpPr/>
              <p:nvPr/>
            </p:nvSpPr>
            <p:spPr>
              <a:xfrm>
                <a:off x="948234" y="2708275"/>
                <a:ext cx="4320224" cy="30466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7623EEFD-2E34-4DAB-F0D2-7F9659A7AB1F}"/>
                  </a:ext>
                </a:extLst>
              </p:cNvPr>
              <p:cNvSpPr/>
              <p:nvPr/>
            </p:nvSpPr>
            <p:spPr>
              <a:xfrm>
                <a:off x="2930801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93E2F262-4429-D3CA-EF33-DAC02D70E59F}"/>
                  </a:ext>
                </a:extLst>
              </p:cNvPr>
              <p:cNvSpPr/>
              <p:nvPr/>
            </p:nvSpPr>
            <p:spPr>
              <a:xfrm>
                <a:off x="5240922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</p:grp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080CC27A-86D5-4C04-1E41-D2BCC4820248}"/>
                </a:ext>
              </a:extLst>
            </p:cNvPr>
            <p:cNvCxnSpPr/>
            <p:nvPr/>
          </p:nvCxnSpPr>
          <p:spPr>
            <a:xfrm>
              <a:off x="1699018" y="2545804"/>
              <a:ext cx="0" cy="22319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AD104A9-4090-C7F4-AE3C-AB94C762D079}"/>
                </a:ext>
              </a:extLst>
            </p:cNvPr>
            <p:cNvCxnSpPr/>
            <p:nvPr/>
          </p:nvCxnSpPr>
          <p:spPr>
            <a:xfrm>
              <a:off x="1554680" y="2617515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5620940-E85C-7353-9024-79B21A1D0765}"/>
                </a:ext>
              </a:extLst>
            </p:cNvPr>
            <p:cNvCxnSpPr/>
            <p:nvPr/>
          </p:nvCxnSpPr>
          <p:spPr>
            <a:xfrm>
              <a:off x="1553994" y="4671872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/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8081" r="-4040" b="-487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71B9F33-7E7E-BC5A-8DA9-FB99C93E4277}"/>
                </a:ext>
              </a:extLst>
            </p:cNvPr>
            <p:cNvCxnSpPr>
              <a:cxnSpLocks/>
            </p:cNvCxnSpPr>
            <p:nvPr/>
          </p:nvCxnSpPr>
          <p:spPr>
            <a:xfrm>
              <a:off x="2905367" y="5461908"/>
              <a:ext cx="5155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3F4C13-E5AE-5166-7972-8F3EEFC4CAFF}"/>
                </a:ext>
              </a:extLst>
            </p:cNvPr>
            <p:cNvCxnSpPr/>
            <p:nvPr/>
          </p:nvCxnSpPr>
          <p:spPr>
            <a:xfrm>
              <a:off x="3180315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56D5FBA-A5F6-DB75-488F-61E4A7C34C5B}"/>
                </a:ext>
              </a:extLst>
            </p:cNvPr>
            <p:cNvCxnSpPr/>
            <p:nvPr/>
          </p:nvCxnSpPr>
          <p:spPr>
            <a:xfrm>
              <a:off x="5364544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39E69DF-9D75-EEEC-D411-99A4169FAFD4}"/>
                </a:ext>
              </a:extLst>
            </p:cNvPr>
            <p:cNvCxnSpPr/>
            <p:nvPr/>
          </p:nvCxnSpPr>
          <p:spPr>
            <a:xfrm>
              <a:off x="7780646" y="5317892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/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𝟖𝟎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6723" r="-336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/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7071" r="-505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9E1037D-DCF4-742C-C10D-881E88F8B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4841" y="454292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7C7CF34-97C2-813A-BB7D-EABD96DB7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8886" y="243449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85EE7E3-F028-D8DB-C0BE-62440AB9F8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6632" y="4535199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0A73A97-3354-E3D6-23C5-C7940126A5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83449" y="238784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A6FCFD26-C402-F391-79FC-13868355D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82719" y="452575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E0BC8338-C695-F666-253B-4B45DE02A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2858" y="2260470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E6B0A61-FBA9-8435-CCFC-7D1DF30D318B}"/>
                </a:ext>
              </a:extLst>
            </p:cNvPr>
            <p:cNvCxnSpPr/>
            <p:nvPr/>
          </p:nvCxnSpPr>
          <p:spPr>
            <a:xfrm flipH="1">
              <a:off x="2495550" y="2575082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86C4D31-E84F-CC7F-C215-2EEC9940BC73}"/>
                </a:ext>
              </a:extLst>
            </p:cNvPr>
            <p:cNvCxnSpPr/>
            <p:nvPr/>
          </p:nvCxnSpPr>
          <p:spPr>
            <a:xfrm flipH="1">
              <a:off x="4707062" y="2616794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B22FD53-A877-E83E-ECD4-DB72550C6E5A}"/>
                </a:ext>
              </a:extLst>
            </p:cNvPr>
            <p:cNvCxnSpPr/>
            <p:nvPr/>
          </p:nvCxnSpPr>
          <p:spPr>
            <a:xfrm flipH="1">
              <a:off x="7278073" y="2598885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/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203155.26 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/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336422.24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/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461424.04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D7A3A1D-3465-D7A9-F1A5-99E0FB3552B2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2495550" y="468332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EEE5A52-27F4-0200-813A-FEB0E2ABF184}"/>
                </a:ext>
              </a:extLst>
            </p:cNvPr>
            <p:cNvCxnSpPr/>
            <p:nvPr/>
          </p:nvCxnSpPr>
          <p:spPr>
            <a:xfrm>
              <a:off x="4688149" y="469547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393CF8A-29B9-648D-62AC-BFB07C87D32D}"/>
                </a:ext>
              </a:extLst>
            </p:cNvPr>
            <p:cNvCxnSpPr/>
            <p:nvPr/>
          </p:nvCxnSpPr>
          <p:spPr>
            <a:xfrm>
              <a:off x="7297218" y="4703185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FA9132F-6F7E-23C4-14E5-33D6C2F1F350}"/>
                </a:ext>
              </a:extLst>
            </p:cNvPr>
            <p:cNvCxnSpPr/>
            <p:nvPr/>
          </p:nvCxnSpPr>
          <p:spPr>
            <a:xfrm>
              <a:off x="7890166" y="2599366"/>
              <a:ext cx="611640" cy="7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/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latin typeface="Cambria Math" panose="02040503050406030204" pitchFamily="18" charset="0"/>
                          </a:rPr>
                          <m:t>166217.94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/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275254.54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/>
                <p:nvPr/>
              </p:nvSpPr>
              <p:spPr>
                <a:xfrm>
                  <a:off x="8018710" y="2317254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377528.76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8710" y="2317254"/>
                  <a:ext cx="178765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8B01C196-2B02-F968-6CF2-C66FEE2B3A87}"/>
              </a:ext>
            </a:extLst>
          </p:cNvPr>
          <p:cNvSpPr/>
          <p:nvPr/>
        </p:nvSpPr>
        <p:spPr>
          <a:xfrm>
            <a:off x="9865945" y="5505518"/>
            <a:ext cx="36000" cy="1044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364595-C568-22A9-3697-2307CC996DBD}"/>
              </a:ext>
            </a:extLst>
          </p:cNvPr>
          <p:cNvSpPr/>
          <p:nvPr/>
        </p:nvSpPr>
        <p:spPr>
          <a:xfrm>
            <a:off x="10219546" y="5150180"/>
            <a:ext cx="1440000" cy="3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Flecha: curvada hacia la izquierda 9">
            <a:extLst>
              <a:ext uri="{FF2B5EF4-FFF2-40B4-BE49-F238E27FC236}">
                <a16:creationId xmlns:a16="http://schemas.microsoft.com/office/drawing/2014/main" id="{9034D55D-3409-17DB-8AB0-03CF1DA3FF1D}"/>
              </a:ext>
            </a:extLst>
          </p:cNvPr>
          <p:cNvSpPr/>
          <p:nvPr/>
        </p:nvSpPr>
        <p:spPr>
          <a:xfrm rot="16200000">
            <a:off x="9784270" y="5237013"/>
            <a:ext cx="296652" cy="637085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8" name="Flecha: curvada hacia la izquierda 27">
            <a:extLst>
              <a:ext uri="{FF2B5EF4-FFF2-40B4-BE49-F238E27FC236}">
                <a16:creationId xmlns:a16="http://schemas.microsoft.com/office/drawing/2014/main" id="{372DC335-4309-670E-3218-B50D890A5D88}"/>
              </a:ext>
            </a:extLst>
          </p:cNvPr>
          <p:cNvSpPr/>
          <p:nvPr/>
        </p:nvSpPr>
        <p:spPr>
          <a:xfrm flipH="1">
            <a:off x="10067768" y="4962464"/>
            <a:ext cx="322617" cy="492032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ABEE691-72B4-860D-6C22-1BBD84AEA537}"/>
              </a:ext>
            </a:extLst>
          </p:cNvPr>
          <p:cNvSpPr txBox="1"/>
          <p:nvPr/>
        </p:nvSpPr>
        <p:spPr>
          <a:xfrm>
            <a:off x="9180450" y="2049952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Nudo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/>
              <p:nvPr/>
            </p:nvSpPr>
            <p:spPr>
              <a:xfrm>
                <a:off x="9946687" y="5698697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𝟐𝟕𝟓𝟐𝟓𝟒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𝟓𝟒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687" y="5698697"/>
                <a:ext cx="1787658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ángulo 37">
            <a:extLst>
              <a:ext uri="{FF2B5EF4-FFF2-40B4-BE49-F238E27FC236}">
                <a16:creationId xmlns:a16="http://schemas.microsoft.com/office/drawing/2014/main" id="{FAADC74B-E587-25CA-FCB7-4A74EB5849D7}"/>
              </a:ext>
            </a:extLst>
          </p:cNvPr>
          <p:cNvSpPr/>
          <p:nvPr/>
        </p:nvSpPr>
        <p:spPr>
          <a:xfrm>
            <a:off x="8263702" y="5172480"/>
            <a:ext cx="1440000" cy="3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Flecha: curvada hacia la izquierda 42">
            <a:extLst>
              <a:ext uri="{FF2B5EF4-FFF2-40B4-BE49-F238E27FC236}">
                <a16:creationId xmlns:a16="http://schemas.microsoft.com/office/drawing/2014/main" id="{630C37D3-3EBA-64DF-8960-32F632103176}"/>
              </a:ext>
            </a:extLst>
          </p:cNvPr>
          <p:cNvSpPr/>
          <p:nvPr/>
        </p:nvSpPr>
        <p:spPr>
          <a:xfrm>
            <a:off x="9566823" y="4978347"/>
            <a:ext cx="273481" cy="492032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1031225B-658B-1B68-7B0F-7B65FA7FCAAD}"/>
                  </a:ext>
                </a:extLst>
              </p:cNvPr>
              <p:cNvSpPr txBox="1"/>
              <p:nvPr/>
            </p:nvSpPr>
            <p:spPr>
              <a:xfrm>
                <a:off x="8085613" y="4724266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𝟏𝟒𝟒𝟓𝟎𝟖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𝟔𝟑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1031225B-658B-1B68-7B0F-7B65FA7F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613" y="4724266"/>
                <a:ext cx="1787658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4233A65-F7F6-5977-C5D9-9C53A8869918}"/>
                  </a:ext>
                </a:extLst>
              </p:cNvPr>
              <p:cNvSpPr txBox="1"/>
              <p:nvPr/>
            </p:nvSpPr>
            <p:spPr>
              <a:xfrm>
                <a:off x="10219546" y="4715463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PE" sz="1200" b="1" i="1">
                        <a:latin typeface="Cambria Math" panose="02040503050406030204" pitchFamily="18" charset="0"/>
                      </a:rPr>
                      <m:t>𝟏𝟑𝟎𝟕𝟒𝟓</m:t>
                    </m:r>
                    <m:r>
                      <a:rPr lang="es-PE" sz="1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PE" sz="1200" b="1" i="1">
                        <a:latin typeface="Cambria Math" panose="02040503050406030204" pitchFamily="18" charset="0"/>
                      </a:rPr>
                      <m:t>𝟗𝟏</m:t>
                    </m:r>
                    <m:r>
                      <a:rPr lang="es-PE" sz="1200" b="1" i="1">
                        <a:latin typeface="Cambria Math" panose="02040503050406030204" pitchFamily="18" charset="0"/>
                      </a:rPr>
                      <m:t>𝑲𝒈𝒇</m:t>
                    </m:r>
                    <m:r>
                      <a:rPr lang="es-PE" sz="1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PE" sz="1200" b="1" i="1">
                        <a:latin typeface="Cambria Math" panose="02040503050406030204" pitchFamily="18" charset="0"/>
                      </a:rPr>
                      <m:t>𝒄𝒎</m:t>
                    </m:r>
                  </m:oMath>
                </a14:m>
                <a:r>
                  <a:rPr lang="es-PE" sz="1200" b="1" dirty="0">
                    <a:solidFill>
                      <a:schemeClr val="tx1"/>
                    </a:solidFill>
                  </a:rPr>
                  <a:t>|</a:t>
                </a:r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4233A65-F7F6-5977-C5D9-9C53A8869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546" y="4715463"/>
                <a:ext cx="1787658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481C070-9462-B32D-D355-26F6F7C39FBB}"/>
                  </a:ext>
                </a:extLst>
              </p:cNvPr>
              <p:cNvSpPr txBox="1"/>
              <p:nvPr/>
            </p:nvSpPr>
            <p:spPr>
              <a:xfrm>
                <a:off x="7961672" y="2943073"/>
                <a:ext cx="4069704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275254.54</m:t>
                      </m:r>
                      <m:d>
                        <m:dPr>
                          <m:ctrlPr>
                            <a:rPr lang="es-P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144508.63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sz="14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481C070-9462-B32D-D355-26F6F7C39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672" y="2943073"/>
                <a:ext cx="4069704" cy="719428"/>
              </a:xfrm>
              <a:prstGeom prst="rect">
                <a:avLst/>
              </a:prstGeom>
              <a:blipFill>
                <a:blip r:embed="rId14"/>
                <a:stretch>
                  <a:fillRect b="-84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B3D694D0-8D98-88B7-2C3F-60B1B45DAAE1}"/>
                  </a:ext>
                </a:extLst>
              </p:cNvPr>
              <p:cNvSpPr txBox="1"/>
              <p:nvPr/>
            </p:nvSpPr>
            <p:spPr>
              <a:xfrm>
                <a:off x="7987885" y="3700188"/>
                <a:ext cx="4064254" cy="718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275254.54</m:t>
                      </m:r>
                      <m:d>
                        <m:dPr>
                          <m:ctrlPr>
                            <a:rPr lang="es-P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b="0" i="1" smtClean="0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  <m:t>3.8</m:t>
                                  </m:r>
                                </m:den>
                              </m:f>
                              <m:r>
                                <a:rPr lang="es-PE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400" i="1">
                                      <a:latin typeface="Cambria Math" panose="02040503050406030204" pitchFamily="18" charset="0"/>
                                    </a:rPr>
                                    <m:t>4.2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130745.91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sz="140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B3D694D0-8D98-88B7-2C3F-60B1B45DA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885" y="3700188"/>
                <a:ext cx="4064254" cy="718017"/>
              </a:xfrm>
              <a:prstGeom prst="rect">
                <a:avLst/>
              </a:prstGeom>
              <a:blipFill>
                <a:blip r:embed="rId15"/>
                <a:stretch>
                  <a:fillRect b="-84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B441BC46-A267-3267-661D-6B8140855B52}"/>
                  </a:ext>
                </a:extLst>
              </p:cNvPr>
              <p:cNvSpPr txBox="1"/>
              <p:nvPr/>
            </p:nvSpPr>
            <p:spPr>
              <a:xfrm>
                <a:off x="8036978" y="2561839"/>
                <a:ext cx="1023805" cy="2814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sub>
                      </m:sSub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3.8</m:t>
                          </m:r>
                        </m:den>
                      </m:f>
                    </m:oMath>
                  </m:oMathPara>
                </a14:m>
                <a:endParaRPr lang="es-PE" sz="1400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B441BC46-A267-3267-661D-6B814085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6978" y="2561839"/>
                <a:ext cx="1023805" cy="281487"/>
              </a:xfrm>
              <a:prstGeom prst="rect">
                <a:avLst/>
              </a:prstGeom>
              <a:blipFill>
                <a:blip r:embed="rId16"/>
                <a:stretch>
                  <a:fillRect l="-3571" t="-158696" r="-44048" b="-24565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701492E7-FB44-46E2-DDE1-BE66761854F0}"/>
                  </a:ext>
                </a:extLst>
              </p:cNvPr>
              <p:cNvSpPr txBox="1"/>
              <p:nvPr/>
            </p:nvSpPr>
            <p:spPr>
              <a:xfrm>
                <a:off x="9873271" y="2548960"/>
                <a:ext cx="1018676" cy="280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𝐷𝐹</m:t>
                          </m:r>
                        </m:sub>
                      </m:sSub>
                      <m:r>
                        <a:rPr lang="es-PE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PE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sz="1400" b="0" i="1" smtClean="0">
                              <a:latin typeface="Cambria Math" panose="02040503050406030204" pitchFamily="18" charset="0"/>
                            </a:rPr>
                            <m:t>4.2</m:t>
                          </m:r>
                        </m:den>
                      </m:f>
                    </m:oMath>
                  </m:oMathPara>
                </a14:m>
                <a:endParaRPr lang="es-PE" sz="1400" dirty="0"/>
              </a:p>
            </p:txBody>
          </p:sp>
        </mc:Choice>
        <mc:Fallback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701492E7-FB44-46E2-DDE1-BE6676185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271" y="2548960"/>
                <a:ext cx="1018676" cy="280077"/>
              </a:xfrm>
              <a:prstGeom prst="rect">
                <a:avLst/>
              </a:prstGeom>
              <a:blipFill>
                <a:blip r:embed="rId17"/>
                <a:stretch>
                  <a:fillRect l="-3593" t="-158696" r="-43713" b="-24565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04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5° Determinando los momentos en las vigas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87812BD-D3B2-09CE-8F5D-F11E0F89BFF8}"/>
              </a:ext>
            </a:extLst>
          </p:cNvPr>
          <p:cNvGrpSpPr/>
          <p:nvPr/>
        </p:nvGrpSpPr>
        <p:grpSpPr>
          <a:xfrm>
            <a:off x="169448" y="2072754"/>
            <a:ext cx="8973379" cy="3433217"/>
            <a:chOff x="1120928" y="2182166"/>
            <a:chExt cx="8973379" cy="3433217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9CA78886-A7FD-AE02-37F7-0C0CCF0C2F59}"/>
                </a:ext>
              </a:extLst>
            </p:cNvPr>
            <p:cNvGrpSpPr/>
            <p:nvPr/>
          </p:nvGrpSpPr>
          <p:grpSpPr>
            <a:xfrm>
              <a:off x="3089190" y="2563963"/>
              <a:ext cx="4765331" cy="2127238"/>
              <a:chOff x="948234" y="2708275"/>
              <a:chExt cx="4325364" cy="180022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591A557-A5F7-4CBA-09FE-71FBD690CEFF}"/>
                  </a:ext>
                </a:extLst>
              </p:cNvPr>
              <p:cNvSpPr/>
              <p:nvPr/>
            </p:nvSpPr>
            <p:spPr>
              <a:xfrm>
                <a:off x="948234" y="2708501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4A928123-7E5F-1221-BD2E-0CC0AD02845C}"/>
                  </a:ext>
                </a:extLst>
              </p:cNvPr>
              <p:cNvSpPr/>
              <p:nvPr/>
            </p:nvSpPr>
            <p:spPr>
              <a:xfrm>
                <a:off x="948234" y="2708275"/>
                <a:ext cx="4320224" cy="30466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7623EEFD-2E34-4DAB-F0D2-7F9659A7AB1F}"/>
                  </a:ext>
                </a:extLst>
              </p:cNvPr>
              <p:cNvSpPr/>
              <p:nvPr/>
            </p:nvSpPr>
            <p:spPr>
              <a:xfrm>
                <a:off x="2930801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93E2F262-4429-D3CA-EF33-DAC02D70E59F}"/>
                  </a:ext>
                </a:extLst>
              </p:cNvPr>
              <p:cNvSpPr/>
              <p:nvPr/>
            </p:nvSpPr>
            <p:spPr>
              <a:xfrm>
                <a:off x="5240922" y="2708275"/>
                <a:ext cx="32676" cy="1800000"/>
              </a:xfrm>
              <a:prstGeom prst="rect">
                <a:avLst/>
              </a:prstGeom>
              <a:pattFill prst="lgConfetti">
                <a:fgClr>
                  <a:schemeClr val="tx1">
                    <a:lumMod val="65000"/>
                    <a:lumOff val="35000"/>
                  </a:schemeClr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 dirty="0"/>
              </a:p>
            </p:txBody>
          </p:sp>
        </p:grp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080CC27A-86D5-4C04-1E41-D2BCC4820248}"/>
                </a:ext>
              </a:extLst>
            </p:cNvPr>
            <p:cNvCxnSpPr/>
            <p:nvPr/>
          </p:nvCxnSpPr>
          <p:spPr>
            <a:xfrm>
              <a:off x="1699018" y="2545804"/>
              <a:ext cx="0" cy="22319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AD104A9-4090-C7F4-AE3C-AB94C762D079}"/>
                </a:ext>
              </a:extLst>
            </p:cNvPr>
            <p:cNvCxnSpPr/>
            <p:nvPr/>
          </p:nvCxnSpPr>
          <p:spPr>
            <a:xfrm>
              <a:off x="1554680" y="2617515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5620940-E85C-7353-9024-79B21A1D0765}"/>
                </a:ext>
              </a:extLst>
            </p:cNvPr>
            <p:cNvCxnSpPr/>
            <p:nvPr/>
          </p:nvCxnSpPr>
          <p:spPr>
            <a:xfrm>
              <a:off x="1553994" y="4671872"/>
              <a:ext cx="360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/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C4CE2AAD-27CD-0669-CB13-3520B9641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928" y="3434625"/>
                  <a:ext cx="60484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8081" r="-4040" b="-487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471B9F33-7E7E-BC5A-8DA9-FB99C93E4277}"/>
                </a:ext>
              </a:extLst>
            </p:cNvPr>
            <p:cNvCxnSpPr>
              <a:cxnSpLocks/>
            </p:cNvCxnSpPr>
            <p:nvPr/>
          </p:nvCxnSpPr>
          <p:spPr>
            <a:xfrm>
              <a:off x="2905367" y="5461908"/>
              <a:ext cx="5155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3F4C13-E5AE-5166-7972-8F3EEFC4CAFF}"/>
                </a:ext>
              </a:extLst>
            </p:cNvPr>
            <p:cNvCxnSpPr/>
            <p:nvPr/>
          </p:nvCxnSpPr>
          <p:spPr>
            <a:xfrm>
              <a:off x="3180315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56D5FBA-A5F6-DB75-488F-61E4A7C34C5B}"/>
                </a:ext>
              </a:extLst>
            </p:cNvPr>
            <p:cNvCxnSpPr/>
            <p:nvPr/>
          </p:nvCxnSpPr>
          <p:spPr>
            <a:xfrm>
              <a:off x="5364544" y="5327351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239E69DF-9D75-EEEC-D411-99A4169FAFD4}"/>
                </a:ext>
              </a:extLst>
            </p:cNvPr>
            <p:cNvCxnSpPr/>
            <p:nvPr/>
          </p:nvCxnSpPr>
          <p:spPr>
            <a:xfrm>
              <a:off x="7780646" y="5317892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/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𝟖𝟎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E1178952-9857-724F-9E8F-D44B6C8C9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831" y="5185323"/>
                  <a:ext cx="728276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6723" r="-336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/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PE" sz="1600" b="1" i="1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0444697-E614-FACA-5D9D-D753E2610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235" y="5138334"/>
                  <a:ext cx="604846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7071" r="-5051" b="-5000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9E1037D-DCF4-742C-C10D-881E88F8B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34841" y="454292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7C7CF34-97C2-813A-BB7D-EABD96DB7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8886" y="243449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85EE7E3-F028-D8DB-C0BE-62440AB9F8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6632" y="4535199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0A73A97-3354-E3D6-23C5-C7940126A5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83449" y="238784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A6FCFD26-C402-F391-79FC-13868355D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82719" y="4525755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E0BC8338-C695-F666-253B-4B45DE02A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71602" y="2182166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E6B0A61-FBA9-8435-CCFC-7D1DF30D318B}"/>
                </a:ext>
              </a:extLst>
            </p:cNvPr>
            <p:cNvCxnSpPr/>
            <p:nvPr/>
          </p:nvCxnSpPr>
          <p:spPr>
            <a:xfrm flipH="1">
              <a:off x="2495550" y="2575082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86C4D31-E84F-CC7F-C215-2EEC9940BC73}"/>
                </a:ext>
              </a:extLst>
            </p:cNvPr>
            <p:cNvCxnSpPr/>
            <p:nvPr/>
          </p:nvCxnSpPr>
          <p:spPr>
            <a:xfrm flipH="1">
              <a:off x="4707062" y="2616794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B22FD53-A877-E83E-ECD4-DB72550C6E5A}"/>
                </a:ext>
              </a:extLst>
            </p:cNvPr>
            <p:cNvCxnSpPr/>
            <p:nvPr/>
          </p:nvCxnSpPr>
          <p:spPr>
            <a:xfrm flipH="1">
              <a:off x="7278073" y="2598885"/>
              <a:ext cx="1224186" cy="21082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/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203155.26 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D9A6174-D9E8-4413-8A54-50F8F22E9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074" y="4864920"/>
                  <a:ext cx="1787658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/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336422.24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814B5C0C-67C4-1FC2-443D-D8A2BD967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5326" y="4881032"/>
                  <a:ext cx="1787658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/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461424.04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2822E8C-9AC3-8B9A-9221-95FA9A4A4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37" y="4912312"/>
                  <a:ext cx="1787658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D7A3A1D-3465-D7A9-F1A5-99E0FB3552B2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2495550" y="468332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EEE5A52-27F4-0200-813A-FEB0E2ABF184}"/>
                </a:ext>
              </a:extLst>
            </p:cNvPr>
            <p:cNvCxnSpPr/>
            <p:nvPr/>
          </p:nvCxnSpPr>
          <p:spPr>
            <a:xfrm>
              <a:off x="4688149" y="4695471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393CF8A-29B9-648D-62AC-BFB07C87D32D}"/>
                </a:ext>
              </a:extLst>
            </p:cNvPr>
            <p:cNvCxnSpPr/>
            <p:nvPr/>
          </p:nvCxnSpPr>
          <p:spPr>
            <a:xfrm>
              <a:off x="7297218" y="4703185"/>
              <a:ext cx="6116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4FA9132F-6F7E-23C4-14E5-33D6C2F1F350}"/>
                </a:ext>
              </a:extLst>
            </p:cNvPr>
            <p:cNvCxnSpPr/>
            <p:nvPr/>
          </p:nvCxnSpPr>
          <p:spPr>
            <a:xfrm>
              <a:off x="7890166" y="2599366"/>
              <a:ext cx="611640" cy="7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/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latin typeface="Cambria Math" panose="02040503050406030204" pitchFamily="18" charset="0"/>
                          </a:rPr>
                          <m:t>166217.94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9E0E3688-58E1-EDB6-AAA4-4745C1A40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386" y="2231859"/>
                  <a:ext cx="1787658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/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275254.54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3693069B-0675-BF0E-1384-D6DACBDC8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638" y="2247971"/>
                  <a:ext cx="178765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/>
                <p:nvPr/>
              </p:nvSpPr>
              <p:spPr>
                <a:xfrm>
                  <a:off x="8306649" y="2279251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377528.76</m:t>
                        </m:r>
                        <m:r>
                          <a:rPr lang="es-PE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926EB41C-E84C-7AB0-9113-C535F2D2C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6649" y="2279251"/>
                  <a:ext cx="178765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8B01C196-2B02-F968-6CF2-C66FEE2B3A87}"/>
              </a:ext>
            </a:extLst>
          </p:cNvPr>
          <p:cNvSpPr/>
          <p:nvPr/>
        </p:nvSpPr>
        <p:spPr>
          <a:xfrm>
            <a:off x="10358430" y="3866071"/>
            <a:ext cx="36000" cy="129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364595-C568-22A9-3697-2307CC996DBD}"/>
              </a:ext>
            </a:extLst>
          </p:cNvPr>
          <p:cNvSpPr/>
          <p:nvPr/>
        </p:nvSpPr>
        <p:spPr>
          <a:xfrm>
            <a:off x="7851660" y="3625475"/>
            <a:ext cx="2196000" cy="36000"/>
          </a:xfrm>
          <a:prstGeom prst="rect">
            <a:avLst/>
          </a:prstGeom>
          <a:pattFill prst="lgConfetti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Flecha: curvada hacia la izquierda 9">
            <a:extLst>
              <a:ext uri="{FF2B5EF4-FFF2-40B4-BE49-F238E27FC236}">
                <a16:creationId xmlns:a16="http://schemas.microsoft.com/office/drawing/2014/main" id="{9034D55D-3409-17DB-8AB0-03CF1DA3FF1D}"/>
              </a:ext>
            </a:extLst>
          </p:cNvPr>
          <p:cNvSpPr/>
          <p:nvPr/>
        </p:nvSpPr>
        <p:spPr>
          <a:xfrm rot="16200000">
            <a:off x="10312387" y="3609710"/>
            <a:ext cx="296652" cy="637085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8" name="Flecha: curvada hacia la izquierda 27">
            <a:extLst>
              <a:ext uri="{FF2B5EF4-FFF2-40B4-BE49-F238E27FC236}">
                <a16:creationId xmlns:a16="http://schemas.microsoft.com/office/drawing/2014/main" id="{372DC335-4309-670E-3218-B50D890A5D88}"/>
              </a:ext>
            </a:extLst>
          </p:cNvPr>
          <p:cNvSpPr/>
          <p:nvPr/>
        </p:nvSpPr>
        <p:spPr>
          <a:xfrm rot="10800000" flipH="1">
            <a:off x="9866567" y="3374039"/>
            <a:ext cx="322617" cy="492032"/>
          </a:xfrm>
          <a:prstGeom prst="curved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ABEE691-72B4-860D-6C22-1BBD84AEA537}"/>
              </a:ext>
            </a:extLst>
          </p:cNvPr>
          <p:cNvSpPr txBox="1"/>
          <p:nvPr/>
        </p:nvSpPr>
        <p:spPr>
          <a:xfrm>
            <a:off x="7959498" y="2744540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Nudo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/>
              <p:nvPr/>
            </p:nvSpPr>
            <p:spPr>
              <a:xfrm>
                <a:off x="10436076" y="4137621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𝟑𝟕𝟕𝟓𝟐𝟖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𝟕𝟔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76694B2-8A0E-52A9-ED37-341204E9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76" y="4137621"/>
                <a:ext cx="1787658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076B2B4-65DE-94BD-8DBC-7D6604DA9B5A}"/>
                  </a:ext>
                </a:extLst>
              </p:cNvPr>
              <p:cNvSpPr txBox="1"/>
              <p:nvPr/>
            </p:nvSpPr>
            <p:spPr>
              <a:xfrm>
                <a:off x="8767162" y="3145532"/>
                <a:ext cx="1787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𝟑𝟕𝟕𝟓𝟐𝟖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𝟕𝟔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𝑲𝒈𝒇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sz="1200" b="1" i="1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s-PE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076B2B4-65DE-94BD-8DBC-7D6604DA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162" y="3145532"/>
                <a:ext cx="1787658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2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4B30-9B7A-4FF3-9506-6E2F889C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6° Grafica final</a:t>
            </a: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AFF5461D-E0D9-E8A9-EDE3-89FEC9B6BA52}"/>
              </a:ext>
            </a:extLst>
          </p:cNvPr>
          <p:cNvGrpSpPr/>
          <p:nvPr/>
        </p:nvGrpSpPr>
        <p:grpSpPr>
          <a:xfrm>
            <a:off x="1487488" y="2356394"/>
            <a:ext cx="9029280" cy="3952331"/>
            <a:chOff x="1487488" y="2356394"/>
            <a:chExt cx="9029280" cy="395233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87812BD-D3B2-09CE-8F5D-F11E0F89BFF8}"/>
                </a:ext>
              </a:extLst>
            </p:cNvPr>
            <p:cNvGrpSpPr/>
            <p:nvPr/>
          </p:nvGrpSpPr>
          <p:grpSpPr>
            <a:xfrm>
              <a:off x="1487488" y="2875508"/>
              <a:ext cx="9029280" cy="3433217"/>
              <a:chOff x="1120928" y="2182166"/>
              <a:chExt cx="9029280" cy="3433217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9CA78886-A7FD-AE02-37F7-0C0CCF0C2F59}"/>
                  </a:ext>
                </a:extLst>
              </p:cNvPr>
              <p:cNvGrpSpPr/>
              <p:nvPr/>
            </p:nvGrpSpPr>
            <p:grpSpPr>
              <a:xfrm>
                <a:off x="3089190" y="2563963"/>
                <a:ext cx="4765331" cy="2127238"/>
                <a:chOff x="948234" y="2708275"/>
                <a:chExt cx="4325364" cy="1800226"/>
              </a:xfrm>
            </p:grpSpPr>
            <p:sp>
              <p:nvSpPr>
                <p:cNvPr id="6" name="Rectángulo 5">
                  <a:extLst>
                    <a:ext uri="{FF2B5EF4-FFF2-40B4-BE49-F238E27FC236}">
                      <a16:creationId xmlns:a16="http://schemas.microsoft.com/office/drawing/2014/main" id="{F591A557-A5F7-4CBA-09FE-71FBD690CEFF}"/>
                    </a:ext>
                  </a:extLst>
                </p:cNvPr>
                <p:cNvSpPr/>
                <p:nvPr/>
              </p:nvSpPr>
              <p:spPr>
                <a:xfrm>
                  <a:off x="948234" y="2708501"/>
                  <a:ext cx="32676" cy="1800000"/>
                </a:xfrm>
                <a:prstGeom prst="rect">
                  <a:avLst/>
                </a:prstGeom>
                <a:pattFill prst="lgConfetti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/>
                </a:p>
              </p:txBody>
            </p:sp>
            <p:sp>
              <p:nvSpPr>
                <p:cNvPr id="7" name="Rectángulo 6">
                  <a:extLst>
                    <a:ext uri="{FF2B5EF4-FFF2-40B4-BE49-F238E27FC236}">
                      <a16:creationId xmlns:a16="http://schemas.microsoft.com/office/drawing/2014/main" id="{4A928123-7E5F-1221-BD2E-0CC0AD02845C}"/>
                    </a:ext>
                  </a:extLst>
                </p:cNvPr>
                <p:cNvSpPr/>
                <p:nvPr/>
              </p:nvSpPr>
              <p:spPr>
                <a:xfrm>
                  <a:off x="948234" y="2708275"/>
                  <a:ext cx="4320224" cy="30466"/>
                </a:xfrm>
                <a:prstGeom prst="rect">
                  <a:avLst/>
                </a:prstGeom>
                <a:pattFill prst="lgConfetti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7623EEFD-2E34-4DAB-F0D2-7F9659A7AB1F}"/>
                    </a:ext>
                  </a:extLst>
                </p:cNvPr>
                <p:cNvSpPr/>
                <p:nvPr/>
              </p:nvSpPr>
              <p:spPr>
                <a:xfrm>
                  <a:off x="2930801" y="2708275"/>
                  <a:ext cx="32676" cy="1800000"/>
                </a:xfrm>
                <a:prstGeom prst="rect">
                  <a:avLst/>
                </a:prstGeom>
                <a:pattFill prst="lgConfetti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/>
                </a:p>
              </p:txBody>
            </p:sp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93E2F262-4429-D3CA-EF33-DAC02D70E59F}"/>
                    </a:ext>
                  </a:extLst>
                </p:cNvPr>
                <p:cNvSpPr/>
                <p:nvPr/>
              </p:nvSpPr>
              <p:spPr>
                <a:xfrm>
                  <a:off x="5240922" y="2708275"/>
                  <a:ext cx="32676" cy="1800000"/>
                </a:xfrm>
                <a:prstGeom prst="rect">
                  <a:avLst/>
                </a:prstGeom>
                <a:pattFill prst="lgConfetti">
                  <a:fgClr>
                    <a:schemeClr val="tx1">
                      <a:lumMod val="65000"/>
                      <a:lumOff val="35000"/>
                    </a:schemeClr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 dirty="0"/>
                </a:p>
              </p:txBody>
            </p:sp>
          </p:grp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080CC27A-86D5-4C04-1E41-D2BCC4820248}"/>
                  </a:ext>
                </a:extLst>
              </p:cNvPr>
              <p:cNvCxnSpPr/>
              <p:nvPr/>
            </p:nvCxnSpPr>
            <p:spPr>
              <a:xfrm>
                <a:off x="1699018" y="2545804"/>
                <a:ext cx="0" cy="223195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DAD104A9-4090-C7F4-AE3C-AB94C762D079}"/>
                  </a:ext>
                </a:extLst>
              </p:cNvPr>
              <p:cNvCxnSpPr/>
              <p:nvPr/>
            </p:nvCxnSpPr>
            <p:spPr>
              <a:xfrm>
                <a:off x="1554680" y="2617515"/>
                <a:ext cx="3603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C5620940-E85C-7353-9024-79B21A1D0765}"/>
                  </a:ext>
                </a:extLst>
              </p:cNvPr>
              <p:cNvCxnSpPr/>
              <p:nvPr/>
            </p:nvCxnSpPr>
            <p:spPr>
              <a:xfrm>
                <a:off x="1553994" y="4671872"/>
                <a:ext cx="3603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CuadroTexto 14">
                    <a:extLst>
                      <a:ext uri="{FF2B5EF4-FFF2-40B4-BE49-F238E27FC236}">
                        <a16:creationId xmlns:a16="http://schemas.microsoft.com/office/drawing/2014/main" id="{C4CE2AAD-27CD-0669-CB13-3520B9641B5B}"/>
                      </a:ext>
                    </a:extLst>
                  </p:cNvPr>
                  <p:cNvSpPr txBox="1"/>
                  <p:nvPr/>
                </p:nvSpPr>
                <p:spPr>
                  <a:xfrm>
                    <a:off x="1120928" y="3434625"/>
                    <a:ext cx="60484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oMath>
                      </m:oMathPara>
                    </a14:m>
                    <a:endParaRPr lang="es-PE" sz="1600" b="1" i="1" dirty="0"/>
                  </a:p>
                </p:txBody>
              </p:sp>
            </mc:Choice>
            <mc:Fallback xmlns="">
              <p:sp>
                <p:nvSpPr>
                  <p:cNvPr id="15" name="CuadroTexto 14">
                    <a:extLst>
                      <a:ext uri="{FF2B5EF4-FFF2-40B4-BE49-F238E27FC236}">
                        <a16:creationId xmlns:a16="http://schemas.microsoft.com/office/drawing/2014/main" id="{C4CE2AAD-27CD-0669-CB13-3520B9641B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0928" y="3434625"/>
                    <a:ext cx="604846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7071" r="-5051" b="-4878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471B9F33-7E7E-BC5A-8DA9-FB99C93E42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5367" y="5461908"/>
                <a:ext cx="515525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003F4C13-E5AE-5166-7972-8F3EEFC4CAFF}"/>
                  </a:ext>
                </a:extLst>
              </p:cNvPr>
              <p:cNvCxnSpPr/>
              <p:nvPr/>
            </p:nvCxnSpPr>
            <p:spPr>
              <a:xfrm>
                <a:off x="3180315" y="5327351"/>
                <a:ext cx="0" cy="2880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F56D5FBA-A5F6-DB75-488F-61E4A7C34C5B}"/>
                  </a:ext>
                </a:extLst>
              </p:cNvPr>
              <p:cNvCxnSpPr/>
              <p:nvPr/>
            </p:nvCxnSpPr>
            <p:spPr>
              <a:xfrm>
                <a:off x="5364544" y="5327351"/>
                <a:ext cx="0" cy="2880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239E69DF-9D75-EEEC-D411-99A4169FAFD4}"/>
                  </a:ext>
                </a:extLst>
              </p:cNvPr>
              <p:cNvCxnSpPr/>
              <p:nvPr/>
            </p:nvCxnSpPr>
            <p:spPr>
              <a:xfrm>
                <a:off x="7780646" y="5317892"/>
                <a:ext cx="0" cy="2880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E1178952-9857-724F-9E8F-D44B6C8C9AC1}"/>
                      </a:ext>
                    </a:extLst>
                  </p:cNvPr>
                  <p:cNvSpPr txBox="1"/>
                  <p:nvPr/>
                </p:nvSpPr>
                <p:spPr>
                  <a:xfrm>
                    <a:off x="3937831" y="5185323"/>
                    <a:ext cx="72827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𝟖𝟎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oMath>
                      </m:oMathPara>
                    </a14:m>
                    <a:endParaRPr lang="es-PE" sz="1600" b="1" i="1" dirty="0"/>
                  </a:p>
                </p:txBody>
              </p:sp>
            </mc:Choice>
            <mc:Fallback xmlns=""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E1178952-9857-724F-9E8F-D44B6C8C9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7831" y="5185323"/>
                    <a:ext cx="728276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833" r="-3333" b="-4878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A0444697-E614-FACA-5D9D-D753E2610F28}"/>
                      </a:ext>
                    </a:extLst>
                  </p:cNvPr>
                  <p:cNvSpPr txBox="1"/>
                  <p:nvPr/>
                </p:nvSpPr>
                <p:spPr>
                  <a:xfrm>
                    <a:off x="6194235" y="5138334"/>
                    <a:ext cx="60484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1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oMath>
                      </m:oMathPara>
                    </a14:m>
                    <a:endParaRPr lang="es-PE" sz="1600" b="1" i="1" dirty="0"/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A0444697-E614-FACA-5D9D-D753E2610F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4235" y="5138334"/>
                    <a:ext cx="604846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071" r="-5051" b="-5000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29E1037D-DCF4-742C-C10D-881E88F8B2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34841" y="4542925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A7C7CF34-97C2-813A-BB7D-EABD96DB71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38886" y="2434492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285EE7E3-F028-D8DB-C0BE-62440AB9F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96632" y="4535199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F0A73A97-3354-E3D6-23C5-C7940126A5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67843" y="2658754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A6FCFD26-C402-F391-79FC-13868355DA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82719" y="4525755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E0BC8338-C695-F666-253B-4B45DE02AF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71602" y="2182166"/>
                <a:ext cx="252000" cy="252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dirty="0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CE6B0A61-FBA9-8435-CCFC-7D1DF30D318B}"/>
                  </a:ext>
                </a:extLst>
              </p:cNvPr>
              <p:cNvCxnSpPr/>
              <p:nvPr/>
            </p:nvCxnSpPr>
            <p:spPr>
              <a:xfrm flipH="1">
                <a:off x="2495550" y="2575082"/>
                <a:ext cx="1224186" cy="210823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E86C4D31-E84F-CC7F-C215-2EEC9940BC73}"/>
                  </a:ext>
                </a:extLst>
              </p:cNvPr>
              <p:cNvCxnSpPr/>
              <p:nvPr/>
            </p:nvCxnSpPr>
            <p:spPr>
              <a:xfrm flipH="1">
                <a:off x="4707062" y="2616794"/>
                <a:ext cx="1224186" cy="210823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9B22FD53-A877-E83E-ECD4-DB72550C6E5A}"/>
                  </a:ext>
                </a:extLst>
              </p:cNvPr>
              <p:cNvCxnSpPr/>
              <p:nvPr/>
            </p:nvCxnSpPr>
            <p:spPr>
              <a:xfrm flipH="1">
                <a:off x="7278073" y="2598885"/>
                <a:ext cx="1224186" cy="210823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7D9A6174-D9E8-4413-8A54-50F8F22E9E73}"/>
                      </a:ext>
                    </a:extLst>
                  </p:cNvPr>
                  <p:cNvSpPr txBox="1"/>
                  <p:nvPr/>
                </p:nvSpPr>
                <p:spPr>
                  <a:xfrm>
                    <a:off x="1921152" y="4728433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s-PE"/>
                    </a:defPPr>
                    <a:lvl1pPr>
                      <a:defRPr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>
                              <a:latin typeface="Cambria Math" panose="02040503050406030204" pitchFamily="18" charset="0"/>
                            </a:rPr>
                            <m:t>203155.26 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dirty="0"/>
                  </a:p>
                </p:txBody>
              </p:sp>
            </mc:Choice>
            <mc:Fallback xmlns="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7D9A6174-D9E8-4413-8A54-50F8F22E9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1152" y="4728433"/>
                    <a:ext cx="178765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522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814B5C0C-67C4-1FC2-443D-D8A2BD967CA4}"/>
                      </a:ext>
                    </a:extLst>
                  </p:cNvPr>
                  <p:cNvSpPr txBox="1"/>
                  <p:nvPr/>
                </p:nvSpPr>
                <p:spPr>
                  <a:xfrm>
                    <a:off x="4167033" y="4707124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s-PE"/>
                    </a:defPPr>
                    <a:lvl1pPr>
                      <a:defRPr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>
                              <a:latin typeface="Cambria Math" panose="02040503050406030204" pitchFamily="18" charset="0"/>
                            </a:rPr>
                            <m:t>336422.24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dirty="0"/>
                  </a:p>
                </p:txBody>
              </p:sp>
            </mc:Choice>
            <mc:Fallback xmlns="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814B5C0C-67C4-1FC2-443D-D8A2BD967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7033" y="4707124"/>
                    <a:ext cx="1787658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02822E8C-9AC3-8B9A-9221-95FA9A4A4AA9}"/>
                      </a:ext>
                    </a:extLst>
                  </p:cNvPr>
                  <p:cNvSpPr txBox="1"/>
                  <p:nvPr/>
                </p:nvSpPr>
                <p:spPr>
                  <a:xfrm>
                    <a:off x="6518991" y="4708509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s-PE"/>
                    </a:defPPr>
                    <a:lvl1pPr>
                      <a:defRPr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>
                              <a:latin typeface="Cambria Math" panose="02040503050406030204" pitchFamily="18" charset="0"/>
                            </a:rPr>
                            <m:t>461424.04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dirty="0"/>
                  </a:p>
                </p:txBody>
              </p:sp>
            </mc:Choice>
            <mc:Fallback xmlns="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02822E8C-9AC3-8B9A-9221-95FA9A4A4A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8991" y="4708509"/>
                    <a:ext cx="178765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22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CD7A3A1D-3465-D7A9-F1A5-99E0FB3552B2}"/>
                  </a:ext>
                </a:extLst>
              </p:cNvPr>
              <p:cNvCxnSpPr>
                <a:endCxn id="6" idx="2"/>
              </p:cNvCxnSpPr>
              <p:nvPr/>
            </p:nvCxnSpPr>
            <p:spPr>
              <a:xfrm>
                <a:off x="2495550" y="4683321"/>
                <a:ext cx="61164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CEEE5A52-27F4-0200-813A-FEB0E2ABF184}"/>
                  </a:ext>
                </a:extLst>
              </p:cNvPr>
              <p:cNvCxnSpPr/>
              <p:nvPr/>
            </p:nvCxnSpPr>
            <p:spPr>
              <a:xfrm>
                <a:off x="4688149" y="4695471"/>
                <a:ext cx="61164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6393CF8A-29B9-648D-62AC-BFB07C87D32D}"/>
                  </a:ext>
                </a:extLst>
              </p:cNvPr>
              <p:cNvCxnSpPr/>
              <p:nvPr/>
            </p:nvCxnSpPr>
            <p:spPr>
              <a:xfrm>
                <a:off x="7297218" y="4703185"/>
                <a:ext cx="61164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4FA9132F-6F7E-23C4-14E5-33D6C2F1F350}"/>
                  </a:ext>
                </a:extLst>
              </p:cNvPr>
              <p:cNvCxnSpPr/>
              <p:nvPr/>
            </p:nvCxnSpPr>
            <p:spPr>
              <a:xfrm>
                <a:off x="7890166" y="2599366"/>
                <a:ext cx="611640" cy="787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CuadroTexto 43">
                    <a:extLst>
                      <a:ext uri="{FF2B5EF4-FFF2-40B4-BE49-F238E27FC236}">
                        <a16:creationId xmlns:a16="http://schemas.microsoft.com/office/drawing/2014/main" id="{9E0E3688-58E1-EDB6-AAA4-4745C1A40FF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6276" y="2883017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166217.94</m:t>
                          </m:r>
                          <m:r>
                            <a:rPr lang="es-P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CuadroTexto 43">
                    <a:extLst>
                      <a:ext uri="{FF2B5EF4-FFF2-40B4-BE49-F238E27FC236}">
                        <a16:creationId xmlns:a16="http://schemas.microsoft.com/office/drawing/2014/main" id="{9E0E3688-58E1-EDB6-AAA4-4745C1A40F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6276" y="2883017"/>
                    <a:ext cx="178765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4444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3693069B-0675-BF0E-1384-D6DACBDC8E3E}"/>
                      </a:ext>
                    </a:extLst>
                  </p:cNvPr>
                  <p:cNvSpPr txBox="1"/>
                  <p:nvPr/>
                </p:nvSpPr>
                <p:spPr>
                  <a:xfrm>
                    <a:off x="5802342" y="2744517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s-PE"/>
                    </a:defPPr>
                    <a:lvl1pPr>
                      <a:defRPr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>
                              <a:latin typeface="Cambria Math" panose="02040503050406030204" pitchFamily="18" charset="0"/>
                            </a:rPr>
                            <m:t>275254.54 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dirty="0"/>
                  </a:p>
                </p:txBody>
              </p:sp>
            </mc:Choice>
            <mc:Fallback xmlns="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3693069B-0675-BF0E-1384-D6DACBDC8E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02342" y="2744517"/>
                    <a:ext cx="178765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926EB41C-E84C-7AB0-9113-C535F2D2C7B6}"/>
                      </a:ext>
                    </a:extLst>
                  </p:cNvPr>
                  <p:cNvSpPr txBox="1"/>
                  <p:nvPr/>
                </p:nvSpPr>
                <p:spPr>
                  <a:xfrm>
                    <a:off x="8362550" y="2375688"/>
                    <a:ext cx="17876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s-PE"/>
                    </a:defPPr>
                    <a:lvl1pPr>
                      <a:defRPr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PE">
                              <a:latin typeface="Cambria Math" panose="02040503050406030204" pitchFamily="18" charset="0"/>
                            </a:rPr>
                            <m:t>377528.76 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𝐾𝑔𝑓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PE">
                              <a:latin typeface="Cambria Math" panose="02040503050406030204" pitchFamily="18" charset="0"/>
                            </a:rPr>
                            <m:t>𝑐𝑚</m:t>
                          </m:r>
                        </m:oMath>
                      </m:oMathPara>
                    </a14:m>
                    <a:endParaRPr lang="es-PE" dirty="0"/>
                  </a:p>
                </p:txBody>
              </p:sp>
            </mc:Choice>
            <mc:Fallback xmlns="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926EB41C-E84C-7AB0-9113-C535F2D2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2550" y="2375688"/>
                    <a:ext cx="1787658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522"/>
                    </a:stretch>
                  </a:blipFill>
                </p:spPr>
                <p:txBody>
                  <a:bodyPr/>
                  <a:lstStyle/>
                  <a:p>
                    <a:r>
                      <a:rPr lang="es-P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AC25B73-6FD1-7555-710C-488EDBC08A7B}"/>
                </a:ext>
              </a:extLst>
            </p:cNvPr>
            <p:cNvCxnSpPr/>
            <p:nvPr/>
          </p:nvCxnSpPr>
          <p:spPr>
            <a:xfrm>
              <a:off x="3473750" y="3279168"/>
              <a:ext cx="61164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BBA19A33-2B91-2E33-2B69-4C82BECD209C}"/>
                </a:ext>
              </a:extLst>
            </p:cNvPr>
            <p:cNvCxnSpPr/>
            <p:nvPr/>
          </p:nvCxnSpPr>
          <p:spPr>
            <a:xfrm>
              <a:off x="5688550" y="3281130"/>
              <a:ext cx="61164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CAB51D84-26E3-C81F-D499-6321048A8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1750" y="2652569"/>
              <a:ext cx="2148230" cy="125190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C9D497D3-468B-2B88-8E0A-92106F644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700" y="3300586"/>
              <a:ext cx="0" cy="6506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39BF8D50-09DB-4450-3934-BFC0B45036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9980" y="2636912"/>
              <a:ext cx="18000" cy="114123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F00DBC77-CD3B-4943-E9AB-C4566EBBF027}"/>
                    </a:ext>
                  </a:extLst>
                </p:cNvPr>
                <p:cNvSpPr txBox="1"/>
                <p:nvPr/>
              </p:nvSpPr>
              <p:spPr>
                <a:xfrm>
                  <a:off x="3352802" y="2799125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 sz="1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166217.94</m:t>
                        </m:r>
                        <m:r>
                          <a:rPr lang="es-PE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𝐾𝑔𝑓</m:t>
                        </m:r>
                        <m:r>
                          <a:rPr lang="es-PE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PE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s-PE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F00DBC77-CD3B-4943-E9AB-C4566EBBF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2" y="2799125"/>
                  <a:ext cx="1787658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C4865590-C878-4A5D-E1BA-64BF84CA0658}"/>
                    </a:ext>
                  </a:extLst>
                </p:cNvPr>
                <p:cNvSpPr txBox="1"/>
                <p:nvPr/>
              </p:nvSpPr>
              <p:spPr>
                <a:xfrm>
                  <a:off x="4978343" y="2356394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s-PE"/>
                  </a:defPPr>
                  <a:lvl1pPr>
                    <a:defRPr sz="120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mtClean="0"/>
                          <m:t>144508.63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/>
                          <m:t>𝐾𝑔𝑓</m:t>
                        </m:r>
                        <m:r>
                          <a:rPr lang="es-PE"/>
                          <m:t>.</m:t>
                        </m:r>
                        <m:r>
                          <a:rPr lang="es-PE"/>
                          <m:t>𝑐𝑚</m:t>
                        </m:r>
                      </m:oMath>
                    </m:oMathPara>
                  </a14:m>
                  <a:endParaRPr lang="es-PE" dirty="0"/>
                </a:p>
              </p:txBody>
            </p:sp>
          </mc:Choice>
          <mc:Fallback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C4865590-C878-4A5D-E1BA-64BF84CA0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343" y="2356394"/>
                  <a:ext cx="1787658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176D717-BD65-18FD-A2AB-9A00F6084E7B}"/>
                    </a:ext>
                  </a:extLst>
                </p:cNvPr>
                <p:cNvSpPr txBox="1"/>
                <p:nvPr/>
              </p:nvSpPr>
              <p:spPr>
                <a:xfrm>
                  <a:off x="4427534" y="3832046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s-PE"/>
                  </a:defPPr>
                  <a:lvl1pPr>
                    <a:defRPr sz="120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PE" smtClean="0"/>
                          <m:t>130745.91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PE"/>
                          <m:t>𝐾𝑔𝑓</m:t>
                        </m:r>
                        <m:r>
                          <a:rPr lang="es-PE"/>
                          <m:t>.</m:t>
                        </m:r>
                        <m:r>
                          <a:rPr lang="es-PE"/>
                          <m:t>𝑐𝑚</m:t>
                        </m:r>
                      </m:oMath>
                    </m:oMathPara>
                  </a14:m>
                  <a:endParaRPr lang="es-PE" dirty="0"/>
                </a:p>
              </p:txBody>
            </p:sp>
          </mc:Choice>
          <mc:Fallback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176D717-BD65-18FD-A2AB-9A00F6084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534" y="3832046"/>
                  <a:ext cx="1787658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DA63E1B8-2750-D06D-0EC5-B156F9F8B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980" y="2652569"/>
              <a:ext cx="2542643" cy="109913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E26C50F9-29D7-6678-4B41-6F5C00C1D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0623" y="2624665"/>
              <a:ext cx="0" cy="6506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50559012-8DF2-D86A-6AE5-18983328BC41}"/>
                    </a:ext>
                  </a:extLst>
                </p:cNvPr>
                <p:cNvSpPr txBox="1"/>
                <p:nvPr/>
              </p:nvSpPr>
              <p:spPr>
                <a:xfrm>
                  <a:off x="7696333" y="2402737"/>
                  <a:ext cx="178765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s-PE"/>
                  </a:defPPr>
                  <a:lvl1pPr>
                    <a:defRPr sz="120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PE"/>
                          <m:t>377528.76 </m:t>
                        </m:r>
                        <m:r>
                          <a:rPr lang="es-PE"/>
                          <m:t>𝐾𝑔𝑓</m:t>
                        </m:r>
                        <m:r>
                          <a:rPr lang="es-PE"/>
                          <m:t>.</m:t>
                        </m:r>
                        <m:r>
                          <a:rPr lang="es-PE"/>
                          <m:t>𝑐𝑚</m:t>
                        </m:r>
                      </m:oMath>
                    </m:oMathPara>
                  </a14:m>
                  <a:endParaRPr lang="es-PE" dirty="0"/>
                </a:p>
              </p:txBody>
            </p:sp>
          </mc:Choice>
          <mc:Fallback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50559012-8DF2-D86A-6AE5-18983328B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333" y="2402737"/>
                  <a:ext cx="1787658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5187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omos IC - Instituto Continental">
            <a:extLst>
              <a:ext uri="{FF2B5EF4-FFF2-40B4-BE49-F238E27FC236}">
                <a16:creationId xmlns:a16="http://schemas.microsoft.com/office/drawing/2014/main" id="{D0C5F21D-3A2E-57E8-BEEA-FF1CFA9E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7780" y="1289910"/>
            <a:ext cx="7791355" cy="377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384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Solicita Más Información - Escuela Posgrado Universidad Continental">
            <a:extLst>
              <a:ext uri="{FF2B5EF4-FFF2-40B4-BE49-F238E27FC236}">
                <a16:creationId xmlns:a16="http://schemas.microsoft.com/office/drawing/2014/main" id="{A856985D-9CDB-77A4-27B1-A586C2F77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577" y="1517020"/>
            <a:ext cx="5039340" cy="326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543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3775</TotalTime>
  <Words>786</Words>
  <Application>Microsoft Office PowerPoint</Application>
  <PresentationFormat>Panorámica</PresentationFormat>
  <Paragraphs>202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Century Gothic</vt:lpstr>
      <vt:lpstr>Tema de Office</vt:lpstr>
      <vt:lpstr>Métodos aproximados de cálculo estructural: Método de Muto</vt:lpstr>
      <vt:lpstr>Presentación de PowerPoint</vt:lpstr>
      <vt:lpstr>Ejemplo: Elaborar el diagrama de fuerzas cortantes y momentos flectores del pórtico usando el Método Muto</vt:lpstr>
      <vt:lpstr>1° Determinando el  factor de distribución del cortante en cada nivel</vt:lpstr>
      <vt:lpstr>2° Determinando la rigidez relativa por cada columna</vt:lpstr>
      <vt:lpstr>3° Determinando el coeficiente Yo y el punto de inflexión en cada columna</vt:lpstr>
      <vt:lpstr>4° Determinando los momentos en las columnas</vt:lpstr>
      <vt:lpstr>4° Determinando los momentos en las columnas</vt:lpstr>
      <vt:lpstr>5° Determinando los momentos en las vigas</vt:lpstr>
      <vt:lpstr>5° Determinando los momentos en las vigas</vt:lpstr>
      <vt:lpstr>5° Determinando los momentos en las vigas</vt:lpstr>
      <vt:lpstr>6° Grafica final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Resolución de evaluación diagnóstica</dc:title>
  <dc:creator>Alain Elvis Alanoca Aragón</dc:creator>
  <cp:lastModifiedBy>Alain Elvis Alanoca Aragón</cp:lastModifiedBy>
  <cp:revision>11</cp:revision>
  <cp:lastPrinted>2023-08-28T04:21:04Z</cp:lastPrinted>
  <dcterms:created xsi:type="dcterms:W3CDTF">2023-08-14T06:59:41Z</dcterms:created>
  <dcterms:modified xsi:type="dcterms:W3CDTF">2024-01-28T17:40:40Z</dcterms:modified>
</cp:coreProperties>
</file>